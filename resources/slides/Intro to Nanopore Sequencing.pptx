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Helvetica Neue" panose="02000503000000020004" pitchFamily="2" charset="0"/>
      <p:regular r:id="rId15"/>
      <p:bold r:id="rId16"/>
      <p:italic r:id="rId17"/>
      <p:boldItalic r:id="rId18"/>
    </p:embeddedFont>
    <p:embeddedFont>
      <p:font typeface="Helvetica Neue Light" panose="02000403000000020004" pitchFamily="2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ETTxzRf8qRWEqV/xoybHssrf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88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AND_BODY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body" idx="1"/>
          </p:nvPr>
        </p:nvSpPr>
        <p:spPr>
          <a:xfrm>
            <a:off x="1812726" y="3355330"/>
            <a:ext cx="5518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2"/>
          </p:nvPr>
        </p:nvSpPr>
        <p:spPr>
          <a:xfrm>
            <a:off x="1812726" y="2249091"/>
            <a:ext cx="5518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sz="17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marL="1371600" lvl="2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marL="1828800" lvl="3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marL="2286000" lvl="4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marL="2743200" lvl="5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marL="3200400" lvl="6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marL="3657600" lvl="7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marL="4114800" lvl="8" indent="-279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ldNum" idx="12"/>
          </p:nvPr>
        </p:nvSpPr>
        <p:spPr>
          <a:xfrm>
            <a:off x="4482789" y="4902398"/>
            <a:ext cx="174900" cy="1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 Light"/>
              <a:buNone/>
              <a:defRPr sz="800" b="0" i="0" u="none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ture.com/articles/s41587-021-01108-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nanoporetech.com/technical_documents/hardware/v/hwtd_5000_v1_revn_03may2016/flow-cell-chi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anoporetech.com/products/prepar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anoporetech.com/products/prepar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>
            <a:spLocks noGrp="1"/>
          </p:cNvSpPr>
          <p:nvPr>
            <p:ph type="body" idx="2"/>
          </p:nvPr>
        </p:nvSpPr>
        <p:spPr>
          <a:xfrm>
            <a:off x="1418073" y="1422943"/>
            <a:ext cx="66681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Lato"/>
              <a:buNone/>
            </a:pPr>
            <a:r>
              <a:rPr lang="en" sz="4000" b="1" i="1">
                <a:latin typeface="Lato"/>
                <a:ea typeface="Lato"/>
                <a:cs typeface="Lato"/>
                <a:sym typeface="Lato"/>
              </a:rPr>
              <a:t>Introduction to Nanopore (ONT) sequencing</a:t>
            </a:r>
            <a:endParaRPr sz="40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67686-8C15-2351-5ACE-867E70493BBC}"/>
              </a:ext>
            </a:extLst>
          </p:cNvPr>
          <p:cNvSpPr txBox="1"/>
          <p:nvPr/>
        </p:nvSpPr>
        <p:spPr>
          <a:xfrm>
            <a:off x="6694150" y="4787531"/>
            <a:ext cx="2530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Revised 01/12/2026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2778150" y="1269300"/>
            <a:ext cx="6291600" cy="29319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37700" y="251875"/>
            <a:ext cx="8594700" cy="959100"/>
          </a:xfrm>
          <a:prstGeom prst="stripedRightArrow">
            <a:avLst>
              <a:gd name="adj1" fmla="val 67480"/>
              <a:gd name="adj2" fmla="val 147356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>
            <a:spLocks noGrp="1"/>
          </p:cNvSpPr>
          <p:nvPr>
            <p:ph type="title"/>
          </p:nvPr>
        </p:nvSpPr>
        <p:spPr>
          <a:xfrm>
            <a:off x="912875" y="287875"/>
            <a:ext cx="59079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400" b="1">
                <a:solidFill>
                  <a:srgbClr val="FFFFFF"/>
                </a:solidFill>
              </a:rPr>
              <a:t>ONT mNGS pipeline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250750" y="13113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Study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1640775" y="1311300"/>
            <a:ext cx="1030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xNA extraction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2950075" y="13875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Library prep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4592180" y="1387500"/>
            <a:ext cx="12135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6132613" y="13875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2"/>
          <p:cNvPicPr preferRelativeResize="0"/>
          <p:nvPr/>
        </p:nvPicPr>
        <p:blipFill rotWithShape="1">
          <a:blip r:embed="rId3">
            <a:alphaModFix/>
          </a:blip>
          <a:srcRect l="13069" t="15507" r="15080" b="13225"/>
          <a:stretch/>
        </p:blipFill>
        <p:spPr>
          <a:xfrm>
            <a:off x="379113" y="1914700"/>
            <a:ext cx="87187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149689">
            <a:off x="1852263" y="2113663"/>
            <a:ext cx="607525" cy="72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"/>
          <p:cNvPicPr preferRelativeResize="0"/>
          <p:nvPr/>
        </p:nvPicPr>
        <p:blipFill rotWithShape="1">
          <a:blip r:embed="rId5">
            <a:alphaModFix/>
          </a:blip>
          <a:srcRect b="50614"/>
          <a:stretch/>
        </p:blipFill>
        <p:spPr>
          <a:xfrm>
            <a:off x="2884550" y="2066066"/>
            <a:ext cx="1344551" cy="7259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2"/>
          <p:cNvCxnSpPr/>
          <p:nvPr/>
        </p:nvCxnSpPr>
        <p:spPr>
          <a:xfrm rot="10800000" flipH="1">
            <a:off x="7638150" y="2419325"/>
            <a:ext cx="309300" cy="1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8" name="Google Shape;78;p2"/>
          <p:cNvGrpSpPr/>
          <p:nvPr/>
        </p:nvGrpSpPr>
        <p:grpSpPr>
          <a:xfrm>
            <a:off x="7765375" y="1751825"/>
            <a:ext cx="1252725" cy="1357550"/>
            <a:chOff x="7841575" y="1370825"/>
            <a:chExt cx="1252725" cy="1357550"/>
          </a:xfrm>
        </p:grpSpPr>
        <p:sp>
          <p:nvSpPr>
            <p:cNvPr id="79" name="Google Shape;79;p2"/>
            <p:cNvSpPr/>
            <p:nvPr/>
          </p:nvSpPr>
          <p:spPr>
            <a:xfrm>
              <a:off x="7841575" y="1486750"/>
              <a:ext cx="1122600" cy="11226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" name="Google Shape;80;p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147262" y="1685076"/>
              <a:ext cx="502137" cy="7259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2"/>
            <p:cNvSpPr/>
            <p:nvPr/>
          </p:nvSpPr>
          <p:spPr>
            <a:xfrm>
              <a:off x="7887625" y="1532800"/>
              <a:ext cx="1030500" cy="10305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" name="Google Shape;82;p2"/>
            <p:cNvCxnSpPr/>
            <p:nvPr/>
          </p:nvCxnSpPr>
          <p:spPr>
            <a:xfrm>
              <a:off x="8395325" y="244607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2"/>
            <p:cNvCxnSpPr/>
            <p:nvPr/>
          </p:nvCxnSpPr>
          <p:spPr>
            <a:xfrm>
              <a:off x="8401375" y="1370825"/>
              <a:ext cx="3000" cy="282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2"/>
            <p:cNvCxnSpPr/>
            <p:nvPr/>
          </p:nvCxnSpPr>
          <p:spPr>
            <a:xfrm rot="10800000" flipH="1">
              <a:off x="8785000" y="2038325"/>
              <a:ext cx="309300" cy="1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85" name="Google Shape;85;p2"/>
          <p:cNvSpPr txBox="1"/>
          <p:nvPr/>
        </p:nvSpPr>
        <p:spPr>
          <a:xfrm>
            <a:off x="7650363" y="1387500"/>
            <a:ext cx="1344600" cy="4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Pathogen ID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5008075" y="3647125"/>
            <a:ext cx="20049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5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20225" y="2031195"/>
            <a:ext cx="1030500" cy="75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69000" y="2078858"/>
            <a:ext cx="871850" cy="703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What is nanopore sequencing?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" name="Google Shape;94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Use of nano-scale sensors to detect sequence of nucleotides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Sensors work by detecting changes in electrical current as DNA/RNA particles flow through a hole (“pore”)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ONT is one of two commercially available nanopore platforms (other is Qitan)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7225" y="1229350"/>
            <a:ext cx="2342399" cy="240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Principles of Oxford Nanopore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5525" y="1549975"/>
            <a:ext cx="2805049" cy="28783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4"/>
          <p:cNvCxnSpPr/>
          <p:nvPr/>
        </p:nvCxnSpPr>
        <p:spPr>
          <a:xfrm>
            <a:off x="4025450" y="1818300"/>
            <a:ext cx="2105100" cy="118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103;p4"/>
          <p:cNvCxnSpPr/>
          <p:nvPr/>
        </p:nvCxnSpPr>
        <p:spPr>
          <a:xfrm rot="10800000" flipH="1">
            <a:off x="4027925" y="3410400"/>
            <a:ext cx="2102700" cy="44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4" name="Google Shape;104;p4"/>
          <p:cNvPicPr preferRelativeResize="0"/>
          <p:nvPr/>
        </p:nvPicPr>
        <p:blipFill rotWithShape="1">
          <a:blip r:embed="rId4">
            <a:alphaModFix/>
          </a:blip>
          <a:srcRect r="61834" b="62167"/>
          <a:stretch/>
        </p:blipFill>
        <p:spPr>
          <a:xfrm>
            <a:off x="757718" y="1816525"/>
            <a:ext cx="3260965" cy="20435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Principles of Oxford Nanopore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9863" y="830100"/>
            <a:ext cx="6044265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5404800" y="4774200"/>
            <a:ext cx="373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https://www.nature.com/articles/s41587-021-01108-x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Principles of Oxford Nanopore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34395" y="1714275"/>
            <a:ext cx="3097901" cy="195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Biological pores and motor proteins used to guide DNA/RNA across electrical gradient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Changes in electrical signal during this passage (due to blocking of electrons) detected electronically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Principles of Oxford Nanopore sequencing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Size of the pore accommodates 5 nucleotides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DNA/RNA translocation typically happens at ~million bases/second, which is too fast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Translocation is slowed down to ~1000 bases/second in ONT to allow for discrimination of signals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93700" y="1311025"/>
            <a:ext cx="1449175" cy="24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Different ONT instruments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113" y="1120575"/>
            <a:ext cx="737776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 i="1">
                <a:latin typeface="Lato"/>
                <a:ea typeface="Lato"/>
                <a:cs typeface="Lato"/>
                <a:sym typeface="Lato"/>
              </a:rPr>
              <a:t>The MinION flow cell (see </a:t>
            </a:r>
            <a:r>
              <a:rPr lang="en" b="1" i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here</a:t>
            </a:r>
            <a:r>
              <a:rPr lang="en" b="1" i="1">
                <a:latin typeface="Lato"/>
                <a:ea typeface="Lato"/>
                <a:cs typeface="Lato"/>
                <a:sym typeface="Lato"/>
              </a:rPr>
              <a:t> for more)</a:t>
            </a:r>
            <a:endParaRPr b="1" i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7" name="Google Shape;13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47475" y="1812375"/>
            <a:ext cx="3203424" cy="177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Each flow cell has 2048 pores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Typically only ~1200-1600 are actually available on a new flow cell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00"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Signal from 512 pores can be detected simultaneously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Considerations when doing metagenomics (mNGS)</a:t>
            </a:r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304800" y="1147925"/>
            <a:ext cx="5083500" cy="3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DNA or RNA mNGS?</a:t>
            </a:r>
            <a:endParaRPr sz="500"/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Purpose of study</a:t>
            </a:r>
            <a:endParaRPr sz="500"/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Pathogen landscape</a:t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Sample type</a:t>
            </a:r>
            <a:endParaRPr sz="500"/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Total nucleic acid abundance</a:t>
            </a:r>
            <a:endParaRPr sz="500"/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Proportion of host vs. microbe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None/>
            </a:pPr>
            <a:endParaRPr sz="17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5" name="Google Shape;145;p10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1999" y="1147925"/>
            <a:ext cx="4403973" cy="2471501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Considerations when doing Nanopore (ONT) sequencing</a:t>
            </a:r>
            <a:endParaRPr/>
          </a:p>
        </p:txBody>
      </p:sp>
      <p:sp>
        <p:nvSpPr>
          <p:cNvPr id="151" name="Google Shape;151;p11"/>
          <p:cNvSpPr txBox="1"/>
          <p:nvPr/>
        </p:nvSpPr>
        <p:spPr>
          <a:xfrm>
            <a:off x="828182" y="1156478"/>
            <a:ext cx="6313200" cy="3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Sample integrity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Important to ensure high quality with little to no degradation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True for Illumina as well, but even more so for ONT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Library preparation kit (</a:t>
            </a:r>
            <a:r>
              <a:rPr lang="en" sz="1700" b="0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link</a:t>
            </a: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to available kits)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DNA or RNA?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PCR or PCR-free?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Multiplexing or single sample?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>
            <a:spLocks noGrp="1"/>
          </p:cNvSpPr>
          <p:nvPr>
            <p:ph type="title" idx="4294967295"/>
          </p:nvPr>
        </p:nvSpPr>
        <p:spPr>
          <a:xfrm>
            <a:off x="212079" y="328166"/>
            <a:ext cx="8763900" cy="4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Lato"/>
              <a:buNone/>
            </a:pPr>
            <a:r>
              <a:rPr lang="en" sz="2100" b="1">
                <a:latin typeface="Lato"/>
                <a:ea typeface="Lato"/>
                <a:cs typeface="Lato"/>
                <a:sym typeface="Lato"/>
              </a:rPr>
              <a:t>Considerations when doing Nanopore (ONT) sequencing</a:t>
            </a:r>
            <a:endParaRPr/>
          </a:p>
        </p:txBody>
      </p:sp>
      <p:sp>
        <p:nvSpPr>
          <p:cNvPr id="157" name="Google Shape;157;p12"/>
          <p:cNvSpPr txBox="1"/>
          <p:nvPr/>
        </p:nvSpPr>
        <p:spPr>
          <a:xfrm>
            <a:off x="828174" y="1156475"/>
            <a:ext cx="7212900" cy="38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rmAutofit/>
          </a:bodyPr>
          <a:lstStyle/>
          <a:p>
            <a: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Sample integrity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Important to ensure high quality with little to no degradation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True for Illumina as well, but even more so for ONT</a:t>
            </a:r>
            <a:endParaRPr sz="17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endParaRPr sz="1700">
              <a:latin typeface="Lato"/>
              <a:ea typeface="Lato"/>
              <a:cs typeface="Lato"/>
              <a:sym typeface="Lato"/>
            </a:endParaRPr>
          </a:p>
          <a:p>
            <a:pPr marL="457200" marR="0" lvl="0" indent="-3365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Library preparation kit (</a:t>
            </a:r>
            <a:r>
              <a:rPr lang="en" sz="1700" b="0" i="0" u="sng" strike="noStrike" cap="non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link</a:t>
            </a: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to available kits)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DNA or RNA?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PCR or PCR-free?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Char char="○"/>
            </a:pPr>
            <a:r>
              <a:rPr lang="en" sz="17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Multiplexing or single sample?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Lato"/>
              <a:buNone/>
            </a:pPr>
            <a:endParaRPr sz="17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961950" y="4005225"/>
            <a:ext cx="7126200" cy="446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Current kit of choice: Rapid PCR barcoding kit (SQK-RPB114.24)</a:t>
            </a:r>
            <a:endParaRPr sz="1700" b="1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7460050" y="3543525"/>
            <a:ext cx="170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Microsoft Macintosh PowerPoint</Application>
  <PresentationFormat>On-screen Show (16:9)</PresentationFormat>
  <Paragraphs>61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Helvetica Neue</vt:lpstr>
      <vt:lpstr>Helvetica Neue Light</vt:lpstr>
      <vt:lpstr>Lato</vt:lpstr>
      <vt:lpstr>Simple Light</vt:lpstr>
      <vt:lpstr>PowerPoint Presentation</vt:lpstr>
      <vt:lpstr>ONT mNGS pipeline</vt:lpstr>
      <vt:lpstr>What is nanopore sequencing?</vt:lpstr>
      <vt:lpstr>Principles of Oxford Nanopore sequencing</vt:lpstr>
      <vt:lpstr>Principles of Oxford Nanopore sequencing</vt:lpstr>
      <vt:lpstr>Principles of Oxford Nanopore sequencing</vt:lpstr>
      <vt:lpstr>Principles of Oxford Nanopore sequencing</vt:lpstr>
      <vt:lpstr>Different ONT instruments</vt:lpstr>
      <vt:lpstr>The MinION flow cell (see here for more)</vt:lpstr>
      <vt:lpstr>Considerations when doing metagenomics (mNGS)</vt:lpstr>
      <vt:lpstr>Considerations when doing Nanopore (ONT) sequencing</vt:lpstr>
      <vt:lpstr>Considerations when doing Nanopore (ONT) sequencing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Juliana Gil</cp:lastModifiedBy>
  <cp:revision>1</cp:revision>
  <dcterms:modified xsi:type="dcterms:W3CDTF">2026-01-21T19:33:47Z</dcterms:modified>
</cp:coreProperties>
</file>