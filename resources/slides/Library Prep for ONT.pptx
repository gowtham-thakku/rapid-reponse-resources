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4_0.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2" r:id="rId2"/>
    <p:sldMasterId id="2147483679" r:id="rId3"/>
  </p:sldMasterIdLst>
  <p:notesMasterIdLst>
    <p:notesMasterId r:id="rId3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9144000" cy="5143500" type="screen16x9"/>
  <p:notesSz cx="6858000" cy="9144000"/>
  <p:embeddedFontLst>
    <p:embeddedFont>
      <p:font typeface="Helvetica Neue" panose="02000503000000020004" pitchFamily="2" charset="0"/>
      <p:regular r:id="rId31"/>
      <p:bold r:id="rId32"/>
      <p:italic r:id="rId33"/>
      <p:boldItalic r:id="rId34"/>
    </p:embeddedFont>
    <p:embeddedFont>
      <p:font typeface="Helvetica Neue Light" panose="02000403000000020004" pitchFamily="2" charset="0"/>
      <p:regular r:id="rId35"/>
      <p:bold r:id="rId36"/>
      <p:italic r:id="rId37"/>
      <p:boldItalic r:id="rId38"/>
    </p:embeddedFont>
    <p:embeddedFont>
      <p:font typeface="Lato" panose="020F0502020204030203" pitchFamily="34" charset="0"/>
      <p:regular r:id="rId39"/>
      <p:bold r:id="rId40"/>
      <p:italic r:id="rId41"/>
      <p:boldItalic r:id="rId42"/>
    </p:embeddedFont>
    <p:embeddedFont>
      <p:font typeface="Roboto" panose="020000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jlaxMNfMlVUZyBNSfPbdffvNB6J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155BD4-F74D-1F70-CCBC-237FB302F341}" name="Juliana Gil" initials="JG" userId="S::juliana.gil@czbiohub.org::5f6b24e8-ba98-4699-b143-05c9bc962fe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52"/>
    <p:restoredTop sz="85342"/>
  </p:normalViewPr>
  <p:slideViewPr>
    <p:cSldViewPr snapToGrid="0">
      <p:cViewPr varScale="1">
        <p:scale>
          <a:sx n="138" d="100"/>
          <a:sy n="138" d="100"/>
        </p:scale>
        <p:origin x="161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9.fntdata"/><Relationship Id="rId21" Type="http://schemas.openxmlformats.org/officeDocument/2006/relationships/slide" Target="slides/slide18.xml"/><Relationship Id="rId34" Type="http://schemas.openxmlformats.org/officeDocument/2006/relationships/font" Target="fonts/font4.fntdata"/><Relationship Id="rId42" Type="http://schemas.openxmlformats.org/officeDocument/2006/relationships/font" Target="fonts/font12.fntdata"/><Relationship Id="rId50" Type="http://customschemas.google.com/relationships/presentationmetadata" Target="metadata"/><Relationship Id="rId55" Type="http://schemas.microsoft.com/office/2018/10/relationships/authors" Target="author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6.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7.xml"/><Relationship Id="rId41" Type="http://schemas.openxmlformats.org/officeDocument/2006/relationships/font" Target="fonts/font11.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s>
</file>

<file path=ppt/comments/modernComment_104_0.xml><?xml version="1.0" encoding="utf-8"?>
<p188:cmLst xmlns:a="http://schemas.openxmlformats.org/drawingml/2006/main" xmlns:r="http://schemas.openxmlformats.org/officeDocument/2006/relationships" xmlns:p188="http://schemas.microsoft.com/office/powerpoint/2018/8/main">
  <p188:cm id="{2E2811C9-39D2-074F-87AE-BA668A065B4D}" authorId="{98155BD4-F74D-1F70-CCBC-237FB302F341}" created="2026-01-21T19:34:50.510">
    <pc:sldMkLst xmlns:pc="http://schemas.microsoft.com/office/powerpoint/2013/main/command">
      <pc:docMk/>
      <pc:sldMk cId="0" sldId="260"/>
    </pc:sldMkLst>
    <p188:txBody>
      <a:bodyPr/>
      <a:lstStyle/>
      <a:p>
        <a:r>
          <a:rPr lang="en-US"/>
          <a:t>comment on better integrity?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1" name="Google Shape;18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b8819663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g36b8819663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6b88196631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 name="Google Shape;215;g36b88196631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6b88196631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g36b8819663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Before extraction, try to get rid of as much host material as possible, by for example spinning down the material and using the supernatant for extraction.</a:t>
            </a:r>
            <a:endParaRPr/>
          </a:p>
          <a:p>
            <a:pPr marL="0" lvl="0" indent="0" algn="l" rtl="0">
              <a:lnSpc>
                <a:spcPct val="100000"/>
              </a:lnSpc>
              <a:spcBef>
                <a:spcPts val="0"/>
              </a:spcBef>
              <a:spcAft>
                <a:spcPts val="0"/>
              </a:spcAft>
              <a:buSzPts val="1100"/>
              <a:buNone/>
            </a:pPr>
            <a:r>
              <a:rPr lang="en"/>
              <a:t>Nucleic acid type depends on your research question since it will affect what you’ll be able to pick up: go for RNA if you are also interested in viruses, provided you have good sample quality. If just interested in bacteria, you can do DNA.</a:t>
            </a:r>
            <a:endParaRPr/>
          </a:p>
          <a:p>
            <a:pPr marL="0" lvl="0" indent="0" algn="l" rtl="0">
              <a:lnSpc>
                <a:spcPct val="100000"/>
              </a:lnSpc>
              <a:spcBef>
                <a:spcPts val="0"/>
              </a:spcBef>
              <a:spcAft>
                <a:spcPts val="0"/>
              </a:spcAft>
              <a:buSzPts val="1100"/>
              <a:buNone/>
            </a:pPr>
            <a:r>
              <a:rPr lang="en"/>
              <a:t>TNA: extract both DNA and RNA, and decide later what type of library you’ll prepare.</a:t>
            </a:r>
            <a:endParaRPr/>
          </a:p>
          <a:p>
            <a:pPr marL="0" lvl="0" indent="0" algn="l" rtl="0">
              <a:lnSpc>
                <a:spcPct val="100000"/>
              </a:lnSpc>
              <a:spcBef>
                <a:spcPts val="0"/>
              </a:spcBef>
              <a:spcAft>
                <a:spcPts val="0"/>
              </a:spcAft>
              <a:buSzPts val="1100"/>
              <a:buNone/>
            </a:pPr>
            <a:r>
              <a:rPr lang="en"/>
              <a:t>Column vs bead-based extraction: Bead-based extractions are easier to perform, especially when working with larger sample sizes.. You will need magnetic stands though. Whatever type of extraction you do, it will be crucial to avoid cross-contamination as much as possible. You can do this by interspersing samples with water controls during extraction, for example. Also make sure to preserve sample quality, this will be especially important when extracting RNA. Avoid freeze-thaw cycles of RNA and keep it cold at all times.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6b88196631_0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36b88196631_0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 dirty="0"/>
              <a:t>Amount of pathogen can be very low (</a:t>
            </a:r>
            <a:r>
              <a:rPr lang="en" dirty="0" err="1"/>
              <a:t>eg</a:t>
            </a:r>
            <a:r>
              <a:rPr lang="en" dirty="0"/>
              <a:t> CSF) -&gt; </a:t>
            </a:r>
            <a:r>
              <a:rPr lang="en" dirty="0" err="1"/>
              <a:t>microkit</a:t>
            </a:r>
            <a:r>
              <a:rPr lang="en" dirty="0"/>
              <a:t> or </a:t>
            </a:r>
            <a:r>
              <a:rPr lang="en" dirty="0" err="1"/>
              <a:t>Magbead</a:t>
            </a:r>
            <a:r>
              <a:rPr lang="en" dirty="0"/>
              <a:t> kit.</a:t>
            </a:r>
            <a:endParaRPr dirty="0"/>
          </a:p>
          <a:p>
            <a:pPr marL="0" lvl="0" indent="0" algn="l" rtl="0">
              <a:lnSpc>
                <a:spcPct val="100000"/>
              </a:lnSpc>
              <a:spcBef>
                <a:spcPts val="0"/>
              </a:spcBef>
              <a:spcAft>
                <a:spcPts val="0"/>
              </a:spcAft>
              <a:buSzPts val="1100"/>
              <a:buNone/>
            </a:pPr>
            <a:r>
              <a:rPr lang="en" dirty="0"/>
              <a:t>Clogging issue for columns (use Proteinase K! see protocol serum/plasma), but not with </a:t>
            </a:r>
            <a:r>
              <a:rPr lang="en" dirty="0" err="1"/>
              <a:t>magbead</a:t>
            </a:r>
            <a:r>
              <a:rPr lang="en" dirty="0"/>
              <a:t> (also includes Prot K). BME will also help degrade cell walls, …</a:t>
            </a:r>
            <a:endParaRPr dirty="0"/>
          </a:p>
          <a:p>
            <a:pPr marL="0" lvl="0" indent="0" algn="l" rtl="0">
              <a:lnSpc>
                <a:spcPct val="100000"/>
              </a:lnSpc>
              <a:spcBef>
                <a:spcPts val="0"/>
              </a:spcBef>
              <a:spcAft>
                <a:spcPts val="0"/>
              </a:spcAft>
              <a:buSzPts val="1100"/>
              <a:buNone/>
            </a:pPr>
            <a:r>
              <a:rPr lang="en" dirty="0"/>
              <a:t>DNA/RNA kits are more expensive than just the DNA or RNA kit, but worth it coz you’ll have both</a:t>
            </a:r>
            <a:endParaRPr dirty="0"/>
          </a:p>
          <a:p>
            <a:pPr marL="0" lvl="0" indent="0" algn="l" rtl="0">
              <a:lnSpc>
                <a:spcPct val="100000"/>
              </a:lnSpc>
              <a:spcBef>
                <a:spcPts val="0"/>
              </a:spcBef>
              <a:spcAft>
                <a:spcPts val="0"/>
              </a:spcAft>
              <a:buSzPts val="1100"/>
              <a:buNone/>
            </a:pPr>
            <a:r>
              <a:rPr lang="en" dirty="0"/>
              <a:t>Note: Pathogen </a:t>
            </a:r>
            <a:r>
              <a:rPr lang="en" dirty="0" err="1"/>
              <a:t>magbead</a:t>
            </a:r>
            <a:r>
              <a:rPr lang="en" dirty="0"/>
              <a:t> is about 20% cheaper than the regular </a:t>
            </a:r>
            <a:r>
              <a:rPr lang="en" dirty="0" err="1"/>
              <a:t>magbead</a:t>
            </a:r>
            <a:r>
              <a:rPr lang="en" dirty="0"/>
              <a:t> kit for 96 samples, mainly because Path kit does not include </a:t>
            </a:r>
            <a:r>
              <a:rPr lang="en" dirty="0" err="1"/>
              <a:t>DNAseI</a:t>
            </a:r>
            <a:r>
              <a:rPr lang="en" dirty="0"/>
              <a:t> while regular kit does have it.</a:t>
            </a:r>
            <a:endParaRPr dirty="0"/>
          </a:p>
        </p:txBody>
      </p:sp>
      <p:sp>
        <p:nvSpPr>
          <p:cNvPr id="230" name="Google Shape;230;g36b88196631_0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6b88196631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g36b88196631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After extraction, it’s important to assess sample quality, as that will have a major impact on the downstream steps of library preparation and eventually the quality of your sequencing data. Quality is defined by not only the concentration of nucleic acid, but also the length of your extracted DNA or RNA. The best way to measure concentration is by Qubit fluorometer. This will give you much more accurate values than a UV-absorbance based method, like the Nanodrop.</a:t>
            </a:r>
            <a:endParaRPr/>
          </a:p>
          <a:p>
            <a:pPr marL="0" lvl="0" indent="0" algn="l" rtl="0">
              <a:lnSpc>
                <a:spcPct val="100000"/>
              </a:lnSpc>
              <a:spcBef>
                <a:spcPts val="0"/>
              </a:spcBef>
              <a:spcAft>
                <a:spcPts val="0"/>
              </a:spcAft>
              <a:buSzPts val="1100"/>
              <a:buNone/>
            </a:pPr>
            <a:r>
              <a:rPr lang="en"/>
              <a:t>To assess quality or length, capillary electrophoresis is the most sensitive method, using a Tapestation or a Bioanalyzer for example. But you could also do gel electrophoresis but you’ll lose more material with that. The graph on the right shows the profiles you can expect from samples with high to low RNA quality. If high quality, the ribosomal RNA peaks will be very prominent, either 28S and 18S when a lot of human RNA is present, or 23S and 16S when its mostly bacterial RNA. Some machines will automatically assign a RNA Integrity Number or RIN to samples, which are a measure for RNA quality. Knowing the quality of your RNA is important, as it will inform you on how long you you’ll need to fragment your nucleic acid in the first steps of library prep.</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6b88196631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g36b88196631_0_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6b88196631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b88196631_0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6dd4466453_0_6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g36dd4466453_0_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6dd4466453_0_130: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g36dd4466453_0_1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5" name="Google Shape;30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6dd4466453_0_13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1" name="Google Shape;331;g36dd4466453_0_1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1" name="Google Shape;34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6dd4466453_0_19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g36dd4466453_0_1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6dd4466453_0_210: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g36dd4466453_0_2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6dd4466453_0_22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g36dd4466453_0_2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6: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5" name="Google Shape;40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7: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1" name="Google Shape;41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8: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7" name="Google Shape;41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9: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3" name="Google Shape;42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1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0" name="Google Shape;43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7" name="Google Shape;43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12: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4" name="Google Shape;44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6deab05443_0_0: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1" name="Google Shape;451;g36deab05443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6deab05443_0_12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0" name="Google Shape;460;g36deab05443_0_1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6" name="Google Shape;46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TITLE_AND_BODY_1">
    <p:spTree>
      <p:nvGrpSpPr>
        <p:cNvPr id="1" name="Shape 9"/>
        <p:cNvGrpSpPr/>
        <p:nvPr/>
      </p:nvGrpSpPr>
      <p:grpSpPr>
        <a:xfrm>
          <a:off x="0" y="0"/>
          <a:ext cx="0" cy="0"/>
          <a:chOff x="0" y="0"/>
          <a:chExt cx="0" cy="0"/>
        </a:xfrm>
      </p:grpSpPr>
      <p:sp>
        <p:nvSpPr>
          <p:cNvPr id="10" name="Google Shape;10;p20"/>
          <p:cNvSpPr txBox="1">
            <a:spLocks noGrp="1"/>
          </p:cNvSpPr>
          <p:nvPr>
            <p:ph type="body" idx="1"/>
          </p:nvPr>
        </p:nvSpPr>
        <p:spPr>
          <a:xfrm>
            <a:off x="1812726" y="3355330"/>
            <a:ext cx="5518500" cy="243000"/>
          </a:xfrm>
          <a:prstGeom prst="rect">
            <a:avLst/>
          </a:prstGeom>
          <a:noFill/>
          <a:ln>
            <a:noFill/>
          </a:ln>
        </p:spPr>
        <p:txBody>
          <a:bodyPr spcFirstLastPara="1" wrap="square" lIns="26775" tIns="26775" rIns="26775" bIns="26775" anchor="t" anchorCtr="0">
            <a:spAutoFit/>
          </a:bodyPr>
          <a:lstStyle>
            <a:lvl1pPr marL="457200" lvl="0" indent="-228600" algn="ctr">
              <a:lnSpc>
                <a:spcPct val="100000"/>
              </a:lnSpc>
              <a:spcBef>
                <a:spcPts val="0"/>
              </a:spcBef>
              <a:spcAft>
                <a:spcPts val="0"/>
              </a:spcAft>
              <a:buClr>
                <a:srgbClr val="000000"/>
              </a:buClr>
              <a:buSzPts val="1200"/>
              <a:buFont typeface="Helvetica Neue"/>
              <a:buNone/>
              <a:defRPr sz="1200" i="1"/>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11" name="Google Shape;11;p20"/>
          <p:cNvSpPr txBox="1">
            <a:spLocks noGrp="1"/>
          </p:cNvSpPr>
          <p:nvPr>
            <p:ph type="body" idx="2"/>
          </p:nvPr>
        </p:nvSpPr>
        <p:spPr>
          <a:xfrm>
            <a:off x="1812726" y="2249091"/>
            <a:ext cx="5518500" cy="324000"/>
          </a:xfrm>
          <a:prstGeom prst="rect">
            <a:avLst/>
          </a:prstGeom>
          <a:noFill/>
          <a:ln>
            <a:noFill/>
          </a:ln>
        </p:spPr>
        <p:txBody>
          <a:bodyPr spcFirstLastPara="1" wrap="square" lIns="26775" tIns="26775" rIns="26775" bIns="26775" anchor="ctr" anchorCtr="0">
            <a:spAutoFit/>
          </a:bodyPr>
          <a:lstStyle>
            <a:lvl1pPr marL="457200" lvl="0" indent="-228600" algn="ctr">
              <a:lnSpc>
                <a:spcPct val="100000"/>
              </a:lnSpc>
              <a:spcBef>
                <a:spcPts val="0"/>
              </a:spcBef>
              <a:spcAft>
                <a:spcPts val="0"/>
              </a:spcAft>
              <a:buClr>
                <a:srgbClr val="000000"/>
              </a:buClr>
              <a:buSzPts val="1700"/>
              <a:buFont typeface="Helvetica Neue"/>
              <a:buNone/>
              <a:defRPr sz="1700">
                <a:latin typeface="Helvetica Neue"/>
                <a:ea typeface="Helvetica Neue"/>
                <a:cs typeface="Helvetica Neue"/>
                <a:sym typeface="Helvetica Neue"/>
              </a:defRPr>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12" name="Google Shape;12;p20"/>
          <p:cNvSpPr txBox="1">
            <a:spLocks noGrp="1"/>
          </p:cNvSpPr>
          <p:nvPr>
            <p:ph type="sldNum" idx="12"/>
          </p:nvPr>
        </p:nvSpPr>
        <p:spPr>
          <a:xfrm>
            <a:off x="4482789" y="4902398"/>
            <a:ext cx="174900" cy="177300"/>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1000">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13"/>
        <p:cNvGrpSpPr/>
        <p:nvPr/>
      </p:nvGrpSpPr>
      <p:grpSpPr>
        <a:xfrm>
          <a:off x="0" y="0"/>
          <a:ext cx="0" cy="0"/>
          <a:chOff x="0" y="0"/>
          <a:chExt cx="0" cy="0"/>
        </a:xfrm>
      </p:grpSpPr>
      <p:sp>
        <p:nvSpPr>
          <p:cNvPr id="14" name="Google Shape;14;p21"/>
          <p:cNvSpPr txBox="1">
            <a:spLocks noGrp="1"/>
          </p:cNvSpPr>
          <p:nvPr>
            <p:ph type="sldNum" idx="12"/>
          </p:nvPr>
        </p:nvSpPr>
        <p:spPr>
          <a:xfrm>
            <a:off x="4500562" y="4905375"/>
            <a:ext cx="138300" cy="146100"/>
          </a:xfrm>
          <a:prstGeom prst="rect">
            <a:avLst/>
          </a:prstGeom>
          <a:noFill/>
          <a:ln>
            <a:noFill/>
          </a:ln>
        </p:spPr>
        <p:txBody>
          <a:bodyPr spcFirstLastPara="1" wrap="square" lIns="19050" tIns="19050" rIns="19050" bIns="19050" anchor="b" anchorCtr="0">
            <a:spAutoFit/>
          </a:bodyPr>
          <a:lstStyle>
            <a:lvl1pPr marL="0" marR="0" lvl="0"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8" name="Google Shape;18;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1" name="Google Shape;21;p2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2" name="Google Shape;22;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5" name="Google Shape;25;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8" name="Google Shape;28;p2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9" name="Google Shape;29;p2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p2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6" name="Google Shape;36;p2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
        <p:cNvGrpSpPr/>
        <p:nvPr/>
      </p:nvGrpSpPr>
      <p:grpSpPr>
        <a:xfrm>
          <a:off x="0" y="0"/>
          <a:ext cx="0" cy="0"/>
          <a:chOff x="0" y="0"/>
          <a:chExt cx="0" cy="0"/>
        </a:xfrm>
      </p:grpSpPr>
      <p:sp>
        <p:nvSpPr>
          <p:cNvPr id="39" name="Google Shape;39;p3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0" name="Google Shape;40;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3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3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4" name="Google Shape;44;p3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5" name="Google Shape;45;p3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6" name="Google Shape;46;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
        <p:cNvGrpSpPr/>
        <p:nvPr/>
      </p:nvGrpSpPr>
      <p:grpSpPr>
        <a:xfrm>
          <a:off x="0" y="0"/>
          <a:ext cx="0" cy="0"/>
          <a:chOff x="0" y="0"/>
          <a:chExt cx="0" cy="0"/>
        </a:xfrm>
      </p:grpSpPr>
      <p:sp>
        <p:nvSpPr>
          <p:cNvPr id="48" name="Google Shape;48;p3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9" name="Google Shape;49;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0"/>
        <p:cNvGrpSpPr/>
        <p:nvPr/>
      </p:nvGrpSpPr>
      <p:grpSpPr>
        <a:xfrm>
          <a:off x="0" y="0"/>
          <a:ext cx="0" cy="0"/>
          <a:chOff x="0" y="0"/>
          <a:chExt cx="0" cy="0"/>
        </a:xfrm>
      </p:grpSpPr>
      <p:sp>
        <p:nvSpPr>
          <p:cNvPr id="51" name="Google Shape;51;p3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p3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3" name="Google Shape;53;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2" name="Google Shape;62;p2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63" name="Google Shape;63;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4"/>
        <p:cNvGrpSpPr/>
        <p:nvPr/>
      </p:nvGrpSpPr>
      <p:grpSpPr>
        <a:xfrm>
          <a:off x="0" y="0"/>
          <a:ext cx="0" cy="0"/>
          <a:chOff x="0" y="0"/>
          <a:chExt cx="0" cy="0"/>
        </a:xfrm>
      </p:grpSpPr>
      <p:sp>
        <p:nvSpPr>
          <p:cNvPr id="65" name="Google Shape;65;p3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66" name="Google Shape;66;p3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7" name="Google Shape;67;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3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70" name="Google Shape;70;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3" name="Google Shape;73;p3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4" name="Google Shape;74;p3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5" name="Google Shape;75;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3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8" name="Google Shape;78;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9"/>
        <p:cNvGrpSpPr/>
        <p:nvPr/>
      </p:nvGrpSpPr>
      <p:grpSpPr>
        <a:xfrm>
          <a:off x="0" y="0"/>
          <a:ext cx="0" cy="0"/>
          <a:chOff x="0" y="0"/>
          <a:chExt cx="0" cy="0"/>
        </a:xfrm>
      </p:grpSpPr>
      <p:sp>
        <p:nvSpPr>
          <p:cNvPr id="80" name="Google Shape;80;p3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81" name="Google Shape;81;p3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2" name="Google Shape;82;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4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5" name="Google Shape;85;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
        <p:cNvGrpSpPr/>
        <p:nvPr/>
      </p:nvGrpSpPr>
      <p:grpSpPr>
        <a:xfrm>
          <a:off x="0" y="0"/>
          <a:ext cx="0" cy="0"/>
          <a:chOff x="0" y="0"/>
          <a:chExt cx="0" cy="0"/>
        </a:xfrm>
      </p:grpSpPr>
      <p:sp>
        <p:nvSpPr>
          <p:cNvPr id="87" name="Google Shape;87;p4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4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9" name="Google Shape;89;p4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0" name="Google Shape;90;p4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91" name="Google Shape;91;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4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94" name="Google Shape;94;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5"/>
        <p:cNvGrpSpPr/>
        <p:nvPr/>
      </p:nvGrpSpPr>
      <p:grpSpPr>
        <a:xfrm>
          <a:off x="0" y="0"/>
          <a:ext cx="0" cy="0"/>
          <a:chOff x="0" y="0"/>
          <a:chExt cx="0" cy="0"/>
        </a:xfrm>
      </p:grpSpPr>
      <p:sp>
        <p:nvSpPr>
          <p:cNvPr id="96" name="Google Shape;96;p4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7" name="Google Shape;97;p4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98" name="Google Shape;98;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1"/>
        <p:cNvGrpSpPr/>
        <p:nvPr/>
      </p:nvGrpSpPr>
      <p:grpSpPr>
        <a:xfrm>
          <a:off x="0" y="0"/>
          <a:ext cx="0" cy="0"/>
          <a:chOff x="0" y="0"/>
          <a:chExt cx="0" cy="0"/>
        </a:xfrm>
      </p:grpSpPr>
      <p:sp>
        <p:nvSpPr>
          <p:cNvPr id="102" name="Google Shape;102;p4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3" name="Google Shape;103;p4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104" name="Google Shape;104;p4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5" name="Google Shape;105;p4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6" name="Google Shape;106;p4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mp; Subtitle">
  <p:cSld name="TITLE_1">
    <p:spTree>
      <p:nvGrpSpPr>
        <p:cNvPr id="1" name="Shape 107"/>
        <p:cNvGrpSpPr/>
        <p:nvPr/>
      </p:nvGrpSpPr>
      <p:grpSpPr>
        <a:xfrm>
          <a:off x="0" y="0"/>
          <a:ext cx="0" cy="0"/>
          <a:chOff x="0" y="0"/>
          <a:chExt cx="0" cy="0"/>
        </a:xfrm>
      </p:grpSpPr>
      <p:sp>
        <p:nvSpPr>
          <p:cNvPr id="108" name="Google Shape;108;p46"/>
          <p:cNvSpPr txBox="1">
            <a:spLocks noGrp="1"/>
          </p:cNvSpPr>
          <p:nvPr>
            <p:ph type="title"/>
          </p:nvPr>
        </p:nvSpPr>
        <p:spPr>
          <a:xfrm>
            <a:off x="666750" y="862013"/>
            <a:ext cx="7810500" cy="1743000"/>
          </a:xfrm>
          <a:prstGeom prst="rect">
            <a:avLst/>
          </a:prstGeom>
          <a:noFill/>
          <a:ln>
            <a:noFill/>
          </a:ln>
        </p:spPr>
        <p:txBody>
          <a:bodyPr spcFirstLastPara="1" wrap="square" lIns="19050" tIns="19050" rIns="19050" bIns="19050" anchor="b"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109" name="Google Shape;109;p46"/>
          <p:cNvSpPr txBox="1">
            <a:spLocks noGrp="1"/>
          </p:cNvSpPr>
          <p:nvPr>
            <p:ph type="body" idx="1"/>
          </p:nvPr>
        </p:nvSpPr>
        <p:spPr>
          <a:xfrm>
            <a:off x="666750" y="2652713"/>
            <a:ext cx="7810500" cy="595200"/>
          </a:xfrm>
          <a:prstGeom prst="rect">
            <a:avLst/>
          </a:prstGeom>
          <a:noFill/>
          <a:ln>
            <a:noFill/>
          </a:ln>
        </p:spPr>
        <p:txBody>
          <a:bodyPr spcFirstLastPara="1" wrap="square" lIns="19050" tIns="19050" rIns="19050" bIns="19050" anchor="t" anchorCtr="0">
            <a:noAutofit/>
          </a:bodyPr>
          <a:lstStyle>
            <a:lvl1pPr marL="457200" lvl="0" indent="-228600" algn="ctr">
              <a:lnSpc>
                <a:spcPct val="100000"/>
              </a:lnSpc>
              <a:spcBef>
                <a:spcPts val="0"/>
              </a:spcBef>
              <a:spcAft>
                <a:spcPts val="0"/>
              </a:spcAft>
              <a:buClr>
                <a:srgbClr val="000000"/>
              </a:buClr>
              <a:buSzPts val="2000"/>
              <a:buFont typeface="Helvetica Neue"/>
              <a:buNone/>
              <a:defRPr sz="2000"/>
            </a:lvl1pPr>
            <a:lvl2pPr marL="914400" lvl="1" indent="-228600" algn="ctr">
              <a:lnSpc>
                <a:spcPct val="100000"/>
              </a:lnSpc>
              <a:spcBef>
                <a:spcPts val="0"/>
              </a:spcBef>
              <a:spcAft>
                <a:spcPts val="0"/>
              </a:spcAft>
              <a:buClr>
                <a:srgbClr val="000000"/>
              </a:buClr>
              <a:buSzPts val="2000"/>
              <a:buFont typeface="Helvetica Neue"/>
              <a:buNone/>
              <a:defRPr sz="2000"/>
            </a:lvl2pPr>
            <a:lvl3pPr marL="1371600" lvl="2" indent="-228600" algn="ctr">
              <a:lnSpc>
                <a:spcPct val="100000"/>
              </a:lnSpc>
              <a:spcBef>
                <a:spcPts val="0"/>
              </a:spcBef>
              <a:spcAft>
                <a:spcPts val="0"/>
              </a:spcAft>
              <a:buClr>
                <a:srgbClr val="000000"/>
              </a:buClr>
              <a:buSzPts val="2000"/>
              <a:buFont typeface="Helvetica Neue"/>
              <a:buNone/>
              <a:defRPr sz="2000"/>
            </a:lvl3pPr>
            <a:lvl4pPr marL="1828800" lvl="3" indent="-228600" algn="ctr">
              <a:lnSpc>
                <a:spcPct val="100000"/>
              </a:lnSpc>
              <a:spcBef>
                <a:spcPts val="0"/>
              </a:spcBef>
              <a:spcAft>
                <a:spcPts val="0"/>
              </a:spcAft>
              <a:buClr>
                <a:srgbClr val="000000"/>
              </a:buClr>
              <a:buSzPts val="2000"/>
              <a:buFont typeface="Helvetica Neue"/>
              <a:buNone/>
              <a:defRPr sz="2000"/>
            </a:lvl4pPr>
            <a:lvl5pPr marL="2286000" lvl="4" indent="-228600" algn="ctr">
              <a:lnSpc>
                <a:spcPct val="100000"/>
              </a:lnSpc>
              <a:spcBef>
                <a:spcPts val="0"/>
              </a:spcBef>
              <a:spcAft>
                <a:spcPts val="0"/>
              </a:spcAft>
              <a:buClr>
                <a:srgbClr val="000000"/>
              </a:buClr>
              <a:buSzPts val="2000"/>
              <a:buFont typeface="Helvetica Neue"/>
              <a:buNone/>
              <a:defRPr sz="20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pic>
        <p:nvPicPr>
          <p:cNvPr id="110" name="Google Shape;110;p46" descr="IDseq_logo.png"/>
          <p:cNvPicPr preferRelativeResize="0"/>
          <p:nvPr/>
        </p:nvPicPr>
        <p:blipFill rotWithShape="1">
          <a:blip r:embed="rId2">
            <a:alphaModFix/>
          </a:blip>
          <a:srcRect/>
          <a:stretch/>
        </p:blipFill>
        <p:spPr>
          <a:xfrm>
            <a:off x="8236538" y="96775"/>
            <a:ext cx="815933" cy="264592"/>
          </a:xfrm>
          <a:prstGeom prst="rect">
            <a:avLst/>
          </a:prstGeom>
          <a:noFill/>
          <a:ln>
            <a:noFill/>
          </a:ln>
        </p:spPr>
      </p:pic>
      <p:sp>
        <p:nvSpPr>
          <p:cNvPr id="111" name="Google Shape;111;p46"/>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1000">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1">
  <p:cSld name="TITLE_AND_BODY_1">
    <p:spTree>
      <p:nvGrpSpPr>
        <p:cNvPr id="1" name="Shape 112"/>
        <p:cNvGrpSpPr/>
        <p:nvPr/>
      </p:nvGrpSpPr>
      <p:grpSpPr>
        <a:xfrm>
          <a:off x="0" y="0"/>
          <a:ext cx="0" cy="0"/>
          <a:chOff x="0" y="0"/>
          <a:chExt cx="0" cy="0"/>
        </a:xfrm>
      </p:grpSpPr>
      <p:sp>
        <p:nvSpPr>
          <p:cNvPr id="113" name="Google Shape;113;p47"/>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1000">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14"/>
        <p:cNvGrpSpPr/>
        <p:nvPr/>
      </p:nvGrpSpPr>
      <p:grpSpPr>
        <a:xfrm>
          <a:off x="0" y="0"/>
          <a:ext cx="0" cy="0"/>
          <a:chOff x="0" y="0"/>
          <a:chExt cx="0" cy="0"/>
        </a:xfrm>
      </p:grpSpPr>
      <p:sp>
        <p:nvSpPr>
          <p:cNvPr id="115" name="Google Shape;115;p48"/>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116" name="Google Shape;116;p48"/>
          <p:cNvSpPr txBox="1">
            <a:spLocks noGrp="1"/>
          </p:cNvSpPr>
          <p:nvPr>
            <p:ph type="body" idx="1"/>
          </p:nvPr>
        </p:nvSpPr>
        <p:spPr>
          <a:xfrm>
            <a:off x="633413" y="1181100"/>
            <a:ext cx="7877100" cy="3486000"/>
          </a:xfrm>
          <a:prstGeom prst="rect">
            <a:avLst/>
          </a:prstGeom>
          <a:noFill/>
          <a:ln>
            <a:noFill/>
          </a:ln>
        </p:spPr>
        <p:txBody>
          <a:bodyPr spcFirstLastPara="1" wrap="square" lIns="19050" tIns="19050" rIns="19050" bIns="19050" anchor="ctr" anchorCtr="0">
            <a:noAutofit/>
          </a:bodyPr>
          <a:lstStyle>
            <a:lvl1pPr marL="457200" lvl="0" indent="-374650" algn="l">
              <a:lnSpc>
                <a:spcPct val="100000"/>
              </a:lnSpc>
              <a:spcBef>
                <a:spcPts val="2200"/>
              </a:spcBef>
              <a:spcAft>
                <a:spcPts val="0"/>
              </a:spcAft>
              <a:buClr>
                <a:srgbClr val="000000"/>
              </a:buClr>
              <a:buSzPts val="2300"/>
              <a:buFont typeface="Helvetica Neue"/>
              <a:buChar char="●"/>
              <a:defRPr sz="1800"/>
            </a:lvl1pPr>
            <a:lvl2pPr marL="914400" lvl="1" indent="-374650" algn="l">
              <a:lnSpc>
                <a:spcPct val="100000"/>
              </a:lnSpc>
              <a:spcBef>
                <a:spcPts val="2200"/>
              </a:spcBef>
              <a:spcAft>
                <a:spcPts val="0"/>
              </a:spcAft>
              <a:buClr>
                <a:srgbClr val="000000"/>
              </a:buClr>
              <a:buSzPts val="2300"/>
              <a:buFont typeface="Helvetica Neue"/>
              <a:buChar char="○"/>
              <a:defRPr sz="1800"/>
            </a:lvl2pPr>
            <a:lvl3pPr marL="1371600" lvl="2" indent="-374650" algn="l">
              <a:lnSpc>
                <a:spcPct val="100000"/>
              </a:lnSpc>
              <a:spcBef>
                <a:spcPts val="2200"/>
              </a:spcBef>
              <a:spcAft>
                <a:spcPts val="0"/>
              </a:spcAft>
              <a:buClr>
                <a:srgbClr val="000000"/>
              </a:buClr>
              <a:buSzPts val="2300"/>
              <a:buFont typeface="Helvetica Neue"/>
              <a:buChar char="■"/>
              <a:defRPr sz="1800"/>
            </a:lvl3pPr>
            <a:lvl4pPr marL="1828800" lvl="3" indent="-374650" algn="l">
              <a:lnSpc>
                <a:spcPct val="100000"/>
              </a:lnSpc>
              <a:spcBef>
                <a:spcPts val="2200"/>
              </a:spcBef>
              <a:spcAft>
                <a:spcPts val="0"/>
              </a:spcAft>
              <a:buClr>
                <a:srgbClr val="000000"/>
              </a:buClr>
              <a:buSzPts val="2300"/>
              <a:buFont typeface="Helvetica Neue"/>
              <a:buChar char="●"/>
              <a:defRPr sz="1800"/>
            </a:lvl4pPr>
            <a:lvl5pPr marL="2286000" lvl="4" indent="-374650" algn="l">
              <a:lnSpc>
                <a:spcPct val="100000"/>
              </a:lnSpc>
              <a:spcBef>
                <a:spcPts val="2200"/>
              </a:spcBef>
              <a:spcAft>
                <a:spcPts val="0"/>
              </a:spcAft>
              <a:buClr>
                <a:srgbClr val="000000"/>
              </a:buClr>
              <a:buSzPts val="2300"/>
              <a:buFont typeface="Helvetica Neue"/>
              <a:buChar char="○"/>
              <a:defRPr sz="18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117" name="Google Shape;117;p48"/>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chemeClr val="dk2"/>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1000">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1 1">
  <p:cSld name="Blank">
    <p:spTree>
      <p:nvGrpSpPr>
        <p:cNvPr id="1" name="Shape 118"/>
        <p:cNvGrpSpPr/>
        <p:nvPr/>
      </p:nvGrpSpPr>
      <p:grpSpPr>
        <a:xfrm>
          <a:off x="0" y="0"/>
          <a:ext cx="0" cy="0"/>
          <a:chOff x="0" y="0"/>
          <a:chExt cx="0" cy="0"/>
        </a:xfrm>
      </p:grpSpPr>
      <p:sp>
        <p:nvSpPr>
          <p:cNvPr id="119" name="Google Shape;119;g36dd4466453_0_291"/>
          <p:cNvSpPr txBox="1">
            <a:spLocks noGrp="1"/>
          </p:cNvSpPr>
          <p:nvPr>
            <p:ph type="sldNum" idx="12"/>
          </p:nvPr>
        </p:nvSpPr>
        <p:spPr>
          <a:xfrm>
            <a:off x="4500562" y="4905375"/>
            <a:ext cx="138300" cy="146100"/>
          </a:xfrm>
          <a:prstGeom prst="rect">
            <a:avLst/>
          </a:prstGeom>
          <a:noFill/>
          <a:ln>
            <a:noFill/>
          </a:ln>
        </p:spPr>
        <p:txBody>
          <a:bodyPr spcFirstLastPara="1" wrap="square" lIns="19050" tIns="19050" rIns="19050" bIns="19050" anchor="b" anchorCtr="0">
            <a:spAutoFit/>
          </a:bodyPr>
          <a:lstStyle>
            <a:lvl1pPr marL="0" lvl="0" indent="0" algn="ctr">
              <a:lnSpc>
                <a:spcPct val="100000"/>
              </a:lnSpc>
              <a:spcBef>
                <a:spcPts val="0"/>
              </a:spcBef>
              <a:spcAft>
                <a:spcPts val="0"/>
              </a:spcAft>
              <a:buClr>
                <a:srgbClr val="000000"/>
              </a:buClr>
              <a:buSzPts val="700"/>
              <a:buFont typeface="Helvetica Neue"/>
              <a:buNone/>
              <a:defRPr sz="700">
                <a:solidFill>
                  <a:srgbClr val="000000"/>
                </a:solidFill>
              </a:defRPr>
            </a:lvl1pPr>
            <a:lvl2pPr marL="0" lvl="1" indent="0" algn="ctr">
              <a:lnSpc>
                <a:spcPct val="100000"/>
              </a:lnSpc>
              <a:spcBef>
                <a:spcPts val="0"/>
              </a:spcBef>
              <a:spcAft>
                <a:spcPts val="0"/>
              </a:spcAft>
              <a:buClr>
                <a:srgbClr val="000000"/>
              </a:buClr>
              <a:buSzPts val="700"/>
              <a:buFont typeface="Helvetica Neue"/>
              <a:buNone/>
              <a:defRPr sz="700">
                <a:solidFill>
                  <a:srgbClr val="000000"/>
                </a:solidFill>
              </a:defRPr>
            </a:lvl2pPr>
            <a:lvl3pPr marL="0" lvl="2" indent="0" algn="ctr">
              <a:lnSpc>
                <a:spcPct val="100000"/>
              </a:lnSpc>
              <a:spcBef>
                <a:spcPts val="0"/>
              </a:spcBef>
              <a:spcAft>
                <a:spcPts val="0"/>
              </a:spcAft>
              <a:buClr>
                <a:srgbClr val="000000"/>
              </a:buClr>
              <a:buSzPts val="700"/>
              <a:buFont typeface="Helvetica Neue"/>
              <a:buNone/>
              <a:defRPr sz="700">
                <a:solidFill>
                  <a:srgbClr val="000000"/>
                </a:solidFill>
              </a:defRPr>
            </a:lvl3pPr>
            <a:lvl4pPr marL="0" lvl="3" indent="0" algn="ctr">
              <a:lnSpc>
                <a:spcPct val="100000"/>
              </a:lnSpc>
              <a:spcBef>
                <a:spcPts val="0"/>
              </a:spcBef>
              <a:spcAft>
                <a:spcPts val="0"/>
              </a:spcAft>
              <a:buClr>
                <a:srgbClr val="000000"/>
              </a:buClr>
              <a:buSzPts val="700"/>
              <a:buFont typeface="Helvetica Neue"/>
              <a:buNone/>
              <a:defRPr sz="700">
                <a:solidFill>
                  <a:srgbClr val="000000"/>
                </a:solidFill>
              </a:defRPr>
            </a:lvl4pPr>
            <a:lvl5pPr marL="0" lvl="4" indent="0" algn="ctr">
              <a:lnSpc>
                <a:spcPct val="100000"/>
              </a:lnSpc>
              <a:spcBef>
                <a:spcPts val="0"/>
              </a:spcBef>
              <a:spcAft>
                <a:spcPts val="0"/>
              </a:spcAft>
              <a:buClr>
                <a:srgbClr val="000000"/>
              </a:buClr>
              <a:buSzPts val="700"/>
              <a:buFont typeface="Helvetica Neue"/>
              <a:buNone/>
              <a:defRPr sz="700">
                <a:solidFill>
                  <a:srgbClr val="000000"/>
                </a:solidFill>
              </a:defRPr>
            </a:lvl5pPr>
            <a:lvl6pPr marL="0" lvl="5" indent="0" algn="ctr">
              <a:lnSpc>
                <a:spcPct val="100000"/>
              </a:lnSpc>
              <a:spcBef>
                <a:spcPts val="0"/>
              </a:spcBef>
              <a:spcAft>
                <a:spcPts val="0"/>
              </a:spcAft>
              <a:buClr>
                <a:srgbClr val="000000"/>
              </a:buClr>
              <a:buSzPts val="700"/>
              <a:buFont typeface="Helvetica Neue"/>
              <a:buNone/>
              <a:defRPr sz="700">
                <a:solidFill>
                  <a:srgbClr val="000000"/>
                </a:solidFill>
              </a:defRPr>
            </a:lvl6pPr>
            <a:lvl7pPr marL="0" lvl="6" indent="0" algn="ctr">
              <a:lnSpc>
                <a:spcPct val="100000"/>
              </a:lnSpc>
              <a:spcBef>
                <a:spcPts val="0"/>
              </a:spcBef>
              <a:spcAft>
                <a:spcPts val="0"/>
              </a:spcAft>
              <a:buClr>
                <a:srgbClr val="000000"/>
              </a:buClr>
              <a:buSzPts val="700"/>
              <a:buFont typeface="Helvetica Neue"/>
              <a:buNone/>
              <a:defRPr sz="700">
                <a:solidFill>
                  <a:srgbClr val="000000"/>
                </a:solidFill>
              </a:defRPr>
            </a:lvl7pPr>
            <a:lvl8pPr marL="0" lvl="7" indent="0" algn="ctr">
              <a:lnSpc>
                <a:spcPct val="100000"/>
              </a:lnSpc>
              <a:spcBef>
                <a:spcPts val="0"/>
              </a:spcBef>
              <a:spcAft>
                <a:spcPts val="0"/>
              </a:spcAft>
              <a:buClr>
                <a:srgbClr val="000000"/>
              </a:buClr>
              <a:buSzPts val="700"/>
              <a:buFont typeface="Helvetica Neue"/>
              <a:buNone/>
              <a:defRPr sz="700">
                <a:solidFill>
                  <a:srgbClr val="000000"/>
                </a:solidFill>
              </a:defRPr>
            </a:lvl8pPr>
            <a:lvl9pPr marL="0" lvl="8" indent="0" algn="ctr">
              <a:lnSpc>
                <a:spcPct val="100000"/>
              </a:lnSpc>
              <a:spcBef>
                <a:spcPts val="0"/>
              </a:spcBef>
              <a:spcAft>
                <a:spcPts val="0"/>
              </a:spcAft>
              <a:buClr>
                <a:srgbClr val="000000"/>
              </a:buClr>
              <a:buSzPts val="700"/>
              <a:buFont typeface="Helvetica Neue"/>
              <a:buNone/>
              <a:defRPr sz="700">
                <a:solidFill>
                  <a:srgbClr val="000000"/>
                </a:solidFill>
              </a:defRPr>
            </a:lvl9pPr>
          </a:lstStyle>
          <a:p>
            <a:pPr marL="0" lvl="0" indent="0" algn="ct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4"/>
        <p:cNvGrpSpPr/>
        <p:nvPr/>
      </p:nvGrpSpPr>
      <p:grpSpPr>
        <a:xfrm>
          <a:off x="0" y="0"/>
          <a:ext cx="0" cy="0"/>
          <a:chOff x="0" y="0"/>
          <a:chExt cx="0" cy="0"/>
        </a:xfrm>
      </p:grpSpPr>
      <p:sp>
        <p:nvSpPr>
          <p:cNvPr id="125" name="Google Shape;125;g36dd4466453_0_7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6" name="Google Shape;126;g36dd4466453_0_7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7" name="Google Shape;127;g36dd4466453_0_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8"/>
        <p:cNvGrpSpPr/>
        <p:nvPr/>
      </p:nvGrpSpPr>
      <p:grpSpPr>
        <a:xfrm>
          <a:off x="0" y="0"/>
          <a:ext cx="0" cy="0"/>
          <a:chOff x="0" y="0"/>
          <a:chExt cx="0" cy="0"/>
        </a:xfrm>
      </p:grpSpPr>
      <p:sp>
        <p:nvSpPr>
          <p:cNvPr id="129" name="Google Shape;129;g36dd4466453_0_7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0" name="Google Shape;130;g36dd4466453_0_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1"/>
        <p:cNvGrpSpPr/>
        <p:nvPr/>
      </p:nvGrpSpPr>
      <p:grpSpPr>
        <a:xfrm>
          <a:off x="0" y="0"/>
          <a:ext cx="0" cy="0"/>
          <a:chOff x="0" y="0"/>
          <a:chExt cx="0" cy="0"/>
        </a:xfrm>
      </p:grpSpPr>
      <p:sp>
        <p:nvSpPr>
          <p:cNvPr id="132" name="Google Shape;132;g36dd4466453_0_8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3" name="Google Shape;133;g36dd4466453_0_8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34" name="Google Shape;134;g36dd4466453_0_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5"/>
        <p:cNvGrpSpPr/>
        <p:nvPr/>
      </p:nvGrpSpPr>
      <p:grpSpPr>
        <a:xfrm>
          <a:off x="0" y="0"/>
          <a:ext cx="0" cy="0"/>
          <a:chOff x="0" y="0"/>
          <a:chExt cx="0" cy="0"/>
        </a:xfrm>
      </p:grpSpPr>
      <p:sp>
        <p:nvSpPr>
          <p:cNvPr id="136" name="Google Shape;136;g36dd4466453_0_8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7" name="Google Shape;137;g36dd4466453_0_8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38" name="Google Shape;138;g36dd4466453_0_8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39" name="Google Shape;139;g36dd4466453_0_8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0"/>
        <p:cNvGrpSpPr/>
        <p:nvPr/>
      </p:nvGrpSpPr>
      <p:grpSpPr>
        <a:xfrm>
          <a:off x="0" y="0"/>
          <a:ext cx="0" cy="0"/>
          <a:chOff x="0" y="0"/>
          <a:chExt cx="0" cy="0"/>
        </a:xfrm>
      </p:grpSpPr>
      <p:sp>
        <p:nvSpPr>
          <p:cNvPr id="141" name="Google Shape;141;g36dd4466453_0_9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42" name="Google Shape;142;g36dd4466453_0_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43"/>
        <p:cNvGrpSpPr/>
        <p:nvPr/>
      </p:nvGrpSpPr>
      <p:grpSpPr>
        <a:xfrm>
          <a:off x="0" y="0"/>
          <a:ext cx="0" cy="0"/>
          <a:chOff x="0" y="0"/>
          <a:chExt cx="0" cy="0"/>
        </a:xfrm>
      </p:grpSpPr>
      <p:sp>
        <p:nvSpPr>
          <p:cNvPr id="144" name="Google Shape;144;g36dd4466453_0_94"/>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45" name="Google Shape;145;g36dd4466453_0_94"/>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6" name="Google Shape;146;g36dd4466453_0_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7"/>
        <p:cNvGrpSpPr/>
        <p:nvPr/>
      </p:nvGrpSpPr>
      <p:grpSpPr>
        <a:xfrm>
          <a:off x="0" y="0"/>
          <a:ext cx="0" cy="0"/>
          <a:chOff x="0" y="0"/>
          <a:chExt cx="0" cy="0"/>
        </a:xfrm>
      </p:grpSpPr>
      <p:sp>
        <p:nvSpPr>
          <p:cNvPr id="148" name="Google Shape;148;g36dd4466453_0_9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49" name="Google Shape;149;g36dd4466453_0_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0"/>
        <p:cNvGrpSpPr/>
        <p:nvPr/>
      </p:nvGrpSpPr>
      <p:grpSpPr>
        <a:xfrm>
          <a:off x="0" y="0"/>
          <a:ext cx="0" cy="0"/>
          <a:chOff x="0" y="0"/>
          <a:chExt cx="0" cy="0"/>
        </a:xfrm>
      </p:grpSpPr>
      <p:sp>
        <p:nvSpPr>
          <p:cNvPr id="151" name="Google Shape;151;g36dd4466453_0_10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g36dd4466453_0_10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53" name="Google Shape;153;g36dd4466453_0_10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54" name="Google Shape;154;g36dd4466453_0_10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55" name="Google Shape;155;g36dd4466453_0_10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6"/>
        <p:cNvGrpSpPr/>
        <p:nvPr/>
      </p:nvGrpSpPr>
      <p:grpSpPr>
        <a:xfrm>
          <a:off x="0" y="0"/>
          <a:ext cx="0" cy="0"/>
          <a:chOff x="0" y="0"/>
          <a:chExt cx="0" cy="0"/>
        </a:xfrm>
      </p:grpSpPr>
      <p:sp>
        <p:nvSpPr>
          <p:cNvPr id="157" name="Google Shape;157;g36dd4466453_0_107"/>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58" name="Google Shape;158;g36dd4466453_0_10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59"/>
        <p:cNvGrpSpPr/>
        <p:nvPr/>
      </p:nvGrpSpPr>
      <p:grpSpPr>
        <a:xfrm>
          <a:off x="0" y="0"/>
          <a:ext cx="0" cy="0"/>
          <a:chOff x="0" y="0"/>
          <a:chExt cx="0" cy="0"/>
        </a:xfrm>
      </p:grpSpPr>
      <p:sp>
        <p:nvSpPr>
          <p:cNvPr id="160" name="Google Shape;160;g36dd4466453_0_110"/>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61" name="Google Shape;161;g36dd4466453_0_110"/>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162" name="Google Shape;162;g36dd4466453_0_1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3"/>
        <p:cNvGrpSpPr/>
        <p:nvPr/>
      </p:nvGrpSpPr>
      <p:grpSpPr>
        <a:xfrm>
          <a:off x="0" y="0"/>
          <a:ext cx="0" cy="0"/>
          <a:chOff x="0" y="0"/>
          <a:chExt cx="0" cy="0"/>
        </a:xfrm>
      </p:grpSpPr>
      <p:sp>
        <p:nvSpPr>
          <p:cNvPr id="164" name="Google Shape;164;g36dd4466453_0_1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body 6">
  <p:cSld name="TITLE_AND_BODY_7">
    <p:spTree>
      <p:nvGrpSpPr>
        <p:cNvPr id="1" name="Shape 165"/>
        <p:cNvGrpSpPr/>
        <p:nvPr/>
      </p:nvGrpSpPr>
      <p:grpSpPr>
        <a:xfrm>
          <a:off x="0" y="0"/>
          <a:ext cx="0" cy="0"/>
          <a:chOff x="0" y="0"/>
          <a:chExt cx="0" cy="0"/>
        </a:xfrm>
      </p:grpSpPr>
      <p:sp>
        <p:nvSpPr>
          <p:cNvPr id="166" name="Google Shape;166;g36dd4466453_0_1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7" name="Google Shape;167;g36dd4466453_0_1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68" name="Google Shape;168;g36dd4466453_0_1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Layout">
  <p:cSld name="Blank Layout">
    <p:spTree>
      <p:nvGrpSpPr>
        <p:cNvPr id="1" name="Shape 169"/>
        <p:cNvGrpSpPr/>
        <p:nvPr/>
      </p:nvGrpSpPr>
      <p:grpSpPr>
        <a:xfrm>
          <a:off x="0" y="0"/>
          <a:ext cx="0" cy="0"/>
          <a:chOff x="0" y="0"/>
          <a:chExt cx="0" cy="0"/>
        </a:xfrm>
      </p:grpSpPr>
      <p:sp>
        <p:nvSpPr>
          <p:cNvPr id="170" name="Google Shape;170;g36dd4466453_0_1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1" name="Google Shape;171;g36dd4466453_0_1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2" name="Google Shape;172;g36dd4466453_0_12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173"/>
        <p:cNvGrpSpPr/>
        <p:nvPr/>
      </p:nvGrpSpPr>
      <p:grpSpPr>
        <a:xfrm>
          <a:off x="0" y="0"/>
          <a:ext cx="0" cy="0"/>
          <a:chOff x="0" y="0"/>
          <a:chExt cx="0" cy="0"/>
        </a:xfrm>
      </p:grpSpPr>
      <p:sp>
        <p:nvSpPr>
          <p:cNvPr id="174" name="Google Shape;174;g36dd4466453_0_124"/>
          <p:cNvSpPr txBox="1">
            <a:spLocks noGrp="1"/>
          </p:cNvSpPr>
          <p:nvPr>
            <p:ph type="sldNum" idx="12"/>
          </p:nvPr>
        </p:nvSpPr>
        <p:spPr>
          <a:xfrm>
            <a:off x="4500562" y="4905375"/>
            <a:ext cx="138300" cy="146100"/>
          </a:xfrm>
          <a:prstGeom prst="rect">
            <a:avLst/>
          </a:prstGeom>
          <a:noFill/>
          <a:ln>
            <a:noFill/>
          </a:ln>
        </p:spPr>
        <p:txBody>
          <a:bodyPr spcFirstLastPara="1" wrap="square" lIns="19050" tIns="19050" rIns="19050" bIns="19050" anchor="b" anchorCtr="0">
            <a:spAutoFit/>
          </a:bodyPr>
          <a:lstStyle>
            <a:lvl1pPr marL="0" lvl="0" indent="0" algn="ctr">
              <a:lnSpc>
                <a:spcPct val="100000"/>
              </a:lnSpc>
              <a:spcBef>
                <a:spcPts val="0"/>
              </a:spcBef>
              <a:spcAft>
                <a:spcPts val="0"/>
              </a:spcAft>
              <a:buClr>
                <a:srgbClr val="000000"/>
              </a:buClr>
              <a:buSzPts val="700"/>
              <a:buFont typeface="Helvetica Neue"/>
              <a:buNone/>
              <a:defRPr sz="700">
                <a:solidFill>
                  <a:srgbClr val="000000"/>
                </a:solidFill>
              </a:defRPr>
            </a:lvl1pPr>
            <a:lvl2pPr marL="0" lvl="1" indent="0" algn="ctr">
              <a:lnSpc>
                <a:spcPct val="100000"/>
              </a:lnSpc>
              <a:spcBef>
                <a:spcPts val="0"/>
              </a:spcBef>
              <a:spcAft>
                <a:spcPts val="0"/>
              </a:spcAft>
              <a:buClr>
                <a:srgbClr val="000000"/>
              </a:buClr>
              <a:buSzPts val="700"/>
              <a:buFont typeface="Helvetica Neue"/>
              <a:buNone/>
              <a:defRPr sz="700">
                <a:solidFill>
                  <a:srgbClr val="000000"/>
                </a:solidFill>
              </a:defRPr>
            </a:lvl2pPr>
            <a:lvl3pPr marL="0" lvl="2" indent="0" algn="ctr">
              <a:lnSpc>
                <a:spcPct val="100000"/>
              </a:lnSpc>
              <a:spcBef>
                <a:spcPts val="0"/>
              </a:spcBef>
              <a:spcAft>
                <a:spcPts val="0"/>
              </a:spcAft>
              <a:buClr>
                <a:srgbClr val="000000"/>
              </a:buClr>
              <a:buSzPts val="700"/>
              <a:buFont typeface="Helvetica Neue"/>
              <a:buNone/>
              <a:defRPr sz="700">
                <a:solidFill>
                  <a:srgbClr val="000000"/>
                </a:solidFill>
              </a:defRPr>
            </a:lvl3pPr>
            <a:lvl4pPr marL="0" lvl="3" indent="0" algn="ctr">
              <a:lnSpc>
                <a:spcPct val="100000"/>
              </a:lnSpc>
              <a:spcBef>
                <a:spcPts val="0"/>
              </a:spcBef>
              <a:spcAft>
                <a:spcPts val="0"/>
              </a:spcAft>
              <a:buClr>
                <a:srgbClr val="000000"/>
              </a:buClr>
              <a:buSzPts val="700"/>
              <a:buFont typeface="Helvetica Neue"/>
              <a:buNone/>
              <a:defRPr sz="700">
                <a:solidFill>
                  <a:srgbClr val="000000"/>
                </a:solidFill>
              </a:defRPr>
            </a:lvl4pPr>
            <a:lvl5pPr marL="0" lvl="4" indent="0" algn="ctr">
              <a:lnSpc>
                <a:spcPct val="100000"/>
              </a:lnSpc>
              <a:spcBef>
                <a:spcPts val="0"/>
              </a:spcBef>
              <a:spcAft>
                <a:spcPts val="0"/>
              </a:spcAft>
              <a:buClr>
                <a:srgbClr val="000000"/>
              </a:buClr>
              <a:buSzPts val="700"/>
              <a:buFont typeface="Helvetica Neue"/>
              <a:buNone/>
              <a:defRPr sz="700">
                <a:solidFill>
                  <a:srgbClr val="000000"/>
                </a:solidFill>
              </a:defRPr>
            </a:lvl5pPr>
            <a:lvl6pPr marL="0" lvl="5" indent="0" algn="ctr">
              <a:lnSpc>
                <a:spcPct val="100000"/>
              </a:lnSpc>
              <a:spcBef>
                <a:spcPts val="0"/>
              </a:spcBef>
              <a:spcAft>
                <a:spcPts val="0"/>
              </a:spcAft>
              <a:buClr>
                <a:srgbClr val="000000"/>
              </a:buClr>
              <a:buSzPts val="700"/>
              <a:buFont typeface="Helvetica Neue"/>
              <a:buNone/>
              <a:defRPr sz="700">
                <a:solidFill>
                  <a:srgbClr val="000000"/>
                </a:solidFill>
              </a:defRPr>
            </a:lvl6pPr>
            <a:lvl7pPr marL="0" lvl="6" indent="0" algn="ctr">
              <a:lnSpc>
                <a:spcPct val="100000"/>
              </a:lnSpc>
              <a:spcBef>
                <a:spcPts val="0"/>
              </a:spcBef>
              <a:spcAft>
                <a:spcPts val="0"/>
              </a:spcAft>
              <a:buClr>
                <a:srgbClr val="000000"/>
              </a:buClr>
              <a:buSzPts val="700"/>
              <a:buFont typeface="Helvetica Neue"/>
              <a:buNone/>
              <a:defRPr sz="700">
                <a:solidFill>
                  <a:srgbClr val="000000"/>
                </a:solidFill>
              </a:defRPr>
            </a:lvl7pPr>
            <a:lvl8pPr marL="0" lvl="7" indent="0" algn="ctr">
              <a:lnSpc>
                <a:spcPct val="100000"/>
              </a:lnSpc>
              <a:spcBef>
                <a:spcPts val="0"/>
              </a:spcBef>
              <a:spcAft>
                <a:spcPts val="0"/>
              </a:spcAft>
              <a:buClr>
                <a:srgbClr val="000000"/>
              </a:buClr>
              <a:buSzPts val="700"/>
              <a:buFont typeface="Helvetica Neue"/>
              <a:buNone/>
              <a:defRPr sz="700">
                <a:solidFill>
                  <a:srgbClr val="000000"/>
                </a:solidFill>
              </a:defRPr>
            </a:lvl8pPr>
            <a:lvl9pPr marL="0" lvl="8" indent="0" algn="ctr">
              <a:lnSpc>
                <a:spcPct val="100000"/>
              </a:lnSpc>
              <a:spcBef>
                <a:spcPts val="0"/>
              </a:spcBef>
              <a:spcAft>
                <a:spcPts val="0"/>
              </a:spcAft>
              <a:buClr>
                <a:srgbClr val="000000"/>
              </a:buClr>
              <a:buSzPts val="700"/>
              <a:buFont typeface="Helvetica Neue"/>
              <a:buNone/>
              <a:defRPr sz="700">
                <a:solidFill>
                  <a:srgbClr val="000000"/>
                </a:solidFill>
              </a:defRPr>
            </a:lvl9pPr>
          </a:lstStyle>
          <a:p>
            <a:pPr marL="0" lvl="0" indent="0" algn="ct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75"/>
        <p:cNvGrpSpPr/>
        <p:nvPr/>
      </p:nvGrpSpPr>
      <p:grpSpPr>
        <a:xfrm>
          <a:off x="0" y="0"/>
          <a:ext cx="0" cy="0"/>
          <a:chOff x="0" y="0"/>
          <a:chExt cx="0" cy="0"/>
        </a:xfrm>
      </p:grpSpPr>
      <p:sp>
        <p:nvSpPr>
          <p:cNvPr id="176" name="Google Shape;176;g36dd4466453_0_126"/>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rm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177" name="Google Shape;177;g36dd4466453_0_126"/>
          <p:cNvSpPr txBox="1">
            <a:spLocks noGrp="1"/>
          </p:cNvSpPr>
          <p:nvPr>
            <p:ph type="body" idx="1"/>
          </p:nvPr>
        </p:nvSpPr>
        <p:spPr>
          <a:xfrm>
            <a:off x="633413" y="1181100"/>
            <a:ext cx="7877100" cy="3486000"/>
          </a:xfrm>
          <a:prstGeom prst="rect">
            <a:avLst/>
          </a:prstGeom>
          <a:noFill/>
          <a:ln>
            <a:noFill/>
          </a:ln>
        </p:spPr>
        <p:txBody>
          <a:bodyPr spcFirstLastPara="1" wrap="square" lIns="19050" tIns="19050" rIns="19050" bIns="19050" anchor="ctr" anchorCtr="0">
            <a:normAutofit/>
          </a:bodyPr>
          <a:lstStyle>
            <a:lvl1pPr marL="457200" lvl="0" indent="-374650" algn="l">
              <a:lnSpc>
                <a:spcPct val="100000"/>
              </a:lnSpc>
              <a:spcBef>
                <a:spcPts val="2200"/>
              </a:spcBef>
              <a:spcAft>
                <a:spcPts val="0"/>
              </a:spcAft>
              <a:buClr>
                <a:srgbClr val="000000"/>
              </a:buClr>
              <a:buSzPts val="2300"/>
              <a:buFont typeface="Helvetica Neue"/>
              <a:buChar char="●"/>
              <a:defRPr sz="1800"/>
            </a:lvl1pPr>
            <a:lvl2pPr marL="914400" lvl="1" indent="-374650" algn="l">
              <a:lnSpc>
                <a:spcPct val="100000"/>
              </a:lnSpc>
              <a:spcBef>
                <a:spcPts val="2200"/>
              </a:spcBef>
              <a:spcAft>
                <a:spcPts val="0"/>
              </a:spcAft>
              <a:buClr>
                <a:srgbClr val="000000"/>
              </a:buClr>
              <a:buSzPts val="2300"/>
              <a:buFont typeface="Helvetica Neue"/>
              <a:buChar char="○"/>
              <a:defRPr sz="1800"/>
            </a:lvl2pPr>
            <a:lvl3pPr marL="1371600" lvl="2" indent="-374650" algn="l">
              <a:lnSpc>
                <a:spcPct val="100000"/>
              </a:lnSpc>
              <a:spcBef>
                <a:spcPts val="2200"/>
              </a:spcBef>
              <a:spcAft>
                <a:spcPts val="0"/>
              </a:spcAft>
              <a:buClr>
                <a:srgbClr val="000000"/>
              </a:buClr>
              <a:buSzPts val="2300"/>
              <a:buFont typeface="Helvetica Neue"/>
              <a:buChar char="■"/>
              <a:defRPr sz="1800"/>
            </a:lvl3pPr>
            <a:lvl4pPr marL="1828800" lvl="3" indent="-374650" algn="l">
              <a:lnSpc>
                <a:spcPct val="100000"/>
              </a:lnSpc>
              <a:spcBef>
                <a:spcPts val="2200"/>
              </a:spcBef>
              <a:spcAft>
                <a:spcPts val="0"/>
              </a:spcAft>
              <a:buClr>
                <a:srgbClr val="000000"/>
              </a:buClr>
              <a:buSzPts val="2300"/>
              <a:buFont typeface="Helvetica Neue"/>
              <a:buChar char="●"/>
              <a:defRPr sz="1800"/>
            </a:lvl4pPr>
            <a:lvl5pPr marL="2286000" lvl="4" indent="-374650" algn="l">
              <a:lnSpc>
                <a:spcPct val="100000"/>
              </a:lnSpc>
              <a:spcBef>
                <a:spcPts val="2200"/>
              </a:spcBef>
              <a:spcAft>
                <a:spcPts val="0"/>
              </a:spcAft>
              <a:buClr>
                <a:srgbClr val="000000"/>
              </a:buClr>
              <a:buSzPts val="2300"/>
              <a:buFont typeface="Helvetica Neue"/>
              <a:buChar char="○"/>
              <a:defRPr sz="18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178" name="Google Shape;178;g36dd4466453_0_126"/>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rmAutofit lnSpcReduction="10000"/>
          </a:bodyPr>
          <a:lstStyle>
            <a:lvl1pPr marL="0" lvl="0" indent="0" algn="ctr">
              <a:lnSpc>
                <a:spcPct val="100000"/>
              </a:lnSpc>
              <a:spcBef>
                <a:spcPts val="0"/>
              </a:spcBef>
              <a:spcAft>
                <a:spcPts val="0"/>
              </a:spcAft>
              <a:buClr>
                <a:srgbClr val="000000"/>
              </a:buClr>
              <a:buSzPts val="900"/>
              <a:buFont typeface="Helvetica Neue Light"/>
              <a:buNone/>
              <a:defRPr sz="900"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900"/>
              <a:buFont typeface="Helvetica Neue Light"/>
              <a:buNone/>
              <a:defRPr sz="900"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900"/>
              <a:buFont typeface="Helvetica Neue Light"/>
              <a:buNone/>
              <a:defRPr sz="900"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900"/>
              <a:buFont typeface="Helvetica Neue Light"/>
              <a:buNone/>
              <a:defRPr sz="900"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900"/>
              <a:buFont typeface="Helvetica Neue Light"/>
              <a:buNone/>
              <a:defRPr sz="900"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900"/>
              <a:buFont typeface="Helvetica Neue Light"/>
              <a:buNone/>
              <a:defRPr sz="900"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900"/>
              <a:buFont typeface="Helvetica Neue Light"/>
              <a:buNone/>
              <a:defRPr sz="900"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900"/>
              <a:buFont typeface="Helvetica Neue Light"/>
              <a:buNone/>
              <a:defRPr sz="900"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900"/>
              <a:buFont typeface="Helvetica Neue Light"/>
              <a:buNone/>
              <a:defRPr sz="900" b="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1000">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2.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6" Type="http://schemas.openxmlformats.org/officeDocument/2006/relationships/theme" Target="../theme/theme3.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
        <p:nvSpPr>
          <p:cNvPr id="57" name="Google Shape;57;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8" name="Google Shape;58;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9" name="Google Shape;59;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20"/>
        <p:cNvGrpSpPr/>
        <p:nvPr/>
      </p:nvGrpSpPr>
      <p:grpSpPr>
        <a:xfrm>
          <a:off x="0" y="0"/>
          <a:ext cx="0" cy="0"/>
          <a:chOff x="0" y="0"/>
          <a:chExt cx="0" cy="0"/>
        </a:xfrm>
      </p:grpSpPr>
      <p:sp>
        <p:nvSpPr>
          <p:cNvPr id="121" name="Google Shape;121;g36dd4466453_0_7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22" name="Google Shape;122;g36dd4466453_0_7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123" name="Google Shape;123;g36dd4466453_0_7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0.xml"/><Relationship Id="rId7"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nanoporetech.com/products/prepare" TargetMode="External"/><Relationship Id="rId2" Type="http://schemas.openxmlformats.org/officeDocument/2006/relationships/notesSlide" Target="../notesSlides/notesSlide9.xml"/><Relationship Id="rId1" Type="http://schemas.openxmlformats.org/officeDocument/2006/relationships/slideLayout" Target="../slideLayouts/slideLayout43.xml"/></Relationships>
</file>

<file path=ppt/slides/_rels/slide10.xml.rels><?xml version="1.0" encoding="UTF-8" standalone="yes"?>
<Relationships xmlns="http://schemas.openxmlformats.org/package/2006/relationships"><Relationship Id="rId3" Type="http://schemas.openxmlformats.org/officeDocument/2006/relationships/hyperlink" Target="https://nanoporetech.com/products/prepare" TargetMode="External"/><Relationship Id="rId2" Type="http://schemas.openxmlformats.org/officeDocument/2006/relationships/notesSlide" Target="../notesSlides/notesSlide10.xml"/><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4.jp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2688/wellcomeopenres.17170.2"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dx.doi.org/10.17504/protocols.io.7w5hpg6" TargetMode="Externa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9.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hyperlink" Target="https://docs.google.com/document/d/1m1GAYVJLR2WueXbKJRGtXC2HRtq9rfFpHO802sllTvg/edit?tab=t.0#heading=h.k3kdvfip77tz"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
          <p:cNvSpPr txBox="1">
            <a:spLocks noGrp="1"/>
          </p:cNvSpPr>
          <p:nvPr>
            <p:ph type="body" idx="2"/>
          </p:nvPr>
        </p:nvSpPr>
        <p:spPr>
          <a:xfrm>
            <a:off x="1418073" y="1422943"/>
            <a:ext cx="6668100" cy="1162200"/>
          </a:xfrm>
          <a:prstGeom prst="rect">
            <a:avLst/>
          </a:prstGeom>
          <a:noFill/>
          <a:ln>
            <a:noFill/>
          </a:ln>
        </p:spPr>
        <p:txBody>
          <a:bodyPr spcFirstLastPara="1" wrap="square" lIns="26775" tIns="26775" rIns="26775" bIns="26775" anchor="ctr" anchorCtr="0">
            <a:spAutoFit/>
          </a:bodyPr>
          <a:lstStyle/>
          <a:p>
            <a:pPr marL="0" marR="0" lvl="0" indent="0" algn="ctr" rtl="0">
              <a:lnSpc>
                <a:spcPct val="90000"/>
              </a:lnSpc>
              <a:spcBef>
                <a:spcPts val="0"/>
              </a:spcBef>
              <a:spcAft>
                <a:spcPts val="0"/>
              </a:spcAft>
              <a:buClr>
                <a:srgbClr val="000000"/>
              </a:buClr>
              <a:buSzPts val="3200"/>
              <a:buFont typeface="Lato"/>
              <a:buNone/>
            </a:pPr>
            <a:r>
              <a:rPr lang="en" sz="4000" b="1" i="1">
                <a:latin typeface="Lato"/>
                <a:ea typeface="Lato"/>
                <a:cs typeface="Lato"/>
                <a:sym typeface="Lato"/>
              </a:rPr>
              <a:t>RNA Library Prep for ONT metagenomics</a:t>
            </a:r>
            <a:endParaRPr sz="4000"/>
          </a:p>
        </p:txBody>
      </p:sp>
      <p:sp>
        <p:nvSpPr>
          <p:cNvPr id="2" name="TextBox 1">
            <a:extLst>
              <a:ext uri="{FF2B5EF4-FFF2-40B4-BE49-F238E27FC236}">
                <a16:creationId xmlns:a16="http://schemas.microsoft.com/office/drawing/2014/main" id="{F3B6C253-DECB-95AA-4A52-B308883AEB5E}"/>
              </a:ext>
            </a:extLst>
          </p:cNvPr>
          <p:cNvSpPr txBox="1"/>
          <p:nvPr/>
        </p:nvSpPr>
        <p:spPr>
          <a:xfrm>
            <a:off x="6735713" y="4745966"/>
            <a:ext cx="2530208"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 Revised 01/12/2026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6b88196631_0_0"/>
          <p:cNvSpPr/>
          <p:nvPr/>
        </p:nvSpPr>
        <p:spPr>
          <a:xfrm>
            <a:off x="337700" y="937675"/>
            <a:ext cx="8594700" cy="959100"/>
          </a:xfrm>
          <a:prstGeom prst="stripedRightArrow">
            <a:avLst>
              <a:gd name="adj1" fmla="val 67480"/>
              <a:gd name="adj2" fmla="val 147356"/>
            </a:avLst>
          </a:pr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g36b88196631_0_0"/>
          <p:cNvSpPr txBox="1">
            <a:spLocks noGrp="1"/>
          </p:cNvSpPr>
          <p:nvPr>
            <p:ph type="title"/>
          </p:nvPr>
        </p:nvSpPr>
        <p:spPr>
          <a:xfrm>
            <a:off x="2065200" y="973675"/>
            <a:ext cx="4755600" cy="887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sz="4400" b="1">
                <a:solidFill>
                  <a:schemeClr val="accent1"/>
                </a:solidFill>
              </a:rPr>
              <a:t>mNGS pipeline</a:t>
            </a:r>
            <a:endParaRPr sz="4400" b="1">
              <a:solidFill>
                <a:schemeClr val="accent1"/>
              </a:solidFill>
            </a:endParaRPr>
          </a:p>
        </p:txBody>
      </p:sp>
      <p:sp>
        <p:nvSpPr>
          <p:cNvPr id="191" name="Google Shape;191;g36b88196631_0_0"/>
          <p:cNvSpPr txBox="1"/>
          <p:nvPr/>
        </p:nvSpPr>
        <p:spPr>
          <a:xfrm>
            <a:off x="250750" y="1997100"/>
            <a:ext cx="1030500" cy="43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Study design</a:t>
            </a:r>
            <a:endParaRPr sz="1400" b="0" i="0" u="none" strike="noStrike" cap="none">
              <a:solidFill>
                <a:srgbClr val="000000"/>
              </a:solidFill>
              <a:latin typeface="Arial"/>
              <a:ea typeface="Arial"/>
              <a:cs typeface="Arial"/>
              <a:sym typeface="Arial"/>
            </a:endParaRPr>
          </a:p>
        </p:txBody>
      </p:sp>
      <p:sp>
        <p:nvSpPr>
          <p:cNvPr id="192" name="Google Shape;192;g36b88196631_0_0"/>
          <p:cNvSpPr txBox="1"/>
          <p:nvPr/>
        </p:nvSpPr>
        <p:spPr>
          <a:xfrm>
            <a:off x="1640775" y="1997100"/>
            <a:ext cx="1030500" cy="43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Nucleic acid extraction</a:t>
            </a:r>
            <a:endParaRPr sz="1400" b="0" i="0" u="none" strike="noStrike" cap="none">
              <a:solidFill>
                <a:srgbClr val="000000"/>
              </a:solidFill>
              <a:latin typeface="Arial"/>
              <a:ea typeface="Arial"/>
              <a:cs typeface="Arial"/>
              <a:sym typeface="Arial"/>
            </a:endParaRPr>
          </a:p>
        </p:txBody>
      </p:sp>
      <p:sp>
        <p:nvSpPr>
          <p:cNvPr id="193" name="Google Shape;193;g36b88196631_0_0"/>
          <p:cNvSpPr txBox="1"/>
          <p:nvPr/>
        </p:nvSpPr>
        <p:spPr>
          <a:xfrm>
            <a:off x="2950075" y="2073300"/>
            <a:ext cx="1213500" cy="43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Library prep</a:t>
            </a:r>
            <a:endParaRPr sz="1400" b="0" i="0" u="none" strike="noStrike" cap="none">
              <a:solidFill>
                <a:srgbClr val="000000"/>
              </a:solidFill>
              <a:latin typeface="Arial"/>
              <a:ea typeface="Arial"/>
              <a:cs typeface="Arial"/>
              <a:sym typeface="Arial"/>
            </a:endParaRPr>
          </a:p>
        </p:txBody>
      </p:sp>
      <p:sp>
        <p:nvSpPr>
          <p:cNvPr id="194" name="Google Shape;194;g36b88196631_0_0"/>
          <p:cNvSpPr txBox="1"/>
          <p:nvPr/>
        </p:nvSpPr>
        <p:spPr>
          <a:xfrm>
            <a:off x="4592180" y="2073300"/>
            <a:ext cx="1213500" cy="43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Sequencing</a:t>
            </a:r>
            <a:endParaRPr sz="1400" b="0" i="0" u="none" strike="noStrike" cap="none">
              <a:solidFill>
                <a:srgbClr val="000000"/>
              </a:solidFill>
              <a:latin typeface="Arial"/>
              <a:ea typeface="Arial"/>
              <a:cs typeface="Arial"/>
              <a:sym typeface="Arial"/>
            </a:endParaRPr>
          </a:p>
        </p:txBody>
      </p:sp>
      <p:sp>
        <p:nvSpPr>
          <p:cNvPr id="195" name="Google Shape;195;g36b88196631_0_0"/>
          <p:cNvSpPr txBox="1"/>
          <p:nvPr/>
        </p:nvSpPr>
        <p:spPr>
          <a:xfrm>
            <a:off x="6132613" y="2073300"/>
            <a:ext cx="1344600" cy="43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Data analysis</a:t>
            </a:r>
            <a:endParaRPr sz="1400" b="0" i="0" u="none" strike="noStrike" cap="none">
              <a:solidFill>
                <a:srgbClr val="000000"/>
              </a:solidFill>
              <a:latin typeface="Arial"/>
              <a:ea typeface="Arial"/>
              <a:cs typeface="Arial"/>
              <a:sym typeface="Arial"/>
            </a:endParaRPr>
          </a:p>
        </p:txBody>
      </p:sp>
      <p:pic>
        <p:nvPicPr>
          <p:cNvPr id="196" name="Google Shape;196;g36b88196631_0_0"/>
          <p:cNvPicPr preferRelativeResize="0"/>
          <p:nvPr/>
        </p:nvPicPr>
        <p:blipFill rotWithShape="1">
          <a:blip r:embed="rId3">
            <a:alphaModFix/>
          </a:blip>
          <a:srcRect l="14551" r="17610" b="13941"/>
          <a:stretch/>
        </p:blipFill>
        <p:spPr>
          <a:xfrm>
            <a:off x="4679550" y="2582100"/>
            <a:ext cx="1126125" cy="959049"/>
          </a:xfrm>
          <a:prstGeom prst="rect">
            <a:avLst/>
          </a:prstGeom>
          <a:noFill/>
          <a:ln>
            <a:noFill/>
          </a:ln>
        </p:spPr>
      </p:pic>
      <p:grpSp>
        <p:nvGrpSpPr>
          <p:cNvPr id="197" name="Google Shape;197;g36b88196631_0_0"/>
          <p:cNvGrpSpPr/>
          <p:nvPr/>
        </p:nvGrpSpPr>
        <p:grpSpPr>
          <a:xfrm>
            <a:off x="6241849" y="2675988"/>
            <a:ext cx="1126132" cy="877745"/>
            <a:chOff x="5059375" y="3618825"/>
            <a:chExt cx="1583426" cy="1234175"/>
          </a:xfrm>
        </p:grpSpPr>
        <p:pic>
          <p:nvPicPr>
            <p:cNvPr id="198" name="Google Shape;198;g36b88196631_0_0" descr="A screenshot of a cell phone&#10;&#10;Description automatically generated"/>
            <p:cNvPicPr preferRelativeResize="0"/>
            <p:nvPr/>
          </p:nvPicPr>
          <p:blipFill rotWithShape="1">
            <a:blip r:embed="rId4">
              <a:alphaModFix/>
            </a:blip>
            <a:srcRect l="47032" t="64641" r="26636" b="6039"/>
            <a:stretch/>
          </p:blipFill>
          <p:spPr>
            <a:xfrm>
              <a:off x="5059375" y="3618825"/>
              <a:ext cx="1583426" cy="1234175"/>
            </a:xfrm>
            <a:prstGeom prst="rect">
              <a:avLst/>
            </a:prstGeom>
            <a:noFill/>
            <a:ln>
              <a:noFill/>
            </a:ln>
          </p:spPr>
        </p:pic>
        <p:sp>
          <p:nvSpPr>
            <p:cNvPr id="199" name="Google Shape;199;g36b88196631_0_0"/>
            <p:cNvSpPr/>
            <p:nvPr/>
          </p:nvSpPr>
          <p:spPr>
            <a:xfrm>
              <a:off x="5111211" y="3670860"/>
              <a:ext cx="1459500" cy="832200"/>
            </a:xfrm>
            <a:prstGeom prst="rect">
              <a:avLst/>
            </a:prstGeom>
            <a:solidFill>
              <a:srgbClr val="E7E6E6"/>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00" name="Google Shape;200;g36b88196631_0_0"/>
          <p:cNvPicPr preferRelativeResize="0"/>
          <p:nvPr/>
        </p:nvPicPr>
        <p:blipFill rotWithShape="1">
          <a:blip r:embed="rId5">
            <a:alphaModFix/>
          </a:blip>
          <a:srcRect l="13069" t="15507" r="15081" b="13226"/>
          <a:stretch/>
        </p:blipFill>
        <p:spPr>
          <a:xfrm>
            <a:off x="379113" y="2600500"/>
            <a:ext cx="871875" cy="1028700"/>
          </a:xfrm>
          <a:prstGeom prst="rect">
            <a:avLst/>
          </a:prstGeom>
          <a:noFill/>
          <a:ln>
            <a:noFill/>
          </a:ln>
        </p:spPr>
      </p:pic>
      <p:pic>
        <p:nvPicPr>
          <p:cNvPr id="201" name="Google Shape;201;g36b88196631_0_0"/>
          <p:cNvPicPr preferRelativeResize="0"/>
          <p:nvPr/>
        </p:nvPicPr>
        <p:blipFill rotWithShape="1">
          <a:blip r:embed="rId6">
            <a:alphaModFix/>
          </a:blip>
          <a:srcRect/>
          <a:stretch/>
        </p:blipFill>
        <p:spPr>
          <a:xfrm rot="1149689">
            <a:off x="1852262" y="2799463"/>
            <a:ext cx="607525" cy="727927"/>
          </a:xfrm>
          <a:prstGeom prst="rect">
            <a:avLst/>
          </a:prstGeom>
          <a:noFill/>
          <a:ln>
            <a:noFill/>
          </a:ln>
        </p:spPr>
      </p:pic>
      <p:pic>
        <p:nvPicPr>
          <p:cNvPr id="202" name="Google Shape;202;g36b88196631_0_0"/>
          <p:cNvPicPr preferRelativeResize="0"/>
          <p:nvPr/>
        </p:nvPicPr>
        <p:blipFill rotWithShape="1">
          <a:blip r:embed="rId7">
            <a:alphaModFix/>
          </a:blip>
          <a:srcRect b="50614"/>
          <a:stretch/>
        </p:blipFill>
        <p:spPr>
          <a:xfrm>
            <a:off x="2884550" y="2751866"/>
            <a:ext cx="1344551" cy="725959"/>
          </a:xfrm>
          <a:prstGeom prst="rect">
            <a:avLst/>
          </a:prstGeom>
          <a:noFill/>
          <a:ln>
            <a:noFill/>
          </a:ln>
        </p:spPr>
      </p:pic>
      <p:cxnSp>
        <p:nvCxnSpPr>
          <p:cNvPr id="203" name="Google Shape;203;g36b88196631_0_0"/>
          <p:cNvCxnSpPr/>
          <p:nvPr/>
        </p:nvCxnSpPr>
        <p:spPr>
          <a:xfrm rot="10800000" flipH="1">
            <a:off x="7638150" y="3105125"/>
            <a:ext cx="309300" cy="1500"/>
          </a:xfrm>
          <a:prstGeom prst="straightConnector1">
            <a:avLst/>
          </a:prstGeom>
          <a:noFill/>
          <a:ln w="19050" cap="flat" cmpd="sng">
            <a:solidFill>
              <a:srgbClr val="FF0000"/>
            </a:solidFill>
            <a:prstDash val="solid"/>
            <a:round/>
            <a:headEnd type="none" w="sm" len="sm"/>
            <a:tailEnd type="none" w="sm" len="sm"/>
          </a:ln>
        </p:spPr>
      </p:cxnSp>
      <p:grpSp>
        <p:nvGrpSpPr>
          <p:cNvPr id="204" name="Google Shape;204;g36b88196631_0_0"/>
          <p:cNvGrpSpPr/>
          <p:nvPr/>
        </p:nvGrpSpPr>
        <p:grpSpPr>
          <a:xfrm>
            <a:off x="7765375" y="2437625"/>
            <a:ext cx="1252725" cy="1357550"/>
            <a:chOff x="7841575" y="1370825"/>
            <a:chExt cx="1252725" cy="1357550"/>
          </a:xfrm>
        </p:grpSpPr>
        <p:sp>
          <p:nvSpPr>
            <p:cNvPr id="205" name="Google Shape;205;g36b88196631_0_0"/>
            <p:cNvSpPr/>
            <p:nvPr/>
          </p:nvSpPr>
          <p:spPr>
            <a:xfrm>
              <a:off x="7841575" y="1486750"/>
              <a:ext cx="1122600" cy="1122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6" name="Google Shape;206;g36b88196631_0_0"/>
            <p:cNvPicPr preferRelativeResize="0"/>
            <p:nvPr/>
          </p:nvPicPr>
          <p:blipFill rotWithShape="1">
            <a:blip r:embed="rId8">
              <a:alphaModFix/>
            </a:blip>
            <a:srcRect/>
            <a:stretch/>
          </p:blipFill>
          <p:spPr>
            <a:xfrm>
              <a:off x="8147262" y="1685076"/>
              <a:ext cx="502137" cy="725949"/>
            </a:xfrm>
            <a:prstGeom prst="rect">
              <a:avLst/>
            </a:prstGeom>
            <a:noFill/>
            <a:ln>
              <a:noFill/>
            </a:ln>
          </p:spPr>
        </p:pic>
        <p:sp>
          <p:nvSpPr>
            <p:cNvPr id="207" name="Google Shape;207;g36b88196631_0_0"/>
            <p:cNvSpPr/>
            <p:nvPr/>
          </p:nvSpPr>
          <p:spPr>
            <a:xfrm>
              <a:off x="7887625" y="1532800"/>
              <a:ext cx="1030500" cy="10305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08" name="Google Shape;208;g36b88196631_0_0"/>
            <p:cNvCxnSpPr/>
            <p:nvPr/>
          </p:nvCxnSpPr>
          <p:spPr>
            <a:xfrm>
              <a:off x="8395325" y="2446075"/>
              <a:ext cx="3000" cy="282300"/>
            </a:xfrm>
            <a:prstGeom prst="straightConnector1">
              <a:avLst/>
            </a:prstGeom>
            <a:noFill/>
            <a:ln w="19050" cap="flat" cmpd="sng">
              <a:solidFill>
                <a:srgbClr val="FF0000"/>
              </a:solidFill>
              <a:prstDash val="solid"/>
              <a:round/>
              <a:headEnd type="none" w="sm" len="sm"/>
              <a:tailEnd type="none" w="sm" len="sm"/>
            </a:ln>
          </p:spPr>
        </p:cxnSp>
        <p:cxnSp>
          <p:nvCxnSpPr>
            <p:cNvPr id="209" name="Google Shape;209;g36b88196631_0_0"/>
            <p:cNvCxnSpPr/>
            <p:nvPr/>
          </p:nvCxnSpPr>
          <p:spPr>
            <a:xfrm>
              <a:off x="8401375" y="1370825"/>
              <a:ext cx="3000" cy="282300"/>
            </a:xfrm>
            <a:prstGeom prst="straightConnector1">
              <a:avLst/>
            </a:prstGeom>
            <a:noFill/>
            <a:ln w="19050" cap="flat" cmpd="sng">
              <a:solidFill>
                <a:srgbClr val="FF0000"/>
              </a:solidFill>
              <a:prstDash val="solid"/>
              <a:round/>
              <a:headEnd type="none" w="sm" len="sm"/>
              <a:tailEnd type="none" w="sm" len="sm"/>
            </a:ln>
          </p:spPr>
        </p:cxnSp>
        <p:cxnSp>
          <p:nvCxnSpPr>
            <p:cNvPr id="210" name="Google Shape;210;g36b88196631_0_0"/>
            <p:cNvCxnSpPr/>
            <p:nvPr/>
          </p:nvCxnSpPr>
          <p:spPr>
            <a:xfrm rot="10800000" flipH="1">
              <a:off x="8785000" y="2038325"/>
              <a:ext cx="309300" cy="1500"/>
            </a:xfrm>
            <a:prstGeom prst="straightConnector1">
              <a:avLst/>
            </a:prstGeom>
            <a:noFill/>
            <a:ln w="19050" cap="flat" cmpd="sng">
              <a:solidFill>
                <a:srgbClr val="FF0000"/>
              </a:solidFill>
              <a:prstDash val="solid"/>
              <a:round/>
              <a:headEnd type="none" w="sm" len="sm"/>
              <a:tailEnd type="none" w="sm" len="sm"/>
            </a:ln>
          </p:spPr>
        </p:cxnSp>
      </p:grpSp>
      <p:sp>
        <p:nvSpPr>
          <p:cNvPr id="211" name="Google Shape;211;g36b88196631_0_0"/>
          <p:cNvSpPr txBox="1"/>
          <p:nvPr/>
        </p:nvSpPr>
        <p:spPr>
          <a:xfrm>
            <a:off x="7650363" y="2073300"/>
            <a:ext cx="1344600" cy="43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Pathogen ID</a:t>
            </a:r>
            <a:endParaRPr sz="1400" b="0" i="0" u="none" strike="noStrike" cap="none">
              <a:solidFill>
                <a:srgbClr val="000000"/>
              </a:solidFill>
              <a:latin typeface="Arial"/>
              <a:ea typeface="Arial"/>
              <a:cs typeface="Arial"/>
              <a:sym typeface="Arial"/>
            </a:endParaRPr>
          </a:p>
        </p:txBody>
      </p:sp>
      <p:sp>
        <p:nvSpPr>
          <p:cNvPr id="212" name="Google Shape;212;g36b88196631_0_0"/>
          <p:cNvSpPr/>
          <p:nvPr/>
        </p:nvSpPr>
        <p:spPr>
          <a:xfrm>
            <a:off x="1599450" y="1997100"/>
            <a:ext cx="1126200" cy="1684500"/>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g36b88196631_0_27"/>
          <p:cNvPicPr preferRelativeResize="0"/>
          <p:nvPr/>
        </p:nvPicPr>
        <p:blipFill rotWithShape="1">
          <a:blip r:embed="rId3">
            <a:alphaModFix/>
          </a:blip>
          <a:srcRect/>
          <a:stretch/>
        </p:blipFill>
        <p:spPr>
          <a:xfrm rot="1149694">
            <a:off x="3773998" y="2192784"/>
            <a:ext cx="1596001" cy="1912308"/>
          </a:xfrm>
          <a:prstGeom prst="rect">
            <a:avLst/>
          </a:prstGeom>
          <a:noFill/>
          <a:ln>
            <a:noFill/>
          </a:ln>
        </p:spPr>
      </p:pic>
      <p:sp>
        <p:nvSpPr>
          <p:cNvPr id="218" name="Google Shape;218;g36b88196631_0_27"/>
          <p:cNvSpPr txBox="1"/>
          <p:nvPr/>
        </p:nvSpPr>
        <p:spPr>
          <a:xfrm>
            <a:off x="948900" y="661200"/>
            <a:ext cx="7246200" cy="36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5000"/>
              <a:buFont typeface="Arial"/>
              <a:buNone/>
            </a:pPr>
            <a:r>
              <a:rPr lang="en" sz="5000" b="1" i="0" u="none" strike="noStrike" cap="none">
                <a:solidFill>
                  <a:srgbClr val="D9D9D9"/>
                </a:solidFill>
                <a:latin typeface="Arial"/>
                <a:ea typeface="Arial"/>
                <a:cs typeface="Arial"/>
                <a:sym typeface="Arial"/>
              </a:rPr>
              <a:t>Nucleic acid extraction</a:t>
            </a:r>
            <a:endParaRPr sz="5000" b="1" i="0" u="none" strike="noStrike" cap="none">
              <a:solidFill>
                <a:srgbClr val="D9D9D9"/>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g36b88196631_0_32"/>
          <p:cNvSpPr txBox="1">
            <a:spLocks noGrp="1"/>
          </p:cNvSpPr>
          <p:nvPr>
            <p:ph type="body" idx="1"/>
          </p:nvPr>
        </p:nvSpPr>
        <p:spPr>
          <a:xfrm>
            <a:off x="325750" y="1000075"/>
            <a:ext cx="8277900" cy="3886200"/>
          </a:xfrm>
          <a:prstGeom prst="rect">
            <a:avLst/>
          </a:prstGeom>
          <a:noFill/>
          <a:ln>
            <a:noFill/>
          </a:ln>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Before extraction: </a:t>
            </a:r>
            <a:endParaRPr/>
          </a:p>
          <a:p>
            <a:pPr marL="914400" lvl="1" indent="-317500" algn="l" rtl="0">
              <a:spcBef>
                <a:spcPts val="0"/>
              </a:spcBef>
              <a:spcAft>
                <a:spcPts val="0"/>
              </a:spcAft>
              <a:buSzPts val="1400"/>
              <a:buChar char="○"/>
            </a:pPr>
            <a:r>
              <a:rPr lang="en"/>
              <a:t>Spin down to remove host cells (extract supernatant)</a:t>
            </a:r>
            <a:endParaRPr/>
          </a:p>
          <a:p>
            <a:pPr marL="457200" lvl="0" indent="-342900" algn="l" rtl="0">
              <a:spcBef>
                <a:spcPts val="0"/>
              </a:spcBef>
              <a:spcAft>
                <a:spcPts val="0"/>
              </a:spcAft>
              <a:buSzPts val="1800"/>
              <a:buChar char="●"/>
            </a:pPr>
            <a:r>
              <a:rPr lang="en"/>
              <a:t>Choose type:</a:t>
            </a:r>
            <a:endParaRPr/>
          </a:p>
          <a:p>
            <a:pPr marL="914400" lvl="1" indent="-317500" algn="l" rtl="0">
              <a:spcBef>
                <a:spcPts val="0"/>
              </a:spcBef>
              <a:spcAft>
                <a:spcPts val="0"/>
              </a:spcAft>
              <a:buSzPts val="1400"/>
              <a:buChar char="○"/>
            </a:pPr>
            <a:r>
              <a:rPr lang="en"/>
              <a:t>DNA:</a:t>
            </a:r>
            <a:endParaRPr/>
          </a:p>
          <a:p>
            <a:pPr marL="1371600" lvl="2" indent="-317500" algn="l" rtl="0">
              <a:spcBef>
                <a:spcPts val="0"/>
              </a:spcBef>
              <a:spcAft>
                <a:spcPts val="0"/>
              </a:spcAft>
              <a:buSzPts val="1400"/>
              <a:buChar char="■"/>
            </a:pPr>
            <a:r>
              <a:rPr lang="en"/>
              <a:t>Detect bacteria, parasites, fungi, DNA viruses</a:t>
            </a:r>
            <a:endParaRPr/>
          </a:p>
          <a:p>
            <a:pPr marL="914400" lvl="1" indent="-317500" algn="l" rtl="0">
              <a:spcBef>
                <a:spcPts val="0"/>
              </a:spcBef>
              <a:spcAft>
                <a:spcPts val="0"/>
              </a:spcAft>
              <a:buSzPts val="1400"/>
              <a:buChar char="○"/>
            </a:pPr>
            <a:r>
              <a:rPr lang="en"/>
              <a:t>RNA:</a:t>
            </a:r>
            <a:endParaRPr/>
          </a:p>
          <a:p>
            <a:pPr marL="1371600" lvl="2" indent="-317500" algn="l" rtl="0">
              <a:spcBef>
                <a:spcPts val="0"/>
              </a:spcBef>
              <a:spcAft>
                <a:spcPts val="0"/>
              </a:spcAft>
              <a:buSzPts val="1400"/>
              <a:buChar char="■"/>
            </a:pPr>
            <a:r>
              <a:rPr lang="en"/>
              <a:t>All the above + RNA viruses (!)</a:t>
            </a:r>
            <a:endParaRPr/>
          </a:p>
          <a:p>
            <a:pPr marL="1371600" lvl="2" indent="-317500" algn="l" rtl="0">
              <a:spcBef>
                <a:spcPts val="0"/>
              </a:spcBef>
              <a:spcAft>
                <a:spcPts val="0"/>
              </a:spcAft>
              <a:buSzPts val="1400"/>
              <a:buChar char="■"/>
            </a:pPr>
            <a:r>
              <a:rPr lang="en"/>
              <a:t>Requires optimal sample quality, degrades very fast</a:t>
            </a:r>
            <a:endParaRPr/>
          </a:p>
          <a:p>
            <a:pPr marL="1371600" lvl="2" indent="-317500" algn="l" rtl="0">
              <a:spcBef>
                <a:spcPts val="0"/>
              </a:spcBef>
              <a:spcAft>
                <a:spcPts val="0"/>
              </a:spcAft>
              <a:buSzPts val="1400"/>
              <a:buChar char="■"/>
            </a:pPr>
            <a:r>
              <a:rPr lang="en"/>
              <a:t>Keep cold at all times!</a:t>
            </a:r>
            <a:endParaRPr/>
          </a:p>
          <a:p>
            <a:pPr marL="914400" lvl="1" indent="-317500" algn="l" rtl="0">
              <a:spcBef>
                <a:spcPts val="0"/>
              </a:spcBef>
              <a:spcAft>
                <a:spcPts val="0"/>
              </a:spcAft>
              <a:buSzPts val="1400"/>
              <a:buChar char="○"/>
            </a:pPr>
            <a:r>
              <a:rPr lang="en"/>
              <a:t>TNA (total nucleic acid):</a:t>
            </a:r>
            <a:endParaRPr/>
          </a:p>
          <a:p>
            <a:pPr marL="1371600" lvl="2" indent="-317500" algn="l" rtl="0">
              <a:spcBef>
                <a:spcPts val="0"/>
              </a:spcBef>
              <a:spcAft>
                <a:spcPts val="0"/>
              </a:spcAft>
              <a:buSzPts val="1400"/>
              <a:buChar char="■"/>
            </a:pPr>
            <a:r>
              <a:rPr lang="en"/>
              <a:t>DNA + RNA</a:t>
            </a:r>
            <a:endParaRPr/>
          </a:p>
          <a:p>
            <a:pPr marL="1371600" lvl="2" indent="-317500" algn="l" rtl="0">
              <a:spcBef>
                <a:spcPts val="0"/>
              </a:spcBef>
              <a:spcAft>
                <a:spcPts val="0"/>
              </a:spcAft>
              <a:buSzPts val="1400"/>
              <a:buChar char="■"/>
            </a:pPr>
            <a:r>
              <a:rPr lang="en"/>
              <a:t>Requires DNAse I step for RNA-mNGS</a:t>
            </a:r>
            <a:endParaRPr/>
          </a:p>
          <a:p>
            <a:pPr marL="457200" lvl="0" indent="-342900" algn="l" rtl="0">
              <a:spcBef>
                <a:spcPts val="0"/>
              </a:spcBef>
              <a:spcAft>
                <a:spcPts val="0"/>
              </a:spcAft>
              <a:buSzPts val="1800"/>
              <a:buChar char="●"/>
            </a:pPr>
            <a:r>
              <a:rPr lang="en"/>
              <a:t>Column vs bead-based extraction</a:t>
            </a:r>
            <a:endParaRPr sz="1700">
              <a:solidFill>
                <a:srgbClr val="000000"/>
              </a:solidFill>
            </a:endParaRPr>
          </a:p>
        </p:txBody>
      </p:sp>
      <p:pic>
        <p:nvPicPr>
          <p:cNvPr id="224" name="Google Shape;224;g36b88196631_0_32"/>
          <p:cNvPicPr preferRelativeResize="0"/>
          <p:nvPr/>
        </p:nvPicPr>
        <p:blipFill rotWithShape="1">
          <a:blip r:embed="rId3">
            <a:alphaModFix/>
          </a:blip>
          <a:srcRect/>
          <a:stretch/>
        </p:blipFill>
        <p:spPr>
          <a:xfrm rot="1149625">
            <a:off x="303810" y="289397"/>
            <a:ext cx="477581" cy="572204"/>
          </a:xfrm>
          <a:prstGeom prst="rect">
            <a:avLst/>
          </a:prstGeom>
          <a:noFill/>
          <a:ln>
            <a:noFill/>
          </a:ln>
        </p:spPr>
      </p:pic>
      <p:sp>
        <p:nvSpPr>
          <p:cNvPr id="225" name="Google Shape;225;g36b88196631_0_32"/>
          <p:cNvSpPr txBox="1">
            <a:spLocks noGrp="1"/>
          </p:cNvSpPr>
          <p:nvPr>
            <p:ph type="title"/>
          </p:nvPr>
        </p:nvSpPr>
        <p:spPr>
          <a:xfrm>
            <a:off x="939400" y="252725"/>
            <a:ext cx="68169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xNA extraction</a:t>
            </a:r>
            <a:endParaRPr/>
          </a:p>
        </p:txBody>
      </p:sp>
      <p:sp>
        <p:nvSpPr>
          <p:cNvPr id="226" name="Google Shape;226;g36b88196631_0_32"/>
          <p:cNvSpPr txBox="1"/>
          <p:nvPr/>
        </p:nvSpPr>
        <p:spPr>
          <a:xfrm>
            <a:off x="5936650" y="74050"/>
            <a:ext cx="3136500" cy="15471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600"/>
              <a:buFont typeface="Arial"/>
              <a:buNone/>
            </a:pPr>
            <a:r>
              <a:rPr lang="en" sz="1600" b="0" i="0" u="none" strike="noStrike" cap="none">
                <a:solidFill>
                  <a:srgbClr val="FF0000"/>
                </a:solidFill>
                <a:latin typeface="Arial"/>
                <a:ea typeface="Arial"/>
                <a:cs typeface="Arial"/>
                <a:sym typeface="Arial"/>
              </a:rPr>
              <a:t>Key points:</a:t>
            </a:r>
            <a:endParaRPr sz="1600" b="0" i="0" u="none" strike="noStrike" cap="none">
              <a:solidFill>
                <a:srgbClr val="FF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600"/>
              <a:buFont typeface="Arial"/>
              <a:buNone/>
            </a:pPr>
            <a:r>
              <a:rPr lang="en" sz="1600" b="0" i="0" u="none" strike="noStrike" cap="none">
                <a:solidFill>
                  <a:srgbClr val="FF0000"/>
                </a:solidFill>
                <a:latin typeface="Arial"/>
                <a:ea typeface="Arial"/>
                <a:cs typeface="Arial"/>
                <a:sym typeface="Arial"/>
              </a:rPr>
              <a:t>✓ Minimize cross-contamination</a:t>
            </a:r>
            <a:endParaRPr sz="1600" b="0" i="0" u="none" strike="noStrike" cap="none">
              <a:solidFill>
                <a:srgbClr val="FF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600"/>
              <a:buFont typeface="Arial"/>
              <a:buNone/>
            </a:pPr>
            <a:r>
              <a:rPr lang="en" sz="1600" b="0" i="0" u="none" strike="noStrike" cap="none">
                <a:solidFill>
                  <a:srgbClr val="FF0000"/>
                </a:solidFill>
                <a:latin typeface="Arial"/>
                <a:ea typeface="Arial"/>
                <a:cs typeface="Arial"/>
                <a:sym typeface="Arial"/>
              </a:rPr>
              <a:t>✓ Preserve sample quality</a:t>
            </a:r>
            <a:endParaRPr sz="1600" b="0" i="0" u="none" strike="noStrike" cap="none">
              <a:solidFill>
                <a:srgbClr val="FF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232" name="Google Shape;232;g36b88196631_0_39"/>
          <p:cNvPicPr preferRelativeResize="0"/>
          <p:nvPr/>
        </p:nvPicPr>
        <p:blipFill rotWithShape="1">
          <a:blip r:embed="rId4">
            <a:alphaModFix/>
          </a:blip>
          <a:srcRect/>
          <a:stretch/>
        </p:blipFill>
        <p:spPr>
          <a:xfrm>
            <a:off x="6627693" y="697356"/>
            <a:ext cx="2000250" cy="1750219"/>
          </a:xfrm>
          <a:prstGeom prst="rect">
            <a:avLst/>
          </a:prstGeom>
          <a:noFill/>
          <a:ln>
            <a:noFill/>
          </a:ln>
        </p:spPr>
      </p:pic>
      <p:sp>
        <p:nvSpPr>
          <p:cNvPr id="233" name="Google Shape;233;g36b88196631_0_39"/>
          <p:cNvSpPr/>
          <p:nvPr/>
        </p:nvSpPr>
        <p:spPr>
          <a:xfrm>
            <a:off x="6042826" y="971300"/>
            <a:ext cx="2988000" cy="3085200"/>
          </a:xfrm>
          <a:prstGeom prst="roundRect">
            <a:avLst>
              <a:gd name="adj" fmla="val 8590"/>
            </a:avLst>
          </a:prstGeom>
          <a:noFill/>
          <a:ln w="2540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234" name="Google Shape;234;g36b88196631_0_39"/>
          <p:cNvPicPr preferRelativeResize="0"/>
          <p:nvPr/>
        </p:nvPicPr>
        <p:blipFill rotWithShape="1">
          <a:blip r:embed="rId5">
            <a:alphaModFix/>
          </a:blip>
          <a:srcRect/>
          <a:stretch/>
        </p:blipFill>
        <p:spPr>
          <a:xfrm>
            <a:off x="439857" y="697356"/>
            <a:ext cx="2000250" cy="1750219"/>
          </a:xfrm>
          <a:prstGeom prst="rect">
            <a:avLst/>
          </a:prstGeom>
          <a:noFill/>
          <a:ln>
            <a:noFill/>
          </a:ln>
        </p:spPr>
      </p:pic>
      <p:pic>
        <p:nvPicPr>
          <p:cNvPr id="235" name="Google Shape;235;g36b88196631_0_39"/>
          <p:cNvPicPr preferRelativeResize="0"/>
          <p:nvPr/>
        </p:nvPicPr>
        <p:blipFill rotWithShape="1">
          <a:blip r:embed="rId6">
            <a:alphaModFix/>
          </a:blip>
          <a:srcRect/>
          <a:stretch/>
        </p:blipFill>
        <p:spPr>
          <a:xfrm>
            <a:off x="3440818" y="697356"/>
            <a:ext cx="2000250" cy="1750219"/>
          </a:xfrm>
          <a:prstGeom prst="rect">
            <a:avLst/>
          </a:prstGeom>
          <a:noFill/>
          <a:ln>
            <a:noFill/>
          </a:ln>
        </p:spPr>
      </p:pic>
      <p:sp>
        <p:nvSpPr>
          <p:cNvPr id="236" name="Google Shape;236;g36b88196631_0_39"/>
          <p:cNvSpPr txBox="1"/>
          <p:nvPr/>
        </p:nvSpPr>
        <p:spPr>
          <a:xfrm>
            <a:off x="205099" y="2147200"/>
            <a:ext cx="2641500" cy="2769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1" u="none" strike="noStrike" cap="none">
                <a:solidFill>
                  <a:schemeClr val="dk1"/>
                </a:solidFill>
                <a:latin typeface="Calibri"/>
                <a:ea typeface="Calibri"/>
                <a:cs typeface="Calibri"/>
                <a:sym typeface="Calibri"/>
              </a:rPr>
              <a:t>Quick</a:t>
            </a:r>
            <a:r>
              <a:rPr lang="en" sz="1400" b="0" i="0" u="none" strike="noStrike" cap="none">
                <a:solidFill>
                  <a:schemeClr val="dk1"/>
                </a:solidFill>
                <a:latin typeface="Calibri"/>
                <a:ea typeface="Calibri"/>
                <a:cs typeface="Calibri"/>
                <a:sym typeface="Calibri"/>
              </a:rPr>
              <a:t>-DNA/RNA Microprep Plus</a:t>
            </a:r>
            <a:endParaRPr sz="1100" b="0" i="0" u="none" strike="noStrike" cap="none">
              <a:solidFill>
                <a:srgbClr val="000000"/>
              </a:solidFill>
              <a:latin typeface="Arial"/>
              <a:ea typeface="Arial"/>
              <a:cs typeface="Arial"/>
              <a:sym typeface="Arial"/>
            </a:endParaRPr>
          </a:p>
        </p:txBody>
      </p:sp>
      <p:sp>
        <p:nvSpPr>
          <p:cNvPr id="237" name="Google Shape;237;g36b88196631_0_39"/>
          <p:cNvSpPr txBox="1"/>
          <p:nvPr/>
        </p:nvSpPr>
        <p:spPr>
          <a:xfrm>
            <a:off x="3225962" y="2149775"/>
            <a:ext cx="2445900" cy="2769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1" u="none" strike="noStrike" cap="none">
                <a:solidFill>
                  <a:schemeClr val="dk1"/>
                </a:solidFill>
                <a:latin typeface="Calibri"/>
                <a:ea typeface="Calibri"/>
                <a:cs typeface="Calibri"/>
                <a:sym typeface="Calibri"/>
              </a:rPr>
              <a:t>Quick</a:t>
            </a:r>
            <a:r>
              <a:rPr lang="en" sz="1400" b="0" i="0" u="none" strike="noStrike" cap="none">
                <a:solidFill>
                  <a:schemeClr val="dk1"/>
                </a:solidFill>
                <a:latin typeface="Calibri"/>
                <a:ea typeface="Calibri"/>
                <a:cs typeface="Calibri"/>
                <a:sym typeface="Calibri"/>
              </a:rPr>
              <a:t>-DNA/RNA Miniprep Plus</a:t>
            </a:r>
            <a:endParaRPr sz="1100" b="0" i="0" u="none" strike="noStrike" cap="none">
              <a:solidFill>
                <a:srgbClr val="000000"/>
              </a:solidFill>
              <a:latin typeface="Arial"/>
              <a:ea typeface="Arial"/>
              <a:cs typeface="Arial"/>
              <a:sym typeface="Arial"/>
            </a:endParaRPr>
          </a:p>
        </p:txBody>
      </p:sp>
      <p:sp>
        <p:nvSpPr>
          <p:cNvPr id="238" name="Google Shape;238;g36b88196631_0_39"/>
          <p:cNvSpPr txBox="1"/>
          <p:nvPr/>
        </p:nvSpPr>
        <p:spPr>
          <a:xfrm>
            <a:off x="6207850" y="2147200"/>
            <a:ext cx="2763300" cy="2769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1" u="none" strike="noStrike" cap="none">
                <a:solidFill>
                  <a:schemeClr val="dk1"/>
                </a:solidFill>
                <a:latin typeface="Calibri"/>
                <a:ea typeface="Calibri"/>
                <a:cs typeface="Calibri"/>
                <a:sym typeface="Calibri"/>
              </a:rPr>
              <a:t>Quick</a:t>
            </a:r>
            <a:r>
              <a:rPr lang="en" sz="1400" b="0" i="0" u="none" strike="noStrike" cap="none">
                <a:solidFill>
                  <a:schemeClr val="dk1"/>
                </a:solidFill>
                <a:latin typeface="Calibri"/>
                <a:ea typeface="Calibri"/>
                <a:cs typeface="Calibri"/>
                <a:sym typeface="Calibri"/>
              </a:rPr>
              <a:t>-DNA/RNA Pathogen Magbead</a:t>
            </a:r>
            <a:endParaRPr sz="1400" b="0" i="0" u="none" strike="noStrike" cap="none">
              <a:solidFill>
                <a:schemeClr val="dk1"/>
              </a:solidFill>
              <a:latin typeface="Calibri"/>
              <a:ea typeface="Calibri"/>
              <a:cs typeface="Calibri"/>
              <a:sym typeface="Calibri"/>
            </a:endParaRPr>
          </a:p>
        </p:txBody>
      </p:sp>
      <p:sp>
        <p:nvSpPr>
          <p:cNvPr id="239" name="Google Shape;239;g36b88196631_0_39"/>
          <p:cNvSpPr txBox="1"/>
          <p:nvPr/>
        </p:nvSpPr>
        <p:spPr>
          <a:xfrm>
            <a:off x="657326" y="2482400"/>
            <a:ext cx="1689300" cy="2769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50 preps for $399</a:t>
            </a:r>
            <a:endParaRPr sz="1100" b="0" i="0" u="none" strike="noStrike" cap="none">
              <a:solidFill>
                <a:srgbClr val="000000"/>
              </a:solidFill>
              <a:latin typeface="Arial"/>
              <a:ea typeface="Arial"/>
              <a:cs typeface="Arial"/>
              <a:sym typeface="Arial"/>
            </a:endParaRPr>
          </a:p>
        </p:txBody>
      </p:sp>
      <p:sp>
        <p:nvSpPr>
          <p:cNvPr id="240" name="Google Shape;240;g36b88196631_0_39"/>
          <p:cNvSpPr txBox="1"/>
          <p:nvPr/>
        </p:nvSpPr>
        <p:spPr>
          <a:xfrm>
            <a:off x="3636751" y="2482400"/>
            <a:ext cx="1579800" cy="2769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50 preps for $399</a:t>
            </a:r>
            <a:endParaRPr sz="1100" b="0" i="0" u="none" strike="noStrike" cap="none">
              <a:solidFill>
                <a:srgbClr val="000000"/>
              </a:solidFill>
              <a:latin typeface="Arial"/>
              <a:ea typeface="Arial"/>
              <a:cs typeface="Arial"/>
              <a:sym typeface="Arial"/>
            </a:endParaRPr>
          </a:p>
        </p:txBody>
      </p:sp>
      <p:sp>
        <p:nvSpPr>
          <p:cNvPr id="241" name="Google Shape;241;g36b88196631_0_39"/>
          <p:cNvSpPr txBox="1"/>
          <p:nvPr/>
        </p:nvSpPr>
        <p:spPr>
          <a:xfrm>
            <a:off x="6744850" y="2482400"/>
            <a:ext cx="1689300" cy="2769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96 preps for $293</a:t>
            </a:r>
            <a:endParaRPr sz="1100" b="0" i="0" u="none" strike="noStrike" cap="none">
              <a:solidFill>
                <a:srgbClr val="000000"/>
              </a:solidFill>
              <a:latin typeface="Arial"/>
              <a:ea typeface="Arial"/>
              <a:cs typeface="Arial"/>
              <a:sym typeface="Arial"/>
            </a:endParaRPr>
          </a:p>
        </p:txBody>
      </p:sp>
      <p:sp>
        <p:nvSpPr>
          <p:cNvPr id="242" name="Google Shape;242;g36b88196631_0_39"/>
          <p:cNvSpPr txBox="1"/>
          <p:nvPr/>
        </p:nvSpPr>
        <p:spPr>
          <a:xfrm>
            <a:off x="7011700" y="2794225"/>
            <a:ext cx="1155600" cy="2769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Bead-based</a:t>
            </a:r>
            <a:endParaRPr sz="1100" b="0" i="0" u="none" strike="noStrike" cap="none">
              <a:solidFill>
                <a:srgbClr val="000000"/>
              </a:solidFill>
              <a:latin typeface="Arial"/>
              <a:ea typeface="Arial"/>
              <a:cs typeface="Arial"/>
              <a:sym typeface="Arial"/>
            </a:endParaRPr>
          </a:p>
        </p:txBody>
      </p:sp>
      <p:sp>
        <p:nvSpPr>
          <p:cNvPr id="243" name="Google Shape;243;g36b88196631_0_39"/>
          <p:cNvSpPr txBox="1"/>
          <p:nvPr/>
        </p:nvSpPr>
        <p:spPr>
          <a:xfrm>
            <a:off x="3716452" y="2794225"/>
            <a:ext cx="1378500" cy="2769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Column-based</a:t>
            </a:r>
            <a:endParaRPr sz="1100" b="0" i="0" u="none" strike="noStrike" cap="none">
              <a:solidFill>
                <a:srgbClr val="000000"/>
              </a:solidFill>
              <a:latin typeface="Arial"/>
              <a:ea typeface="Arial"/>
              <a:cs typeface="Arial"/>
              <a:sym typeface="Arial"/>
            </a:endParaRPr>
          </a:p>
        </p:txBody>
      </p:sp>
      <p:sp>
        <p:nvSpPr>
          <p:cNvPr id="244" name="Google Shape;244;g36b88196631_0_39"/>
          <p:cNvSpPr txBox="1"/>
          <p:nvPr/>
        </p:nvSpPr>
        <p:spPr>
          <a:xfrm>
            <a:off x="765226" y="2794225"/>
            <a:ext cx="1470000" cy="2769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Column-based</a:t>
            </a:r>
            <a:endParaRPr sz="1100" b="0" i="0" u="none" strike="noStrike" cap="none">
              <a:solidFill>
                <a:srgbClr val="000000"/>
              </a:solidFill>
              <a:latin typeface="Arial"/>
              <a:ea typeface="Arial"/>
              <a:cs typeface="Arial"/>
              <a:sym typeface="Arial"/>
            </a:endParaRPr>
          </a:p>
        </p:txBody>
      </p:sp>
      <p:sp>
        <p:nvSpPr>
          <p:cNvPr id="245" name="Google Shape;245;g36b88196631_0_39"/>
          <p:cNvSpPr txBox="1"/>
          <p:nvPr/>
        </p:nvSpPr>
        <p:spPr>
          <a:xfrm>
            <a:off x="6271600" y="3106050"/>
            <a:ext cx="2699700" cy="829200"/>
          </a:xfrm>
          <a:prstGeom prst="rect">
            <a:avLst/>
          </a:prstGeom>
          <a:noFill/>
          <a:ln>
            <a:noFill/>
          </a:ln>
        </p:spPr>
        <p:txBody>
          <a:bodyPr spcFirstLastPara="1" wrap="square" lIns="68575" tIns="34275" rIns="68575" bIns="34275" anchor="t" anchorCtr="0">
            <a:noAutofit/>
          </a:bodyPr>
          <a:lstStyle/>
          <a:p>
            <a:pPr marL="0" marR="0" lvl="0" indent="0" algn="l" rtl="0">
              <a:lnSpc>
                <a:spcPct val="125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Requires extra:</a:t>
            </a:r>
            <a:endParaRPr sz="1100" b="0" i="0" u="none" strike="noStrike" cap="none">
              <a:solidFill>
                <a:srgbClr val="000000"/>
              </a:solidFill>
              <a:latin typeface="Arial"/>
              <a:ea typeface="Arial"/>
              <a:cs typeface="Arial"/>
              <a:sym typeface="Arial"/>
            </a:endParaRPr>
          </a:p>
          <a:p>
            <a:pPr marL="215900" marR="0" lvl="0" indent="-215900" algn="l" rtl="0">
              <a:lnSpc>
                <a:spcPct val="125000"/>
              </a:lnSpc>
              <a:spcBef>
                <a:spcPts val="0"/>
              </a:spcBef>
              <a:spcAft>
                <a:spcPts val="0"/>
              </a:spcAft>
              <a:buClr>
                <a:schemeClr val="dk1"/>
              </a:buClr>
              <a:buSzPts val="1400"/>
              <a:buFont typeface="Noto Sans Symbols"/>
              <a:buChar char="✔"/>
            </a:pPr>
            <a:r>
              <a:rPr lang="en" sz="1400" b="0" i="0" u="none" strike="noStrike" cap="none">
                <a:solidFill>
                  <a:schemeClr val="dk1"/>
                </a:solidFill>
                <a:latin typeface="Calibri"/>
                <a:ea typeface="Calibri"/>
                <a:cs typeface="Calibri"/>
                <a:sym typeface="Calibri"/>
              </a:rPr>
              <a:t>Magnet stand (CZB Engineers)</a:t>
            </a:r>
            <a:endParaRPr sz="1100" b="0" i="0" u="none" strike="noStrike" cap="none">
              <a:solidFill>
                <a:srgbClr val="000000"/>
              </a:solidFill>
              <a:latin typeface="Arial"/>
              <a:ea typeface="Arial"/>
              <a:cs typeface="Arial"/>
              <a:sym typeface="Arial"/>
            </a:endParaRPr>
          </a:p>
          <a:p>
            <a:pPr marL="215900" marR="0" lvl="0" indent="-215900" algn="l" rtl="0">
              <a:lnSpc>
                <a:spcPct val="125000"/>
              </a:lnSpc>
              <a:spcBef>
                <a:spcPts val="0"/>
              </a:spcBef>
              <a:spcAft>
                <a:spcPts val="0"/>
              </a:spcAft>
              <a:buClr>
                <a:schemeClr val="dk1"/>
              </a:buClr>
              <a:buSzPts val="1400"/>
              <a:buFont typeface="Noto Sans Symbols"/>
              <a:buChar char="✔"/>
            </a:pPr>
            <a:r>
              <a:rPr lang="en" sz="1400" b="0" i="0" u="none" strike="noStrike" cap="none">
                <a:solidFill>
                  <a:schemeClr val="dk1"/>
                </a:solidFill>
                <a:latin typeface="Calibri"/>
                <a:ea typeface="Calibri"/>
                <a:cs typeface="Calibri"/>
                <a:sym typeface="Calibri"/>
              </a:rPr>
              <a:t>β-mercaptoethanol</a:t>
            </a:r>
            <a:endParaRPr sz="1400" b="0" i="0" u="none" strike="noStrike" cap="none">
              <a:solidFill>
                <a:schemeClr val="dk1"/>
              </a:solidFill>
              <a:latin typeface="Calibri"/>
              <a:ea typeface="Calibri"/>
              <a:cs typeface="Calibri"/>
              <a:sym typeface="Calibri"/>
            </a:endParaRPr>
          </a:p>
        </p:txBody>
      </p:sp>
      <p:sp>
        <p:nvSpPr>
          <p:cNvPr id="246" name="Google Shape;246;g36b88196631_0_39"/>
          <p:cNvSpPr txBox="1"/>
          <p:nvPr/>
        </p:nvSpPr>
        <p:spPr>
          <a:xfrm>
            <a:off x="211250" y="3623650"/>
            <a:ext cx="6780900" cy="1327200"/>
          </a:xfrm>
          <a:prstGeom prst="rect">
            <a:avLst/>
          </a:prstGeom>
          <a:noFill/>
          <a:ln>
            <a:noFill/>
          </a:ln>
        </p:spPr>
        <p:txBody>
          <a:bodyPr spcFirstLastPara="1" wrap="square" lIns="68575" tIns="34275" rIns="68575" bIns="34275" anchor="t" anchorCtr="0">
            <a:noAutofit/>
          </a:bodyPr>
          <a:lstStyle/>
          <a:p>
            <a:pPr marL="0" marR="0" lvl="0" indent="0" algn="l" rtl="0">
              <a:lnSpc>
                <a:spcPct val="125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Extra reagents to buy:</a:t>
            </a:r>
            <a:endParaRPr sz="1400" b="0" i="0" u="none" strike="noStrike" cap="none">
              <a:solidFill>
                <a:schemeClr val="dk1"/>
              </a:solidFill>
              <a:latin typeface="Calibri"/>
              <a:ea typeface="Calibri"/>
              <a:cs typeface="Calibri"/>
              <a:sym typeface="Calibri"/>
            </a:endParaRPr>
          </a:p>
          <a:p>
            <a:pPr marL="215900" marR="0" lvl="0" indent="-215900" algn="l" rtl="0">
              <a:lnSpc>
                <a:spcPct val="125000"/>
              </a:lnSpc>
              <a:spcBef>
                <a:spcPts val="0"/>
              </a:spcBef>
              <a:spcAft>
                <a:spcPts val="0"/>
              </a:spcAft>
              <a:buClr>
                <a:schemeClr val="dk1"/>
              </a:buClr>
              <a:buSzPts val="1400"/>
              <a:buFont typeface="Noto Sans Symbols"/>
              <a:buChar char="✔"/>
            </a:pPr>
            <a:r>
              <a:rPr lang="en" sz="1400" b="0" i="0" u="none" strike="noStrike" cap="none">
                <a:solidFill>
                  <a:schemeClr val="dk1"/>
                </a:solidFill>
                <a:latin typeface="Calibri"/>
                <a:ea typeface="Calibri"/>
                <a:cs typeface="Calibri"/>
                <a:sym typeface="Calibri"/>
              </a:rPr>
              <a:t>Molecular grade ethanol (200 proof) for washes</a:t>
            </a:r>
            <a:endParaRPr sz="1400" b="0" i="0" u="none" strike="noStrike" cap="none">
              <a:solidFill>
                <a:schemeClr val="dk1"/>
              </a:solidFill>
              <a:latin typeface="Calibri"/>
              <a:ea typeface="Calibri"/>
              <a:cs typeface="Calibri"/>
              <a:sym typeface="Calibri"/>
            </a:endParaRPr>
          </a:p>
          <a:p>
            <a:pPr marL="215900" marR="0" lvl="0" indent="-196850" algn="l" rtl="0">
              <a:lnSpc>
                <a:spcPct val="125000"/>
              </a:lnSpc>
              <a:spcBef>
                <a:spcPts val="0"/>
              </a:spcBef>
              <a:spcAft>
                <a:spcPts val="0"/>
              </a:spcAft>
              <a:buClr>
                <a:schemeClr val="dk1"/>
              </a:buClr>
              <a:buSzPts val="1100"/>
              <a:buFont typeface="Calibri"/>
              <a:buChar char="✔"/>
            </a:pPr>
            <a:r>
              <a:rPr lang="en" sz="1400" b="0" i="0" u="none" strike="noStrike" cap="none">
                <a:solidFill>
                  <a:schemeClr val="dk1"/>
                </a:solidFill>
                <a:latin typeface="Calibri"/>
                <a:ea typeface="Calibri"/>
                <a:cs typeface="Calibri"/>
                <a:sym typeface="Calibri"/>
              </a:rPr>
              <a:t>Isopropanol to add to concentrated wash buffers</a:t>
            </a:r>
            <a:endParaRPr sz="1400" b="0" i="0" u="none" strike="noStrike" cap="none">
              <a:solidFill>
                <a:schemeClr val="dk1"/>
              </a:solidFill>
              <a:latin typeface="Calibri"/>
              <a:ea typeface="Calibri"/>
              <a:cs typeface="Calibri"/>
              <a:sym typeface="Calibri"/>
            </a:endParaRPr>
          </a:p>
          <a:p>
            <a:pPr marL="215900" marR="0" lvl="0" indent="-215900" algn="l" rtl="0">
              <a:lnSpc>
                <a:spcPct val="125000"/>
              </a:lnSpc>
              <a:spcBef>
                <a:spcPts val="0"/>
              </a:spcBef>
              <a:spcAft>
                <a:spcPts val="0"/>
              </a:spcAft>
              <a:buClr>
                <a:schemeClr val="dk1"/>
              </a:buClr>
              <a:buSzPts val="1400"/>
              <a:buFont typeface="Noto Sans Symbols"/>
              <a:buChar char="✔"/>
            </a:pPr>
            <a:r>
              <a:rPr lang="en" sz="1400" b="0" i="0" u="none" strike="noStrike" cap="none">
                <a:solidFill>
                  <a:schemeClr val="dk1"/>
                </a:solidFill>
                <a:latin typeface="Calibri"/>
                <a:ea typeface="Calibri"/>
                <a:cs typeface="Calibri"/>
                <a:sym typeface="Calibri"/>
              </a:rPr>
              <a:t>DNase I included in regular quick-DNA/RNA kits, but not in Pathogen kits</a:t>
            </a:r>
            <a:endParaRPr sz="1100" b="0" i="0" u="none" strike="noStrike" cap="none">
              <a:solidFill>
                <a:srgbClr val="000000"/>
              </a:solidFill>
              <a:latin typeface="Arial"/>
              <a:ea typeface="Arial"/>
              <a:cs typeface="Arial"/>
              <a:sym typeface="Arial"/>
            </a:endParaRPr>
          </a:p>
          <a:p>
            <a:pPr marL="558800" marR="0" lvl="1" indent="-215900" algn="l" rtl="0">
              <a:lnSpc>
                <a:spcPct val="125000"/>
              </a:lnSpc>
              <a:spcBef>
                <a:spcPts val="0"/>
              </a:spcBef>
              <a:spcAft>
                <a:spcPts val="0"/>
              </a:spcAft>
              <a:buClr>
                <a:schemeClr val="dk1"/>
              </a:buClr>
              <a:buSzPts val="1400"/>
              <a:buFont typeface="Courier New"/>
              <a:buChar char="o"/>
            </a:pPr>
            <a:r>
              <a:rPr lang="en" sz="1400" b="0" i="0" u="none" strike="noStrike" cap="none">
                <a:solidFill>
                  <a:schemeClr val="dk1"/>
                </a:solidFill>
                <a:latin typeface="Calibri"/>
                <a:ea typeface="Calibri"/>
                <a:cs typeface="Calibri"/>
                <a:sym typeface="Calibri"/>
              </a:rPr>
              <a:t>Available separately from Qiagen: RNase-Free DNase Set, $512 for 250 samples</a:t>
            </a:r>
            <a:endParaRPr sz="1100" b="0" i="0" u="none" strike="noStrike" cap="none">
              <a:solidFill>
                <a:srgbClr val="000000"/>
              </a:solidFill>
              <a:latin typeface="Arial"/>
              <a:ea typeface="Arial"/>
              <a:cs typeface="Arial"/>
              <a:sym typeface="Arial"/>
            </a:endParaRPr>
          </a:p>
        </p:txBody>
      </p:sp>
      <p:sp>
        <p:nvSpPr>
          <p:cNvPr id="247" name="Google Shape;247;g36b88196631_0_39"/>
          <p:cNvSpPr txBox="1"/>
          <p:nvPr/>
        </p:nvSpPr>
        <p:spPr>
          <a:xfrm>
            <a:off x="3636750" y="310050"/>
            <a:ext cx="5205600" cy="3873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999999"/>
                </a:solidFill>
                <a:latin typeface="Arial"/>
                <a:ea typeface="Arial"/>
                <a:cs typeface="Arial"/>
                <a:sym typeface="Arial"/>
              </a:rPr>
              <a:t>Zymo DNA+RNA extraction kits</a:t>
            </a:r>
            <a:endParaRPr sz="2200" b="0" i="0" u="none" strike="noStrike" cap="none">
              <a:solidFill>
                <a:srgbClr val="999999"/>
              </a:solidFill>
              <a:latin typeface="Arial"/>
              <a:ea typeface="Arial"/>
              <a:cs typeface="Arial"/>
              <a:sym typeface="Arial"/>
            </a:endParaRPr>
          </a:p>
        </p:txBody>
      </p:sp>
      <p:pic>
        <p:nvPicPr>
          <p:cNvPr id="248" name="Google Shape;248;g36b88196631_0_39"/>
          <p:cNvPicPr preferRelativeResize="0"/>
          <p:nvPr/>
        </p:nvPicPr>
        <p:blipFill rotWithShape="1">
          <a:blip r:embed="rId7">
            <a:alphaModFix/>
          </a:blip>
          <a:srcRect/>
          <a:stretch/>
        </p:blipFill>
        <p:spPr>
          <a:xfrm rot="1149625">
            <a:off x="303810" y="289397"/>
            <a:ext cx="477581" cy="572204"/>
          </a:xfrm>
          <a:prstGeom prst="rect">
            <a:avLst/>
          </a:prstGeom>
          <a:noFill/>
          <a:ln>
            <a:noFill/>
          </a:ln>
        </p:spPr>
      </p:pic>
      <p:sp>
        <p:nvSpPr>
          <p:cNvPr id="249" name="Google Shape;249;g36b88196631_0_39"/>
          <p:cNvSpPr txBox="1">
            <a:spLocks noGrp="1"/>
          </p:cNvSpPr>
          <p:nvPr>
            <p:ph type="title" idx="4294967295"/>
          </p:nvPr>
        </p:nvSpPr>
        <p:spPr>
          <a:xfrm>
            <a:off x="939400" y="252725"/>
            <a:ext cx="68169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xNA extraction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g36b88196631_0_61"/>
          <p:cNvPicPr preferRelativeResize="0"/>
          <p:nvPr/>
        </p:nvPicPr>
        <p:blipFill rotWithShape="1">
          <a:blip r:embed="rId3">
            <a:alphaModFix/>
          </a:blip>
          <a:srcRect/>
          <a:stretch/>
        </p:blipFill>
        <p:spPr>
          <a:xfrm>
            <a:off x="6856321" y="1296478"/>
            <a:ext cx="2262253" cy="1375875"/>
          </a:xfrm>
          <a:prstGeom prst="rect">
            <a:avLst/>
          </a:prstGeom>
          <a:noFill/>
          <a:ln>
            <a:noFill/>
          </a:ln>
        </p:spPr>
      </p:pic>
      <p:sp>
        <p:nvSpPr>
          <p:cNvPr id="255" name="Google Shape;255;g36b88196631_0_61"/>
          <p:cNvSpPr txBox="1">
            <a:spLocks noGrp="1"/>
          </p:cNvSpPr>
          <p:nvPr>
            <p:ph type="body" idx="1"/>
          </p:nvPr>
        </p:nvSpPr>
        <p:spPr>
          <a:xfrm>
            <a:off x="83100" y="1152475"/>
            <a:ext cx="8520600" cy="3416400"/>
          </a:xfrm>
          <a:prstGeom prst="rect">
            <a:avLst/>
          </a:prstGeom>
          <a:noFill/>
          <a:ln>
            <a:noFill/>
          </a:ln>
        </p:spPr>
        <p:txBody>
          <a:bodyPr spcFirstLastPara="1" wrap="square" lIns="91425" tIns="91425" rIns="91425" bIns="91425" anchor="t" anchorCtr="0">
            <a:normAutofit/>
          </a:bodyPr>
          <a:lstStyle/>
          <a:p>
            <a:pPr marL="457200" lvl="0" indent="-336550" algn="l" rtl="0">
              <a:lnSpc>
                <a:spcPct val="150000"/>
              </a:lnSpc>
              <a:spcBef>
                <a:spcPts val="0"/>
              </a:spcBef>
              <a:spcAft>
                <a:spcPts val="0"/>
              </a:spcAft>
              <a:buClr>
                <a:srgbClr val="000000"/>
              </a:buClr>
              <a:buSzPts val="1700"/>
              <a:buChar char="●"/>
            </a:pPr>
            <a:r>
              <a:rPr lang="en" sz="1700">
                <a:solidFill>
                  <a:srgbClr val="000000"/>
                </a:solidFill>
              </a:rPr>
              <a:t>Quality control:</a:t>
            </a:r>
            <a:endParaRPr sz="1700">
              <a:solidFill>
                <a:srgbClr val="000000"/>
              </a:solidFill>
            </a:endParaRPr>
          </a:p>
          <a:p>
            <a:pPr marL="914400" lvl="1" indent="-311150" algn="l" rtl="0">
              <a:lnSpc>
                <a:spcPct val="115000"/>
              </a:lnSpc>
              <a:spcBef>
                <a:spcPts val="0"/>
              </a:spcBef>
              <a:spcAft>
                <a:spcPts val="0"/>
              </a:spcAft>
              <a:buClr>
                <a:srgbClr val="000000"/>
              </a:buClr>
              <a:buSzPts val="1300"/>
              <a:buChar char="○"/>
            </a:pPr>
            <a:r>
              <a:rPr lang="en" sz="1300">
                <a:solidFill>
                  <a:srgbClr val="000000"/>
                </a:solidFill>
              </a:rPr>
              <a:t>Quantity (ng/μl):</a:t>
            </a:r>
            <a:endParaRPr sz="1300">
              <a:solidFill>
                <a:srgbClr val="000000"/>
              </a:solidFill>
            </a:endParaRPr>
          </a:p>
          <a:p>
            <a:pPr marL="1371600" lvl="2" indent="-311150" algn="l" rtl="0">
              <a:lnSpc>
                <a:spcPct val="200000"/>
              </a:lnSpc>
              <a:spcBef>
                <a:spcPts val="0"/>
              </a:spcBef>
              <a:spcAft>
                <a:spcPts val="0"/>
              </a:spcAft>
              <a:buClr>
                <a:srgbClr val="000000"/>
              </a:buClr>
              <a:buSzPts val="1300"/>
              <a:buChar char="■"/>
            </a:pPr>
            <a:r>
              <a:rPr lang="en" sz="1300">
                <a:solidFill>
                  <a:srgbClr val="000000"/>
                </a:solidFill>
              </a:rPr>
              <a:t>Qubit: RNA or DNA High Sensitivity (HS) Assay Kit (ThermoFisher)</a:t>
            </a:r>
            <a:endParaRPr sz="1300">
              <a:solidFill>
                <a:srgbClr val="000000"/>
              </a:solidFill>
            </a:endParaRPr>
          </a:p>
          <a:p>
            <a:pPr marL="914400" lvl="1" indent="-311150" algn="l" rtl="0">
              <a:lnSpc>
                <a:spcPct val="150000"/>
              </a:lnSpc>
              <a:spcBef>
                <a:spcPts val="0"/>
              </a:spcBef>
              <a:spcAft>
                <a:spcPts val="0"/>
              </a:spcAft>
              <a:buClr>
                <a:srgbClr val="000000"/>
              </a:buClr>
              <a:buSzPts val="1300"/>
              <a:buChar char="○"/>
            </a:pPr>
            <a:r>
              <a:rPr lang="en" sz="1300">
                <a:solidFill>
                  <a:srgbClr val="000000"/>
                </a:solidFill>
              </a:rPr>
              <a:t>Quality (length):</a:t>
            </a:r>
            <a:endParaRPr sz="130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a:solidFill>
                  <a:srgbClr val="000000"/>
                </a:solidFill>
              </a:rPr>
              <a:t>Capillary electrophoresis</a:t>
            </a:r>
            <a:endParaRPr sz="1300">
              <a:solidFill>
                <a:srgbClr val="000000"/>
              </a:solidFill>
            </a:endParaRPr>
          </a:p>
          <a:p>
            <a:pPr marL="1828800" lvl="3" indent="-311150" algn="l" rtl="0">
              <a:lnSpc>
                <a:spcPct val="115000"/>
              </a:lnSpc>
              <a:spcBef>
                <a:spcPts val="0"/>
              </a:spcBef>
              <a:spcAft>
                <a:spcPts val="0"/>
              </a:spcAft>
              <a:buClr>
                <a:srgbClr val="000000"/>
              </a:buClr>
              <a:buSzPts val="1300"/>
              <a:buChar char="●"/>
            </a:pPr>
            <a:r>
              <a:rPr lang="en" sz="1300">
                <a:solidFill>
                  <a:srgbClr val="000000"/>
                </a:solidFill>
              </a:rPr>
              <a:t>Tapestation (Agilent)</a:t>
            </a:r>
            <a:endParaRPr sz="1300">
              <a:solidFill>
                <a:srgbClr val="000000"/>
              </a:solidFill>
            </a:endParaRPr>
          </a:p>
          <a:p>
            <a:pPr marL="1828800" lvl="3" indent="-311150" algn="l" rtl="0">
              <a:lnSpc>
                <a:spcPct val="150000"/>
              </a:lnSpc>
              <a:spcBef>
                <a:spcPts val="0"/>
              </a:spcBef>
              <a:spcAft>
                <a:spcPts val="0"/>
              </a:spcAft>
              <a:buClr>
                <a:srgbClr val="000000"/>
              </a:buClr>
              <a:buSzPts val="1300"/>
              <a:buChar char="●"/>
            </a:pPr>
            <a:r>
              <a:rPr lang="en" sz="1300">
                <a:solidFill>
                  <a:srgbClr val="000000"/>
                </a:solidFill>
              </a:rPr>
              <a:t>High Sensitivity DNA or RNA ScreenTape</a:t>
            </a:r>
            <a:endParaRPr sz="130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a:solidFill>
                  <a:srgbClr val="000000"/>
                </a:solidFill>
              </a:rPr>
              <a:t>Gel electrophoresis</a:t>
            </a:r>
            <a:endParaRPr sz="1300">
              <a:solidFill>
                <a:srgbClr val="000000"/>
              </a:solidFill>
            </a:endParaRPr>
          </a:p>
          <a:p>
            <a:pPr marL="1828800" lvl="3" indent="-311150" algn="l" rtl="0">
              <a:lnSpc>
                <a:spcPct val="115000"/>
              </a:lnSpc>
              <a:spcBef>
                <a:spcPts val="0"/>
              </a:spcBef>
              <a:spcAft>
                <a:spcPts val="0"/>
              </a:spcAft>
              <a:buClr>
                <a:srgbClr val="000000"/>
              </a:buClr>
              <a:buSzPts val="1300"/>
              <a:buChar char="●"/>
            </a:pPr>
            <a:r>
              <a:rPr lang="en" sz="1300">
                <a:solidFill>
                  <a:srgbClr val="000000"/>
                </a:solidFill>
              </a:rPr>
              <a:t>Regular agarose gel for DNA</a:t>
            </a:r>
            <a:endParaRPr sz="1300">
              <a:solidFill>
                <a:srgbClr val="000000"/>
              </a:solidFill>
            </a:endParaRPr>
          </a:p>
          <a:p>
            <a:pPr marL="1828800" lvl="3" indent="-311150" algn="l" rtl="0">
              <a:lnSpc>
                <a:spcPct val="150000"/>
              </a:lnSpc>
              <a:spcBef>
                <a:spcPts val="0"/>
              </a:spcBef>
              <a:spcAft>
                <a:spcPts val="0"/>
              </a:spcAft>
              <a:buClr>
                <a:srgbClr val="000000"/>
              </a:buClr>
              <a:buSzPts val="1300"/>
              <a:buChar char="●"/>
            </a:pPr>
            <a:r>
              <a:rPr lang="en" sz="1300">
                <a:solidFill>
                  <a:srgbClr val="000000"/>
                </a:solidFill>
              </a:rPr>
              <a:t>TBE-urea gel for RNA</a:t>
            </a:r>
            <a:endParaRPr sz="1300">
              <a:solidFill>
                <a:srgbClr val="000000"/>
              </a:solidFill>
            </a:endParaRPr>
          </a:p>
        </p:txBody>
      </p:sp>
      <p:pic>
        <p:nvPicPr>
          <p:cNvPr id="256" name="Google Shape;256;g36b88196631_0_61"/>
          <p:cNvPicPr preferRelativeResize="0"/>
          <p:nvPr/>
        </p:nvPicPr>
        <p:blipFill rotWithShape="1">
          <a:blip r:embed="rId4">
            <a:alphaModFix/>
          </a:blip>
          <a:srcRect/>
          <a:stretch/>
        </p:blipFill>
        <p:spPr>
          <a:xfrm rot="1149625">
            <a:off x="303810" y="289397"/>
            <a:ext cx="477581" cy="572204"/>
          </a:xfrm>
          <a:prstGeom prst="rect">
            <a:avLst/>
          </a:prstGeom>
          <a:noFill/>
          <a:ln>
            <a:noFill/>
          </a:ln>
        </p:spPr>
      </p:pic>
      <p:sp>
        <p:nvSpPr>
          <p:cNvPr id="257" name="Google Shape;257;g36b88196631_0_61"/>
          <p:cNvSpPr txBox="1">
            <a:spLocks noGrp="1"/>
          </p:cNvSpPr>
          <p:nvPr>
            <p:ph type="title"/>
          </p:nvPr>
        </p:nvSpPr>
        <p:spPr>
          <a:xfrm>
            <a:off x="939400" y="252725"/>
            <a:ext cx="68169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xNA extraction</a:t>
            </a:r>
            <a:endParaRPr/>
          </a:p>
        </p:txBody>
      </p:sp>
      <p:pic>
        <p:nvPicPr>
          <p:cNvPr id="258" name="Google Shape;258;g36b88196631_0_61"/>
          <p:cNvPicPr preferRelativeResize="0"/>
          <p:nvPr/>
        </p:nvPicPr>
        <p:blipFill rotWithShape="1">
          <a:blip r:embed="rId5">
            <a:alphaModFix/>
          </a:blip>
          <a:srcRect/>
          <a:stretch/>
        </p:blipFill>
        <p:spPr>
          <a:xfrm>
            <a:off x="5992250" y="3066525"/>
            <a:ext cx="3056173" cy="2025124"/>
          </a:xfrm>
          <a:prstGeom prst="rect">
            <a:avLst/>
          </a:prstGeom>
          <a:noFill/>
          <a:ln>
            <a:noFill/>
          </a:ln>
        </p:spPr>
      </p:pic>
      <p:pic>
        <p:nvPicPr>
          <p:cNvPr id="259" name="Google Shape;259;g36b88196631_0_61"/>
          <p:cNvPicPr preferRelativeResize="0"/>
          <p:nvPr/>
        </p:nvPicPr>
        <p:blipFill rotWithShape="1">
          <a:blip r:embed="rId6">
            <a:alphaModFix/>
          </a:blip>
          <a:srcRect/>
          <a:stretch/>
        </p:blipFill>
        <p:spPr>
          <a:xfrm>
            <a:off x="5559475" y="2571750"/>
            <a:ext cx="768075" cy="940724"/>
          </a:xfrm>
          <a:prstGeom prst="rect">
            <a:avLst/>
          </a:prstGeom>
          <a:noFill/>
          <a:ln>
            <a:noFill/>
          </a:ln>
        </p:spPr>
      </p:pic>
      <p:sp>
        <p:nvSpPr>
          <p:cNvPr id="260" name="Google Shape;260;g36b88196631_0_61"/>
          <p:cNvSpPr txBox="1"/>
          <p:nvPr/>
        </p:nvSpPr>
        <p:spPr>
          <a:xfrm>
            <a:off x="5936650" y="74050"/>
            <a:ext cx="3136500" cy="15471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600"/>
              <a:buFont typeface="Arial"/>
              <a:buNone/>
            </a:pPr>
            <a:r>
              <a:rPr lang="en" sz="1600" b="0" i="0" u="none" strike="noStrike" cap="none">
                <a:solidFill>
                  <a:srgbClr val="FF0000"/>
                </a:solidFill>
                <a:latin typeface="Arial"/>
                <a:ea typeface="Arial"/>
                <a:cs typeface="Arial"/>
                <a:sym typeface="Arial"/>
              </a:rPr>
              <a:t>Key point:</a:t>
            </a:r>
            <a:endParaRPr sz="1600" b="0" i="0" u="none" strike="noStrike" cap="none">
              <a:solidFill>
                <a:srgbClr val="FF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600"/>
              <a:buFont typeface="Arial"/>
              <a:buNone/>
            </a:pPr>
            <a:r>
              <a:rPr lang="en" sz="1600" b="0" i="0" u="none" strike="noStrike" cap="none">
                <a:solidFill>
                  <a:srgbClr val="FF0000"/>
                </a:solidFill>
                <a:latin typeface="Arial"/>
                <a:ea typeface="Arial"/>
                <a:cs typeface="Arial"/>
                <a:sym typeface="Arial"/>
              </a:rPr>
              <a:t>✓ xNA quality is crucial</a:t>
            </a:r>
            <a:endParaRPr sz="1600" b="0" i="0" u="none" strike="noStrike" cap="none">
              <a:solidFill>
                <a:srgbClr val="FF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g36b88196631_0_71"/>
          <p:cNvSpPr txBox="1">
            <a:spLocks noGrp="1"/>
          </p:cNvSpPr>
          <p:nvPr>
            <p:ph type="body" idx="1"/>
          </p:nvPr>
        </p:nvSpPr>
        <p:spPr>
          <a:xfrm>
            <a:off x="172900" y="1019325"/>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275"/>
              <a:buNone/>
            </a:pPr>
            <a:r>
              <a:rPr lang="en"/>
              <a:t>Keep in mind:</a:t>
            </a:r>
            <a:endParaRPr/>
          </a:p>
          <a:p>
            <a:pPr marL="0" lvl="0" indent="0" algn="l" rtl="0">
              <a:lnSpc>
                <a:spcPct val="130000"/>
              </a:lnSpc>
              <a:spcBef>
                <a:spcPts val="0"/>
              </a:spcBef>
              <a:spcAft>
                <a:spcPts val="0"/>
              </a:spcAft>
              <a:buSzPts val="275"/>
              <a:buNone/>
            </a:pPr>
            <a:endParaRPr sz="975">
              <a:solidFill>
                <a:schemeClr val="dk1"/>
              </a:solidFill>
            </a:endParaRPr>
          </a:p>
          <a:p>
            <a:pPr marL="457200" lvl="0" indent="-342900" algn="l" rtl="0">
              <a:spcBef>
                <a:spcPts val="0"/>
              </a:spcBef>
              <a:spcAft>
                <a:spcPts val="0"/>
              </a:spcAft>
              <a:buSzPts val="1800"/>
              <a:buChar char="●"/>
            </a:pPr>
            <a:r>
              <a:rPr lang="en"/>
              <a:t>Magnetic stands for 1.5 ml tubes usually accommodate only 8 tubes at a time</a:t>
            </a:r>
            <a:endParaRPr/>
          </a:p>
          <a:p>
            <a:pPr marL="0" lvl="0" indent="0" algn="l" rtl="0">
              <a:spcBef>
                <a:spcPts val="0"/>
              </a:spcBef>
              <a:spcAft>
                <a:spcPts val="0"/>
              </a:spcAft>
              <a:buSzPts val="275"/>
              <a:buNone/>
            </a:pPr>
            <a:endParaRPr/>
          </a:p>
          <a:p>
            <a:pPr marL="457200" lvl="0" indent="-342900" algn="l" rtl="0">
              <a:spcBef>
                <a:spcPts val="0"/>
              </a:spcBef>
              <a:spcAft>
                <a:spcPts val="0"/>
              </a:spcAft>
              <a:buSzPts val="1800"/>
              <a:buChar char="●"/>
            </a:pPr>
            <a:r>
              <a:rPr lang="en"/>
              <a:t>Cross-contamination should be avoided as much as possible!!</a:t>
            </a:r>
            <a:endParaRPr/>
          </a:p>
          <a:p>
            <a:pPr marL="914400" lvl="1" indent="-317500" algn="l" rtl="0">
              <a:spcBef>
                <a:spcPts val="0"/>
              </a:spcBef>
              <a:spcAft>
                <a:spcPts val="0"/>
              </a:spcAft>
              <a:buSzPts val="1400"/>
              <a:buChar char="○"/>
            </a:pPr>
            <a:r>
              <a:rPr lang="en"/>
              <a:t>Process samples with high pathogen content separately from samples with low pathogen content (if you can)</a:t>
            </a:r>
            <a:endParaRPr/>
          </a:p>
          <a:p>
            <a:pPr marL="914400" lvl="1" indent="-317500" algn="l" rtl="0">
              <a:spcBef>
                <a:spcPts val="1000"/>
              </a:spcBef>
              <a:spcAft>
                <a:spcPts val="0"/>
              </a:spcAft>
              <a:buSzPts val="1400"/>
              <a:buChar char="○"/>
            </a:pPr>
            <a:r>
              <a:rPr lang="en"/>
              <a:t>Use water controls to estimate the level of cross-contamination</a:t>
            </a:r>
            <a:endParaRPr/>
          </a:p>
          <a:p>
            <a:pPr marL="1371600" lvl="2" indent="-317500" algn="l" rtl="0">
              <a:spcBef>
                <a:spcPts val="0"/>
              </a:spcBef>
              <a:spcAft>
                <a:spcPts val="0"/>
              </a:spcAft>
              <a:buSzPts val="1400"/>
              <a:buChar char="■"/>
            </a:pPr>
            <a:r>
              <a:rPr lang="en"/>
              <a:t>Space out samples with water controls, and/or empty spots in the magnetic rack</a:t>
            </a:r>
            <a:endParaRPr/>
          </a:p>
          <a:p>
            <a:pPr marL="1371600" lvl="2" indent="-317500" algn="l" rtl="0">
              <a:spcBef>
                <a:spcPts val="0"/>
              </a:spcBef>
              <a:spcAft>
                <a:spcPts val="0"/>
              </a:spcAft>
              <a:buSzPts val="1400"/>
              <a:buChar char="■"/>
            </a:pPr>
            <a:r>
              <a:rPr lang="en"/>
              <a:t>E.g. for 4 samples:</a:t>
            </a:r>
            <a:endParaRPr/>
          </a:p>
          <a:p>
            <a:pPr marL="0" lvl="0" indent="0" algn="l" rtl="0">
              <a:spcBef>
                <a:spcPts val="0"/>
              </a:spcBef>
              <a:spcAft>
                <a:spcPts val="0"/>
              </a:spcAft>
              <a:buSzPts val="275"/>
              <a:buNone/>
            </a:pPr>
            <a:endParaRPr/>
          </a:p>
          <a:p>
            <a:pPr marL="0" lvl="0" indent="0" algn="l" rtl="0">
              <a:spcBef>
                <a:spcPts val="0"/>
              </a:spcBef>
              <a:spcAft>
                <a:spcPts val="0"/>
              </a:spcAft>
              <a:buSzPts val="275"/>
              <a:buNone/>
            </a:pPr>
            <a:endParaRPr/>
          </a:p>
          <a:p>
            <a:pPr marL="1371600" lvl="0" indent="0" algn="l" rtl="0">
              <a:lnSpc>
                <a:spcPct val="130000"/>
              </a:lnSpc>
              <a:spcBef>
                <a:spcPts val="0"/>
              </a:spcBef>
              <a:spcAft>
                <a:spcPts val="0"/>
              </a:spcAft>
              <a:buSzPts val="275"/>
              <a:buNone/>
            </a:pPr>
            <a:endParaRPr sz="1250">
              <a:solidFill>
                <a:schemeClr val="dk1"/>
              </a:solidFill>
            </a:endParaRPr>
          </a:p>
        </p:txBody>
      </p:sp>
      <p:pic>
        <p:nvPicPr>
          <p:cNvPr id="266" name="Google Shape;266;g36b88196631_0_71"/>
          <p:cNvPicPr preferRelativeResize="0"/>
          <p:nvPr/>
        </p:nvPicPr>
        <p:blipFill rotWithShape="1">
          <a:blip r:embed="rId3">
            <a:alphaModFix/>
          </a:blip>
          <a:srcRect/>
          <a:stretch/>
        </p:blipFill>
        <p:spPr>
          <a:xfrm>
            <a:off x="5236145" y="3964147"/>
            <a:ext cx="473250" cy="792774"/>
          </a:xfrm>
          <a:prstGeom prst="rect">
            <a:avLst/>
          </a:prstGeom>
          <a:noFill/>
          <a:ln>
            <a:noFill/>
          </a:ln>
        </p:spPr>
      </p:pic>
      <p:pic>
        <p:nvPicPr>
          <p:cNvPr id="267" name="Google Shape;267;g36b88196631_0_71"/>
          <p:cNvPicPr preferRelativeResize="0"/>
          <p:nvPr/>
        </p:nvPicPr>
        <p:blipFill rotWithShape="1">
          <a:blip r:embed="rId3">
            <a:alphaModFix/>
          </a:blip>
          <a:srcRect/>
          <a:stretch/>
        </p:blipFill>
        <p:spPr>
          <a:xfrm>
            <a:off x="5817382" y="3964147"/>
            <a:ext cx="473250" cy="792774"/>
          </a:xfrm>
          <a:prstGeom prst="rect">
            <a:avLst/>
          </a:prstGeom>
          <a:noFill/>
          <a:ln>
            <a:noFill/>
          </a:ln>
        </p:spPr>
      </p:pic>
      <p:sp>
        <p:nvSpPr>
          <p:cNvPr id="268" name="Google Shape;268;g36b88196631_0_71"/>
          <p:cNvSpPr txBox="1"/>
          <p:nvPr/>
        </p:nvSpPr>
        <p:spPr>
          <a:xfrm>
            <a:off x="5869325" y="4671550"/>
            <a:ext cx="688800" cy="371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sample</a:t>
            </a:r>
            <a:endParaRPr sz="1200" b="0" i="0" u="none" strike="noStrike" cap="none">
              <a:solidFill>
                <a:srgbClr val="000000"/>
              </a:solidFill>
              <a:latin typeface="Arial"/>
              <a:ea typeface="Arial"/>
              <a:cs typeface="Arial"/>
              <a:sym typeface="Arial"/>
            </a:endParaRPr>
          </a:p>
        </p:txBody>
      </p:sp>
      <p:grpSp>
        <p:nvGrpSpPr>
          <p:cNvPr id="269" name="Google Shape;269;g36b88196631_0_71"/>
          <p:cNvGrpSpPr/>
          <p:nvPr/>
        </p:nvGrpSpPr>
        <p:grpSpPr>
          <a:xfrm>
            <a:off x="3492436" y="3964147"/>
            <a:ext cx="1915339" cy="1079103"/>
            <a:chOff x="3492436" y="3964147"/>
            <a:chExt cx="1915339" cy="1079103"/>
          </a:xfrm>
        </p:grpSpPr>
        <p:pic>
          <p:nvPicPr>
            <p:cNvPr id="270" name="Google Shape;270;g36b88196631_0_71"/>
            <p:cNvPicPr preferRelativeResize="0"/>
            <p:nvPr/>
          </p:nvPicPr>
          <p:blipFill rotWithShape="1">
            <a:blip r:embed="rId3">
              <a:alphaModFix/>
            </a:blip>
            <a:srcRect/>
            <a:stretch/>
          </p:blipFill>
          <p:spPr>
            <a:xfrm>
              <a:off x="3492436" y="3964147"/>
              <a:ext cx="473250" cy="792774"/>
            </a:xfrm>
            <a:prstGeom prst="rect">
              <a:avLst/>
            </a:prstGeom>
            <a:noFill/>
            <a:ln>
              <a:noFill/>
            </a:ln>
          </p:spPr>
        </p:pic>
        <p:pic>
          <p:nvPicPr>
            <p:cNvPr id="271" name="Google Shape;271;g36b88196631_0_71"/>
            <p:cNvPicPr preferRelativeResize="0"/>
            <p:nvPr/>
          </p:nvPicPr>
          <p:blipFill rotWithShape="1">
            <a:blip r:embed="rId3">
              <a:alphaModFix/>
            </a:blip>
            <a:srcRect/>
            <a:stretch/>
          </p:blipFill>
          <p:spPr>
            <a:xfrm>
              <a:off x="4073672" y="3964147"/>
              <a:ext cx="473250" cy="792774"/>
            </a:xfrm>
            <a:prstGeom prst="rect">
              <a:avLst/>
            </a:prstGeom>
            <a:noFill/>
            <a:ln>
              <a:noFill/>
            </a:ln>
          </p:spPr>
        </p:pic>
        <p:pic>
          <p:nvPicPr>
            <p:cNvPr id="272" name="Google Shape;272;g36b88196631_0_71"/>
            <p:cNvPicPr preferRelativeResize="0"/>
            <p:nvPr/>
          </p:nvPicPr>
          <p:blipFill rotWithShape="1">
            <a:blip r:embed="rId3">
              <a:alphaModFix/>
            </a:blip>
            <a:srcRect/>
            <a:stretch/>
          </p:blipFill>
          <p:spPr>
            <a:xfrm>
              <a:off x="4654909" y="3964147"/>
              <a:ext cx="473250" cy="792774"/>
            </a:xfrm>
            <a:prstGeom prst="rect">
              <a:avLst/>
            </a:prstGeom>
            <a:noFill/>
            <a:ln>
              <a:noFill/>
            </a:ln>
          </p:spPr>
        </p:pic>
        <p:sp>
          <p:nvSpPr>
            <p:cNvPr id="273" name="Google Shape;273;g36b88196631_0_71"/>
            <p:cNvSpPr txBox="1"/>
            <p:nvPr/>
          </p:nvSpPr>
          <p:spPr>
            <a:xfrm>
              <a:off x="3568625" y="4671550"/>
              <a:ext cx="688800" cy="371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sample</a:t>
              </a:r>
              <a:endParaRPr sz="1200" b="0" i="0" u="none" strike="noStrike" cap="none">
                <a:solidFill>
                  <a:srgbClr val="000000"/>
                </a:solidFill>
                <a:latin typeface="Arial"/>
                <a:ea typeface="Arial"/>
                <a:cs typeface="Arial"/>
                <a:sym typeface="Arial"/>
              </a:endParaRPr>
            </a:p>
          </p:txBody>
        </p:sp>
        <p:sp>
          <p:nvSpPr>
            <p:cNvPr id="274" name="Google Shape;274;g36b88196631_0_71"/>
            <p:cNvSpPr txBox="1"/>
            <p:nvPr/>
          </p:nvSpPr>
          <p:spPr>
            <a:xfrm>
              <a:off x="4718975" y="4671550"/>
              <a:ext cx="688800" cy="371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sample</a:t>
              </a:r>
              <a:endParaRPr sz="1200" b="0" i="0" u="none" strike="noStrike" cap="none">
                <a:solidFill>
                  <a:srgbClr val="000000"/>
                </a:solidFill>
                <a:latin typeface="Arial"/>
                <a:ea typeface="Arial"/>
                <a:cs typeface="Arial"/>
                <a:sym typeface="Arial"/>
              </a:endParaRPr>
            </a:p>
          </p:txBody>
        </p:sp>
        <p:sp>
          <p:nvSpPr>
            <p:cNvPr id="275" name="Google Shape;275;g36b88196631_0_71"/>
            <p:cNvSpPr txBox="1"/>
            <p:nvPr/>
          </p:nvSpPr>
          <p:spPr>
            <a:xfrm>
              <a:off x="4105700" y="4671550"/>
              <a:ext cx="688800" cy="371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H</a:t>
              </a:r>
              <a:r>
                <a:rPr lang="en" sz="1200" b="0" i="0" u="none" strike="noStrike" cap="none" baseline="-25000">
                  <a:solidFill>
                    <a:srgbClr val="000000"/>
                  </a:solidFill>
                  <a:latin typeface="Arial"/>
                  <a:ea typeface="Arial"/>
                  <a:cs typeface="Arial"/>
                  <a:sym typeface="Arial"/>
                </a:rPr>
                <a:t>2</a:t>
              </a:r>
              <a:r>
                <a:rPr lang="en" sz="1200" b="0" i="0" u="none" strike="noStrike" cap="none">
                  <a:solidFill>
                    <a:srgbClr val="000000"/>
                  </a:solidFill>
                  <a:latin typeface="Arial"/>
                  <a:ea typeface="Arial"/>
                  <a:cs typeface="Arial"/>
                  <a:sym typeface="Arial"/>
                </a:rPr>
                <a:t>O</a:t>
              </a:r>
              <a:endParaRPr sz="1200" b="0" i="0" u="none" strike="noStrike" cap="none">
                <a:solidFill>
                  <a:srgbClr val="000000"/>
                </a:solidFill>
                <a:latin typeface="Arial"/>
                <a:ea typeface="Arial"/>
                <a:cs typeface="Arial"/>
                <a:sym typeface="Arial"/>
              </a:endParaRPr>
            </a:p>
          </p:txBody>
        </p:sp>
      </p:grpSp>
      <p:sp>
        <p:nvSpPr>
          <p:cNvPr id="276" name="Google Shape;276;g36b88196631_0_71"/>
          <p:cNvSpPr txBox="1"/>
          <p:nvPr/>
        </p:nvSpPr>
        <p:spPr>
          <a:xfrm>
            <a:off x="5256050" y="4671550"/>
            <a:ext cx="688800" cy="371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H</a:t>
            </a:r>
            <a:r>
              <a:rPr lang="en" sz="1200" b="0" i="0" u="none" strike="noStrike" cap="none" baseline="-25000">
                <a:solidFill>
                  <a:srgbClr val="000000"/>
                </a:solidFill>
                <a:latin typeface="Arial"/>
                <a:ea typeface="Arial"/>
                <a:cs typeface="Arial"/>
                <a:sym typeface="Arial"/>
              </a:rPr>
              <a:t>2</a:t>
            </a:r>
            <a:r>
              <a:rPr lang="en" sz="1200" b="0" i="0" u="none" strike="noStrike" cap="none">
                <a:solidFill>
                  <a:srgbClr val="000000"/>
                </a:solidFill>
                <a:latin typeface="Arial"/>
                <a:ea typeface="Arial"/>
                <a:cs typeface="Arial"/>
                <a:sym typeface="Arial"/>
              </a:rPr>
              <a:t>O</a:t>
            </a:r>
            <a:endParaRPr sz="1200" b="0" i="0" u="none" strike="noStrike" cap="none">
              <a:solidFill>
                <a:srgbClr val="000000"/>
              </a:solidFill>
              <a:latin typeface="Arial"/>
              <a:ea typeface="Arial"/>
              <a:cs typeface="Arial"/>
              <a:sym typeface="Arial"/>
            </a:endParaRPr>
          </a:p>
        </p:txBody>
      </p:sp>
      <p:pic>
        <p:nvPicPr>
          <p:cNvPr id="277" name="Google Shape;277;g36b88196631_0_71"/>
          <p:cNvPicPr preferRelativeResize="0"/>
          <p:nvPr/>
        </p:nvPicPr>
        <p:blipFill rotWithShape="1">
          <a:blip r:embed="rId3">
            <a:alphaModFix/>
          </a:blip>
          <a:srcRect/>
          <a:stretch/>
        </p:blipFill>
        <p:spPr>
          <a:xfrm>
            <a:off x="6398618" y="3964147"/>
            <a:ext cx="473250" cy="792774"/>
          </a:xfrm>
          <a:prstGeom prst="rect">
            <a:avLst/>
          </a:prstGeom>
          <a:noFill/>
          <a:ln>
            <a:noFill/>
          </a:ln>
        </p:spPr>
      </p:pic>
      <p:pic>
        <p:nvPicPr>
          <p:cNvPr id="278" name="Google Shape;278;g36b88196631_0_71"/>
          <p:cNvPicPr preferRelativeResize="0"/>
          <p:nvPr/>
        </p:nvPicPr>
        <p:blipFill rotWithShape="1">
          <a:blip r:embed="rId3">
            <a:alphaModFix/>
          </a:blip>
          <a:srcRect/>
          <a:stretch/>
        </p:blipFill>
        <p:spPr>
          <a:xfrm>
            <a:off x="6979855" y="3964147"/>
            <a:ext cx="473250" cy="792774"/>
          </a:xfrm>
          <a:prstGeom prst="rect">
            <a:avLst/>
          </a:prstGeom>
          <a:noFill/>
          <a:ln>
            <a:noFill/>
          </a:ln>
        </p:spPr>
      </p:pic>
      <p:pic>
        <p:nvPicPr>
          <p:cNvPr id="279" name="Google Shape;279;g36b88196631_0_71"/>
          <p:cNvPicPr preferRelativeResize="0"/>
          <p:nvPr/>
        </p:nvPicPr>
        <p:blipFill rotWithShape="1">
          <a:blip r:embed="rId3">
            <a:alphaModFix/>
          </a:blip>
          <a:srcRect/>
          <a:stretch/>
        </p:blipFill>
        <p:spPr>
          <a:xfrm>
            <a:off x="7561091" y="3964147"/>
            <a:ext cx="473250" cy="792774"/>
          </a:xfrm>
          <a:prstGeom prst="rect">
            <a:avLst/>
          </a:prstGeom>
          <a:noFill/>
          <a:ln>
            <a:noFill/>
          </a:ln>
        </p:spPr>
      </p:pic>
      <p:sp>
        <p:nvSpPr>
          <p:cNvPr id="280" name="Google Shape;280;g36b88196631_0_71"/>
          <p:cNvSpPr txBox="1"/>
          <p:nvPr/>
        </p:nvSpPr>
        <p:spPr>
          <a:xfrm>
            <a:off x="6406400" y="4671550"/>
            <a:ext cx="688800" cy="371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H</a:t>
            </a:r>
            <a:r>
              <a:rPr lang="en" sz="1200" b="0" i="0" u="none" strike="noStrike" cap="none" baseline="-25000">
                <a:solidFill>
                  <a:srgbClr val="000000"/>
                </a:solidFill>
                <a:latin typeface="Arial"/>
                <a:ea typeface="Arial"/>
                <a:cs typeface="Arial"/>
                <a:sym typeface="Arial"/>
              </a:rPr>
              <a:t>2</a:t>
            </a:r>
            <a:r>
              <a:rPr lang="en" sz="1200" b="0" i="0" u="none" strike="noStrike" cap="none">
                <a:solidFill>
                  <a:srgbClr val="000000"/>
                </a:solidFill>
                <a:latin typeface="Arial"/>
                <a:ea typeface="Arial"/>
                <a:cs typeface="Arial"/>
                <a:sym typeface="Arial"/>
              </a:rPr>
              <a:t>O</a:t>
            </a:r>
            <a:endParaRPr sz="1200" b="0" i="0" u="none" strike="noStrike" cap="none">
              <a:solidFill>
                <a:srgbClr val="000000"/>
              </a:solidFill>
              <a:latin typeface="Arial"/>
              <a:ea typeface="Arial"/>
              <a:cs typeface="Arial"/>
              <a:sym typeface="Arial"/>
            </a:endParaRPr>
          </a:p>
        </p:txBody>
      </p:sp>
      <p:sp>
        <p:nvSpPr>
          <p:cNvPr id="281" name="Google Shape;281;g36b88196631_0_71"/>
          <p:cNvSpPr txBox="1"/>
          <p:nvPr/>
        </p:nvSpPr>
        <p:spPr>
          <a:xfrm>
            <a:off x="7556750" y="4671550"/>
            <a:ext cx="688800" cy="371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empty</a:t>
            </a:r>
            <a:endParaRPr sz="1200" b="0" i="0" u="none" strike="noStrike" cap="none">
              <a:solidFill>
                <a:srgbClr val="000000"/>
              </a:solidFill>
              <a:latin typeface="Arial"/>
              <a:ea typeface="Arial"/>
              <a:cs typeface="Arial"/>
              <a:sym typeface="Arial"/>
            </a:endParaRPr>
          </a:p>
        </p:txBody>
      </p:sp>
      <p:sp>
        <p:nvSpPr>
          <p:cNvPr id="282" name="Google Shape;282;g36b88196631_0_71"/>
          <p:cNvSpPr txBox="1"/>
          <p:nvPr/>
        </p:nvSpPr>
        <p:spPr>
          <a:xfrm>
            <a:off x="6969400" y="4671550"/>
            <a:ext cx="688800" cy="371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sample</a:t>
            </a:r>
            <a:endParaRPr sz="1200" b="0" i="0" u="none" strike="noStrike" cap="none">
              <a:solidFill>
                <a:srgbClr val="000000"/>
              </a:solidFill>
              <a:latin typeface="Arial"/>
              <a:ea typeface="Arial"/>
              <a:cs typeface="Arial"/>
              <a:sym typeface="Arial"/>
            </a:endParaRPr>
          </a:p>
        </p:txBody>
      </p:sp>
      <p:pic>
        <p:nvPicPr>
          <p:cNvPr id="283" name="Google Shape;283;g36b88196631_0_71"/>
          <p:cNvPicPr preferRelativeResize="0"/>
          <p:nvPr/>
        </p:nvPicPr>
        <p:blipFill rotWithShape="1">
          <a:blip r:embed="rId4">
            <a:alphaModFix/>
          </a:blip>
          <a:srcRect/>
          <a:stretch/>
        </p:blipFill>
        <p:spPr>
          <a:xfrm rot="1149625">
            <a:off x="303810" y="289397"/>
            <a:ext cx="477581" cy="572204"/>
          </a:xfrm>
          <a:prstGeom prst="rect">
            <a:avLst/>
          </a:prstGeom>
          <a:noFill/>
          <a:ln>
            <a:noFill/>
          </a:ln>
        </p:spPr>
      </p:pic>
      <p:sp>
        <p:nvSpPr>
          <p:cNvPr id="284" name="Google Shape;284;g36b88196631_0_71"/>
          <p:cNvSpPr txBox="1">
            <a:spLocks noGrp="1"/>
          </p:cNvSpPr>
          <p:nvPr>
            <p:ph type="title"/>
          </p:nvPr>
        </p:nvSpPr>
        <p:spPr>
          <a:xfrm>
            <a:off x="939400" y="252725"/>
            <a:ext cx="26292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xNA extraction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g36b88196631_0_93"/>
          <p:cNvSpPr txBox="1"/>
          <p:nvPr/>
        </p:nvSpPr>
        <p:spPr>
          <a:xfrm>
            <a:off x="252225" y="1888400"/>
            <a:ext cx="8747700" cy="129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6100"/>
              <a:buFont typeface="Arial"/>
              <a:buNone/>
            </a:pPr>
            <a:r>
              <a:rPr lang="en" sz="6100" b="1" i="0" u="none" strike="noStrike" cap="none">
                <a:solidFill>
                  <a:srgbClr val="D9D9D9"/>
                </a:solidFill>
                <a:latin typeface="Arial"/>
                <a:ea typeface="Arial"/>
                <a:cs typeface="Arial"/>
                <a:sym typeface="Arial"/>
              </a:rPr>
              <a:t>Next step: Library prep</a:t>
            </a:r>
            <a:endParaRPr sz="6100" b="1" i="0" u="none" strike="noStrike" cap="none">
              <a:solidFill>
                <a:srgbClr val="D9D9D9"/>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6dd4466453_0_65"/>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fontScale="90000"/>
          </a:bodyPr>
          <a:lstStyle/>
          <a:p>
            <a:pPr marL="0" marR="0" lvl="0" indent="0" algn="ctr" rtl="0">
              <a:lnSpc>
                <a:spcPct val="100000"/>
              </a:lnSpc>
              <a:spcBef>
                <a:spcPts val="0"/>
              </a:spcBef>
              <a:spcAft>
                <a:spcPts val="0"/>
              </a:spcAft>
              <a:buClr>
                <a:srgbClr val="000000"/>
              </a:buClr>
              <a:buSzPct val="75000"/>
              <a:buFont typeface="Lato"/>
              <a:buNone/>
            </a:pPr>
            <a:r>
              <a:rPr lang="en" b="1">
                <a:latin typeface="Lato"/>
                <a:ea typeface="Lato"/>
                <a:cs typeface="Lato"/>
                <a:sym typeface="Lato"/>
              </a:rPr>
              <a:t>Considerations when using Nanopore (ONT) sequencing</a:t>
            </a:r>
            <a:endParaRPr b="1">
              <a:latin typeface="Lato"/>
              <a:ea typeface="Lato"/>
              <a:cs typeface="Lato"/>
              <a:sym typeface="Lato"/>
            </a:endParaRPr>
          </a:p>
        </p:txBody>
      </p:sp>
      <p:sp>
        <p:nvSpPr>
          <p:cNvPr id="295" name="Google Shape;295;g36dd4466453_0_65"/>
          <p:cNvSpPr txBox="1"/>
          <p:nvPr/>
        </p:nvSpPr>
        <p:spPr>
          <a:xfrm>
            <a:off x="828173" y="1156475"/>
            <a:ext cx="7872900" cy="3826500"/>
          </a:xfrm>
          <a:prstGeom prst="rect">
            <a:avLst/>
          </a:prstGeom>
          <a:noFill/>
          <a:ln>
            <a:noFill/>
          </a:ln>
        </p:spPr>
        <p:txBody>
          <a:bodyPr spcFirstLastPara="1" wrap="square" lIns="26775" tIns="26775" rIns="26775" bIns="26775" anchor="t" anchorCtr="0">
            <a:normAutofit/>
          </a:bodyPr>
          <a:lstStyle/>
          <a:p>
            <a:pPr marL="0" marR="0" lvl="0" indent="0" algn="l" rtl="0">
              <a:lnSpc>
                <a:spcPct val="100000"/>
              </a:lnSpc>
              <a:spcBef>
                <a:spcPts val="0"/>
              </a:spcBef>
              <a:spcAft>
                <a:spcPts val="0"/>
              </a:spcAft>
              <a:buNone/>
            </a:pPr>
            <a:r>
              <a:rPr lang="en" sz="1700" b="0" i="0" u="none" strike="noStrike" cap="none">
                <a:solidFill>
                  <a:srgbClr val="000000"/>
                </a:solidFill>
                <a:latin typeface="Lato"/>
                <a:ea typeface="Lato"/>
                <a:cs typeface="Lato"/>
                <a:sym typeface="Lato"/>
              </a:rPr>
              <a:t>Sample integrity</a:t>
            </a:r>
            <a:endParaRPr sz="500"/>
          </a:p>
          <a:p>
            <a:pPr marL="342900" marR="0" lvl="2" indent="-127000" algn="l" rtl="0">
              <a:lnSpc>
                <a:spcPct val="100000"/>
              </a:lnSpc>
              <a:spcBef>
                <a:spcPts val="700"/>
              </a:spcBef>
              <a:spcAft>
                <a:spcPts val="0"/>
              </a:spcAft>
              <a:buClr>
                <a:srgbClr val="000000"/>
              </a:buClr>
              <a:buSzPts val="2000"/>
              <a:buFont typeface="Arial"/>
              <a:buChar char="•"/>
            </a:pPr>
            <a:r>
              <a:rPr lang="en" sz="1700" b="0" i="0" u="none" strike="noStrike" cap="none">
                <a:solidFill>
                  <a:srgbClr val="000000"/>
                </a:solidFill>
                <a:latin typeface="Lato"/>
                <a:ea typeface="Lato"/>
                <a:cs typeface="Lato"/>
                <a:sym typeface="Lato"/>
              </a:rPr>
              <a:t>Important to ensure high quality nucleic acid with little to no degradation</a:t>
            </a:r>
            <a:endParaRPr sz="500"/>
          </a:p>
          <a:p>
            <a:pPr marL="342900" marR="0" lvl="2" indent="-127000" algn="l" rtl="0">
              <a:lnSpc>
                <a:spcPct val="100000"/>
              </a:lnSpc>
              <a:spcBef>
                <a:spcPts val="700"/>
              </a:spcBef>
              <a:spcAft>
                <a:spcPts val="0"/>
              </a:spcAft>
              <a:buClr>
                <a:srgbClr val="000000"/>
              </a:buClr>
              <a:buSzPts val="2000"/>
              <a:buFont typeface="Arial"/>
              <a:buChar char="•"/>
            </a:pPr>
            <a:r>
              <a:rPr lang="en" sz="1700">
                <a:latin typeface="Lato"/>
                <a:ea typeface="Lato"/>
                <a:cs typeface="Lato"/>
                <a:sym typeface="Lato"/>
              </a:rPr>
              <a:t>Optimize sample handling and storage</a:t>
            </a:r>
            <a:endParaRPr sz="500"/>
          </a:p>
          <a:p>
            <a:pPr marL="0" marR="0" lvl="0" indent="0" algn="l" rtl="0">
              <a:lnSpc>
                <a:spcPct val="100000"/>
              </a:lnSpc>
              <a:spcBef>
                <a:spcPts val="700"/>
              </a:spcBef>
              <a:spcAft>
                <a:spcPts val="0"/>
              </a:spcAft>
              <a:buNone/>
            </a:pPr>
            <a:endParaRPr sz="1700">
              <a:latin typeface="Lato"/>
              <a:ea typeface="Lato"/>
              <a:cs typeface="Lato"/>
              <a:sym typeface="Lato"/>
            </a:endParaRPr>
          </a:p>
          <a:p>
            <a:pPr marL="0" marR="0" lvl="0" indent="0" algn="l" rtl="0">
              <a:lnSpc>
                <a:spcPct val="100000"/>
              </a:lnSpc>
              <a:spcBef>
                <a:spcPts val="700"/>
              </a:spcBef>
              <a:spcAft>
                <a:spcPts val="0"/>
              </a:spcAft>
              <a:buNone/>
            </a:pPr>
            <a:r>
              <a:rPr lang="en" sz="1700" b="0" i="0" u="none" strike="noStrike" cap="none">
                <a:solidFill>
                  <a:srgbClr val="000000"/>
                </a:solidFill>
                <a:latin typeface="Lato"/>
                <a:ea typeface="Lato"/>
                <a:cs typeface="Lato"/>
                <a:sym typeface="Lato"/>
              </a:rPr>
              <a:t>Library preparation kit (</a:t>
            </a:r>
            <a:r>
              <a:rPr lang="en" sz="1700" b="0" i="0" u="sng" strike="noStrike" cap="none">
                <a:solidFill>
                  <a:schemeClr val="hlink"/>
                </a:solidFill>
                <a:latin typeface="Lato"/>
                <a:ea typeface="Lato"/>
                <a:cs typeface="Lato"/>
                <a:sym typeface="Lato"/>
                <a:hlinkClick r:id="rId3"/>
              </a:rPr>
              <a:t>link</a:t>
            </a:r>
            <a:r>
              <a:rPr lang="en" sz="1700" b="0" i="0" u="none" strike="noStrike" cap="none">
                <a:solidFill>
                  <a:srgbClr val="000000"/>
                </a:solidFill>
                <a:latin typeface="Lato"/>
                <a:ea typeface="Lato"/>
                <a:cs typeface="Lato"/>
                <a:sym typeface="Lato"/>
              </a:rPr>
              <a:t> to available kits)</a:t>
            </a:r>
            <a:endParaRPr sz="500"/>
          </a:p>
          <a:p>
            <a:pPr marL="342900" marR="0" lvl="1" indent="-127000" algn="l" rtl="0">
              <a:lnSpc>
                <a:spcPct val="100000"/>
              </a:lnSpc>
              <a:spcBef>
                <a:spcPts val="700"/>
              </a:spcBef>
              <a:spcAft>
                <a:spcPts val="0"/>
              </a:spcAft>
              <a:buClr>
                <a:srgbClr val="000000"/>
              </a:buClr>
              <a:buSzPts val="2000"/>
              <a:buFont typeface="Arial"/>
              <a:buChar char="•"/>
            </a:pPr>
            <a:r>
              <a:rPr lang="en" sz="1700" b="0" i="0" u="none" strike="noStrike" cap="none">
                <a:solidFill>
                  <a:srgbClr val="000000"/>
                </a:solidFill>
                <a:latin typeface="Lato"/>
                <a:ea typeface="Lato"/>
                <a:cs typeface="Lato"/>
                <a:sym typeface="Lato"/>
              </a:rPr>
              <a:t>DNA or RNA?</a:t>
            </a:r>
            <a:endParaRPr sz="500"/>
          </a:p>
          <a:p>
            <a:pPr marL="342900" marR="0" lvl="1" indent="-127000" algn="l" rtl="0">
              <a:lnSpc>
                <a:spcPct val="100000"/>
              </a:lnSpc>
              <a:spcBef>
                <a:spcPts val="700"/>
              </a:spcBef>
              <a:spcAft>
                <a:spcPts val="0"/>
              </a:spcAft>
              <a:buClr>
                <a:srgbClr val="000000"/>
              </a:buClr>
              <a:buSzPts val="2000"/>
              <a:buFont typeface="Arial"/>
              <a:buChar char="•"/>
            </a:pPr>
            <a:r>
              <a:rPr lang="en" sz="1700" b="0" i="0" u="none" strike="noStrike" cap="none">
                <a:solidFill>
                  <a:srgbClr val="000000"/>
                </a:solidFill>
                <a:latin typeface="Lato"/>
                <a:ea typeface="Lato"/>
                <a:cs typeface="Lato"/>
                <a:sym typeface="Lato"/>
              </a:rPr>
              <a:t>PCR or PCR-free?</a:t>
            </a:r>
            <a:endParaRPr sz="500"/>
          </a:p>
          <a:p>
            <a:pPr marL="342900" marR="0" lvl="1" indent="-127000" algn="l" rtl="0">
              <a:lnSpc>
                <a:spcPct val="100000"/>
              </a:lnSpc>
              <a:spcBef>
                <a:spcPts val="700"/>
              </a:spcBef>
              <a:spcAft>
                <a:spcPts val="0"/>
              </a:spcAft>
              <a:buClr>
                <a:srgbClr val="000000"/>
              </a:buClr>
              <a:buSzPts val="2000"/>
              <a:buFont typeface="Arial"/>
              <a:buChar char="•"/>
            </a:pPr>
            <a:r>
              <a:rPr lang="en" sz="1700" b="0" i="0" u="none" strike="noStrike" cap="none">
                <a:solidFill>
                  <a:srgbClr val="000000"/>
                </a:solidFill>
                <a:latin typeface="Lato"/>
                <a:ea typeface="Lato"/>
                <a:cs typeface="Lato"/>
                <a:sym typeface="Lato"/>
              </a:rPr>
              <a:t>Multiplexing or single sample?</a:t>
            </a:r>
            <a:endParaRPr sz="500"/>
          </a:p>
          <a:p>
            <a:pPr marL="0" marR="0" lvl="0" indent="0" algn="l" rtl="0">
              <a:lnSpc>
                <a:spcPct val="100000"/>
              </a:lnSpc>
              <a:spcBef>
                <a:spcPts val="700"/>
              </a:spcBef>
              <a:spcAft>
                <a:spcPts val="0"/>
              </a:spcAft>
              <a:buClr>
                <a:srgbClr val="000000"/>
              </a:buClr>
              <a:buSzPts val="1700"/>
              <a:buFont typeface="Lato"/>
              <a:buNone/>
            </a:pPr>
            <a:endParaRPr sz="1700" b="0" i="0" u="none" strike="noStrike" cap="none">
              <a:solidFill>
                <a:srgbClr val="000000"/>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6dd4466453_0_130"/>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fontScale="90000"/>
          </a:bodyPr>
          <a:lstStyle/>
          <a:p>
            <a:pPr marL="0" marR="0" lvl="0" indent="0" algn="ctr" rtl="0">
              <a:lnSpc>
                <a:spcPct val="100000"/>
              </a:lnSpc>
              <a:spcBef>
                <a:spcPts val="0"/>
              </a:spcBef>
              <a:spcAft>
                <a:spcPts val="0"/>
              </a:spcAft>
              <a:buClr>
                <a:srgbClr val="000000"/>
              </a:buClr>
              <a:buSzPct val="75000"/>
              <a:buFont typeface="Lato"/>
              <a:buNone/>
            </a:pPr>
            <a:r>
              <a:rPr lang="en" b="1">
                <a:latin typeface="Lato"/>
                <a:ea typeface="Lato"/>
                <a:cs typeface="Lato"/>
                <a:sym typeface="Lato"/>
              </a:rPr>
              <a:t>Considerations when using Nanopore (ONT) sequencing</a:t>
            </a:r>
            <a:endParaRPr b="1">
              <a:latin typeface="Lato"/>
              <a:ea typeface="Lato"/>
              <a:cs typeface="Lato"/>
              <a:sym typeface="Lato"/>
            </a:endParaRPr>
          </a:p>
        </p:txBody>
      </p:sp>
      <p:sp>
        <p:nvSpPr>
          <p:cNvPr id="301" name="Google Shape;301;g36dd4466453_0_130"/>
          <p:cNvSpPr txBox="1"/>
          <p:nvPr/>
        </p:nvSpPr>
        <p:spPr>
          <a:xfrm>
            <a:off x="828173" y="1156475"/>
            <a:ext cx="7872900" cy="3826500"/>
          </a:xfrm>
          <a:prstGeom prst="rect">
            <a:avLst/>
          </a:prstGeom>
          <a:noFill/>
          <a:ln>
            <a:noFill/>
          </a:ln>
        </p:spPr>
        <p:txBody>
          <a:bodyPr spcFirstLastPara="1" wrap="square" lIns="26775" tIns="26775" rIns="26775" bIns="26775" anchor="t" anchorCtr="0">
            <a:normAutofit/>
          </a:bodyPr>
          <a:lstStyle/>
          <a:p>
            <a:pPr marL="0" marR="0" lvl="0" indent="0" algn="l" rtl="0">
              <a:lnSpc>
                <a:spcPct val="100000"/>
              </a:lnSpc>
              <a:spcBef>
                <a:spcPts val="0"/>
              </a:spcBef>
              <a:spcAft>
                <a:spcPts val="0"/>
              </a:spcAft>
              <a:buNone/>
            </a:pPr>
            <a:r>
              <a:rPr lang="en" sz="1700" b="0" i="0" u="none" strike="noStrike" cap="none">
                <a:solidFill>
                  <a:srgbClr val="000000"/>
                </a:solidFill>
                <a:latin typeface="Lato"/>
                <a:ea typeface="Lato"/>
                <a:cs typeface="Lato"/>
                <a:sym typeface="Lato"/>
              </a:rPr>
              <a:t>Sample integrity</a:t>
            </a:r>
            <a:endParaRPr sz="500"/>
          </a:p>
          <a:p>
            <a:pPr marL="342900" marR="0" lvl="2" indent="-127000" algn="l" rtl="0">
              <a:lnSpc>
                <a:spcPct val="100000"/>
              </a:lnSpc>
              <a:spcBef>
                <a:spcPts val="700"/>
              </a:spcBef>
              <a:spcAft>
                <a:spcPts val="0"/>
              </a:spcAft>
              <a:buClr>
                <a:srgbClr val="000000"/>
              </a:buClr>
              <a:buSzPts val="2000"/>
              <a:buFont typeface="Arial"/>
              <a:buChar char="•"/>
            </a:pPr>
            <a:r>
              <a:rPr lang="en" sz="1700" b="0" i="0" u="none" strike="noStrike" cap="none">
                <a:solidFill>
                  <a:srgbClr val="000000"/>
                </a:solidFill>
                <a:latin typeface="Lato"/>
                <a:ea typeface="Lato"/>
                <a:cs typeface="Lato"/>
                <a:sym typeface="Lato"/>
              </a:rPr>
              <a:t>Important to ensure high quality nucleic acid with little to no degradation</a:t>
            </a:r>
            <a:endParaRPr sz="500"/>
          </a:p>
          <a:p>
            <a:pPr marL="342900" marR="0" lvl="2" indent="-127000" algn="l" rtl="0">
              <a:lnSpc>
                <a:spcPct val="100000"/>
              </a:lnSpc>
              <a:spcBef>
                <a:spcPts val="700"/>
              </a:spcBef>
              <a:spcAft>
                <a:spcPts val="0"/>
              </a:spcAft>
              <a:buClr>
                <a:srgbClr val="000000"/>
              </a:buClr>
              <a:buSzPts val="2000"/>
              <a:buFont typeface="Arial"/>
              <a:buChar char="•"/>
            </a:pPr>
            <a:r>
              <a:rPr lang="en" sz="1700">
                <a:latin typeface="Lato"/>
                <a:ea typeface="Lato"/>
                <a:cs typeface="Lato"/>
                <a:sym typeface="Lato"/>
              </a:rPr>
              <a:t>Optimize sample handling and storage</a:t>
            </a:r>
            <a:endParaRPr sz="500"/>
          </a:p>
          <a:p>
            <a:pPr marL="0" marR="0" lvl="0" indent="0" algn="l" rtl="0">
              <a:lnSpc>
                <a:spcPct val="100000"/>
              </a:lnSpc>
              <a:spcBef>
                <a:spcPts val="700"/>
              </a:spcBef>
              <a:spcAft>
                <a:spcPts val="0"/>
              </a:spcAft>
              <a:buNone/>
            </a:pPr>
            <a:endParaRPr sz="1700">
              <a:latin typeface="Lato"/>
              <a:ea typeface="Lato"/>
              <a:cs typeface="Lato"/>
              <a:sym typeface="Lato"/>
            </a:endParaRPr>
          </a:p>
          <a:p>
            <a:pPr marL="0" marR="0" lvl="0" indent="0" algn="l" rtl="0">
              <a:lnSpc>
                <a:spcPct val="100000"/>
              </a:lnSpc>
              <a:spcBef>
                <a:spcPts val="700"/>
              </a:spcBef>
              <a:spcAft>
                <a:spcPts val="0"/>
              </a:spcAft>
              <a:buNone/>
            </a:pPr>
            <a:r>
              <a:rPr lang="en" sz="1700" b="0" i="0" u="none" strike="noStrike" cap="none">
                <a:solidFill>
                  <a:srgbClr val="000000"/>
                </a:solidFill>
                <a:latin typeface="Lato"/>
                <a:ea typeface="Lato"/>
                <a:cs typeface="Lato"/>
                <a:sym typeface="Lato"/>
              </a:rPr>
              <a:t>Library preparation kit (</a:t>
            </a:r>
            <a:r>
              <a:rPr lang="en" sz="1700" b="0" i="0" u="sng" strike="noStrike" cap="none">
                <a:solidFill>
                  <a:schemeClr val="hlink"/>
                </a:solidFill>
                <a:latin typeface="Lato"/>
                <a:ea typeface="Lato"/>
                <a:cs typeface="Lato"/>
                <a:sym typeface="Lato"/>
                <a:hlinkClick r:id="rId3"/>
              </a:rPr>
              <a:t>link</a:t>
            </a:r>
            <a:r>
              <a:rPr lang="en" sz="1700" b="0" i="0" u="none" strike="noStrike" cap="none">
                <a:solidFill>
                  <a:srgbClr val="000000"/>
                </a:solidFill>
                <a:latin typeface="Lato"/>
                <a:ea typeface="Lato"/>
                <a:cs typeface="Lato"/>
                <a:sym typeface="Lato"/>
              </a:rPr>
              <a:t> to available kits)</a:t>
            </a:r>
            <a:endParaRPr sz="500"/>
          </a:p>
          <a:p>
            <a:pPr marL="342900" marR="0" lvl="1" indent="-127000" algn="l" rtl="0">
              <a:lnSpc>
                <a:spcPct val="100000"/>
              </a:lnSpc>
              <a:spcBef>
                <a:spcPts val="700"/>
              </a:spcBef>
              <a:spcAft>
                <a:spcPts val="0"/>
              </a:spcAft>
              <a:buClr>
                <a:srgbClr val="000000"/>
              </a:buClr>
              <a:buSzPts val="2000"/>
              <a:buFont typeface="Arial"/>
              <a:buChar char="•"/>
            </a:pPr>
            <a:r>
              <a:rPr lang="en" sz="1700" b="0" i="0" u="none" strike="noStrike" cap="none">
                <a:solidFill>
                  <a:srgbClr val="000000"/>
                </a:solidFill>
                <a:latin typeface="Lato"/>
                <a:ea typeface="Lato"/>
                <a:cs typeface="Lato"/>
                <a:sym typeface="Lato"/>
              </a:rPr>
              <a:t>DNA or RNA?</a:t>
            </a:r>
            <a:endParaRPr sz="500"/>
          </a:p>
          <a:p>
            <a:pPr marL="342900" marR="0" lvl="1" indent="-127000" algn="l" rtl="0">
              <a:lnSpc>
                <a:spcPct val="100000"/>
              </a:lnSpc>
              <a:spcBef>
                <a:spcPts val="700"/>
              </a:spcBef>
              <a:spcAft>
                <a:spcPts val="0"/>
              </a:spcAft>
              <a:buClr>
                <a:srgbClr val="000000"/>
              </a:buClr>
              <a:buSzPts val="2000"/>
              <a:buFont typeface="Arial"/>
              <a:buChar char="•"/>
            </a:pPr>
            <a:r>
              <a:rPr lang="en" sz="1700" b="0" i="0" u="none" strike="noStrike" cap="none">
                <a:solidFill>
                  <a:srgbClr val="000000"/>
                </a:solidFill>
                <a:latin typeface="Lato"/>
                <a:ea typeface="Lato"/>
                <a:cs typeface="Lato"/>
                <a:sym typeface="Lato"/>
              </a:rPr>
              <a:t>PCR or PCR-free?</a:t>
            </a:r>
            <a:endParaRPr sz="500"/>
          </a:p>
          <a:p>
            <a:pPr marL="342900" marR="0" lvl="1" indent="-127000" algn="l" rtl="0">
              <a:lnSpc>
                <a:spcPct val="100000"/>
              </a:lnSpc>
              <a:spcBef>
                <a:spcPts val="700"/>
              </a:spcBef>
              <a:spcAft>
                <a:spcPts val="0"/>
              </a:spcAft>
              <a:buClr>
                <a:srgbClr val="000000"/>
              </a:buClr>
              <a:buSzPts val="2000"/>
              <a:buFont typeface="Arial"/>
              <a:buChar char="•"/>
            </a:pPr>
            <a:r>
              <a:rPr lang="en" sz="1700" b="0" i="0" u="none" strike="noStrike" cap="none">
                <a:solidFill>
                  <a:srgbClr val="000000"/>
                </a:solidFill>
                <a:latin typeface="Lato"/>
                <a:ea typeface="Lato"/>
                <a:cs typeface="Lato"/>
                <a:sym typeface="Lato"/>
              </a:rPr>
              <a:t>Multiplexing or single sample?</a:t>
            </a:r>
            <a:endParaRPr sz="500"/>
          </a:p>
          <a:p>
            <a:pPr marL="0" marR="0" lvl="0" indent="0" algn="l" rtl="0">
              <a:lnSpc>
                <a:spcPct val="100000"/>
              </a:lnSpc>
              <a:spcBef>
                <a:spcPts val="700"/>
              </a:spcBef>
              <a:spcAft>
                <a:spcPts val="0"/>
              </a:spcAft>
              <a:buClr>
                <a:srgbClr val="000000"/>
              </a:buClr>
              <a:buSzPts val="1700"/>
              <a:buFont typeface="Lato"/>
              <a:buNone/>
            </a:pPr>
            <a:endParaRPr sz="1700" b="0" i="0" u="none" strike="noStrike" cap="none">
              <a:solidFill>
                <a:srgbClr val="000000"/>
              </a:solidFill>
              <a:latin typeface="Lato"/>
              <a:ea typeface="Lato"/>
              <a:cs typeface="Lato"/>
              <a:sym typeface="Lato"/>
            </a:endParaRPr>
          </a:p>
        </p:txBody>
      </p:sp>
      <p:sp>
        <p:nvSpPr>
          <p:cNvPr id="302" name="Google Shape;302;g36dd4466453_0_130"/>
          <p:cNvSpPr txBox="1"/>
          <p:nvPr/>
        </p:nvSpPr>
        <p:spPr>
          <a:xfrm>
            <a:off x="961950" y="4233825"/>
            <a:ext cx="7126200" cy="708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700">
                <a:solidFill>
                  <a:schemeClr val="dk1"/>
                </a:solidFill>
                <a:latin typeface="Lato"/>
                <a:ea typeface="Lato"/>
                <a:cs typeface="Lato"/>
                <a:sym typeface="Lato"/>
              </a:rPr>
              <a:t>Kit used for ONT RNA mNGS SMART-9N: </a:t>
            </a:r>
            <a:endParaRPr sz="1700">
              <a:solidFill>
                <a:schemeClr val="dk1"/>
              </a:solidFill>
              <a:latin typeface="Lato"/>
              <a:ea typeface="Lato"/>
              <a:cs typeface="Lato"/>
              <a:sym typeface="Lato"/>
            </a:endParaRPr>
          </a:p>
          <a:p>
            <a:pPr marL="0" lvl="0" indent="0" algn="ctr" rtl="0">
              <a:spcBef>
                <a:spcPts val="0"/>
              </a:spcBef>
              <a:spcAft>
                <a:spcPts val="0"/>
              </a:spcAft>
              <a:buNone/>
            </a:pPr>
            <a:r>
              <a:rPr lang="en" sz="1700" b="1">
                <a:solidFill>
                  <a:schemeClr val="dk1"/>
                </a:solidFill>
                <a:latin typeface="Lato"/>
                <a:ea typeface="Lato"/>
                <a:cs typeface="Lato"/>
                <a:sym typeface="Lato"/>
              </a:rPr>
              <a:t>Rapid PCR barcoding kit (SQK-RPB114.24)</a:t>
            </a:r>
            <a:endParaRPr sz="1700" b="1">
              <a:solidFill>
                <a:schemeClr val="dk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
          <p:cNvSpPr/>
          <p:nvPr/>
        </p:nvSpPr>
        <p:spPr>
          <a:xfrm>
            <a:off x="2778150" y="1269300"/>
            <a:ext cx="1602600" cy="17703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3"/>
          <p:cNvSpPr/>
          <p:nvPr/>
        </p:nvSpPr>
        <p:spPr>
          <a:xfrm>
            <a:off x="337700" y="251875"/>
            <a:ext cx="8594700" cy="959100"/>
          </a:xfrm>
          <a:prstGeom prst="stripedRightArrow">
            <a:avLst>
              <a:gd name="adj1" fmla="val 67480"/>
              <a:gd name="adj2" fmla="val 147356"/>
            </a:avLst>
          </a:pr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3"/>
          <p:cNvSpPr txBox="1">
            <a:spLocks noGrp="1"/>
          </p:cNvSpPr>
          <p:nvPr>
            <p:ph type="title"/>
          </p:nvPr>
        </p:nvSpPr>
        <p:spPr>
          <a:xfrm>
            <a:off x="912875" y="287875"/>
            <a:ext cx="5907900" cy="88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4400" b="1">
                <a:solidFill>
                  <a:srgbClr val="FFFFFF"/>
                </a:solidFill>
              </a:rPr>
              <a:t>ONT mNGS pipeline</a:t>
            </a:r>
            <a:endParaRPr sz="4400" b="1">
              <a:solidFill>
                <a:srgbClr val="FFFFFF"/>
              </a:solidFill>
            </a:endParaRPr>
          </a:p>
        </p:txBody>
      </p:sp>
      <p:sp>
        <p:nvSpPr>
          <p:cNvPr id="310" name="Google Shape;310;p3"/>
          <p:cNvSpPr txBox="1"/>
          <p:nvPr/>
        </p:nvSpPr>
        <p:spPr>
          <a:xfrm>
            <a:off x="250750" y="1311300"/>
            <a:ext cx="1030500" cy="43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Study design</a:t>
            </a:r>
            <a:endParaRPr sz="1400" b="0" i="0" u="none" strike="noStrike" cap="none">
              <a:solidFill>
                <a:srgbClr val="000000"/>
              </a:solidFill>
              <a:latin typeface="Arial"/>
              <a:ea typeface="Arial"/>
              <a:cs typeface="Arial"/>
              <a:sym typeface="Arial"/>
            </a:endParaRPr>
          </a:p>
        </p:txBody>
      </p:sp>
      <p:sp>
        <p:nvSpPr>
          <p:cNvPr id="311" name="Google Shape;311;p3"/>
          <p:cNvSpPr txBox="1"/>
          <p:nvPr/>
        </p:nvSpPr>
        <p:spPr>
          <a:xfrm>
            <a:off x="1640775" y="1311300"/>
            <a:ext cx="1030500" cy="43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xNA extraction</a:t>
            </a:r>
            <a:endParaRPr sz="1400" b="0" i="0" u="none" strike="noStrike" cap="none">
              <a:solidFill>
                <a:srgbClr val="000000"/>
              </a:solidFill>
              <a:latin typeface="Arial"/>
              <a:ea typeface="Arial"/>
              <a:cs typeface="Arial"/>
              <a:sym typeface="Arial"/>
            </a:endParaRPr>
          </a:p>
        </p:txBody>
      </p:sp>
      <p:sp>
        <p:nvSpPr>
          <p:cNvPr id="312" name="Google Shape;312;p3"/>
          <p:cNvSpPr txBox="1"/>
          <p:nvPr/>
        </p:nvSpPr>
        <p:spPr>
          <a:xfrm>
            <a:off x="2950075" y="1387500"/>
            <a:ext cx="1213500" cy="43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Library prep</a:t>
            </a:r>
            <a:endParaRPr sz="1400" b="0" i="0" u="none" strike="noStrike" cap="none">
              <a:solidFill>
                <a:srgbClr val="000000"/>
              </a:solidFill>
              <a:latin typeface="Arial"/>
              <a:ea typeface="Arial"/>
              <a:cs typeface="Arial"/>
              <a:sym typeface="Arial"/>
            </a:endParaRPr>
          </a:p>
        </p:txBody>
      </p:sp>
      <p:sp>
        <p:nvSpPr>
          <p:cNvPr id="313" name="Google Shape;313;p3"/>
          <p:cNvSpPr txBox="1"/>
          <p:nvPr/>
        </p:nvSpPr>
        <p:spPr>
          <a:xfrm>
            <a:off x="4592180" y="1387500"/>
            <a:ext cx="1213500" cy="43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Sequencing</a:t>
            </a:r>
            <a:endParaRPr sz="1400" b="0" i="0" u="none" strike="noStrike" cap="none">
              <a:solidFill>
                <a:srgbClr val="000000"/>
              </a:solidFill>
              <a:latin typeface="Arial"/>
              <a:ea typeface="Arial"/>
              <a:cs typeface="Arial"/>
              <a:sym typeface="Arial"/>
            </a:endParaRPr>
          </a:p>
        </p:txBody>
      </p:sp>
      <p:sp>
        <p:nvSpPr>
          <p:cNvPr id="314" name="Google Shape;314;p3"/>
          <p:cNvSpPr txBox="1"/>
          <p:nvPr/>
        </p:nvSpPr>
        <p:spPr>
          <a:xfrm>
            <a:off x="6132613" y="1387500"/>
            <a:ext cx="1344600" cy="43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Data analysis</a:t>
            </a:r>
            <a:endParaRPr sz="1400" b="0" i="0" u="none" strike="noStrike" cap="none">
              <a:solidFill>
                <a:srgbClr val="000000"/>
              </a:solidFill>
              <a:latin typeface="Arial"/>
              <a:ea typeface="Arial"/>
              <a:cs typeface="Arial"/>
              <a:sym typeface="Arial"/>
            </a:endParaRPr>
          </a:p>
        </p:txBody>
      </p:sp>
      <p:pic>
        <p:nvPicPr>
          <p:cNvPr id="315" name="Google Shape;315;p3"/>
          <p:cNvPicPr preferRelativeResize="0"/>
          <p:nvPr/>
        </p:nvPicPr>
        <p:blipFill rotWithShape="1">
          <a:blip r:embed="rId3">
            <a:alphaModFix/>
          </a:blip>
          <a:srcRect l="13069" t="15507" r="15080" b="13225"/>
          <a:stretch/>
        </p:blipFill>
        <p:spPr>
          <a:xfrm>
            <a:off x="379113" y="1914700"/>
            <a:ext cx="871875" cy="1028700"/>
          </a:xfrm>
          <a:prstGeom prst="rect">
            <a:avLst/>
          </a:prstGeom>
          <a:noFill/>
          <a:ln>
            <a:noFill/>
          </a:ln>
        </p:spPr>
      </p:pic>
      <p:pic>
        <p:nvPicPr>
          <p:cNvPr id="316" name="Google Shape;316;p3"/>
          <p:cNvPicPr preferRelativeResize="0"/>
          <p:nvPr/>
        </p:nvPicPr>
        <p:blipFill rotWithShape="1">
          <a:blip r:embed="rId4">
            <a:alphaModFix/>
          </a:blip>
          <a:srcRect/>
          <a:stretch/>
        </p:blipFill>
        <p:spPr>
          <a:xfrm rot="1149689">
            <a:off x="1852263" y="2113663"/>
            <a:ext cx="607525" cy="727926"/>
          </a:xfrm>
          <a:prstGeom prst="rect">
            <a:avLst/>
          </a:prstGeom>
          <a:noFill/>
          <a:ln>
            <a:noFill/>
          </a:ln>
        </p:spPr>
      </p:pic>
      <p:pic>
        <p:nvPicPr>
          <p:cNvPr id="317" name="Google Shape;317;p3"/>
          <p:cNvPicPr preferRelativeResize="0"/>
          <p:nvPr/>
        </p:nvPicPr>
        <p:blipFill rotWithShape="1">
          <a:blip r:embed="rId5">
            <a:alphaModFix/>
          </a:blip>
          <a:srcRect b="50614"/>
          <a:stretch/>
        </p:blipFill>
        <p:spPr>
          <a:xfrm>
            <a:off x="2884550" y="2066066"/>
            <a:ext cx="1344551" cy="725959"/>
          </a:xfrm>
          <a:prstGeom prst="rect">
            <a:avLst/>
          </a:prstGeom>
          <a:noFill/>
          <a:ln>
            <a:noFill/>
          </a:ln>
        </p:spPr>
      </p:pic>
      <p:cxnSp>
        <p:nvCxnSpPr>
          <p:cNvPr id="318" name="Google Shape;318;p3"/>
          <p:cNvCxnSpPr/>
          <p:nvPr/>
        </p:nvCxnSpPr>
        <p:spPr>
          <a:xfrm rot="10800000" flipH="1">
            <a:off x="7638150" y="2419325"/>
            <a:ext cx="309300" cy="1500"/>
          </a:xfrm>
          <a:prstGeom prst="straightConnector1">
            <a:avLst/>
          </a:prstGeom>
          <a:noFill/>
          <a:ln w="19050" cap="flat" cmpd="sng">
            <a:solidFill>
              <a:srgbClr val="FF0000"/>
            </a:solidFill>
            <a:prstDash val="solid"/>
            <a:round/>
            <a:headEnd type="none" w="sm" len="sm"/>
            <a:tailEnd type="none" w="sm" len="sm"/>
          </a:ln>
        </p:spPr>
      </p:cxnSp>
      <p:grpSp>
        <p:nvGrpSpPr>
          <p:cNvPr id="319" name="Google Shape;319;p3"/>
          <p:cNvGrpSpPr/>
          <p:nvPr/>
        </p:nvGrpSpPr>
        <p:grpSpPr>
          <a:xfrm>
            <a:off x="7765375" y="1751825"/>
            <a:ext cx="1252725" cy="1357550"/>
            <a:chOff x="7841575" y="1370825"/>
            <a:chExt cx="1252725" cy="1357550"/>
          </a:xfrm>
        </p:grpSpPr>
        <p:sp>
          <p:nvSpPr>
            <p:cNvPr id="320" name="Google Shape;320;p3"/>
            <p:cNvSpPr/>
            <p:nvPr/>
          </p:nvSpPr>
          <p:spPr>
            <a:xfrm>
              <a:off x="7841575" y="1486750"/>
              <a:ext cx="1122600" cy="1122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21" name="Google Shape;321;p3"/>
            <p:cNvPicPr preferRelativeResize="0"/>
            <p:nvPr/>
          </p:nvPicPr>
          <p:blipFill rotWithShape="1">
            <a:blip r:embed="rId6">
              <a:alphaModFix/>
            </a:blip>
            <a:srcRect/>
            <a:stretch/>
          </p:blipFill>
          <p:spPr>
            <a:xfrm>
              <a:off x="8147262" y="1685076"/>
              <a:ext cx="502137" cy="725949"/>
            </a:xfrm>
            <a:prstGeom prst="rect">
              <a:avLst/>
            </a:prstGeom>
            <a:noFill/>
            <a:ln>
              <a:noFill/>
            </a:ln>
          </p:spPr>
        </p:pic>
        <p:sp>
          <p:nvSpPr>
            <p:cNvPr id="322" name="Google Shape;322;p3"/>
            <p:cNvSpPr/>
            <p:nvPr/>
          </p:nvSpPr>
          <p:spPr>
            <a:xfrm>
              <a:off x="7887625" y="1532800"/>
              <a:ext cx="1030500" cy="10305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23" name="Google Shape;323;p3"/>
            <p:cNvCxnSpPr/>
            <p:nvPr/>
          </p:nvCxnSpPr>
          <p:spPr>
            <a:xfrm>
              <a:off x="8395325" y="2446075"/>
              <a:ext cx="3000" cy="282300"/>
            </a:xfrm>
            <a:prstGeom prst="straightConnector1">
              <a:avLst/>
            </a:prstGeom>
            <a:noFill/>
            <a:ln w="19050" cap="flat" cmpd="sng">
              <a:solidFill>
                <a:srgbClr val="FF0000"/>
              </a:solidFill>
              <a:prstDash val="solid"/>
              <a:round/>
              <a:headEnd type="none" w="sm" len="sm"/>
              <a:tailEnd type="none" w="sm" len="sm"/>
            </a:ln>
          </p:spPr>
        </p:cxnSp>
        <p:cxnSp>
          <p:nvCxnSpPr>
            <p:cNvPr id="324" name="Google Shape;324;p3"/>
            <p:cNvCxnSpPr/>
            <p:nvPr/>
          </p:nvCxnSpPr>
          <p:spPr>
            <a:xfrm>
              <a:off x="8401375" y="1370825"/>
              <a:ext cx="3000" cy="282300"/>
            </a:xfrm>
            <a:prstGeom prst="straightConnector1">
              <a:avLst/>
            </a:prstGeom>
            <a:noFill/>
            <a:ln w="19050" cap="flat" cmpd="sng">
              <a:solidFill>
                <a:srgbClr val="FF0000"/>
              </a:solidFill>
              <a:prstDash val="solid"/>
              <a:round/>
              <a:headEnd type="none" w="sm" len="sm"/>
              <a:tailEnd type="none" w="sm" len="sm"/>
            </a:ln>
          </p:spPr>
        </p:cxnSp>
        <p:cxnSp>
          <p:nvCxnSpPr>
            <p:cNvPr id="325" name="Google Shape;325;p3"/>
            <p:cNvCxnSpPr/>
            <p:nvPr/>
          </p:nvCxnSpPr>
          <p:spPr>
            <a:xfrm rot="10800000" flipH="1">
              <a:off x="8785000" y="2038325"/>
              <a:ext cx="309300" cy="1500"/>
            </a:xfrm>
            <a:prstGeom prst="straightConnector1">
              <a:avLst/>
            </a:prstGeom>
            <a:noFill/>
            <a:ln w="19050" cap="flat" cmpd="sng">
              <a:solidFill>
                <a:srgbClr val="FF0000"/>
              </a:solidFill>
              <a:prstDash val="solid"/>
              <a:round/>
              <a:headEnd type="none" w="sm" len="sm"/>
              <a:tailEnd type="none" w="sm" len="sm"/>
            </a:ln>
          </p:spPr>
        </p:cxnSp>
      </p:grpSp>
      <p:sp>
        <p:nvSpPr>
          <p:cNvPr id="326" name="Google Shape;326;p3"/>
          <p:cNvSpPr txBox="1"/>
          <p:nvPr/>
        </p:nvSpPr>
        <p:spPr>
          <a:xfrm>
            <a:off x="7650363" y="1387500"/>
            <a:ext cx="1344600" cy="43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Pathogen ID</a:t>
            </a:r>
            <a:endParaRPr sz="1400" b="0" i="0" u="none" strike="noStrike" cap="none">
              <a:solidFill>
                <a:srgbClr val="000000"/>
              </a:solidFill>
              <a:latin typeface="Arial"/>
              <a:ea typeface="Arial"/>
              <a:cs typeface="Arial"/>
              <a:sym typeface="Arial"/>
            </a:endParaRPr>
          </a:p>
        </p:txBody>
      </p:sp>
      <p:pic>
        <p:nvPicPr>
          <p:cNvPr id="327" name="Google Shape;327;p3"/>
          <p:cNvPicPr preferRelativeResize="0"/>
          <p:nvPr/>
        </p:nvPicPr>
        <p:blipFill rotWithShape="1">
          <a:blip r:embed="rId7">
            <a:alphaModFix/>
          </a:blip>
          <a:srcRect/>
          <a:stretch/>
        </p:blipFill>
        <p:spPr>
          <a:xfrm>
            <a:off x="4720225" y="2031195"/>
            <a:ext cx="1030500" cy="759716"/>
          </a:xfrm>
          <a:prstGeom prst="rect">
            <a:avLst/>
          </a:prstGeom>
          <a:noFill/>
          <a:ln>
            <a:noFill/>
          </a:ln>
        </p:spPr>
      </p:pic>
      <p:pic>
        <p:nvPicPr>
          <p:cNvPr id="328" name="Google Shape;328;p3"/>
          <p:cNvPicPr preferRelativeResize="0"/>
          <p:nvPr/>
        </p:nvPicPr>
        <p:blipFill rotWithShape="1">
          <a:blip r:embed="rId8">
            <a:alphaModFix/>
          </a:blip>
          <a:srcRect/>
          <a:stretch/>
        </p:blipFill>
        <p:spPr>
          <a:xfrm>
            <a:off x="6369000" y="2078858"/>
            <a:ext cx="871850" cy="70349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g36dd4466453_0_136"/>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200" b="1">
                <a:latin typeface="Lato"/>
                <a:ea typeface="Lato"/>
                <a:cs typeface="Lato"/>
                <a:sym typeface="Lato"/>
              </a:rPr>
              <a:t>RNA mNGS using Nanopore</a:t>
            </a:r>
            <a:endParaRPr sz="2200"/>
          </a:p>
        </p:txBody>
      </p:sp>
      <p:sp>
        <p:nvSpPr>
          <p:cNvPr id="334" name="Google Shape;334;g36dd4466453_0_136"/>
          <p:cNvSpPr txBox="1"/>
          <p:nvPr/>
        </p:nvSpPr>
        <p:spPr>
          <a:xfrm>
            <a:off x="471500" y="960125"/>
            <a:ext cx="8259600" cy="3378300"/>
          </a:xfrm>
          <a:prstGeom prst="rect">
            <a:avLst/>
          </a:prstGeom>
          <a:noFill/>
          <a:ln>
            <a:noFill/>
          </a:ln>
        </p:spPr>
        <p:txBody>
          <a:bodyPr spcFirstLastPara="1" wrap="square" lIns="26775" tIns="26775" rIns="26775" bIns="26775" anchor="t" anchorCtr="0">
            <a:normAutofit/>
          </a:bodyPr>
          <a:lstStyle/>
          <a:p>
            <a:pPr marL="0" marR="0" lvl="1" indent="0" algn="l" rtl="0">
              <a:lnSpc>
                <a:spcPct val="115000"/>
              </a:lnSpc>
              <a:spcBef>
                <a:spcPts val="0"/>
              </a:spcBef>
              <a:spcAft>
                <a:spcPts val="0"/>
              </a:spcAft>
              <a:buClr>
                <a:srgbClr val="000000"/>
              </a:buClr>
              <a:buSzPts val="1200"/>
              <a:buFont typeface="Lato"/>
              <a:buNone/>
            </a:pPr>
            <a:r>
              <a:rPr lang="en" sz="1600">
                <a:latin typeface="Lato"/>
                <a:ea typeface="Lato"/>
                <a:cs typeface="Lato"/>
                <a:sym typeface="Lato"/>
              </a:rPr>
              <a:t>For RNA mNGS using Nanopore, we use the SMART-9N protocol with minor modifications</a:t>
            </a:r>
            <a:endParaRPr sz="1600">
              <a:latin typeface="Lato"/>
              <a:ea typeface="Lato"/>
              <a:cs typeface="Lato"/>
              <a:sym typeface="Lato"/>
            </a:endParaRPr>
          </a:p>
          <a:p>
            <a:pPr marL="457200" marR="0" lvl="0" indent="-317500" algn="l" rtl="0">
              <a:lnSpc>
                <a:spcPct val="115000"/>
              </a:lnSpc>
              <a:spcBef>
                <a:spcPts val="0"/>
              </a:spcBef>
              <a:spcAft>
                <a:spcPts val="0"/>
              </a:spcAft>
              <a:buSzPts val="1400"/>
              <a:buFont typeface="Lato"/>
              <a:buChar char="●"/>
            </a:pPr>
            <a:r>
              <a:rPr lang="en">
                <a:latin typeface="Lato"/>
                <a:ea typeface="Lato"/>
                <a:cs typeface="Lato"/>
                <a:sym typeface="Lato"/>
              </a:rPr>
              <a:t>Increase concentration of oligos for reverse transcription steps</a:t>
            </a:r>
            <a:endParaRPr>
              <a:latin typeface="Lato"/>
              <a:ea typeface="Lato"/>
              <a:cs typeface="Lato"/>
              <a:sym typeface="Lato"/>
            </a:endParaRPr>
          </a:p>
          <a:p>
            <a:pPr marL="457200" marR="0" lvl="0" indent="-317500" algn="l" rtl="0">
              <a:lnSpc>
                <a:spcPct val="115000"/>
              </a:lnSpc>
              <a:spcBef>
                <a:spcPts val="0"/>
              </a:spcBef>
              <a:spcAft>
                <a:spcPts val="0"/>
              </a:spcAft>
              <a:buSzPts val="1400"/>
              <a:buFont typeface="Lato"/>
              <a:buChar char="●"/>
            </a:pPr>
            <a:r>
              <a:rPr lang="en">
                <a:latin typeface="Lato"/>
                <a:ea typeface="Lato"/>
                <a:cs typeface="Lato"/>
                <a:sym typeface="Lato"/>
              </a:rPr>
              <a:t>Adjust annealing temperature for PCR</a:t>
            </a:r>
            <a:endParaRPr>
              <a:latin typeface="Lato"/>
              <a:ea typeface="Lato"/>
              <a:cs typeface="Lato"/>
              <a:sym typeface="Lato"/>
            </a:endParaRPr>
          </a:p>
          <a:p>
            <a:pPr marL="0" marR="0" lvl="1" indent="177800" algn="l" rtl="0">
              <a:lnSpc>
                <a:spcPct val="100000"/>
              </a:lnSpc>
              <a:spcBef>
                <a:spcPts val="500"/>
              </a:spcBef>
              <a:spcAft>
                <a:spcPts val="0"/>
              </a:spcAft>
              <a:buClr>
                <a:srgbClr val="000000"/>
              </a:buClr>
              <a:buSzPts val="1200"/>
              <a:buFont typeface="Lato"/>
              <a:buNone/>
            </a:pPr>
            <a:endParaRPr sz="1200" b="0" i="0" u="none" strike="noStrike" cap="none">
              <a:solidFill>
                <a:srgbClr val="000000"/>
              </a:solidFill>
              <a:latin typeface="Lato"/>
              <a:ea typeface="Lato"/>
              <a:cs typeface="Lato"/>
              <a:sym typeface="Lato"/>
            </a:endParaRPr>
          </a:p>
          <a:p>
            <a:pPr marL="0" marR="0" lvl="1" indent="177800" algn="l" rtl="0">
              <a:lnSpc>
                <a:spcPct val="100000"/>
              </a:lnSpc>
              <a:spcBef>
                <a:spcPts val="500"/>
              </a:spcBef>
              <a:spcAft>
                <a:spcPts val="0"/>
              </a:spcAft>
              <a:buClr>
                <a:srgbClr val="000000"/>
              </a:buClr>
              <a:buSzPts val="1200"/>
              <a:buFont typeface="Lato"/>
              <a:buNone/>
            </a:pPr>
            <a:endParaRPr sz="1200" b="0" i="0" u="none" strike="noStrike" cap="none">
              <a:solidFill>
                <a:srgbClr val="000000"/>
              </a:solidFill>
              <a:latin typeface="Lato"/>
              <a:ea typeface="Lato"/>
              <a:cs typeface="Lato"/>
              <a:sym typeface="Lato"/>
            </a:endParaRPr>
          </a:p>
          <a:p>
            <a:pPr marL="0" marR="0" lvl="0" indent="0" algn="l" rtl="0">
              <a:lnSpc>
                <a:spcPct val="100000"/>
              </a:lnSpc>
              <a:spcBef>
                <a:spcPts val="900"/>
              </a:spcBef>
              <a:spcAft>
                <a:spcPts val="0"/>
              </a:spcAft>
              <a:buClr>
                <a:srgbClr val="000000"/>
              </a:buClr>
              <a:buSzPts val="1200"/>
              <a:buFont typeface="Lato"/>
              <a:buNone/>
            </a:pPr>
            <a:endParaRPr sz="1200" b="0" i="0" u="none" strike="noStrike" cap="none">
              <a:solidFill>
                <a:srgbClr val="000000"/>
              </a:solidFill>
              <a:latin typeface="Lato"/>
              <a:ea typeface="Lato"/>
              <a:cs typeface="Lato"/>
              <a:sym typeface="Lato"/>
            </a:endParaRPr>
          </a:p>
          <a:p>
            <a:pPr marL="0" marR="0" lvl="0" indent="0" algn="l" rtl="0">
              <a:lnSpc>
                <a:spcPct val="100000"/>
              </a:lnSpc>
              <a:spcBef>
                <a:spcPts val="900"/>
              </a:spcBef>
              <a:spcAft>
                <a:spcPts val="0"/>
              </a:spcAft>
              <a:buClr>
                <a:srgbClr val="000000"/>
              </a:buClr>
              <a:buSzPts val="1200"/>
              <a:buFont typeface="Lato"/>
              <a:buNone/>
            </a:pPr>
            <a:endParaRPr sz="1200" b="0" i="0" u="none" strike="noStrike" cap="none">
              <a:solidFill>
                <a:srgbClr val="000000"/>
              </a:solidFill>
              <a:latin typeface="Lato"/>
              <a:ea typeface="Lato"/>
              <a:cs typeface="Lato"/>
              <a:sym typeface="Lato"/>
            </a:endParaRPr>
          </a:p>
        </p:txBody>
      </p:sp>
      <p:sp>
        <p:nvSpPr>
          <p:cNvPr id="335" name="Google Shape;335;g36dd4466453_0_136"/>
          <p:cNvSpPr txBox="1"/>
          <p:nvPr/>
        </p:nvSpPr>
        <p:spPr>
          <a:xfrm>
            <a:off x="471500" y="4697725"/>
            <a:ext cx="3299700" cy="34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50" u="sng">
                <a:solidFill>
                  <a:schemeClr val="hlink"/>
                </a:solidFill>
                <a:highlight>
                  <a:srgbClr val="FFFFFF"/>
                </a:highlight>
                <a:latin typeface="Roboto"/>
                <a:ea typeface="Roboto"/>
                <a:cs typeface="Roboto"/>
                <a:sym typeface="Roboto"/>
                <a:hlinkClick r:id="rId3"/>
              </a:rPr>
              <a:t>https://doi.org/10.12688/wellcomeopenres.17170.2</a:t>
            </a:r>
            <a:endParaRPr/>
          </a:p>
        </p:txBody>
      </p:sp>
      <p:pic>
        <p:nvPicPr>
          <p:cNvPr id="336" name="Google Shape;336;g36dd4466453_0_136"/>
          <p:cNvPicPr preferRelativeResize="0"/>
          <p:nvPr/>
        </p:nvPicPr>
        <p:blipFill>
          <a:blip r:embed="rId4">
            <a:alphaModFix/>
          </a:blip>
          <a:stretch>
            <a:fillRect/>
          </a:stretch>
        </p:blipFill>
        <p:spPr>
          <a:xfrm>
            <a:off x="431801" y="2057400"/>
            <a:ext cx="4674176" cy="2640324"/>
          </a:xfrm>
          <a:prstGeom prst="rect">
            <a:avLst/>
          </a:prstGeom>
          <a:noFill/>
          <a:ln>
            <a:noFill/>
          </a:ln>
        </p:spPr>
      </p:pic>
      <p:pic>
        <p:nvPicPr>
          <p:cNvPr id="337" name="Google Shape;337;g36dd4466453_0_136"/>
          <p:cNvPicPr preferRelativeResize="0"/>
          <p:nvPr/>
        </p:nvPicPr>
        <p:blipFill>
          <a:blip r:embed="rId5">
            <a:alphaModFix/>
          </a:blip>
          <a:stretch>
            <a:fillRect/>
          </a:stretch>
        </p:blipFill>
        <p:spPr>
          <a:xfrm>
            <a:off x="5208825" y="2923775"/>
            <a:ext cx="3823199" cy="1773956"/>
          </a:xfrm>
          <a:prstGeom prst="rect">
            <a:avLst/>
          </a:prstGeom>
          <a:noFill/>
          <a:ln>
            <a:noFill/>
          </a:ln>
        </p:spPr>
      </p:pic>
      <p:sp>
        <p:nvSpPr>
          <p:cNvPr id="338" name="Google Shape;338;g36dd4466453_0_136"/>
          <p:cNvSpPr txBox="1"/>
          <p:nvPr/>
        </p:nvSpPr>
        <p:spPr>
          <a:xfrm>
            <a:off x="5208825" y="4697725"/>
            <a:ext cx="3000000" cy="34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50">
                <a:solidFill>
                  <a:schemeClr val="hlink"/>
                </a:solidFill>
                <a:highlight>
                  <a:srgbClr val="FFFFFF"/>
                </a:highlight>
                <a:uFill>
                  <a:noFill/>
                </a:uFill>
                <a:hlinkClick r:id="rId6"/>
              </a:rPr>
              <a:t>dx.doi.org/10.17504/protocols.io.7w5hpg6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5"/>
          <p:cNvSpPr txBox="1">
            <a:spLocks noGrp="1"/>
          </p:cNvSpPr>
          <p:nvPr>
            <p:ph type="title"/>
          </p:nvPr>
        </p:nvSpPr>
        <p:spPr>
          <a:xfrm>
            <a:off x="939400" y="252725"/>
            <a:ext cx="6816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Library prep: RNA to sequencing library</a:t>
            </a:r>
            <a:endParaRPr/>
          </a:p>
        </p:txBody>
      </p:sp>
      <p:sp>
        <p:nvSpPr>
          <p:cNvPr id="344" name="Google Shape;344;p5"/>
          <p:cNvSpPr txBox="1">
            <a:spLocks noGrp="1"/>
          </p:cNvSpPr>
          <p:nvPr>
            <p:ph type="body" idx="1"/>
          </p:nvPr>
        </p:nvSpPr>
        <p:spPr>
          <a:xfrm>
            <a:off x="83100" y="923875"/>
            <a:ext cx="8520600" cy="1008900"/>
          </a:xfrm>
          <a:prstGeom prst="rect">
            <a:avLst/>
          </a:prstGeom>
          <a:noFill/>
          <a:ln>
            <a:noFill/>
          </a:ln>
        </p:spPr>
        <p:txBody>
          <a:bodyPr spcFirstLastPara="1" wrap="square" lIns="91425" tIns="91425" rIns="91425" bIns="91425" anchor="t" anchorCtr="0">
            <a:noAutofit/>
          </a:bodyPr>
          <a:lstStyle/>
          <a:p>
            <a:pPr marL="457200" lvl="0" indent="-336550" algn="l" rtl="0">
              <a:lnSpc>
                <a:spcPct val="150000"/>
              </a:lnSpc>
              <a:spcBef>
                <a:spcPts val="0"/>
              </a:spcBef>
              <a:spcAft>
                <a:spcPts val="0"/>
              </a:spcAft>
              <a:buClr>
                <a:srgbClr val="000000"/>
              </a:buClr>
              <a:buSzPts val="1700"/>
              <a:buChar char="●"/>
            </a:pPr>
            <a:r>
              <a:rPr lang="en" sz="1700">
                <a:solidFill>
                  <a:srgbClr val="000000"/>
                </a:solidFill>
              </a:rPr>
              <a:t>Sequencing library = Pool of DNA inserts with sequencing adapters attached</a:t>
            </a:r>
            <a:endParaRPr sz="1700">
              <a:solidFill>
                <a:srgbClr val="000000"/>
              </a:solidFill>
            </a:endParaRPr>
          </a:p>
        </p:txBody>
      </p:sp>
      <p:grpSp>
        <p:nvGrpSpPr>
          <p:cNvPr id="345" name="Google Shape;345;p5"/>
          <p:cNvGrpSpPr/>
          <p:nvPr/>
        </p:nvGrpSpPr>
        <p:grpSpPr>
          <a:xfrm>
            <a:off x="1210800" y="2166773"/>
            <a:ext cx="1396599" cy="613277"/>
            <a:chOff x="687725" y="2186148"/>
            <a:chExt cx="1396599" cy="613277"/>
          </a:xfrm>
        </p:grpSpPr>
        <p:pic>
          <p:nvPicPr>
            <p:cNvPr id="346" name="Google Shape;346;p5"/>
            <p:cNvPicPr preferRelativeResize="0"/>
            <p:nvPr/>
          </p:nvPicPr>
          <p:blipFill rotWithShape="1">
            <a:blip r:embed="rId3">
              <a:alphaModFix/>
            </a:blip>
            <a:srcRect l="12215" t="5458" r="67405" b="88571"/>
            <a:stretch/>
          </p:blipFill>
          <p:spPr>
            <a:xfrm>
              <a:off x="687725" y="2186148"/>
              <a:ext cx="1396599" cy="613226"/>
            </a:xfrm>
            <a:prstGeom prst="rect">
              <a:avLst/>
            </a:prstGeom>
            <a:noFill/>
            <a:ln>
              <a:noFill/>
            </a:ln>
          </p:spPr>
        </p:pic>
        <p:sp>
          <p:nvSpPr>
            <p:cNvPr id="347" name="Google Shape;347;p5"/>
            <p:cNvSpPr/>
            <p:nvPr/>
          </p:nvSpPr>
          <p:spPr>
            <a:xfrm>
              <a:off x="1172050" y="2702525"/>
              <a:ext cx="280800" cy="96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8" name="Google Shape;348;p5"/>
          <p:cNvSpPr txBox="1"/>
          <p:nvPr/>
        </p:nvSpPr>
        <p:spPr>
          <a:xfrm>
            <a:off x="1419950" y="3014050"/>
            <a:ext cx="9783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Extracted RNA</a:t>
            </a:r>
            <a:endParaRPr sz="1400" b="0" i="0" u="none" strike="noStrike" cap="none">
              <a:solidFill>
                <a:srgbClr val="000000"/>
              </a:solidFill>
              <a:latin typeface="Arial"/>
              <a:ea typeface="Arial"/>
              <a:cs typeface="Arial"/>
              <a:sym typeface="Arial"/>
            </a:endParaRPr>
          </a:p>
        </p:txBody>
      </p:sp>
      <p:cxnSp>
        <p:nvCxnSpPr>
          <p:cNvPr id="349" name="Google Shape;349;p5"/>
          <p:cNvCxnSpPr/>
          <p:nvPr/>
        </p:nvCxnSpPr>
        <p:spPr>
          <a:xfrm rot="10800000" flipH="1">
            <a:off x="3206225" y="2625100"/>
            <a:ext cx="678000" cy="9600"/>
          </a:xfrm>
          <a:prstGeom prst="straightConnector1">
            <a:avLst/>
          </a:prstGeom>
          <a:noFill/>
          <a:ln w="28575" cap="flat" cmpd="sng">
            <a:solidFill>
              <a:schemeClr val="dk2"/>
            </a:solidFill>
            <a:prstDash val="solid"/>
            <a:round/>
            <a:headEnd type="none" w="sm" len="sm"/>
            <a:tailEnd type="triangle" w="med" len="med"/>
          </a:ln>
        </p:spPr>
      </p:cxnSp>
      <p:grpSp>
        <p:nvGrpSpPr>
          <p:cNvPr id="350" name="Google Shape;350;p5"/>
          <p:cNvGrpSpPr/>
          <p:nvPr/>
        </p:nvGrpSpPr>
        <p:grpSpPr>
          <a:xfrm>
            <a:off x="4740063" y="2173213"/>
            <a:ext cx="2681960" cy="1455512"/>
            <a:chOff x="4740063" y="2173213"/>
            <a:chExt cx="2681960" cy="1455512"/>
          </a:xfrm>
        </p:grpSpPr>
        <p:sp>
          <p:nvSpPr>
            <p:cNvPr id="351" name="Google Shape;351;p5"/>
            <p:cNvSpPr txBox="1"/>
            <p:nvPr/>
          </p:nvSpPr>
          <p:spPr>
            <a:xfrm>
              <a:off x="5408625" y="3013125"/>
              <a:ext cx="16386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Sequencing library</a:t>
              </a:r>
              <a:endParaRPr sz="1400" b="0" i="0" u="none" strike="noStrike" cap="none">
                <a:solidFill>
                  <a:srgbClr val="000000"/>
                </a:solidFill>
                <a:latin typeface="Arial"/>
                <a:ea typeface="Arial"/>
                <a:cs typeface="Arial"/>
                <a:sym typeface="Arial"/>
              </a:endParaRPr>
            </a:p>
          </p:txBody>
        </p:sp>
        <p:pic>
          <p:nvPicPr>
            <p:cNvPr id="352" name="Google Shape;352;p5"/>
            <p:cNvPicPr preferRelativeResize="0"/>
            <p:nvPr/>
          </p:nvPicPr>
          <p:blipFill rotWithShape="1">
            <a:blip r:embed="rId4">
              <a:alphaModFix/>
            </a:blip>
            <a:srcRect/>
            <a:stretch/>
          </p:blipFill>
          <p:spPr>
            <a:xfrm>
              <a:off x="4800775" y="2173213"/>
              <a:ext cx="2307173" cy="278575"/>
            </a:xfrm>
            <a:prstGeom prst="rect">
              <a:avLst/>
            </a:prstGeom>
            <a:noFill/>
            <a:ln>
              <a:noFill/>
            </a:ln>
          </p:spPr>
        </p:pic>
        <p:pic>
          <p:nvPicPr>
            <p:cNvPr id="353" name="Google Shape;353;p5"/>
            <p:cNvPicPr preferRelativeResize="0"/>
            <p:nvPr/>
          </p:nvPicPr>
          <p:blipFill rotWithShape="1">
            <a:blip r:embed="rId4">
              <a:alphaModFix/>
            </a:blip>
            <a:srcRect/>
            <a:stretch/>
          </p:blipFill>
          <p:spPr>
            <a:xfrm>
              <a:off x="5114850" y="2451788"/>
              <a:ext cx="2307173" cy="278575"/>
            </a:xfrm>
            <a:prstGeom prst="rect">
              <a:avLst/>
            </a:prstGeom>
            <a:noFill/>
            <a:ln>
              <a:noFill/>
            </a:ln>
          </p:spPr>
        </p:pic>
        <p:pic>
          <p:nvPicPr>
            <p:cNvPr id="354" name="Google Shape;354;p5"/>
            <p:cNvPicPr preferRelativeResize="0"/>
            <p:nvPr/>
          </p:nvPicPr>
          <p:blipFill rotWithShape="1">
            <a:blip r:embed="rId4">
              <a:alphaModFix/>
            </a:blip>
            <a:srcRect/>
            <a:stretch/>
          </p:blipFill>
          <p:spPr>
            <a:xfrm>
              <a:off x="4740063" y="2691700"/>
              <a:ext cx="2307173" cy="278575"/>
            </a:xfrm>
            <a:prstGeom prst="rect">
              <a:avLst/>
            </a:prstGeom>
            <a:noFill/>
            <a:ln>
              <a:noFill/>
            </a:ln>
          </p:spPr>
        </p:pic>
      </p:grpSp>
      <p:sp>
        <p:nvSpPr>
          <p:cNvPr id="355" name="Google Shape;355;p5"/>
          <p:cNvSpPr/>
          <p:nvPr/>
        </p:nvSpPr>
        <p:spPr>
          <a:xfrm rot="2541566">
            <a:off x="1748796" y="2649857"/>
            <a:ext cx="188786" cy="222971"/>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36dd4466453_0_196"/>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200" b="1">
                <a:latin typeface="Lato"/>
                <a:ea typeface="Lato"/>
                <a:cs typeface="Lato"/>
                <a:sym typeface="Lato"/>
              </a:rPr>
              <a:t>Anatomy of a completed ONT library</a:t>
            </a:r>
            <a:endParaRPr sz="2200"/>
          </a:p>
        </p:txBody>
      </p:sp>
      <p:pic>
        <p:nvPicPr>
          <p:cNvPr id="361" name="Google Shape;361;g36dd4466453_0_196"/>
          <p:cNvPicPr preferRelativeResize="0"/>
          <p:nvPr/>
        </p:nvPicPr>
        <p:blipFill>
          <a:blip r:embed="rId3">
            <a:alphaModFix/>
          </a:blip>
          <a:stretch>
            <a:fillRect/>
          </a:stretch>
        </p:blipFill>
        <p:spPr>
          <a:xfrm>
            <a:off x="874262" y="1048696"/>
            <a:ext cx="7700275" cy="1436253"/>
          </a:xfrm>
          <a:prstGeom prst="rect">
            <a:avLst/>
          </a:prstGeom>
          <a:noFill/>
          <a:ln>
            <a:noFill/>
          </a:ln>
        </p:spPr>
      </p:pic>
      <p:sp>
        <p:nvSpPr>
          <p:cNvPr id="362" name="Google Shape;362;g36dd4466453_0_196"/>
          <p:cNvSpPr/>
          <p:nvPr/>
        </p:nvSpPr>
        <p:spPr>
          <a:xfrm>
            <a:off x="3840475" y="877250"/>
            <a:ext cx="4689300" cy="414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 name="Google Shape;363;g36dd4466453_0_196"/>
          <p:cNvSpPr/>
          <p:nvPr/>
        </p:nvSpPr>
        <p:spPr>
          <a:xfrm>
            <a:off x="5272100" y="2110433"/>
            <a:ext cx="2021100" cy="414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 name="Google Shape;364;g36dd4466453_0_196"/>
          <p:cNvSpPr txBox="1"/>
          <p:nvPr/>
        </p:nvSpPr>
        <p:spPr>
          <a:xfrm>
            <a:off x="4164375" y="931150"/>
            <a:ext cx="668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Insert</a:t>
            </a:r>
            <a:endParaRPr sz="1300">
              <a:solidFill>
                <a:schemeClr val="dk2"/>
              </a:solidFill>
            </a:endParaRPr>
          </a:p>
        </p:txBody>
      </p:sp>
      <p:sp>
        <p:nvSpPr>
          <p:cNvPr id="365" name="Google Shape;365;g36dd4466453_0_196"/>
          <p:cNvSpPr txBox="1"/>
          <p:nvPr/>
        </p:nvSpPr>
        <p:spPr>
          <a:xfrm>
            <a:off x="4724400" y="2034225"/>
            <a:ext cx="17100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Rapid attachment barcode flanking region 1</a:t>
            </a:r>
            <a:endParaRPr sz="1300">
              <a:solidFill>
                <a:schemeClr val="dk2"/>
              </a:solidFill>
            </a:endParaRPr>
          </a:p>
        </p:txBody>
      </p:sp>
      <p:sp>
        <p:nvSpPr>
          <p:cNvPr id="366" name="Google Shape;366;g36dd4466453_0_196"/>
          <p:cNvSpPr txBox="1"/>
          <p:nvPr/>
        </p:nvSpPr>
        <p:spPr>
          <a:xfrm>
            <a:off x="6322725" y="2034225"/>
            <a:ext cx="17763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Rapid attachment barcode flanking region 2</a:t>
            </a:r>
            <a:endParaRPr sz="1300">
              <a:solidFill>
                <a:schemeClr val="dk2"/>
              </a:solidFill>
            </a:endParaRPr>
          </a:p>
        </p:txBody>
      </p:sp>
      <p:sp>
        <p:nvSpPr>
          <p:cNvPr id="367" name="Google Shape;367;g36dd4466453_0_196"/>
          <p:cNvSpPr txBox="1"/>
          <p:nvPr/>
        </p:nvSpPr>
        <p:spPr>
          <a:xfrm>
            <a:off x="5902975" y="931150"/>
            <a:ext cx="8691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Barcode</a:t>
            </a:r>
            <a:endParaRPr sz="1300">
              <a:solidFill>
                <a:schemeClr val="dk2"/>
              </a:solidFill>
            </a:endParaRPr>
          </a:p>
        </p:txBody>
      </p:sp>
      <p:sp>
        <p:nvSpPr>
          <p:cNvPr id="368" name="Google Shape;368;g36dd4466453_0_196"/>
          <p:cNvSpPr txBox="1"/>
          <p:nvPr/>
        </p:nvSpPr>
        <p:spPr>
          <a:xfrm>
            <a:off x="7041225" y="715750"/>
            <a:ext cx="12036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Sequencing Adapter</a:t>
            </a:r>
            <a:endParaRPr sz="1300">
              <a:solidFill>
                <a:schemeClr val="dk2"/>
              </a:solidFill>
            </a:endParaRPr>
          </a:p>
        </p:txBody>
      </p:sp>
      <p:sp>
        <p:nvSpPr>
          <p:cNvPr id="369" name="Google Shape;369;g36dd4466453_0_196"/>
          <p:cNvSpPr txBox="1"/>
          <p:nvPr/>
        </p:nvSpPr>
        <p:spPr>
          <a:xfrm>
            <a:off x="7940400" y="1185325"/>
            <a:ext cx="1203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Motor protein</a:t>
            </a:r>
            <a:endParaRPr sz="1300">
              <a:solidFill>
                <a:schemeClr val="dk2"/>
              </a:solidFill>
            </a:endParaRPr>
          </a:p>
        </p:txBody>
      </p:sp>
      <p:cxnSp>
        <p:nvCxnSpPr>
          <p:cNvPr id="370" name="Google Shape;370;g36dd4466453_0_196"/>
          <p:cNvCxnSpPr/>
          <p:nvPr/>
        </p:nvCxnSpPr>
        <p:spPr>
          <a:xfrm rot="10800000" flipH="1">
            <a:off x="7963850" y="1602950"/>
            <a:ext cx="154200" cy="18870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g36dd4466453_0_210"/>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200" b="1">
                <a:latin typeface="Lato"/>
                <a:ea typeface="Lato"/>
                <a:cs typeface="Lato"/>
                <a:sym typeface="Lato"/>
              </a:rPr>
              <a:t>Anatomy of a completed ONT library</a:t>
            </a:r>
            <a:endParaRPr sz="2200"/>
          </a:p>
        </p:txBody>
      </p:sp>
      <p:pic>
        <p:nvPicPr>
          <p:cNvPr id="376" name="Google Shape;376;g36dd4466453_0_210"/>
          <p:cNvPicPr preferRelativeResize="0"/>
          <p:nvPr/>
        </p:nvPicPr>
        <p:blipFill>
          <a:blip r:embed="rId3">
            <a:alphaModFix/>
          </a:blip>
          <a:stretch>
            <a:fillRect/>
          </a:stretch>
        </p:blipFill>
        <p:spPr>
          <a:xfrm>
            <a:off x="874262" y="1048696"/>
            <a:ext cx="7700275" cy="1436253"/>
          </a:xfrm>
          <a:prstGeom prst="rect">
            <a:avLst/>
          </a:prstGeom>
          <a:noFill/>
          <a:ln>
            <a:noFill/>
          </a:ln>
        </p:spPr>
      </p:pic>
      <p:sp>
        <p:nvSpPr>
          <p:cNvPr id="377" name="Google Shape;377;g36dd4466453_0_210"/>
          <p:cNvSpPr/>
          <p:nvPr/>
        </p:nvSpPr>
        <p:spPr>
          <a:xfrm>
            <a:off x="3840475" y="877250"/>
            <a:ext cx="4689300" cy="414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 name="Google Shape;378;g36dd4466453_0_210"/>
          <p:cNvSpPr/>
          <p:nvPr/>
        </p:nvSpPr>
        <p:spPr>
          <a:xfrm>
            <a:off x="5272100" y="2110433"/>
            <a:ext cx="2021100" cy="414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9" name="Google Shape;379;g36dd4466453_0_210"/>
          <p:cNvSpPr txBox="1"/>
          <p:nvPr/>
        </p:nvSpPr>
        <p:spPr>
          <a:xfrm>
            <a:off x="4164375" y="931150"/>
            <a:ext cx="668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Insert</a:t>
            </a:r>
            <a:endParaRPr sz="1300">
              <a:solidFill>
                <a:schemeClr val="dk2"/>
              </a:solidFill>
            </a:endParaRPr>
          </a:p>
        </p:txBody>
      </p:sp>
      <p:sp>
        <p:nvSpPr>
          <p:cNvPr id="380" name="Google Shape;380;g36dd4466453_0_210"/>
          <p:cNvSpPr txBox="1"/>
          <p:nvPr/>
        </p:nvSpPr>
        <p:spPr>
          <a:xfrm>
            <a:off x="4724400" y="2034225"/>
            <a:ext cx="17100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Rapid attachment barcode flanking region 1</a:t>
            </a:r>
            <a:endParaRPr sz="1300">
              <a:solidFill>
                <a:schemeClr val="dk2"/>
              </a:solidFill>
            </a:endParaRPr>
          </a:p>
        </p:txBody>
      </p:sp>
      <p:sp>
        <p:nvSpPr>
          <p:cNvPr id="381" name="Google Shape;381;g36dd4466453_0_210"/>
          <p:cNvSpPr txBox="1"/>
          <p:nvPr/>
        </p:nvSpPr>
        <p:spPr>
          <a:xfrm>
            <a:off x="6322725" y="2034225"/>
            <a:ext cx="17763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Rapid attachment barcode flanking region 2</a:t>
            </a:r>
            <a:endParaRPr sz="1300">
              <a:solidFill>
                <a:schemeClr val="dk2"/>
              </a:solidFill>
            </a:endParaRPr>
          </a:p>
        </p:txBody>
      </p:sp>
      <p:sp>
        <p:nvSpPr>
          <p:cNvPr id="382" name="Google Shape;382;g36dd4466453_0_210"/>
          <p:cNvSpPr txBox="1"/>
          <p:nvPr/>
        </p:nvSpPr>
        <p:spPr>
          <a:xfrm>
            <a:off x="5902975" y="931150"/>
            <a:ext cx="8691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Barcode</a:t>
            </a:r>
            <a:endParaRPr sz="1300">
              <a:solidFill>
                <a:schemeClr val="dk2"/>
              </a:solidFill>
            </a:endParaRPr>
          </a:p>
        </p:txBody>
      </p:sp>
      <p:sp>
        <p:nvSpPr>
          <p:cNvPr id="383" name="Google Shape;383;g36dd4466453_0_210"/>
          <p:cNvSpPr txBox="1"/>
          <p:nvPr/>
        </p:nvSpPr>
        <p:spPr>
          <a:xfrm>
            <a:off x="7041225" y="715750"/>
            <a:ext cx="12036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Sequencing Adapter</a:t>
            </a:r>
            <a:endParaRPr sz="1300">
              <a:solidFill>
                <a:schemeClr val="dk2"/>
              </a:solidFill>
            </a:endParaRPr>
          </a:p>
        </p:txBody>
      </p:sp>
      <p:sp>
        <p:nvSpPr>
          <p:cNvPr id="384" name="Google Shape;384;g36dd4466453_0_210"/>
          <p:cNvSpPr txBox="1"/>
          <p:nvPr/>
        </p:nvSpPr>
        <p:spPr>
          <a:xfrm>
            <a:off x="7940400" y="1185325"/>
            <a:ext cx="1203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Motor protein</a:t>
            </a:r>
            <a:endParaRPr sz="1300">
              <a:solidFill>
                <a:schemeClr val="dk2"/>
              </a:solidFill>
            </a:endParaRPr>
          </a:p>
        </p:txBody>
      </p:sp>
      <p:cxnSp>
        <p:nvCxnSpPr>
          <p:cNvPr id="385" name="Google Shape;385;g36dd4466453_0_210"/>
          <p:cNvCxnSpPr/>
          <p:nvPr/>
        </p:nvCxnSpPr>
        <p:spPr>
          <a:xfrm rot="10800000" flipH="1">
            <a:off x="7963850" y="1602950"/>
            <a:ext cx="154200" cy="188700"/>
          </a:xfrm>
          <a:prstGeom prst="straightConnector1">
            <a:avLst/>
          </a:prstGeom>
          <a:noFill/>
          <a:ln w="9525" cap="flat" cmpd="sng">
            <a:solidFill>
              <a:schemeClr val="dk1"/>
            </a:solidFill>
            <a:prstDash val="solid"/>
            <a:round/>
            <a:headEnd type="none" w="med" len="med"/>
            <a:tailEnd type="triangle" w="med" len="med"/>
          </a:ln>
        </p:spPr>
      </p:cxnSp>
      <p:pic>
        <p:nvPicPr>
          <p:cNvPr id="386" name="Google Shape;386;g36dd4466453_0_210"/>
          <p:cNvPicPr preferRelativeResize="0"/>
          <p:nvPr/>
        </p:nvPicPr>
        <p:blipFill rotWithShape="1">
          <a:blip r:embed="rId4">
            <a:alphaModFix/>
          </a:blip>
          <a:srcRect r="61834" b="62167"/>
          <a:stretch/>
        </p:blipFill>
        <p:spPr>
          <a:xfrm>
            <a:off x="2963543" y="2999525"/>
            <a:ext cx="3260965" cy="2043575"/>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g36dd4466453_0_225"/>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200" b="1">
                <a:latin typeface="Lato"/>
                <a:ea typeface="Lato"/>
                <a:cs typeface="Lato"/>
                <a:sym typeface="Lato"/>
              </a:rPr>
              <a:t>Anatomy of a completed ONT library</a:t>
            </a:r>
            <a:endParaRPr sz="2200"/>
          </a:p>
        </p:txBody>
      </p:sp>
      <p:sp>
        <p:nvSpPr>
          <p:cNvPr id="392" name="Google Shape;392;g36dd4466453_0_225"/>
          <p:cNvSpPr txBox="1">
            <a:spLocks noGrp="1"/>
          </p:cNvSpPr>
          <p:nvPr>
            <p:ph type="body" idx="4294967295"/>
          </p:nvPr>
        </p:nvSpPr>
        <p:spPr>
          <a:xfrm>
            <a:off x="361725" y="2562875"/>
            <a:ext cx="7969200" cy="2443500"/>
          </a:xfrm>
          <a:prstGeom prst="rect">
            <a:avLst/>
          </a:prstGeom>
        </p:spPr>
        <p:txBody>
          <a:bodyPr spcFirstLastPara="1" wrap="square" lIns="91425" tIns="91425" rIns="91425" bIns="91425" anchor="t" anchorCtr="0">
            <a:noAutofit/>
          </a:bodyPr>
          <a:lstStyle/>
          <a:p>
            <a:pPr marL="457200" lvl="0" indent="-311150" algn="l" rtl="0">
              <a:lnSpc>
                <a:spcPct val="140000"/>
              </a:lnSpc>
              <a:spcBef>
                <a:spcPts val="0"/>
              </a:spcBef>
              <a:spcAft>
                <a:spcPts val="0"/>
              </a:spcAft>
              <a:buClr>
                <a:srgbClr val="000000"/>
              </a:buClr>
              <a:buSzPts val="1300"/>
              <a:buAutoNum type="arabicPeriod"/>
            </a:pPr>
            <a:r>
              <a:rPr lang="en" sz="1400" b="1">
                <a:solidFill>
                  <a:srgbClr val="38761D"/>
                </a:solidFill>
              </a:rPr>
              <a:t>Insert</a:t>
            </a:r>
            <a:r>
              <a:rPr lang="en" sz="1300">
                <a:solidFill>
                  <a:srgbClr val="000000"/>
                </a:solidFill>
              </a:rPr>
              <a:t>: cDNA target that will be sequenced</a:t>
            </a:r>
            <a:endParaRPr sz="1300">
              <a:solidFill>
                <a:srgbClr val="000000"/>
              </a:solidFill>
            </a:endParaRPr>
          </a:p>
          <a:p>
            <a:pPr marL="457200" lvl="0" indent="-311150" algn="l" rtl="0">
              <a:lnSpc>
                <a:spcPct val="140000"/>
              </a:lnSpc>
              <a:spcBef>
                <a:spcPts val="0"/>
              </a:spcBef>
              <a:spcAft>
                <a:spcPts val="0"/>
              </a:spcAft>
              <a:buClr>
                <a:srgbClr val="000000"/>
              </a:buClr>
              <a:buSzPts val="1300"/>
              <a:buAutoNum type="arabicPeriod"/>
            </a:pPr>
            <a:r>
              <a:rPr lang="en" sz="1400" b="1">
                <a:solidFill>
                  <a:srgbClr val="CC0000"/>
                </a:solidFill>
              </a:rPr>
              <a:t>Rapid attachment barcode flanking region 1</a:t>
            </a:r>
            <a:r>
              <a:rPr lang="en" sz="1300">
                <a:solidFill>
                  <a:srgbClr val="000000"/>
                </a:solidFill>
              </a:rPr>
              <a:t>: adapter region </a:t>
            </a:r>
            <a:r>
              <a:rPr lang="en" sz="1300">
                <a:solidFill>
                  <a:schemeClr val="dk1"/>
                </a:solidFill>
              </a:rPr>
              <a:t>allows barcode primer to bind for PCR priming; </a:t>
            </a:r>
            <a:r>
              <a:rPr lang="en" sz="1300">
                <a:solidFill>
                  <a:srgbClr val="000000"/>
                </a:solidFill>
              </a:rPr>
              <a:t>added during cDNA synthesis</a:t>
            </a:r>
            <a:endParaRPr sz="1300">
              <a:solidFill>
                <a:srgbClr val="000000"/>
              </a:solidFill>
            </a:endParaRPr>
          </a:p>
          <a:p>
            <a:pPr marL="457200" lvl="0" indent="-311150" algn="l" rtl="0">
              <a:lnSpc>
                <a:spcPct val="140000"/>
              </a:lnSpc>
              <a:spcBef>
                <a:spcPts val="0"/>
              </a:spcBef>
              <a:spcAft>
                <a:spcPts val="0"/>
              </a:spcAft>
              <a:buClr>
                <a:srgbClr val="000000"/>
              </a:buClr>
              <a:buSzPts val="1300"/>
              <a:buAutoNum type="arabicPeriod"/>
            </a:pPr>
            <a:r>
              <a:rPr lang="en" sz="1400" b="1">
                <a:solidFill>
                  <a:srgbClr val="FF00FF"/>
                </a:solidFill>
              </a:rPr>
              <a:t>Barcode</a:t>
            </a:r>
            <a:r>
              <a:rPr lang="en" sz="1300">
                <a:solidFill>
                  <a:srgbClr val="000000"/>
                </a:solidFill>
              </a:rPr>
              <a:t>: DNA barcode specific to each sample; added during PCR amplification</a:t>
            </a:r>
            <a:endParaRPr sz="1300">
              <a:solidFill>
                <a:srgbClr val="000000"/>
              </a:solidFill>
            </a:endParaRPr>
          </a:p>
          <a:p>
            <a:pPr marL="457200" lvl="0" indent="-311150" algn="l" rtl="0">
              <a:lnSpc>
                <a:spcPct val="140000"/>
              </a:lnSpc>
              <a:spcBef>
                <a:spcPts val="0"/>
              </a:spcBef>
              <a:spcAft>
                <a:spcPts val="0"/>
              </a:spcAft>
              <a:buClr>
                <a:srgbClr val="000000"/>
              </a:buClr>
              <a:buSzPts val="1300"/>
              <a:buAutoNum type="arabicPeriod"/>
            </a:pPr>
            <a:r>
              <a:rPr lang="en" sz="1400" b="1">
                <a:solidFill>
                  <a:srgbClr val="CC0000"/>
                </a:solidFill>
              </a:rPr>
              <a:t>Rapid attachment barcode flanking region 2</a:t>
            </a:r>
            <a:r>
              <a:rPr lang="en" sz="1300">
                <a:solidFill>
                  <a:srgbClr val="000000"/>
                </a:solidFill>
              </a:rPr>
              <a:t>: includes special molecule for sequencing adapter ligation; </a:t>
            </a:r>
            <a:r>
              <a:rPr lang="en" sz="1300">
                <a:solidFill>
                  <a:schemeClr val="dk1"/>
                </a:solidFill>
              </a:rPr>
              <a:t>included in barcode primer, added during PCR amplification</a:t>
            </a:r>
            <a:endParaRPr sz="1300">
              <a:solidFill>
                <a:srgbClr val="000000"/>
              </a:solidFill>
            </a:endParaRPr>
          </a:p>
          <a:p>
            <a:pPr marL="457200" lvl="0" indent="-311150" algn="l" rtl="0">
              <a:lnSpc>
                <a:spcPct val="140000"/>
              </a:lnSpc>
              <a:spcBef>
                <a:spcPts val="0"/>
              </a:spcBef>
              <a:spcAft>
                <a:spcPts val="0"/>
              </a:spcAft>
              <a:buClr>
                <a:srgbClr val="000000"/>
              </a:buClr>
              <a:buSzPts val="1300"/>
              <a:buAutoNum type="arabicPeriod"/>
            </a:pPr>
            <a:r>
              <a:rPr lang="en" sz="1400" b="1">
                <a:solidFill>
                  <a:srgbClr val="0B5394"/>
                </a:solidFill>
              </a:rPr>
              <a:t>Sequencing adapter</a:t>
            </a:r>
            <a:r>
              <a:rPr lang="en" sz="1300">
                <a:solidFill>
                  <a:srgbClr val="000000"/>
                </a:solidFill>
              </a:rPr>
              <a:t>: allows binding and movement of DNA through flow cell sequencing pores; </a:t>
            </a:r>
            <a:r>
              <a:rPr lang="en" sz="1300">
                <a:solidFill>
                  <a:schemeClr val="dk1"/>
                </a:solidFill>
              </a:rPr>
              <a:t>includes motor protein; </a:t>
            </a:r>
            <a:r>
              <a:rPr lang="en" sz="1300">
                <a:solidFill>
                  <a:srgbClr val="000000"/>
                </a:solidFill>
              </a:rPr>
              <a:t>added during sequencing adapter ligation</a:t>
            </a:r>
            <a:endParaRPr sz="1300">
              <a:solidFill>
                <a:srgbClr val="000000"/>
              </a:solidFill>
            </a:endParaRPr>
          </a:p>
        </p:txBody>
      </p:sp>
      <p:pic>
        <p:nvPicPr>
          <p:cNvPr id="393" name="Google Shape;393;g36dd4466453_0_225"/>
          <p:cNvPicPr preferRelativeResize="0"/>
          <p:nvPr/>
        </p:nvPicPr>
        <p:blipFill>
          <a:blip r:embed="rId3">
            <a:alphaModFix/>
          </a:blip>
          <a:stretch>
            <a:fillRect/>
          </a:stretch>
        </p:blipFill>
        <p:spPr>
          <a:xfrm>
            <a:off x="874262" y="1048696"/>
            <a:ext cx="7700275" cy="1436253"/>
          </a:xfrm>
          <a:prstGeom prst="rect">
            <a:avLst/>
          </a:prstGeom>
          <a:noFill/>
          <a:ln>
            <a:noFill/>
          </a:ln>
        </p:spPr>
      </p:pic>
      <p:sp>
        <p:nvSpPr>
          <p:cNvPr id="394" name="Google Shape;394;g36dd4466453_0_225"/>
          <p:cNvSpPr/>
          <p:nvPr/>
        </p:nvSpPr>
        <p:spPr>
          <a:xfrm>
            <a:off x="3840475" y="877250"/>
            <a:ext cx="4689300" cy="414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 name="Google Shape;395;g36dd4466453_0_225"/>
          <p:cNvSpPr/>
          <p:nvPr/>
        </p:nvSpPr>
        <p:spPr>
          <a:xfrm>
            <a:off x="5272100" y="2110433"/>
            <a:ext cx="2021100" cy="414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 name="Google Shape;396;g36dd4466453_0_225"/>
          <p:cNvSpPr txBox="1"/>
          <p:nvPr/>
        </p:nvSpPr>
        <p:spPr>
          <a:xfrm>
            <a:off x="4164375" y="931150"/>
            <a:ext cx="668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Insert</a:t>
            </a:r>
            <a:endParaRPr sz="1300">
              <a:solidFill>
                <a:schemeClr val="dk2"/>
              </a:solidFill>
            </a:endParaRPr>
          </a:p>
        </p:txBody>
      </p:sp>
      <p:sp>
        <p:nvSpPr>
          <p:cNvPr id="397" name="Google Shape;397;g36dd4466453_0_225"/>
          <p:cNvSpPr txBox="1"/>
          <p:nvPr/>
        </p:nvSpPr>
        <p:spPr>
          <a:xfrm>
            <a:off x="4724400" y="2034225"/>
            <a:ext cx="17100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Rapid attachment barcode flanking region 1</a:t>
            </a:r>
            <a:endParaRPr sz="1300">
              <a:solidFill>
                <a:schemeClr val="dk2"/>
              </a:solidFill>
            </a:endParaRPr>
          </a:p>
        </p:txBody>
      </p:sp>
      <p:sp>
        <p:nvSpPr>
          <p:cNvPr id="398" name="Google Shape;398;g36dd4466453_0_225"/>
          <p:cNvSpPr txBox="1"/>
          <p:nvPr/>
        </p:nvSpPr>
        <p:spPr>
          <a:xfrm>
            <a:off x="6322725" y="2034225"/>
            <a:ext cx="17763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Rapid attachment barcode flanking region 2</a:t>
            </a:r>
            <a:endParaRPr sz="1300">
              <a:solidFill>
                <a:schemeClr val="dk2"/>
              </a:solidFill>
            </a:endParaRPr>
          </a:p>
        </p:txBody>
      </p:sp>
      <p:sp>
        <p:nvSpPr>
          <p:cNvPr id="399" name="Google Shape;399;g36dd4466453_0_225"/>
          <p:cNvSpPr txBox="1"/>
          <p:nvPr/>
        </p:nvSpPr>
        <p:spPr>
          <a:xfrm>
            <a:off x="5902975" y="931150"/>
            <a:ext cx="8691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Barcode</a:t>
            </a:r>
            <a:endParaRPr sz="1300">
              <a:solidFill>
                <a:schemeClr val="dk2"/>
              </a:solidFill>
            </a:endParaRPr>
          </a:p>
        </p:txBody>
      </p:sp>
      <p:sp>
        <p:nvSpPr>
          <p:cNvPr id="400" name="Google Shape;400;g36dd4466453_0_225"/>
          <p:cNvSpPr txBox="1"/>
          <p:nvPr/>
        </p:nvSpPr>
        <p:spPr>
          <a:xfrm>
            <a:off x="7041225" y="715750"/>
            <a:ext cx="12036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Sequencing Adapter</a:t>
            </a:r>
            <a:endParaRPr sz="1300">
              <a:solidFill>
                <a:schemeClr val="dk2"/>
              </a:solidFill>
            </a:endParaRPr>
          </a:p>
        </p:txBody>
      </p:sp>
      <p:sp>
        <p:nvSpPr>
          <p:cNvPr id="401" name="Google Shape;401;g36dd4466453_0_225"/>
          <p:cNvSpPr txBox="1"/>
          <p:nvPr/>
        </p:nvSpPr>
        <p:spPr>
          <a:xfrm>
            <a:off x="7940400" y="1185325"/>
            <a:ext cx="1203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Motor protein</a:t>
            </a:r>
            <a:endParaRPr sz="1300">
              <a:solidFill>
                <a:schemeClr val="dk2"/>
              </a:solidFill>
            </a:endParaRPr>
          </a:p>
        </p:txBody>
      </p:sp>
      <p:cxnSp>
        <p:nvCxnSpPr>
          <p:cNvPr id="402" name="Google Shape;402;g36dd4466453_0_225"/>
          <p:cNvCxnSpPr/>
          <p:nvPr/>
        </p:nvCxnSpPr>
        <p:spPr>
          <a:xfrm rot="10800000" flipH="1">
            <a:off x="7963850" y="1602950"/>
            <a:ext cx="154200" cy="18870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6"/>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100" b="1">
                <a:latin typeface="Lato"/>
                <a:ea typeface="Lato"/>
                <a:cs typeface="Lato"/>
                <a:sym typeface="Lato"/>
              </a:rPr>
              <a:t>Steps in RNA mNGS library prep for ONT (SMART-9N)</a:t>
            </a:r>
            <a:endParaRPr/>
          </a:p>
        </p:txBody>
      </p:sp>
      <p:sp>
        <p:nvSpPr>
          <p:cNvPr id="408" name="Google Shape;408;p6"/>
          <p:cNvSpPr txBox="1">
            <a:spLocks noGrp="1"/>
          </p:cNvSpPr>
          <p:nvPr>
            <p:ph type="body" idx="4294967295"/>
          </p:nvPr>
        </p:nvSpPr>
        <p:spPr>
          <a:xfrm>
            <a:off x="505775" y="1131575"/>
            <a:ext cx="8097900" cy="2498700"/>
          </a:xfrm>
          <a:prstGeom prst="rect">
            <a:avLst/>
          </a:prstGeom>
          <a:noFill/>
          <a:ln>
            <a:noFill/>
          </a:ln>
        </p:spPr>
        <p:txBody>
          <a:bodyPr spcFirstLastPara="1" wrap="square" lIns="91425" tIns="91425" rIns="91425" bIns="91425" anchor="t" anchorCtr="0">
            <a:normAutofit/>
          </a:bodyPr>
          <a:lstStyle/>
          <a:p>
            <a:pPr marL="457200" lvl="0" indent="-336550" algn="l" rtl="0">
              <a:lnSpc>
                <a:spcPct val="150000"/>
              </a:lnSpc>
              <a:spcBef>
                <a:spcPts val="0"/>
              </a:spcBef>
              <a:spcAft>
                <a:spcPts val="0"/>
              </a:spcAft>
              <a:buClr>
                <a:srgbClr val="000000"/>
              </a:buClr>
              <a:buSzPts val="1700"/>
              <a:buChar char="●"/>
            </a:pPr>
            <a:r>
              <a:rPr lang="en" sz="1700">
                <a:solidFill>
                  <a:srgbClr val="000000"/>
                </a:solidFill>
              </a:rPr>
              <a:t>Annealing</a:t>
            </a:r>
            <a:endParaRPr sz="1700">
              <a:solidFill>
                <a:srgbClr val="000000"/>
              </a:solidFill>
            </a:endParaRPr>
          </a:p>
          <a:p>
            <a:pPr marL="457200" lvl="0" indent="-336550" algn="l" rtl="0">
              <a:lnSpc>
                <a:spcPct val="150000"/>
              </a:lnSpc>
              <a:spcBef>
                <a:spcPts val="0"/>
              </a:spcBef>
              <a:spcAft>
                <a:spcPts val="0"/>
              </a:spcAft>
              <a:buClr>
                <a:srgbClr val="000000"/>
              </a:buClr>
              <a:buSzPts val="1700"/>
              <a:buChar char="●"/>
            </a:pPr>
            <a:r>
              <a:rPr lang="en" sz="1700">
                <a:solidFill>
                  <a:srgbClr val="000000"/>
                </a:solidFill>
              </a:rPr>
              <a:t>Reverse transcription + template switching</a:t>
            </a:r>
            <a:endParaRPr sz="1700">
              <a:solidFill>
                <a:srgbClr val="000000"/>
              </a:solidFill>
            </a:endParaRPr>
          </a:p>
          <a:p>
            <a:pPr marL="457200" lvl="0" indent="-336550" algn="l" rtl="0">
              <a:lnSpc>
                <a:spcPct val="150000"/>
              </a:lnSpc>
              <a:spcBef>
                <a:spcPts val="0"/>
              </a:spcBef>
              <a:spcAft>
                <a:spcPts val="0"/>
              </a:spcAft>
              <a:buClr>
                <a:srgbClr val="000000"/>
              </a:buClr>
              <a:buSzPts val="1700"/>
              <a:buChar char="●"/>
            </a:pPr>
            <a:r>
              <a:rPr lang="en" sz="1700">
                <a:solidFill>
                  <a:srgbClr val="000000"/>
                </a:solidFill>
              </a:rPr>
              <a:t>Barcoding PCR </a:t>
            </a:r>
            <a:endParaRPr sz="1700">
              <a:solidFill>
                <a:srgbClr val="000000"/>
              </a:solidFill>
            </a:endParaRPr>
          </a:p>
          <a:p>
            <a:pPr marL="457200" lvl="0" indent="-336550" algn="l" rtl="0">
              <a:lnSpc>
                <a:spcPct val="150000"/>
              </a:lnSpc>
              <a:spcBef>
                <a:spcPts val="0"/>
              </a:spcBef>
              <a:spcAft>
                <a:spcPts val="0"/>
              </a:spcAft>
              <a:buClr>
                <a:srgbClr val="000000"/>
              </a:buClr>
              <a:buSzPts val="1700"/>
              <a:buChar char="●"/>
            </a:pPr>
            <a:r>
              <a:rPr lang="en" sz="1700">
                <a:solidFill>
                  <a:srgbClr val="000000"/>
                </a:solidFill>
              </a:rPr>
              <a:t>Clean-up, quantification, and pooling</a:t>
            </a:r>
            <a:endParaRPr sz="1700">
              <a:solidFill>
                <a:srgbClr val="000000"/>
              </a:solidFill>
            </a:endParaRPr>
          </a:p>
          <a:p>
            <a:pPr marL="457200" lvl="0" indent="-336550" algn="l" rtl="0">
              <a:lnSpc>
                <a:spcPct val="150000"/>
              </a:lnSpc>
              <a:spcBef>
                <a:spcPts val="0"/>
              </a:spcBef>
              <a:spcAft>
                <a:spcPts val="0"/>
              </a:spcAft>
              <a:buClr>
                <a:srgbClr val="000000"/>
              </a:buClr>
              <a:buSzPts val="1700"/>
              <a:buChar char="●"/>
            </a:pPr>
            <a:r>
              <a:rPr lang="en" sz="1700">
                <a:solidFill>
                  <a:srgbClr val="000000"/>
                </a:solidFill>
              </a:rPr>
              <a:t>Sequencing adapter ligation</a:t>
            </a:r>
            <a:endParaRPr sz="170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7"/>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100" b="1">
                <a:latin typeface="Lato"/>
                <a:ea typeface="Lato"/>
                <a:cs typeface="Lato"/>
                <a:sym typeface="Lato"/>
              </a:rPr>
              <a:t>RNA mNGS library prep for ONT (SMART-9N)</a:t>
            </a:r>
            <a:endParaRPr/>
          </a:p>
        </p:txBody>
      </p:sp>
      <p:pic>
        <p:nvPicPr>
          <p:cNvPr id="414" name="Google Shape;414;p7"/>
          <p:cNvPicPr preferRelativeResize="0"/>
          <p:nvPr/>
        </p:nvPicPr>
        <p:blipFill rotWithShape="1">
          <a:blip r:embed="rId3">
            <a:alphaModFix/>
          </a:blip>
          <a:srcRect/>
          <a:stretch/>
        </p:blipFill>
        <p:spPr>
          <a:xfrm>
            <a:off x="711700" y="894566"/>
            <a:ext cx="7121992" cy="409653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8"/>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100" b="1">
                <a:latin typeface="Lato"/>
                <a:ea typeface="Lato"/>
                <a:cs typeface="Lato"/>
                <a:sym typeface="Lato"/>
              </a:rPr>
              <a:t>RNA mNGS library prep for ONT (SMART-9N)</a:t>
            </a:r>
            <a:endParaRPr/>
          </a:p>
        </p:txBody>
      </p:sp>
      <p:sp>
        <p:nvSpPr>
          <p:cNvPr id="420" name="Google Shape;420;p8"/>
          <p:cNvSpPr txBox="1"/>
          <p:nvPr/>
        </p:nvSpPr>
        <p:spPr>
          <a:xfrm>
            <a:off x="362334" y="951023"/>
            <a:ext cx="8568000" cy="39327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600" b="1" i="0" u="none" strike="noStrike" cap="none">
                <a:solidFill>
                  <a:srgbClr val="000000"/>
                </a:solidFill>
                <a:latin typeface="Lato"/>
                <a:ea typeface="Lato"/>
                <a:cs typeface="Lato"/>
                <a:sym typeface="Lato"/>
              </a:rPr>
              <a:t>STEP 0. Starting material: RNA or TNA</a:t>
            </a:r>
            <a:r>
              <a:rPr lang="en" sz="1600" b="0" i="0" u="none" strike="noStrike" cap="none">
                <a:solidFill>
                  <a:srgbClr val="000000"/>
                </a:solidFill>
                <a:latin typeface="Lato"/>
                <a:ea typeface="Lato"/>
                <a:cs typeface="Lato"/>
                <a:sym typeface="Lato"/>
              </a:rPr>
              <a:t> </a:t>
            </a:r>
            <a:endParaRPr sz="1600" b="0" i="0" u="none" strike="noStrike" cap="none">
              <a:solidFill>
                <a:srgbClr val="000000"/>
              </a:solidFill>
              <a:latin typeface="Lato"/>
              <a:ea typeface="Lato"/>
              <a:cs typeface="Lato"/>
              <a:sym typeface="Lato"/>
            </a:endParaRPr>
          </a:p>
          <a:p>
            <a:pPr marL="0" marR="0" lvl="0" indent="0" algn="l" rtl="0">
              <a:lnSpc>
                <a:spcPct val="150000"/>
              </a:lnSpc>
              <a:spcBef>
                <a:spcPts val="0"/>
              </a:spcBef>
              <a:spcAft>
                <a:spcPts val="0"/>
              </a:spcAft>
              <a:buClr>
                <a:srgbClr val="000000"/>
              </a:buClr>
              <a:buSzPts val="1400"/>
              <a:buFont typeface="Arial"/>
              <a:buNone/>
            </a:pPr>
            <a:r>
              <a:rPr lang="en" sz="1600" b="0" i="0" u="none" strike="noStrike" cap="none">
                <a:solidFill>
                  <a:srgbClr val="000000"/>
                </a:solidFill>
                <a:latin typeface="Lato"/>
                <a:ea typeface="Lato"/>
                <a:cs typeface="Lato"/>
                <a:sym typeface="Lato"/>
              </a:rPr>
              <a:t>(pre-PCR lab)</a:t>
            </a:r>
            <a:endParaRPr sz="1300" b="0" i="0" u="none" strike="noStrike" cap="none">
              <a:solidFill>
                <a:srgbClr val="000000"/>
              </a:solidFill>
              <a:latin typeface="Lato"/>
              <a:ea typeface="Lato"/>
              <a:cs typeface="Lato"/>
              <a:sym typeface="Lato"/>
            </a:endParaRPr>
          </a:p>
          <a:p>
            <a:pPr marL="0" marR="0" lvl="0" indent="0" algn="l" rtl="0">
              <a:lnSpc>
                <a:spcPct val="150000"/>
              </a:lnSpc>
              <a:spcBef>
                <a:spcPts val="0"/>
              </a:spcBef>
              <a:spcAft>
                <a:spcPts val="0"/>
              </a:spcAft>
              <a:buClr>
                <a:srgbClr val="000000"/>
              </a:buClr>
              <a:buSzPts val="1400"/>
              <a:buFont typeface="Arial"/>
              <a:buNone/>
            </a:pPr>
            <a:endParaRPr sz="1400" b="1" i="0" u="none" strike="noStrike" cap="none">
              <a:solidFill>
                <a:srgbClr val="000000"/>
              </a:solidFill>
              <a:latin typeface="Lato"/>
              <a:ea typeface="Lato"/>
              <a:cs typeface="Lato"/>
              <a:sym typeface="Lato"/>
            </a:endParaRPr>
          </a:p>
          <a:p>
            <a:pPr marL="266700" marR="0" lvl="1" indent="-254000" algn="l" rtl="0">
              <a:lnSpc>
                <a:spcPct val="150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RNA only: move on to annealing and reverse transcription</a:t>
            </a:r>
            <a:endParaRPr sz="1100" b="0" i="0" u="none" strike="noStrike" cap="none">
              <a:solidFill>
                <a:srgbClr val="000000"/>
              </a:solidFill>
              <a:latin typeface="Lato"/>
              <a:ea typeface="Lato"/>
              <a:cs typeface="Lato"/>
              <a:sym typeface="Lato"/>
            </a:endParaRPr>
          </a:p>
          <a:p>
            <a:pPr marL="266700" marR="0" lvl="1" indent="-165100" algn="l" rtl="0">
              <a:lnSpc>
                <a:spcPct val="15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a:p>
            <a:pPr marL="266700" marR="0" lvl="1" indent="-254000" algn="l" rtl="0">
              <a:lnSpc>
                <a:spcPct val="150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TNA (total nucleic acid): need to remove DNA</a:t>
            </a:r>
            <a:endParaRPr sz="1100" b="0" i="0" u="none" strike="noStrike" cap="none">
              <a:solidFill>
                <a:srgbClr val="000000"/>
              </a:solidFill>
              <a:latin typeface="Lato"/>
              <a:ea typeface="Lato"/>
              <a:cs typeface="Lato"/>
              <a:sym typeface="Lato"/>
            </a:endParaRPr>
          </a:p>
          <a:p>
            <a:pPr marL="698500" marR="0" lvl="2" indent="-342900" algn="l" rtl="0">
              <a:lnSpc>
                <a:spcPct val="150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Aliquot sample</a:t>
            </a:r>
            <a:endParaRPr sz="1100" b="0" i="0" u="none" strike="noStrike" cap="none">
              <a:solidFill>
                <a:srgbClr val="000000"/>
              </a:solidFill>
              <a:latin typeface="Lato"/>
              <a:ea typeface="Lato"/>
              <a:cs typeface="Lato"/>
              <a:sym typeface="Lato"/>
            </a:endParaRPr>
          </a:p>
          <a:p>
            <a:pPr marL="698500" marR="0" lvl="2" indent="-342900" algn="l" rtl="0">
              <a:lnSpc>
                <a:spcPct val="150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DNAse treatment</a:t>
            </a:r>
            <a:endParaRPr sz="1100" b="0" i="0" u="none" strike="noStrike" cap="none">
              <a:solidFill>
                <a:srgbClr val="000000"/>
              </a:solidFill>
              <a:latin typeface="Lato"/>
              <a:ea typeface="Lato"/>
              <a:cs typeface="Lato"/>
              <a:sym typeface="Lato"/>
            </a:endParaRPr>
          </a:p>
          <a:p>
            <a:pPr marL="698500" marR="0" lvl="2" indent="-342900" algn="l" rtl="0">
              <a:lnSpc>
                <a:spcPct val="150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SPRI bead cleanup (2x)</a:t>
            </a:r>
            <a:endParaRPr sz="1100" b="0" i="0" u="none" strike="noStrike" cap="none">
              <a:solidFill>
                <a:srgbClr val="000000"/>
              </a:solidFill>
              <a:latin typeface="Lato"/>
              <a:ea typeface="Lato"/>
              <a:cs typeface="Lato"/>
              <a:sym typeface="Lato"/>
            </a:endParaRPr>
          </a:p>
          <a:p>
            <a:pPr marL="698500" marR="0" lvl="2" indent="-342900" algn="l" rtl="0">
              <a:lnSpc>
                <a:spcPct val="150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Qubit quantification</a:t>
            </a:r>
            <a:endParaRPr sz="1100" b="0" i="0" u="none" strike="noStrike" cap="none">
              <a:solidFill>
                <a:srgbClr val="000000"/>
              </a:solidFill>
              <a:latin typeface="Lato"/>
              <a:ea typeface="Lato"/>
              <a:cs typeface="Lato"/>
              <a:sym typeface="Lato"/>
            </a:endParaRPr>
          </a:p>
          <a:p>
            <a:pPr marL="342900" marR="0" lvl="1" indent="0" algn="l" rtl="0">
              <a:lnSpc>
                <a:spcPct val="15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a:p>
            <a:pPr marL="342900" marR="0" lvl="1" indent="0" algn="l" rtl="0">
              <a:lnSpc>
                <a:spcPct val="15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9"/>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100" b="1">
                <a:latin typeface="Lato"/>
                <a:ea typeface="Lato"/>
                <a:cs typeface="Lato"/>
                <a:sym typeface="Lato"/>
              </a:rPr>
              <a:t>RNA mNGS library prep for ONT (SMART-9N)</a:t>
            </a:r>
            <a:endParaRPr/>
          </a:p>
        </p:txBody>
      </p:sp>
      <p:sp>
        <p:nvSpPr>
          <p:cNvPr id="426" name="Google Shape;426;p9"/>
          <p:cNvSpPr txBox="1"/>
          <p:nvPr/>
        </p:nvSpPr>
        <p:spPr>
          <a:xfrm>
            <a:off x="362325" y="951025"/>
            <a:ext cx="5007000" cy="20550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600" b="1" i="0" u="none" strike="noStrike" cap="none">
                <a:solidFill>
                  <a:srgbClr val="000000"/>
                </a:solidFill>
                <a:latin typeface="Lato"/>
                <a:ea typeface="Lato"/>
                <a:cs typeface="Lato"/>
                <a:sym typeface="Lato"/>
              </a:rPr>
              <a:t>STEP 1. Annealing </a:t>
            </a:r>
            <a:endParaRPr sz="1600" b="1" i="0" u="none" strike="noStrike" cap="none">
              <a:solidFill>
                <a:srgbClr val="000000"/>
              </a:solidFill>
              <a:latin typeface="Lato"/>
              <a:ea typeface="Lato"/>
              <a:cs typeface="Lato"/>
              <a:sym typeface="Lato"/>
            </a:endParaRPr>
          </a:p>
          <a:p>
            <a:pPr marL="0" marR="0" lvl="0" indent="0" algn="l" rtl="0">
              <a:lnSpc>
                <a:spcPct val="150000"/>
              </a:lnSpc>
              <a:spcBef>
                <a:spcPts val="0"/>
              </a:spcBef>
              <a:spcAft>
                <a:spcPts val="0"/>
              </a:spcAft>
              <a:buClr>
                <a:srgbClr val="000000"/>
              </a:buClr>
              <a:buSzPts val="1400"/>
              <a:buFont typeface="Arial"/>
              <a:buNone/>
            </a:pPr>
            <a:r>
              <a:rPr lang="en" sz="1600" b="0" i="0" u="none" strike="noStrike" cap="none">
                <a:solidFill>
                  <a:srgbClr val="000000"/>
                </a:solidFill>
                <a:latin typeface="Lato"/>
                <a:ea typeface="Lato"/>
                <a:cs typeface="Lato"/>
                <a:sym typeface="Lato"/>
              </a:rPr>
              <a:t>(pre-PCR lab)</a:t>
            </a:r>
            <a:endParaRPr sz="1600" b="1" i="0" u="none" strike="noStrike" cap="none">
              <a:solidFill>
                <a:srgbClr val="000000"/>
              </a:solidFill>
              <a:latin typeface="Lato"/>
              <a:ea typeface="Lato"/>
              <a:cs typeface="Lato"/>
              <a:sym typeface="Lato"/>
            </a:endParaRPr>
          </a:p>
          <a:p>
            <a:pPr marL="457200" marR="0" lvl="0" indent="-317500" algn="l" rtl="0">
              <a:lnSpc>
                <a:spcPct val="100000"/>
              </a:lnSpc>
              <a:spcBef>
                <a:spcPts val="100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RLB-9N primer: ONT adaptor with random nonamer</a:t>
            </a:r>
            <a:endParaRPr sz="1400" b="0" i="0" u="none" strike="noStrike" cap="none">
              <a:solidFill>
                <a:srgbClr val="000000"/>
              </a:solidFill>
              <a:latin typeface="Lato"/>
              <a:ea typeface="Lato"/>
              <a:cs typeface="Lato"/>
              <a:sym typeface="Lato"/>
            </a:endParaRPr>
          </a:p>
          <a:p>
            <a:pPr marL="457200" marR="0" lvl="0" indent="-317500" algn="l" rtl="0">
              <a:lnSpc>
                <a:spcPct val="100000"/>
              </a:lnSpc>
              <a:spcBef>
                <a:spcPts val="100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ONT adaptor sequence corresponds to the transposase adapter used in Rapid PCR Barcoding kit</a:t>
            </a:r>
            <a:endParaRPr sz="1400" b="0" i="0" u="none" strike="noStrike" cap="none">
              <a:solidFill>
                <a:srgbClr val="000000"/>
              </a:solidFill>
              <a:latin typeface="Lato"/>
              <a:ea typeface="Lato"/>
              <a:cs typeface="Lato"/>
              <a:sym typeface="Lato"/>
            </a:endParaRPr>
          </a:p>
          <a:p>
            <a:pPr marL="0" marR="0" lvl="0" indent="0" algn="l" rtl="0">
              <a:lnSpc>
                <a:spcPct val="100000"/>
              </a:lnSpc>
              <a:spcBef>
                <a:spcPts val="100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pic>
        <p:nvPicPr>
          <p:cNvPr id="427" name="Google Shape;427;p9"/>
          <p:cNvPicPr preferRelativeResize="0"/>
          <p:nvPr/>
        </p:nvPicPr>
        <p:blipFill rotWithShape="1">
          <a:blip r:embed="rId3">
            <a:alphaModFix/>
          </a:blip>
          <a:srcRect/>
          <a:stretch/>
        </p:blipFill>
        <p:spPr>
          <a:xfrm>
            <a:off x="5914300" y="1250125"/>
            <a:ext cx="2387292" cy="1511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10"/>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100" b="1">
                <a:latin typeface="Lato"/>
                <a:ea typeface="Lato"/>
                <a:cs typeface="Lato"/>
                <a:sym typeface="Lato"/>
              </a:rPr>
              <a:t>RNA mNGS library prep for ONT (SMART-9N)</a:t>
            </a:r>
            <a:endParaRPr/>
          </a:p>
        </p:txBody>
      </p:sp>
      <p:sp>
        <p:nvSpPr>
          <p:cNvPr id="433" name="Google Shape;433;p10"/>
          <p:cNvSpPr txBox="1"/>
          <p:nvPr/>
        </p:nvSpPr>
        <p:spPr>
          <a:xfrm>
            <a:off x="362325" y="951025"/>
            <a:ext cx="4978500" cy="25524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600" b="1" i="0" u="none" strike="noStrike" cap="none">
                <a:solidFill>
                  <a:srgbClr val="000000"/>
                </a:solidFill>
                <a:latin typeface="Lato"/>
                <a:ea typeface="Lato"/>
                <a:cs typeface="Lato"/>
                <a:sym typeface="Lato"/>
              </a:rPr>
              <a:t>STEP 2. Reverse transcription + template switching </a:t>
            </a:r>
            <a:r>
              <a:rPr lang="en" sz="1600" b="0" i="0" u="none" strike="noStrike" cap="none">
                <a:solidFill>
                  <a:srgbClr val="000000"/>
                </a:solidFill>
                <a:latin typeface="Lato"/>
                <a:ea typeface="Lato"/>
                <a:cs typeface="Lato"/>
                <a:sym typeface="Lato"/>
              </a:rPr>
              <a:t>(pre-PCR lab)</a:t>
            </a:r>
            <a:endParaRPr sz="1600" b="1" i="0" u="none" strike="noStrike" cap="none">
              <a:solidFill>
                <a:srgbClr val="000000"/>
              </a:solidFill>
              <a:latin typeface="Lato"/>
              <a:ea typeface="Lato"/>
              <a:cs typeface="Lato"/>
              <a:sym typeface="Lato"/>
            </a:endParaRPr>
          </a:p>
          <a:p>
            <a:pPr marL="457200" marR="0" lvl="0" indent="-317500" algn="l" rtl="0">
              <a:lnSpc>
                <a:spcPct val="100000"/>
              </a:lnSpc>
              <a:spcBef>
                <a:spcPts val="100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RNase OUT + DTT → degrade any RNases present</a:t>
            </a:r>
            <a:endParaRPr sz="1400" b="0" i="0" u="none" strike="noStrike" cap="none">
              <a:solidFill>
                <a:srgbClr val="000000"/>
              </a:solidFill>
              <a:latin typeface="Lato"/>
              <a:ea typeface="Lato"/>
              <a:cs typeface="Lato"/>
              <a:sym typeface="Lato"/>
            </a:endParaRPr>
          </a:p>
          <a:p>
            <a:pPr marL="457200" marR="0" lvl="0" indent="-317500" algn="l" rtl="0">
              <a:lnSpc>
                <a:spcPct val="100000"/>
              </a:lnSpc>
              <a:spcBef>
                <a:spcPts val="140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Special RTase is used that adds CCC at the end (MMLV)</a:t>
            </a:r>
            <a:endParaRPr sz="1400" b="0" i="0" u="none" strike="noStrike" cap="none">
              <a:solidFill>
                <a:srgbClr val="000000"/>
              </a:solidFill>
              <a:latin typeface="Lato"/>
              <a:ea typeface="Lato"/>
              <a:cs typeface="Lato"/>
              <a:sym typeface="Lato"/>
            </a:endParaRPr>
          </a:p>
          <a:p>
            <a:pPr marL="457200" marR="0" lvl="0" indent="-317500" algn="l" rtl="0">
              <a:lnSpc>
                <a:spcPct val="100000"/>
              </a:lnSpc>
              <a:spcBef>
                <a:spcPts val="140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RLB-TSO: Template Switching Oligo → anneals to CCC and generates the template switched oligo</a:t>
            </a:r>
            <a:endParaRPr sz="1400" b="0" i="0" u="none" strike="noStrike" cap="none">
              <a:solidFill>
                <a:srgbClr val="000000"/>
              </a:solidFill>
              <a:latin typeface="Lato"/>
              <a:ea typeface="Lato"/>
              <a:cs typeface="Lato"/>
              <a:sym typeface="Lato"/>
            </a:endParaRPr>
          </a:p>
          <a:p>
            <a:pPr marL="0" marR="0" lvl="0" indent="0" algn="l" rtl="0">
              <a:lnSpc>
                <a:spcPct val="100000"/>
              </a:lnSpc>
              <a:spcBef>
                <a:spcPts val="140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pic>
        <p:nvPicPr>
          <p:cNvPr id="434" name="Google Shape;434;p10"/>
          <p:cNvPicPr preferRelativeResize="0"/>
          <p:nvPr/>
        </p:nvPicPr>
        <p:blipFill rotWithShape="1">
          <a:blip r:embed="rId3">
            <a:alphaModFix/>
          </a:blip>
          <a:srcRect/>
          <a:stretch/>
        </p:blipFill>
        <p:spPr>
          <a:xfrm>
            <a:off x="5666560" y="1021525"/>
            <a:ext cx="2986864" cy="37335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11"/>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100" b="1">
                <a:latin typeface="Lato"/>
                <a:ea typeface="Lato"/>
                <a:cs typeface="Lato"/>
                <a:sym typeface="Lato"/>
              </a:rPr>
              <a:t>RNA mNGS library prep for ONT (SMART-9N)</a:t>
            </a:r>
            <a:endParaRPr/>
          </a:p>
        </p:txBody>
      </p:sp>
      <p:sp>
        <p:nvSpPr>
          <p:cNvPr id="440" name="Google Shape;440;p11"/>
          <p:cNvSpPr txBox="1"/>
          <p:nvPr/>
        </p:nvSpPr>
        <p:spPr>
          <a:xfrm>
            <a:off x="362325" y="951025"/>
            <a:ext cx="4594800" cy="40917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600" b="1" i="0" u="none" strike="noStrike" cap="none">
                <a:solidFill>
                  <a:srgbClr val="000000"/>
                </a:solidFill>
                <a:latin typeface="Lato"/>
                <a:ea typeface="Lato"/>
                <a:cs typeface="Lato"/>
                <a:sym typeface="Lato"/>
              </a:rPr>
              <a:t>STEP 3. Barcoding PCR </a:t>
            </a:r>
            <a:endParaRPr sz="1600" b="1" i="0" u="none" strike="noStrike" cap="none">
              <a:solidFill>
                <a:srgbClr val="000000"/>
              </a:solidFill>
              <a:latin typeface="Lato"/>
              <a:ea typeface="Lato"/>
              <a:cs typeface="Lato"/>
              <a:sym typeface="Lato"/>
            </a:endParaRPr>
          </a:p>
          <a:p>
            <a:pPr marL="0" marR="0" lvl="0" indent="0" algn="l" rtl="0">
              <a:lnSpc>
                <a:spcPct val="150000"/>
              </a:lnSpc>
              <a:spcBef>
                <a:spcPts val="0"/>
              </a:spcBef>
              <a:spcAft>
                <a:spcPts val="0"/>
              </a:spcAft>
              <a:buClr>
                <a:srgbClr val="000000"/>
              </a:buClr>
              <a:buSzPts val="1400"/>
              <a:buFont typeface="Arial"/>
              <a:buNone/>
            </a:pPr>
            <a:r>
              <a:rPr lang="en" sz="1600" b="0" i="0" u="none" strike="noStrike" cap="none">
                <a:solidFill>
                  <a:srgbClr val="000000"/>
                </a:solidFill>
                <a:latin typeface="Lato"/>
                <a:ea typeface="Lato"/>
                <a:cs typeface="Lato"/>
                <a:sym typeface="Lato"/>
              </a:rPr>
              <a:t>(prep pre-PCR lab, amplify in post-PCR)</a:t>
            </a:r>
            <a:endParaRPr sz="1600" b="1" i="0" u="none" strike="noStrike" cap="none">
              <a:solidFill>
                <a:srgbClr val="000000"/>
              </a:solidFill>
              <a:latin typeface="Lato"/>
              <a:ea typeface="Lato"/>
              <a:cs typeface="Lato"/>
              <a:sym typeface="Lato"/>
            </a:endParaRPr>
          </a:p>
          <a:p>
            <a:pPr marL="457200" marR="0" lvl="0" indent="-317500" algn="l" rtl="0">
              <a:lnSpc>
                <a:spcPct val="100000"/>
              </a:lnSpc>
              <a:spcBef>
                <a:spcPts val="100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Barcoding primers: single barcode, same primer amplifies both ends of each sample</a:t>
            </a:r>
            <a:endParaRPr sz="1400" b="0" i="0" u="none" strike="noStrike" cap="none">
              <a:solidFill>
                <a:srgbClr val="000000"/>
              </a:solidFill>
              <a:latin typeface="Lato"/>
              <a:ea typeface="Lato"/>
              <a:cs typeface="Lato"/>
              <a:sym typeface="Lato"/>
            </a:endParaRPr>
          </a:p>
          <a:p>
            <a:pPr marL="457200" marR="0" lvl="0" indent="-317500" algn="l" rtl="0">
              <a:lnSpc>
                <a:spcPct val="100000"/>
              </a:lnSpc>
              <a:spcBef>
                <a:spcPts val="140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Barcoding primers have a modified end to facilitate sequencing adapter ligation </a:t>
            </a:r>
            <a:endParaRPr sz="1400" b="0" i="0" u="none" strike="noStrike" cap="none">
              <a:solidFill>
                <a:srgbClr val="000000"/>
              </a:solidFill>
              <a:latin typeface="Lato"/>
              <a:ea typeface="Lato"/>
              <a:cs typeface="Lato"/>
              <a:sym typeface="Lato"/>
            </a:endParaRPr>
          </a:p>
          <a:p>
            <a:pPr marL="457200" marR="0" lvl="0" indent="-317500" algn="l" rtl="0">
              <a:lnSpc>
                <a:spcPct val="100000"/>
              </a:lnSpc>
              <a:spcBef>
                <a:spcPts val="140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ONT calls these “single rapid attachment primers” and they come with the ONT kit</a:t>
            </a:r>
            <a:endParaRPr sz="1400" b="0" i="0" u="none" strike="noStrike" cap="none">
              <a:solidFill>
                <a:srgbClr val="000000"/>
              </a:solidFill>
              <a:latin typeface="Lato"/>
              <a:ea typeface="Lato"/>
              <a:cs typeface="Lato"/>
              <a:sym typeface="Lato"/>
            </a:endParaRPr>
          </a:p>
          <a:p>
            <a:pPr marL="457200" marR="0" lvl="0" indent="-317500" algn="l" rtl="0">
              <a:lnSpc>
                <a:spcPct val="100000"/>
              </a:lnSpc>
              <a:spcBef>
                <a:spcPts val="140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PCR conditions:</a:t>
            </a:r>
            <a:endParaRPr sz="1400" b="0" i="0" u="none" strike="noStrike" cap="none">
              <a:solidFill>
                <a:srgbClr val="000000"/>
              </a:solidFill>
              <a:latin typeface="Lato"/>
              <a:ea typeface="Lato"/>
              <a:cs typeface="Lato"/>
              <a:sym typeface="Lato"/>
            </a:endParaRPr>
          </a:p>
          <a:p>
            <a:pPr marL="914400" marR="0" lvl="1" indent="-304800" algn="l" rtl="0">
              <a:lnSpc>
                <a:spcPct val="100000"/>
              </a:lnSpc>
              <a:spcBef>
                <a:spcPts val="0"/>
              </a:spcBef>
              <a:spcAft>
                <a:spcPts val="0"/>
              </a:spcAft>
              <a:buClr>
                <a:srgbClr val="000000"/>
              </a:buClr>
              <a:buSzPts val="1200"/>
              <a:buFont typeface="Lato"/>
              <a:buChar char="○"/>
            </a:pPr>
            <a:r>
              <a:rPr lang="en" sz="1200" b="0" i="0" u="none" strike="noStrike" cap="none">
                <a:solidFill>
                  <a:srgbClr val="000000"/>
                </a:solidFill>
                <a:latin typeface="Lato"/>
                <a:ea typeface="Lato"/>
                <a:cs typeface="Lato"/>
                <a:sym typeface="Lato"/>
              </a:rPr>
              <a:t>Number of PCR cycles depends on the input; for low input, perform 25 cycles</a:t>
            </a:r>
            <a:endParaRPr sz="1200" b="0" i="0" u="none" strike="noStrike" cap="none">
              <a:solidFill>
                <a:srgbClr val="000000"/>
              </a:solidFill>
              <a:latin typeface="Lato"/>
              <a:ea typeface="Lato"/>
              <a:cs typeface="Lato"/>
              <a:sym typeface="Lato"/>
            </a:endParaRPr>
          </a:p>
          <a:p>
            <a:pPr marL="914400" marR="0" lvl="1" indent="-304800" algn="l" rtl="0">
              <a:lnSpc>
                <a:spcPct val="100000"/>
              </a:lnSpc>
              <a:spcBef>
                <a:spcPts val="600"/>
              </a:spcBef>
              <a:spcAft>
                <a:spcPts val="0"/>
              </a:spcAft>
              <a:buClr>
                <a:srgbClr val="000000"/>
              </a:buClr>
              <a:buSzPts val="1200"/>
              <a:buFont typeface="Lato"/>
              <a:buChar char="○"/>
            </a:pPr>
            <a:r>
              <a:rPr lang="en" sz="1200" b="0" i="0" u="none" strike="noStrike" cap="none">
                <a:solidFill>
                  <a:srgbClr val="000000"/>
                </a:solidFill>
                <a:latin typeface="Lato"/>
                <a:ea typeface="Lato"/>
                <a:cs typeface="Lato"/>
                <a:sym typeface="Lato"/>
              </a:rPr>
              <a:t>Long extension time used since samples are unfragmented</a:t>
            </a:r>
            <a:endParaRPr sz="1200" b="0" i="0" u="none" strike="noStrike" cap="none">
              <a:solidFill>
                <a:srgbClr val="000000"/>
              </a:solidFill>
              <a:latin typeface="Lato"/>
              <a:ea typeface="Lato"/>
              <a:cs typeface="Lato"/>
              <a:sym typeface="Lato"/>
            </a:endParaRPr>
          </a:p>
          <a:p>
            <a:pPr marL="0" marR="0" lvl="0" indent="0" algn="l" rtl="0">
              <a:lnSpc>
                <a:spcPct val="100000"/>
              </a:lnSpc>
              <a:spcBef>
                <a:spcPts val="60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pic>
        <p:nvPicPr>
          <p:cNvPr id="441" name="Google Shape;441;p11"/>
          <p:cNvPicPr preferRelativeResize="0"/>
          <p:nvPr/>
        </p:nvPicPr>
        <p:blipFill rotWithShape="1">
          <a:blip r:embed="rId3">
            <a:alphaModFix/>
          </a:blip>
          <a:srcRect/>
          <a:stretch/>
        </p:blipFill>
        <p:spPr>
          <a:xfrm>
            <a:off x="5366125" y="1885976"/>
            <a:ext cx="2997274" cy="1824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12"/>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100" b="1">
                <a:latin typeface="Lato"/>
                <a:ea typeface="Lato"/>
                <a:cs typeface="Lato"/>
                <a:sym typeface="Lato"/>
              </a:rPr>
              <a:t>RNA mNGS library prep for ONT (SMART-9N)</a:t>
            </a:r>
            <a:endParaRPr/>
          </a:p>
        </p:txBody>
      </p:sp>
      <p:sp>
        <p:nvSpPr>
          <p:cNvPr id="447" name="Google Shape;447;p12"/>
          <p:cNvSpPr txBox="1"/>
          <p:nvPr/>
        </p:nvSpPr>
        <p:spPr>
          <a:xfrm>
            <a:off x="362325" y="951025"/>
            <a:ext cx="4594800" cy="38046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600" b="1" i="0" u="none" strike="noStrike" cap="none">
                <a:solidFill>
                  <a:srgbClr val="000000"/>
                </a:solidFill>
                <a:latin typeface="Lato"/>
                <a:ea typeface="Lato"/>
                <a:cs typeface="Lato"/>
                <a:sym typeface="Lato"/>
              </a:rPr>
              <a:t>STEP 4. Clean-up, QC, and pooling</a:t>
            </a:r>
            <a:endParaRPr sz="1600" b="1">
              <a:latin typeface="Lato"/>
              <a:ea typeface="Lato"/>
              <a:cs typeface="Lato"/>
              <a:sym typeface="Lato"/>
            </a:endParaRPr>
          </a:p>
          <a:p>
            <a:pPr marL="0" marR="0" lvl="0" indent="0" algn="l" rtl="0">
              <a:lnSpc>
                <a:spcPct val="150000"/>
              </a:lnSpc>
              <a:spcBef>
                <a:spcPts val="0"/>
              </a:spcBef>
              <a:spcAft>
                <a:spcPts val="0"/>
              </a:spcAft>
              <a:buClr>
                <a:srgbClr val="000000"/>
              </a:buClr>
              <a:buSzPts val="1400"/>
              <a:buFont typeface="Arial"/>
              <a:buNone/>
            </a:pPr>
            <a:r>
              <a:rPr lang="en" sz="1600">
                <a:latin typeface="Lato"/>
                <a:ea typeface="Lato"/>
                <a:cs typeface="Lato"/>
                <a:sym typeface="Lato"/>
              </a:rPr>
              <a:t>(</a:t>
            </a:r>
            <a:r>
              <a:rPr lang="en" sz="1600" b="0" i="0" u="none" strike="noStrike" cap="none">
                <a:solidFill>
                  <a:srgbClr val="000000"/>
                </a:solidFill>
                <a:latin typeface="Lato"/>
                <a:ea typeface="Lato"/>
                <a:cs typeface="Lato"/>
                <a:sym typeface="Lato"/>
              </a:rPr>
              <a:t>post-PCR lab)</a:t>
            </a:r>
            <a:endParaRPr sz="1600" b="1" i="0" u="none" strike="noStrike" cap="none">
              <a:solidFill>
                <a:srgbClr val="000000"/>
              </a:solidFill>
              <a:latin typeface="Lato"/>
              <a:ea typeface="Lato"/>
              <a:cs typeface="Lato"/>
              <a:sym typeface="Lato"/>
            </a:endParaRPr>
          </a:p>
          <a:p>
            <a:pPr marL="457200" marR="0" lvl="0" indent="-317500" algn="l" rtl="0">
              <a:lnSpc>
                <a:spcPct val="100000"/>
              </a:lnSpc>
              <a:spcBef>
                <a:spcPts val="100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Perform 0.6x SPRI clean-up of libraries after barcoding PCR</a:t>
            </a:r>
            <a:endParaRPr sz="1400" b="0" i="0" u="none" strike="noStrike" cap="none">
              <a:solidFill>
                <a:srgbClr val="000000"/>
              </a:solidFill>
              <a:latin typeface="Lato"/>
              <a:ea typeface="Lato"/>
              <a:cs typeface="Lato"/>
              <a:sym typeface="Lato"/>
            </a:endParaRPr>
          </a:p>
          <a:p>
            <a:pPr marL="457200" marR="0" lvl="0" indent="-317500" algn="l" rtl="0">
              <a:lnSpc>
                <a:spcPct val="100000"/>
              </a:lnSpc>
              <a:spcBef>
                <a:spcPts val="140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Do QC (quantity and quality)</a:t>
            </a:r>
            <a:endParaRPr sz="1400" b="0" i="0" u="none" strike="noStrike" cap="none">
              <a:solidFill>
                <a:srgbClr val="000000"/>
              </a:solidFill>
              <a:latin typeface="Lato"/>
              <a:ea typeface="Lato"/>
              <a:cs typeface="Lato"/>
              <a:sym typeface="Lato"/>
            </a:endParaRPr>
          </a:p>
          <a:p>
            <a:pPr marL="914400" marR="0" lvl="1" indent="-304800" algn="l" rtl="0">
              <a:lnSpc>
                <a:spcPct val="100000"/>
              </a:lnSpc>
              <a:spcBef>
                <a:spcPts val="1400"/>
              </a:spcBef>
              <a:spcAft>
                <a:spcPts val="0"/>
              </a:spcAft>
              <a:buClr>
                <a:schemeClr val="dk1"/>
              </a:buClr>
              <a:buSzPts val="1200"/>
              <a:buFont typeface="Lato"/>
              <a:buChar char="○"/>
            </a:pPr>
            <a:r>
              <a:rPr lang="en" sz="1200" b="0" i="0" u="none" strike="noStrike" cap="none">
                <a:solidFill>
                  <a:schemeClr val="dk1"/>
                </a:solidFill>
                <a:latin typeface="Lato"/>
                <a:ea typeface="Lato"/>
                <a:cs typeface="Lato"/>
                <a:sym typeface="Lato"/>
              </a:rPr>
              <a:t>If running Tapestation, use the genomic screentape</a:t>
            </a:r>
            <a:endParaRPr sz="1200" b="0" i="0" u="none" strike="noStrike" cap="none">
              <a:solidFill>
                <a:schemeClr val="dk1"/>
              </a:solidFill>
              <a:latin typeface="Lato"/>
              <a:ea typeface="Lato"/>
              <a:cs typeface="Lato"/>
              <a:sym typeface="Lato"/>
            </a:endParaRPr>
          </a:p>
          <a:p>
            <a:pPr marL="914400" marR="0" lvl="1" indent="-304800" algn="l" rtl="0">
              <a:lnSpc>
                <a:spcPct val="100000"/>
              </a:lnSpc>
              <a:spcBef>
                <a:spcPts val="600"/>
              </a:spcBef>
              <a:spcAft>
                <a:spcPts val="0"/>
              </a:spcAft>
              <a:buClr>
                <a:schemeClr val="dk1"/>
              </a:buClr>
              <a:buSzPts val="1200"/>
              <a:buFont typeface="Lato"/>
              <a:buChar char="○"/>
            </a:pPr>
            <a:r>
              <a:rPr lang="en" sz="1200" b="0" i="0" u="none" strike="noStrike" cap="none">
                <a:solidFill>
                  <a:schemeClr val="dk1"/>
                </a:solidFill>
                <a:latin typeface="Lato"/>
                <a:ea typeface="Lato"/>
                <a:cs typeface="Lato"/>
                <a:sym typeface="Lato"/>
              </a:rPr>
              <a:t>Ideal size range should be ~1000-7000 bp</a:t>
            </a:r>
            <a:endParaRPr sz="1200" b="0" i="0" u="none" strike="noStrike" cap="none">
              <a:solidFill>
                <a:schemeClr val="dk1"/>
              </a:solidFill>
              <a:latin typeface="Lato"/>
              <a:ea typeface="Lato"/>
              <a:cs typeface="Lato"/>
              <a:sym typeface="Lato"/>
            </a:endParaRPr>
          </a:p>
          <a:p>
            <a:pPr marL="457200" marR="0" lvl="0" indent="-304800" algn="l" rtl="0">
              <a:lnSpc>
                <a:spcPct val="100000"/>
              </a:lnSpc>
              <a:spcBef>
                <a:spcPts val="1000"/>
              </a:spcBef>
              <a:spcAft>
                <a:spcPts val="0"/>
              </a:spcAft>
              <a:buClr>
                <a:schemeClr val="dk1"/>
              </a:buClr>
              <a:buSzPts val="1200"/>
              <a:buFont typeface="Lato"/>
              <a:buChar char="●"/>
            </a:pPr>
            <a:r>
              <a:rPr lang="en" sz="1400" b="0" i="0" u="none" strike="noStrike" cap="none">
                <a:solidFill>
                  <a:schemeClr val="dk1"/>
                </a:solidFill>
                <a:latin typeface="Lato"/>
                <a:ea typeface="Lato"/>
                <a:cs typeface="Lato"/>
                <a:sym typeface="Lato"/>
              </a:rPr>
              <a:t>Pooling</a:t>
            </a:r>
            <a:endParaRPr sz="1200" b="0" i="0" u="none" strike="noStrike" cap="none">
              <a:solidFill>
                <a:schemeClr val="dk1"/>
              </a:solidFill>
              <a:latin typeface="Lato"/>
              <a:ea typeface="Lato"/>
              <a:cs typeface="Lato"/>
              <a:sym typeface="Lato"/>
            </a:endParaRPr>
          </a:p>
          <a:p>
            <a:pPr marL="914400" marR="0" lvl="1" indent="-304800" algn="l" rtl="0">
              <a:lnSpc>
                <a:spcPct val="100000"/>
              </a:lnSpc>
              <a:spcBef>
                <a:spcPts val="1400"/>
              </a:spcBef>
              <a:spcAft>
                <a:spcPts val="0"/>
              </a:spcAft>
              <a:buClr>
                <a:schemeClr val="dk1"/>
              </a:buClr>
              <a:buSzPts val="1200"/>
              <a:buFont typeface="Lato"/>
              <a:buChar char="○"/>
            </a:pPr>
            <a:r>
              <a:rPr lang="en" sz="1200" b="0" i="0" u="none" strike="noStrike" cap="none">
                <a:solidFill>
                  <a:schemeClr val="dk1"/>
                </a:solidFill>
                <a:latin typeface="Lato"/>
                <a:ea typeface="Lato"/>
                <a:cs typeface="Lato"/>
                <a:sym typeface="Lato"/>
              </a:rPr>
              <a:t>The goal is to have 100-150 fmol of library in 11µL</a:t>
            </a:r>
            <a:endParaRPr sz="1200" b="0" i="0" u="none" strike="noStrike" cap="none">
              <a:solidFill>
                <a:schemeClr val="dk1"/>
              </a:solidFill>
              <a:latin typeface="Lato"/>
              <a:ea typeface="Lato"/>
              <a:cs typeface="Lato"/>
              <a:sym typeface="Lato"/>
            </a:endParaRPr>
          </a:p>
          <a:p>
            <a:pPr marL="914400" marR="0" lvl="1" indent="-304800" algn="l" rtl="0">
              <a:lnSpc>
                <a:spcPct val="100000"/>
              </a:lnSpc>
              <a:spcBef>
                <a:spcPts val="600"/>
              </a:spcBef>
              <a:spcAft>
                <a:spcPts val="0"/>
              </a:spcAft>
              <a:buClr>
                <a:schemeClr val="dk1"/>
              </a:buClr>
              <a:buSzPts val="1200"/>
              <a:buFont typeface="Lato"/>
              <a:buChar char="○"/>
            </a:pPr>
            <a:r>
              <a:rPr lang="en" sz="1200" b="0" i="0" u="none" strike="noStrike" cap="none">
                <a:solidFill>
                  <a:schemeClr val="dk1"/>
                </a:solidFill>
                <a:latin typeface="Lato"/>
                <a:ea typeface="Lato"/>
                <a:cs typeface="Lato"/>
                <a:sym typeface="Lato"/>
              </a:rPr>
              <a:t>(This corresponds to a concentration of 10-15 nM)</a:t>
            </a:r>
            <a:endParaRPr sz="1200" b="0" i="0" u="none" strike="noStrike" cap="none">
              <a:solidFill>
                <a:schemeClr val="dk1"/>
              </a:solidFill>
              <a:latin typeface="Lato"/>
              <a:ea typeface="Lato"/>
              <a:cs typeface="Lato"/>
              <a:sym typeface="Lato"/>
            </a:endParaRPr>
          </a:p>
          <a:p>
            <a:pPr marL="914400" marR="0" lvl="1" indent="-304800" algn="l" rtl="0">
              <a:lnSpc>
                <a:spcPct val="100000"/>
              </a:lnSpc>
              <a:spcBef>
                <a:spcPts val="600"/>
              </a:spcBef>
              <a:spcAft>
                <a:spcPts val="600"/>
              </a:spcAft>
              <a:buClr>
                <a:schemeClr val="dk1"/>
              </a:buClr>
              <a:buSzPts val="1200"/>
              <a:buFont typeface="Lato"/>
              <a:buChar char="○"/>
            </a:pPr>
            <a:r>
              <a:rPr lang="en" sz="1200" b="0" i="0" u="none" strike="noStrike" cap="none">
                <a:solidFill>
                  <a:schemeClr val="dk1"/>
                </a:solidFill>
                <a:latin typeface="Lato"/>
                <a:ea typeface="Lato"/>
                <a:cs typeface="Lato"/>
                <a:sym typeface="Lato"/>
              </a:rPr>
              <a:t>Pooling can be done in nuclease-free water or EB as the kit says (anecdotally, water works better)</a:t>
            </a:r>
            <a:endParaRPr sz="1200" b="0" i="0" u="none" strike="noStrike" cap="none">
              <a:solidFill>
                <a:schemeClr val="dk1"/>
              </a:solidFill>
              <a:latin typeface="Lato"/>
              <a:ea typeface="Lato"/>
              <a:cs typeface="Lato"/>
              <a:sym typeface="Lato"/>
            </a:endParaRPr>
          </a:p>
        </p:txBody>
      </p:sp>
      <p:pic>
        <p:nvPicPr>
          <p:cNvPr id="448" name="Google Shape;448;p12"/>
          <p:cNvPicPr preferRelativeResize="0"/>
          <p:nvPr/>
        </p:nvPicPr>
        <p:blipFill rotWithShape="1">
          <a:blip r:embed="rId3">
            <a:alphaModFix/>
          </a:blip>
          <a:srcRect/>
          <a:stretch/>
        </p:blipFill>
        <p:spPr>
          <a:xfrm>
            <a:off x="5366125" y="1885976"/>
            <a:ext cx="2997274" cy="18244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g36deab05443_0_0"/>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200" b="1">
                <a:latin typeface="Lato"/>
                <a:ea typeface="Lato"/>
                <a:cs typeface="Lato"/>
                <a:sym typeface="Lato"/>
              </a:rPr>
              <a:t>RNA mNGS library prep for ONT (SMART-9N)</a:t>
            </a:r>
            <a:endParaRPr sz="2200"/>
          </a:p>
        </p:txBody>
      </p:sp>
      <p:sp>
        <p:nvSpPr>
          <p:cNvPr id="454" name="Google Shape;454;g36deab05443_0_0"/>
          <p:cNvSpPr txBox="1"/>
          <p:nvPr/>
        </p:nvSpPr>
        <p:spPr>
          <a:xfrm>
            <a:off x="362325" y="951025"/>
            <a:ext cx="4594800" cy="25578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r>
              <a:rPr lang="en" sz="1800" b="1">
                <a:solidFill>
                  <a:srgbClr val="000000"/>
                </a:solidFill>
                <a:latin typeface="Lato"/>
                <a:ea typeface="Lato"/>
                <a:cs typeface="Lato"/>
                <a:sym typeface="Lato"/>
              </a:rPr>
              <a:t>STEP </a:t>
            </a:r>
            <a:r>
              <a:rPr lang="en" sz="1800" b="1">
                <a:latin typeface="Lato"/>
                <a:ea typeface="Lato"/>
                <a:cs typeface="Lato"/>
                <a:sym typeface="Lato"/>
              </a:rPr>
              <a:t>5</a:t>
            </a:r>
            <a:r>
              <a:rPr lang="en" sz="1800" b="1">
                <a:solidFill>
                  <a:srgbClr val="000000"/>
                </a:solidFill>
                <a:latin typeface="Lato"/>
                <a:ea typeface="Lato"/>
                <a:cs typeface="Lato"/>
                <a:sym typeface="Lato"/>
              </a:rPr>
              <a:t>. </a:t>
            </a:r>
            <a:r>
              <a:rPr lang="en" sz="1800" b="1">
                <a:latin typeface="Lato"/>
                <a:ea typeface="Lato"/>
                <a:cs typeface="Lato"/>
                <a:sym typeface="Lato"/>
              </a:rPr>
              <a:t>Sequencing adapter ligation </a:t>
            </a:r>
            <a:endParaRPr sz="1800" b="1">
              <a:latin typeface="Lato"/>
              <a:ea typeface="Lato"/>
              <a:cs typeface="Lato"/>
              <a:sym typeface="Lato"/>
            </a:endParaRPr>
          </a:p>
          <a:p>
            <a:pPr marL="0" marR="0" lvl="0" indent="0" algn="l" rtl="0">
              <a:lnSpc>
                <a:spcPct val="150000"/>
              </a:lnSpc>
              <a:spcBef>
                <a:spcPts val="0"/>
              </a:spcBef>
              <a:spcAft>
                <a:spcPts val="0"/>
              </a:spcAft>
              <a:buNone/>
            </a:pPr>
            <a:r>
              <a:rPr lang="en">
                <a:latin typeface="Lato"/>
                <a:ea typeface="Lato"/>
                <a:cs typeface="Lato"/>
                <a:sym typeface="Lato"/>
              </a:rPr>
              <a:t>(</a:t>
            </a:r>
            <a:r>
              <a:rPr lang="en" sz="1400">
                <a:solidFill>
                  <a:srgbClr val="000000"/>
                </a:solidFill>
                <a:latin typeface="Lato"/>
                <a:ea typeface="Lato"/>
                <a:cs typeface="Lato"/>
                <a:sym typeface="Lato"/>
              </a:rPr>
              <a:t>post-PCR lab, immediately before sequencing)</a:t>
            </a:r>
            <a:endParaRPr sz="1400" b="1">
              <a:solidFill>
                <a:srgbClr val="000000"/>
              </a:solidFill>
              <a:latin typeface="Lato"/>
              <a:ea typeface="Lato"/>
              <a:cs typeface="Lato"/>
              <a:sym typeface="Lato"/>
            </a:endParaRPr>
          </a:p>
          <a:p>
            <a:pPr marL="457200" marR="0" lvl="0" indent="-317500" algn="l" rtl="0">
              <a:lnSpc>
                <a:spcPct val="100000"/>
              </a:lnSpc>
              <a:spcBef>
                <a:spcPts val="1000"/>
              </a:spcBef>
              <a:spcAft>
                <a:spcPts val="0"/>
              </a:spcAft>
              <a:buSzPts val="1400"/>
              <a:buFont typeface="Lato"/>
              <a:buChar char="●"/>
            </a:pPr>
            <a:r>
              <a:rPr lang="en">
                <a:latin typeface="Lato"/>
                <a:ea typeface="Lato"/>
                <a:cs typeface="Lato"/>
                <a:sym typeface="Lato"/>
              </a:rPr>
              <a:t>ONT sequencing adapters have a motor protein attached to it that helps guide the DNA through the nanopores</a:t>
            </a:r>
            <a:endParaRPr>
              <a:latin typeface="Lato"/>
              <a:ea typeface="Lato"/>
              <a:cs typeface="Lato"/>
              <a:sym typeface="Lato"/>
            </a:endParaRPr>
          </a:p>
          <a:p>
            <a:pPr marL="457200" marR="0" lvl="0" indent="-317500" algn="l" rtl="0">
              <a:lnSpc>
                <a:spcPct val="100000"/>
              </a:lnSpc>
              <a:spcBef>
                <a:spcPts val="1400"/>
              </a:spcBef>
              <a:spcAft>
                <a:spcPts val="0"/>
              </a:spcAft>
              <a:buSzPts val="1400"/>
              <a:buFont typeface="Lato"/>
              <a:buChar char="●"/>
            </a:pPr>
            <a:r>
              <a:rPr lang="en">
                <a:latin typeface="Lato"/>
                <a:ea typeface="Lato"/>
                <a:cs typeface="Lato"/>
                <a:sym typeface="Lato"/>
              </a:rPr>
              <a:t>Ligation of adapter occurs in 5 min using a proprietary click chemistry</a:t>
            </a:r>
            <a:endParaRPr sz="1200">
              <a:solidFill>
                <a:schemeClr val="dk1"/>
              </a:solidFill>
              <a:latin typeface="Lato"/>
              <a:ea typeface="Lato"/>
              <a:cs typeface="Lato"/>
              <a:sym typeface="Lato"/>
            </a:endParaRPr>
          </a:p>
          <a:p>
            <a:pPr marL="0" lvl="0" indent="0" algn="l" rtl="0">
              <a:spcBef>
                <a:spcPts val="1400"/>
              </a:spcBef>
              <a:spcAft>
                <a:spcPts val="1400"/>
              </a:spcAft>
              <a:buNone/>
            </a:pPr>
            <a:endParaRPr sz="1200">
              <a:solidFill>
                <a:schemeClr val="dk1"/>
              </a:solidFill>
              <a:latin typeface="Lato"/>
              <a:ea typeface="Lato"/>
              <a:cs typeface="Lato"/>
              <a:sym typeface="Lato"/>
            </a:endParaRPr>
          </a:p>
        </p:txBody>
      </p:sp>
      <p:pic>
        <p:nvPicPr>
          <p:cNvPr id="455" name="Google Shape;455;g36deab05443_0_0"/>
          <p:cNvPicPr preferRelativeResize="0"/>
          <p:nvPr/>
        </p:nvPicPr>
        <p:blipFill>
          <a:blip r:embed="rId3">
            <a:alphaModFix/>
          </a:blip>
          <a:stretch>
            <a:fillRect/>
          </a:stretch>
        </p:blipFill>
        <p:spPr>
          <a:xfrm>
            <a:off x="4957125" y="1365741"/>
            <a:ext cx="3882073" cy="3278950"/>
          </a:xfrm>
          <a:prstGeom prst="rect">
            <a:avLst/>
          </a:prstGeom>
          <a:noFill/>
          <a:ln>
            <a:noFill/>
          </a:ln>
        </p:spPr>
      </p:pic>
      <p:pic>
        <p:nvPicPr>
          <p:cNvPr id="456" name="Google Shape;456;g36deab05443_0_0"/>
          <p:cNvPicPr preferRelativeResize="0"/>
          <p:nvPr/>
        </p:nvPicPr>
        <p:blipFill rotWithShape="1">
          <a:blip r:embed="rId4">
            <a:alphaModFix/>
          </a:blip>
          <a:srcRect r="61834" b="62167"/>
          <a:stretch/>
        </p:blipFill>
        <p:spPr>
          <a:xfrm>
            <a:off x="1783077" y="3338875"/>
            <a:ext cx="2647077" cy="1658874"/>
          </a:xfrm>
          <a:prstGeom prst="rect">
            <a:avLst/>
          </a:prstGeom>
          <a:noFill/>
          <a:ln w="9525" cap="flat" cmpd="sng">
            <a:solidFill>
              <a:srgbClr val="000000"/>
            </a:solidFill>
            <a:prstDash val="solid"/>
            <a:round/>
            <a:headEnd type="none" w="sm" len="sm"/>
            <a:tailEnd type="none" w="sm" len="sm"/>
          </a:ln>
        </p:spPr>
      </p:pic>
      <p:cxnSp>
        <p:nvCxnSpPr>
          <p:cNvPr id="457" name="Google Shape;457;g36deab05443_0_0"/>
          <p:cNvCxnSpPr/>
          <p:nvPr/>
        </p:nvCxnSpPr>
        <p:spPr>
          <a:xfrm flipH="1">
            <a:off x="4406200" y="3917625"/>
            <a:ext cx="1174500" cy="600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g36deab05443_0_126"/>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200" b="1">
                <a:latin typeface="Lato"/>
                <a:ea typeface="Lato"/>
                <a:cs typeface="Lato"/>
                <a:sym typeface="Lato"/>
              </a:rPr>
              <a:t>Resources</a:t>
            </a:r>
            <a:endParaRPr sz="2200"/>
          </a:p>
        </p:txBody>
      </p:sp>
      <p:sp>
        <p:nvSpPr>
          <p:cNvPr id="463" name="Google Shape;463;g36deab05443_0_126"/>
          <p:cNvSpPr txBox="1"/>
          <p:nvPr/>
        </p:nvSpPr>
        <p:spPr>
          <a:xfrm>
            <a:off x="828173" y="1156475"/>
            <a:ext cx="7872900" cy="3826500"/>
          </a:xfrm>
          <a:prstGeom prst="rect">
            <a:avLst/>
          </a:prstGeom>
          <a:noFill/>
          <a:ln>
            <a:noFill/>
          </a:ln>
        </p:spPr>
        <p:txBody>
          <a:bodyPr spcFirstLastPara="1" wrap="square" lIns="26775" tIns="26775" rIns="26775" bIns="26775" anchor="t" anchorCtr="0">
            <a:normAutofit/>
          </a:bodyPr>
          <a:lstStyle/>
          <a:p>
            <a:pPr marL="0" marR="0" lvl="0" indent="0" algn="l" rtl="0">
              <a:lnSpc>
                <a:spcPct val="100000"/>
              </a:lnSpc>
              <a:spcBef>
                <a:spcPts val="700"/>
              </a:spcBef>
              <a:spcAft>
                <a:spcPts val="0"/>
              </a:spcAft>
              <a:buNone/>
            </a:pPr>
            <a:r>
              <a:rPr lang="en" sz="1600">
                <a:latin typeface="Lato"/>
                <a:ea typeface="Lato"/>
                <a:cs typeface="Lato"/>
                <a:sym typeface="Lato"/>
              </a:rPr>
              <a:t>RNA and DNA mNGS for ONT: </a:t>
            </a:r>
            <a:endParaRPr sz="1600">
              <a:latin typeface="Lato"/>
              <a:ea typeface="Lato"/>
              <a:cs typeface="Lato"/>
              <a:sym typeface="Lato"/>
            </a:endParaRPr>
          </a:p>
          <a:p>
            <a:pPr marL="0" marR="0" lvl="0" indent="457200" algn="l" rtl="0">
              <a:lnSpc>
                <a:spcPct val="100000"/>
              </a:lnSpc>
              <a:spcBef>
                <a:spcPts val="700"/>
              </a:spcBef>
              <a:spcAft>
                <a:spcPts val="0"/>
              </a:spcAft>
              <a:buNone/>
            </a:pPr>
            <a:r>
              <a:rPr lang="en" sz="1700" u="sng">
                <a:solidFill>
                  <a:schemeClr val="hlink"/>
                </a:solidFill>
                <a:latin typeface="Lato"/>
                <a:ea typeface="Lato"/>
                <a:cs typeface="Lato"/>
                <a:sym typeface="Lato"/>
                <a:hlinkClick r:id="rId3"/>
              </a:rPr>
              <a:t>CZ Biohub Protocols: Nanopore Metagenomics (mNGS)</a:t>
            </a:r>
            <a:endParaRPr sz="500"/>
          </a:p>
          <a:p>
            <a:pPr marL="0" marR="0" lvl="0" indent="0" algn="l" rtl="0">
              <a:lnSpc>
                <a:spcPct val="100000"/>
              </a:lnSpc>
              <a:spcBef>
                <a:spcPts val="700"/>
              </a:spcBef>
              <a:spcAft>
                <a:spcPts val="0"/>
              </a:spcAft>
              <a:buClr>
                <a:srgbClr val="000000"/>
              </a:buClr>
              <a:buSzPts val="1700"/>
              <a:buFont typeface="Lato"/>
              <a:buNone/>
            </a:pPr>
            <a:endParaRPr sz="1700" b="0" i="0" u="none" strike="noStrike" cap="none">
              <a:solidFill>
                <a:srgbClr val="000000"/>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18"/>
          <p:cNvSpPr txBox="1"/>
          <p:nvPr/>
        </p:nvSpPr>
        <p:spPr>
          <a:xfrm>
            <a:off x="252225" y="1431200"/>
            <a:ext cx="8747700" cy="218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6100"/>
              <a:buFont typeface="Arial"/>
              <a:buNone/>
            </a:pPr>
            <a:r>
              <a:rPr lang="en" sz="6100" b="1" i="0" u="none" strike="noStrike" cap="none">
                <a:solidFill>
                  <a:srgbClr val="D9D9D9"/>
                </a:solidFill>
                <a:latin typeface="Lato"/>
                <a:ea typeface="Lato"/>
                <a:cs typeface="Lato"/>
                <a:sym typeface="Lato"/>
              </a:rPr>
              <a:t>Next step: </a:t>
            </a:r>
            <a:endParaRPr sz="6100" b="1" i="0" u="none" strike="noStrike" cap="none">
              <a:solidFill>
                <a:srgbClr val="D9D9D9"/>
              </a:solidFill>
              <a:latin typeface="Lato"/>
              <a:ea typeface="Lato"/>
              <a:cs typeface="Lato"/>
              <a:sym typeface="Lato"/>
            </a:endParaRPr>
          </a:p>
          <a:p>
            <a:pPr marL="0" marR="0" lvl="0" indent="0" algn="ctr" rtl="0">
              <a:lnSpc>
                <a:spcPct val="100000"/>
              </a:lnSpc>
              <a:spcBef>
                <a:spcPts val="0"/>
              </a:spcBef>
              <a:spcAft>
                <a:spcPts val="0"/>
              </a:spcAft>
              <a:buClr>
                <a:srgbClr val="000000"/>
              </a:buClr>
              <a:buSzPts val="6100"/>
              <a:buFont typeface="Arial"/>
              <a:buNone/>
            </a:pPr>
            <a:r>
              <a:rPr lang="en" sz="6100" b="1">
                <a:solidFill>
                  <a:srgbClr val="D9D9D9"/>
                </a:solidFill>
                <a:latin typeface="Lato"/>
                <a:ea typeface="Lato"/>
                <a:cs typeface="Lato"/>
                <a:sym typeface="Lato"/>
              </a:rPr>
              <a:t>Library QC</a:t>
            </a:r>
            <a:endParaRPr sz="6100" b="1" i="0" u="none" strike="noStrike" cap="none">
              <a:solidFill>
                <a:srgbClr val="D9D9D9"/>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1710</Words>
  <Application>Microsoft Macintosh PowerPoint</Application>
  <PresentationFormat>On-screen Show (16:9)</PresentationFormat>
  <Paragraphs>213</Paragraphs>
  <Slides>26</Slides>
  <Notes>26</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26</vt:i4>
      </vt:variant>
    </vt:vector>
  </HeadingPairs>
  <TitlesOfParts>
    <vt:vector size="37" baseType="lpstr">
      <vt:lpstr>Arial</vt:lpstr>
      <vt:lpstr>Calibri</vt:lpstr>
      <vt:lpstr>Roboto</vt:lpstr>
      <vt:lpstr>Helvetica Neue</vt:lpstr>
      <vt:lpstr>Noto Sans Symbols</vt:lpstr>
      <vt:lpstr>Helvetica Neue Light</vt:lpstr>
      <vt:lpstr>Lato</vt:lpstr>
      <vt:lpstr>Courier New</vt:lpstr>
      <vt:lpstr>Simple Light</vt:lpstr>
      <vt:lpstr>Simple Light</vt:lpstr>
      <vt:lpstr>Simple Light</vt:lpstr>
      <vt:lpstr>PowerPoint Presentation</vt:lpstr>
      <vt:lpstr>mNGS pipeline</vt:lpstr>
      <vt:lpstr>PowerPoint Presentation</vt:lpstr>
      <vt:lpstr>xNA extraction</vt:lpstr>
      <vt:lpstr>xNA extraction</vt:lpstr>
      <vt:lpstr>xNA extraction</vt:lpstr>
      <vt:lpstr>xNA extraction</vt:lpstr>
      <vt:lpstr>PowerPoint Presentation</vt:lpstr>
      <vt:lpstr>Considerations when using Nanopore (ONT) sequencing</vt:lpstr>
      <vt:lpstr>Considerations when using Nanopore (ONT) sequencing</vt:lpstr>
      <vt:lpstr>ONT mNGS pipeline</vt:lpstr>
      <vt:lpstr>RNA mNGS using Nanopore</vt:lpstr>
      <vt:lpstr>Library prep: RNA to sequencing library</vt:lpstr>
      <vt:lpstr>Anatomy of a completed ONT library</vt:lpstr>
      <vt:lpstr>Anatomy of a completed ONT library</vt:lpstr>
      <vt:lpstr>Anatomy of a completed ONT library</vt:lpstr>
      <vt:lpstr>Steps in RNA mNGS library prep for ONT (SMART-9N)</vt:lpstr>
      <vt:lpstr>RNA mNGS library prep for ONT (SMART-9N)</vt:lpstr>
      <vt:lpstr>RNA mNGS library prep for ONT (SMART-9N)</vt:lpstr>
      <vt:lpstr>RNA mNGS library prep for ONT (SMART-9N)</vt:lpstr>
      <vt:lpstr>RNA mNGS library prep for ONT (SMART-9N)</vt:lpstr>
      <vt:lpstr>RNA mNGS library prep for ONT (SMART-9N)</vt:lpstr>
      <vt:lpstr>RNA mNGS library prep for ONT (SMART-9N)</vt:lpstr>
      <vt:lpstr>RNA mNGS library prep for ONT (SMART-9N)</vt:lpstr>
      <vt:lpstr>Resources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1</cp:revision>
  <dcterms:modified xsi:type="dcterms:W3CDTF">2026-01-21T19:34:55Z</dcterms:modified>
</cp:coreProperties>
</file>