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6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Lst>
  <p:notesMasterIdLst>
    <p:notesMasterId r:id="rId38"/>
  </p:notesMasterIdLst>
  <p:sldIdLst>
    <p:sldId id="256" r:id="rId2"/>
    <p:sldId id="257" r:id="rId3"/>
    <p:sldId id="298" r:id="rId4"/>
    <p:sldId id="299"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9144000" cy="5143500" type="screen16x9"/>
  <p:notesSz cx="6858000" cy="9144000"/>
  <p:embeddedFontLs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155BD4-F74D-1F70-CCBC-237FB302F341}" name="Juliana Gil" initials="JG" userId="S::juliana.gil@czbiohub.org::5f6b24e8-ba98-4699-b143-05c9bc962fe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486B22-836C-4846-A538-40941FD952B8}">
  <a:tblStyle styleId="{2B486B22-836C-4846-A538-40941FD952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C5303A6-42BC-42D0-AC04-2170BE719537}" styleName="Table_1">
    <a:wholeTbl>
      <a:tcTxStyle>
        <a:font>
          <a:latin typeface="Arial"/>
          <a:ea typeface="Arial"/>
          <a:cs typeface="Arial"/>
        </a:font>
        <a:srgbClr val="000000"/>
      </a:tcTxStyle>
      <a:tcStyle>
        <a:tcBdr>
          <a:left>
            <a:ln cap="flat" cmpd="sng">
              <a:solidFill>
                <a:srgbClr val="808080"/>
              </a:solidFill>
              <a:prstDash val="solid"/>
              <a:round/>
              <a:headEnd type="none" w="sm" len="sm"/>
              <a:tailEnd type="none" w="sm" len="sm"/>
            </a:ln>
          </a:left>
          <a:right>
            <a:ln cap="flat" cmpd="sng">
              <a:solidFill>
                <a:srgbClr val="808080"/>
              </a:solidFill>
              <a:prstDash val="solid"/>
              <a:round/>
              <a:headEnd type="none" w="sm" len="sm"/>
              <a:tailEnd type="none" w="sm" len="sm"/>
            </a:ln>
          </a:right>
          <a:top>
            <a:ln cap="flat" cmpd="sng">
              <a:solidFill>
                <a:srgbClr val="808080"/>
              </a:solidFill>
              <a:prstDash val="solid"/>
              <a:round/>
              <a:headEnd type="none" w="sm" len="sm"/>
              <a:tailEnd type="none" w="sm" len="sm"/>
            </a:ln>
          </a:top>
          <a:bottom>
            <a:ln cap="flat" cmpd="sng">
              <a:solidFill>
                <a:srgbClr val="808080"/>
              </a:solidFill>
              <a:prstDash val="solid"/>
              <a:round/>
              <a:headEnd type="none" w="sm" len="sm"/>
              <a:tailEnd type="none" w="sm" len="sm"/>
            </a:ln>
          </a:bottom>
          <a:insideH>
            <a:ln cap="flat" cmpd="sng">
              <a:solidFill>
                <a:srgbClr val="808080"/>
              </a:solidFill>
              <a:prstDash val="solid"/>
              <a:round/>
              <a:headEnd type="none" w="sm" len="sm"/>
              <a:tailEnd type="none" w="sm" len="sm"/>
            </a:ln>
          </a:insideH>
          <a:insideV>
            <a:ln cap="flat" cmpd="sng">
              <a:solidFill>
                <a:srgbClr val="80808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B504011-19AA-4C3E-BF02-0CD5D6DC7553}"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60"/>
    <p:restoredTop sz="94658"/>
  </p:normalViewPr>
  <p:slideViewPr>
    <p:cSldViewPr snapToGrid="0" showGuides="1">
      <p:cViewPr>
        <p:scale>
          <a:sx n="142" d="100"/>
          <a:sy n="142" d="100"/>
        </p:scale>
        <p:origin x="976" y="3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3.fntdata"/></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460B45F0-A4A5-D644-9DAE-2ABE9635CE57}" authorId="{98155BD4-F74D-1F70-CCBC-237FB302F341}" created="2026-01-16T00:09:27.064">
    <ac:txMkLst xmlns:ac="http://schemas.microsoft.com/office/drawing/2013/main/command">
      <pc:docMk xmlns:pc="http://schemas.microsoft.com/office/powerpoint/2013/main/command"/>
      <pc:sldMk xmlns:pc="http://schemas.microsoft.com/office/powerpoint/2013/main/command" cId="0" sldId="262"/>
      <ac:spMk id="160" creationId="{00000000-0000-0000-0000-000000000000}"/>
      <ac:txMk cp="331" len="6">
        <ac:context len="499" hash="957832684"/>
      </ac:txMk>
    </ac:txMkLst>
    <p188:pos x="3037526" y="3269974"/>
    <p188:txBody>
      <a:bodyPr/>
      <a:lstStyle/>
      <a:p>
        <a:r>
          <a:rPr lang="en-US"/>
          <a:t>used to say 50 but now 24kit is 1522</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895bf12c9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895bf12c9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2f458f4e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2f458f4e9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2f458f4e9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2f458f4e9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89f963b436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89f963b436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8b9f4de9a3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8b9f4de9a3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Animation shows how your library is sequenced.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89f963b436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89f963b436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and DNA library prep steps. We’ll go into detail of RNA library prep since that is the more complicated one. And once you are familiar with RNA library prep, you’ll find DNA library prep to very similar but simpler.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89f963b436_0_8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89f963b436_0_8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extract RNA  you can proceed to the next step. But if you extracted total nucleic acid, you’ll have to remove the DNA first. This can be achieved by DNAse I treatment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89f963b436_0_8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89f963b436_0_8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step involves removing as much human host material as possible. The RNA content of a typical host sample will be 95% host rRNA, 2-3% host mRNA and 1% other host RNA. And then less than 1% usually is pathogen RNA. If you prepare a sequencing library from such a sample, all of these types of RNA would be sequenced, and only 1% of your reads would be from pathogens that you are interested in. So it’s important to first remove host rRNA as much as possible, to allow your pathogens take up more of the sequencing data. </a:t>
            </a:r>
            <a:endParaRPr/>
          </a:p>
          <a:p>
            <a:pPr marL="0" lvl="0" indent="0" algn="l" rtl="0">
              <a:spcBef>
                <a:spcPts val="0"/>
              </a:spcBef>
              <a:spcAft>
                <a:spcPts val="0"/>
              </a:spcAft>
              <a:buNone/>
            </a:pPr>
            <a:r>
              <a:rPr lang="en"/>
              <a:t>FastSelect takes host rRNA from 95% to about 30% in our hands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89f963b436_0_9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89f963b436_0_9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FastSelect takes host rRNA from 95% to about 30% in our hands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89f963b436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89f963b436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From </a:t>
            </a:r>
            <a:r>
              <a:rPr lang="en">
                <a:latin typeface="Roboto"/>
                <a:ea typeface="Roboto"/>
                <a:cs typeface="Roboto"/>
                <a:sym typeface="Roboto"/>
              </a:rPr>
              <a:t>NEBNext Ultra II RNA First Strand Synthesis Module E7771 manual</a:t>
            </a:r>
            <a:endParaRPr>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8acc4149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8acc4149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8a3240af2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8a3240af2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89f963b436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89f963b436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afdb07f9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8afdb07f9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Reduce #PCR cycles to the absolute minimum to avoid amplification bias.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8b793a0244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8b793a0244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8c4faad5e3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8c4faad5e3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8c4faad5e3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8c4faad5e3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We’ll use the NEBNextUltra II RNA kit as an example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8c4faad5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8c4faad5e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Removed ERCCs here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8c4faad5e3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8c4faad5e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Random primers are about 5 bp long, so low annealing temperature of 25C</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8c4faad5e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8c4faad5e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RNAseH knicks RNA strand</a:t>
            </a:r>
            <a:endParaRPr/>
          </a:p>
          <a:p>
            <a:pPr marL="0" lvl="0" indent="0" algn="l" rtl="0">
              <a:spcBef>
                <a:spcPts val="0"/>
              </a:spcBef>
              <a:spcAft>
                <a:spcPts val="0"/>
              </a:spcAft>
              <a:buNone/>
            </a:pPr>
            <a:r>
              <a:rPr lang="en"/>
              <a:t>DNA polymerase produces second strand</a:t>
            </a:r>
            <a:endParaRPr/>
          </a:p>
          <a:p>
            <a:pPr marL="0" lvl="0" indent="0" algn="l" rtl="0">
              <a:spcBef>
                <a:spcPts val="0"/>
              </a:spcBef>
              <a:spcAft>
                <a:spcPts val="0"/>
              </a:spcAft>
              <a:buNone/>
            </a:pPr>
            <a:r>
              <a:rPr lang="en"/>
              <a:t>DNA ligase fills up the gaps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8c4faad5e3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8c4faad5e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Enzymes: Klenow fragment to get blunt ends</a:t>
            </a:r>
            <a:endParaRPr/>
          </a:p>
          <a:p>
            <a:pPr marL="0" lvl="0" indent="0" algn="l" rtl="0">
              <a:spcBef>
                <a:spcPts val="0"/>
              </a:spcBef>
              <a:spcAft>
                <a:spcPts val="0"/>
              </a:spcAft>
              <a:buNone/>
            </a:pPr>
            <a:r>
              <a:rPr lang="en"/>
              <a:t>T4 polynucleotide kinase to add 5’ phosphate</a:t>
            </a:r>
            <a:endParaRPr/>
          </a:p>
          <a:p>
            <a:pPr marL="0" lvl="0" indent="0" algn="l" rtl="0">
              <a:spcBef>
                <a:spcPts val="0"/>
              </a:spcBef>
              <a:spcAft>
                <a:spcPts val="0"/>
              </a:spcAft>
              <a:buNone/>
            </a:pPr>
            <a:r>
              <a:rPr lang="en"/>
              <a:t>T4 DNA polymerase to add 3’ A overhang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8c4faad5e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8c4faad5e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Enhancer: likely DMSO, acts as crowding agent</a:t>
            </a:r>
            <a:endParaRPr/>
          </a:p>
          <a:p>
            <a:pPr marL="0" lvl="0" indent="0" algn="l" rtl="0">
              <a:spcBef>
                <a:spcPts val="0"/>
              </a:spcBef>
              <a:spcAft>
                <a:spcPts val="0"/>
              </a:spcAft>
              <a:buNone/>
            </a:pPr>
            <a:r>
              <a:rPr lang="en"/>
              <a:t>Add adapters only at the very end to avoid adapter dimers forming in the mix.</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8c4faad5e3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8c4faad5e3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Enhancer: likely DMSO, acts as crowding agent</a:t>
            </a:r>
            <a:endParaRPr/>
          </a:p>
          <a:p>
            <a:pPr marL="0" lvl="0" indent="0" algn="l" rtl="0">
              <a:spcBef>
                <a:spcPts val="0"/>
              </a:spcBef>
              <a:spcAft>
                <a:spcPts val="0"/>
              </a:spcAft>
              <a:buNone/>
            </a:pPr>
            <a:r>
              <a:rPr lang="en"/>
              <a:t>Add adapters only at the very end to avoid adapter dimers forming in the mix.</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8bb4d59ecb_2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8bb4d59ecb_2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8bb4d59ecb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8bb4d59ecb_2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DNA library prep follows the same steps as RNA library prep, except that the RT step is not required and that fragmentation happens enzymatically or by a transposome (instead of Mg2+ and heat for RNA library prep)</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822ad3d2e3_1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g822ad3d2e3_1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a:solidFill>
                <a:schemeClr val="dk1"/>
              </a:solidFill>
              <a:latin typeface="Calibri"/>
              <a:ea typeface="Calibri"/>
              <a:cs typeface="Calibri"/>
              <a:sym typeface="Calibri"/>
            </a:endParaRPr>
          </a:p>
        </p:txBody>
      </p:sp>
      <p:sp>
        <p:nvSpPr>
          <p:cNvPr id="412" name="Google Shape;412;g822ad3d2e3_1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822ad3d2e3_1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g822ad3d2e3_1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Adapter dimers are short fragments and since short fragments are preferentially sequenced, even a relatively small amount of adapter dimers in your library will cause adapter sequences to take up a large proportion of your sequencing data. Avoid this waste of sequencing data by removing all adapter dimers from your library prior to loading the sequencer!</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b="0" i="0">
                <a:solidFill>
                  <a:schemeClr val="dk1"/>
                </a:solidFill>
                <a:latin typeface="Calibri"/>
                <a:ea typeface="Calibri"/>
                <a:cs typeface="Calibri"/>
                <a:sym typeface="Calibri"/>
              </a:rPr>
              <a:t>If no tapestation then do diagnostic PCR: take 1 ul library and use Illumina universal primers to PCR (35-40 cycles) and run on a gel. If dimers seen -&gt; SPRI more</a:t>
            </a:r>
            <a:endParaRPr/>
          </a:p>
          <a:p>
            <a:pPr marL="0" lvl="0" indent="0" algn="l" rtl="0">
              <a:spcBef>
                <a:spcPts val="0"/>
              </a:spcBef>
              <a:spcAft>
                <a:spcPts val="0"/>
              </a:spcAft>
              <a:buNone/>
            </a:pPr>
            <a:r>
              <a:rPr lang="en" sz="1200" b="0" i="0">
                <a:solidFill>
                  <a:schemeClr val="dk1"/>
                </a:solidFill>
                <a:latin typeface="Calibri"/>
                <a:ea typeface="Calibri"/>
                <a:cs typeface="Calibri"/>
                <a:sym typeface="Calibri"/>
              </a:rPr>
              <a:t>Tapestation and QPCR for quantification: ideal size is 550 nt, but anything between 200-1000 is ok.</a:t>
            </a:r>
            <a:endParaRPr/>
          </a:p>
        </p:txBody>
      </p:sp>
      <p:sp>
        <p:nvSpPr>
          <p:cNvPr id="431" name="Google Shape;431;g822ad3d2e3_1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22ad3d2e3_1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g822ad3d2e3_1_1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Buffer is PEG (crowding), NaCl (precipitation), Tween (reduce plastic stickiness) and TE buffer.</a:t>
            </a:r>
            <a:endParaRPr/>
          </a:p>
        </p:txBody>
      </p:sp>
      <p:sp>
        <p:nvSpPr>
          <p:cNvPr id="451" name="Google Shape;451;g822ad3d2e3_1_1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822ad3d2e3_1_1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g822ad3d2e3_1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Adapter dimers should be less than 1% of your total library</a:t>
            </a:r>
            <a:endParaRPr/>
          </a:p>
          <a:p>
            <a:pPr marL="0" lvl="0" indent="0" algn="l" rtl="0">
              <a:spcBef>
                <a:spcPts val="0"/>
              </a:spcBef>
              <a:spcAft>
                <a:spcPts val="0"/>
              </a:spcAft>
              <a:buNone/>
            </a:pPr>
            <a:r>
              <a:rPr lang="en"/>
              <a:t>P7: 24 nt p7 + 12 nt barcode + 2 nt + 32 nt adapter compl.</a:t>
            </a:r>
            <a:endParaRPr/>
          </a:p>
          <a:p>
            <a:pPr marL="0" lvl="0" indent="0" algn="l" rtl="0">
              <a:spcBef>
                <a:spcPts val="0"/>
              </a:spcBef>
              <a:spcAft>
                <a:spcPts val="0"/>
              </a:spcAft>
              <a:buNone/>
            </a:pPr>
            <a:r>
              <a:rPr lang="en"/>
              <a:t>P5: 20 nt p5 + 9 nt +12 nt barcode + 33 nt adapter compl.</a:t>
            </a:r>
            <a:endParaRPr/>
          </a:p>
        </p:txBody>
      </p:sp>
      <p:sp>
        <p:nvSpPr>
          <p:cNvPr id="465" name="Google Shape;465;g822ad3d2e3_1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8b1ec63dd7_1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8b1ec63dd7_1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 sample has its own set of barcodes, so everything can be pooled.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9f47f7458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g9f47f7458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b="0" i="0">
                <a:solidFill>
                  <a:schemeClr val="dk1"/>
                </a:solidFill>
                <a:latin typeface="Calibri"/>
                <a:ea typeface="Calibri"/>
                <a:cs typeface="Calibri"/>
                <a:sym typeface="Calibri"/>
              </a:rPr>
              <a:t>10 ng/ul would be a lot for a library -&gt; tone down PCR cycles next time</a:t>
            </a:r>
            <a:endParaRPr/>
          </a:p>
        </p:txBody>
      </p:sp>
      <p:sp>
        <p:nvSpPr>
          <p:cNvPr id="506" name="Google Shape;506;g9f47f7458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9f47f74587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9f47f74587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9f47f74587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9f47f74587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9f47f74587_1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9f47f74587_1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9f47f74587_1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9f47f74587_1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6E344-5CD1-52B1-9AF1-86D9FC96F0B4}"/>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7507B1A-61F7-BF2A-9A13-222FFF99D64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C18518A-7E47-1CDB-52C4-87059A76D827}"/>
              </a:ext>
            </a:extLst>
          </p:cNvPr>
          <p:cNvSpPr>
            <a:spLocks noGrp="1"/>
          </p:cNvSpPr>
          <p:nvPr>
            <p:ph type="dt" sz="half" idx="10"/>
          </p:nvPr>
        </p:nvSpPr>
        <p:spPr/>
        <p:txBody>
          <a:bodyPr/>
          <a:lstStyle/>
          <a:p>
            <a:pPr defTabSz="685800">
              <a:buClrTx/>
            </a:pPr>
            <a:fld id="{E7B28D05-C15C-D744-AB3F-5616FC0015F2}"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2C47FAF3-EB76-21F9-DC9E-B0D007685B5D}"/>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42352666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2F3F-915B-47EC-F2C8-39CEBD518F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27F3B-7404-E442-4CFF-563AD80B98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29F79-3992-8BF2-6579-A0B7C066F7EC}"/>
              </a:ext>
            </a:extLst>
          </p:cNvPr>
          <p:cNvSpPr>
            <a:spLocks noGrp="1"/>
          </p:cNvSpPr>
          <p:nvPr>
            <p:ph type="dt" sz="half" idx="10"/>
          </p:nvPr>
        </p:nvSpPr>
        <p:spPr/>
        <p:txBody>
          <a:bodyPr/>
          <a:lstStyle/>
          <a:p>
            <a:pPr defTabSz="685800">
              <a:buClrTx/>
            </a:pPr>
            <a:fld id="{B1483B45-9C93-DB47-B27C-AC2E8C670F7C}"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7" name="Footer Placeholder 4">
            <a:extLst>
              <a:ext uri="{FF2B5EF4-FFF2-40B4-BE49-F238E27FC236}">
                <a16:creationId xmlns:a16="http://schemas.microsoft.com/office/drawing/2014/main" id="{E15AF058-821D-4383-A5BA-D351F65CE2B2}"/>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21909382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EE0A-DFC9-CD3E-85F2-90E23A8B3D9A}"/>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18E46C0-C910-7F35-4342-0FBE5C02208B}"/>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35FB62-98E2-94E3-DD43-8AEB3AAD7381}"/>
              </a:ext>
            </a:extLst>
          </p:cNvPr>
          <p:cNvSpPr>
            <a:spLocks noGrp="1"/>
          </p:cNvSpPr>
          <p:nvPr>
            <p:ph type="dt" sz="half" idx="10"/>
          </p:nvPr>
        </p:nvSpPr>
        <p:spPr/>
        <p:txBody>
          <a:bodyPr/>
          <a:lstStyle/>
          <a:p>
            <a:pPr defTabSz="685800">
              <a:buClrTx/>
            </a:pPr>
            <a:fld id="{A83B1F96-1D07-F24F-A7DB-AD98C7626A43}"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7" name="Footer Placeholder 4">
            <a:extLst>
              <a:ext uri="{FF2B5EF4-FFF2-40B4-BE49-F238E27FC236}">
                <a16:creationId xmlns:a16="http://schemas.microsoft.com/office/drawing/2014/main" id="{FC6DED64-2F81-CC10-4BD7-1527D7701097}"/>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217687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3EF6-782C-CD76-79AB-CC149F734F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FBE93-D1D6-42ED-6C6C-9FB96DF1C796}"/>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730353-A8EC-FAE3-E8DA-E79065BBF98B}"/>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5D51ED-2212-A11F-D4C2-CC4A73CD367F}"/>
              </a:ext>
            </a:extLst>
          </p:cNvPr>
          <p:cNvSpPr>
            <a:spLocks noGrp="1"/>
          </p:cNvSpPr>
          <p:nvPr>
            <p:ph type="dt" sz="half" idx="10"/>
          </p:nvPr>
        </p:nvSpPr>
        <p:spPr/>
        <p:txBody>
          <a:bodyPr/>
          <a:lstStyle/>
          <a:p>
            <a:pPr defTabSz="685800">
              <a:buClrTx/>
            </a:pPr>
            <a:fld id="{9DB14436-CCDB-4340-91AF-5747E341FE57}"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8" name="Footer Placeholder 4">
            <a:extLst>
              <a:ext uri="{FF2B5EF4-FFF2-40B4-BE49-F238E27FC236}">
                <a16:creationId xmlns:a16="http://schemas.microsoft.com/office/drawing/2014/main" id="{4AAF5009-4627-2E24-55D2-C38D0F24BB9B}"/>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581761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48AD-9F9D-E491-275D-8928F334A8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D87CC1-75E5-A155-9109-06A84CD6232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A803473-8097-9CDA-EBB3-DA00A770C776}"/>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475FDC-3998-9801-1BFD-ACE6CE273F5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300A8-6438-2F26-D8F8-15CCC4466D8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DC652-3801-F4E8-07A1-7EE07A0060ED}"/>
              </a:ext>
            </a:extLst>
          </p:cNvPr>
          <p:cNvSpPr>
            <a:spLocks noGrp="1"/>
          </p:cNvSpPr>
          <p:nvPr>
            <p:ph type="dt" sz="half" idx="10"/>
          </p:nvPr>
        </p:nvSpPr>
        <p:spPr/>
        <p:txBody>
          <a:bodyPr/>
          <a:lstStyle/>
          <a:p>
            <a:pPr defTabSz="685800">
              <a:buClrTx/>
            </a:pPr>
            <a:fld id="{43325364-E82E-434F-BE5B-CB3DCF3E9473}"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10" name="Footer Placeholder 4">
            <a:extLst>
              <a:ext uri="{FF2B5EF4-FFF2-40B4-BE49-F238E27FC236}">
                <a16:creationId xmlns:a16="http://schemas.microsoft.com/office/drawing/2014/main" id="{083A9FBA-D413-727B-789E-6BDB28FBA444}"/>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3905173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01D5-EE3C-96B9-321B-815693E360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8C3E4A-A43D-E961-DB43-13ABB0315061}"/>
              </a:ext>
            </a:extLst>
          </p:cNvPr>
          <p:cNvSpPr>
            <a:spLocks noGrp="1"/>
          </p:cNvSpPr>
          <p:nvPr>
            <p:ph type="dt" sz="half" idx="10"/>
          </p:nvPr>
        </p:nvSpPr>
        <p:spPr/>
        <p:txBody>
          <a:bodyPr/>
          <a:lstStyle/>
          <a:p>
            <a:pPr defTabSz="685800">
              <a:buClrTx/>
            </a:pPr>
            <a:fld id="{F46AB85E-BE58-A44A-8331-1DB0EB7CB73F}"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6" name="Footer Placeholder 4">
            <a:extLst>
              <a:ext uri="{FF2B5EF4-FFF2-40B4-BE49-F238E27FC236}">
                <a16:creationId xmlns:a16="http://schemas.microsoft.com/office/drawing/2014/main" id="{809E89B7-62D8-0371-A1EC-1FB21F67BD67}"/>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2554198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D7BEC0-8C51-BDD5-A9E2-9E71B7F8C99B}"/>
              </a:ext>
            </a:extLst>
          </p:cNvPr>
          <p:cNvSpPr>
            <a:spLocks noGrp="1"/>
          </p:cNvSpPr>
          <p:nvPr>
            <p:ph type="dt" sz="half" idx="10"/>
          </p:nvPr>
        </p:nvSpPr>
        <p:spPr/>
        <p:txBody>
          <a:bodyPr/>
          <a:lstStyle/>
          <a:p>
            <a:pPr defTabSz="685800">
              <a:buClrTx/>
            </a:pPr>
            <a:fld id="{E21E8909-AB3F-C54E-9EE4-A687EBE45309}"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3651A73C-EF90-373D-6388-3BC07B890AB4}"/>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3894533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23CF-2B47-9299-B095-BC6A1C8315B9}"/>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55C39F5-2FB5-CA4F-98A0-5F0A4D93B36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7A983D-3ADA-891A-A9D2-7228EB36BB3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E5EEA9-5D3C-1515-69BE-B43ADA8EA8C4}"/>
              </a:ext>
            </a:extLst>
          </p:cNvPr>
          <p:cNvSpPr>
            <a:spLocks noGrp="1"/>
          </p:cNvSpPr>
          <p:nvPr>
            <p:ph type="dt" sz="half" idx="10"/>
          </p:nvPr>
        </p:nvSpPr>
        <p:spPr/>
        <p:txBody>
          <a:bodyPr/>
          <a:lstStyle/>
          <a:p>
            <a:pPr defTabSz="685800">
              <a:buClrTx/>
            </a:pPr>
            <a:fld id="{092D9053-78AD-5343-A1CD-28A65C187E56}"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8" name="Footer Placeholder 4">
            <a:extLst>
              <a:ext uri="{FF2B5EF4-FFF2-40B4-BE49-F238E27FC236}">
                <a16:creationId xmlns:a16="http://schemas.microsoft.com/office/drawing/2014/main" id="{691468DD-9AC8-A019-E084-A1737058CFDE}"/>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2884768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B516-9674-08A7-46C8-C219A1A8F35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F8D2D-61CF-D69B-C1DB-9CF701A708A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CBE4159-B4E6-56B2-AEEE-931D2ACC72C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358CE5-0D70-FC57-4E6B-315302FBFE3D}"/>
              </a:ext>
            </a:extLst>
          </p:cNvPr>
          <p:cNvSpPr>
            <a:spLocks noGrp="1"/>
          </p:cNvSpPr>
          <p:nvPr>
            <p:ph type="dt" sz="half" idx="10"/>
          </p:nvPr>
        </p:nvSpPr>
        <p:spPr/>
        <p:txBody>
          <a:bodyPr/>
          <a:lstStyle/>
          <a:p>
            <a:pPr defTabSz="685800">
              <a:buClrTx/>
            </a:pPr>
            <a:fld id="{11E2C8F4-4CC5-9C47-B7AA-4C2BAA1BFBC9}"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8" name="Footer Placeholder 4">
            <a:extLst>
              <a:ext uri="{FF2B5EF4-FFF2-40B4-BE49-F238E27FC236}">
                <a16:creationId xmlns:a16="http://schemas.microsoft.com/office/drawing/2014/main" id="{64DC8750-8315-B27A-3944-F4581AC58CE8}"/>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1699315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8D83-2562-03E8-95AD-D265FD5539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F6F67B-F89D-86AB-0010-F1D36E30C5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5F117-A36C-B9C1-3021-192276F05E10}"/>
              </a:ext>
            </a:extLst>
          </p:cNvPr>
          <p:cNvSpPr>
            <a:spLocks noGrp="1"/>
          </p:cNvSpPr>
          <p:nvPr>
            <p:ph type="dt" sz="half" idx="10"/>
          </p:nvPr>
        </p:nvSpPr>
        <p:spPr/>
        <p:txBody>
          <a:bodyPr/>
          <a:lstStyle/>
          <a:p>
            <a:pPr defTabSz="685800">
              <a:buClrTx/>
            </a:pPr>
            <a:fld id="{445A4923-3488-3C46-BBD1-09C92AA0F9E2}"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7" name="Footer Placeholder 4">
            <a:extLst>
              <a:ext uri="{FF2B5EF4-FFF2-40B4-BE49-F238E27FC236}">
                <a16:creationId xmlns:a16="http://schemas.microsoft.com/office/drawing/2014/main" id="{6B179888-BE66-EAA7-CE80-1246004EE86C}"/>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4002059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47353-E0B6-9CC5-47F8-F69782D630E4}"/>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69AF06-27A6-1C37-337F-1779250B3081}"/>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E42D9E-6809-1A0C-3B83-5D8C8ABC019F}"/>
              </a:ext>
            </a:extLst>
          </p:cNvPr>
          <p:cNvSpPr>
            <a:spLocks noGrp="1"/>
          </p:cNvSpPr>
          <p:nvPr>
            <p:ph type="dt" sz="half" idx="10"/>
          </p:nvPr>
        </p:nvSpPr>
        <p:spPr/>
        <p:txBody>
          <a:bodyPr/>
          <a:lstStyle/>
          <a:p>
            <a:pPr defTabSz="685800">
              <a:buClrTx/>
            </a:pPr>
            <a:fld id="{F4F1494C-E8CC-1C49-8C0E-B495BFFCDBCC}" type="datetime1">
              <a:rPr lang="en-US" kern="1200" smtClean="0">
                <a:solidFill>
                  <a:prstClr val="black">
                    <a:tint val="82000"/>
                  </a:prstClr>
                </a:solidFill>
                <a:latin typeface="Aptos" panose="02110004020202020204"/>
                <a:ea typeface="+mn-ea"/>
                <a:cs typeface="+mn-cs"/>
              </a:rPr>
              <a:t>1/20/26</a:t>
            </a:fld>
            <a:endParaRPr lang="en-US" kern="1200">
              <a:solidFill>
                <a:prstClr val="black">
                  <a:tint val="82000"/>
                </a:prstClr>
              </a:solidFill>
              <a:latin typeface="Aptos" panose="02110004020202020204"/>
              <a:ea typeface="+mn-ea"/>
              <a:cs typeface="+mn-cs"/>
            </a:endParaRPr>
          </a:p>
        </p:txBody>
      </p:sp>
      <p:sp>
        <p:nvSpPr>
          <p:cNvPr id="7" name="Footer Placeholder 4">
            <a:extLst>
              <a:ext uri="{FF2B5EF4-FFF2-40B4-BE49-F238E27FC236}">
                <a16:creationId xmlns:a16="http://schemas.microsoft.com/office/drawing/2014/main" id="{50B3FDD5-F9F9-3DF1-2BDD-223B0D2A499E}"/>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1000671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 name="Footer Placeholder 4">
            <a:extLst>
              <a:ext uri="{FF2B5EF4-FFF2-40B4-BE49-F238E27FC236}">
                <a16:creationId xmlns:a16="http://schemas.microsoft.com/office/drawing/2014/main" id="{0E0535E6-6511-96AA-6B55-E3BD97E3FEA8}"/>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extLst>
      <p:ext uri="{BB962C8B-B14F-4D97-AF65-F5344CB8AC3E}">
        <p14:creationId xmlns:p14="http://schemas.microsoft.com/office/powerpoint/2010/main" val="18696707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25"/>
        <p:cNvGrpSpPr/>
        <p:nvPr/>
      </p:nvGrpSpPr>
      <p:grpSpPr>
        <a:xfrm>
          <a:off x="0" y="0"/>
          <a:ext cx="0" cy="0"/>
          <a:chOff x="0" y="0"/>
          <a:chExt cx="0" cy="0"/>
        </a:xfrm>
      </p:grpSpPr>
      <p:sp>
        <p:nvSpPr>
          <p:cNvPr id="2" name="Title 1">
            <a:extLst>
              <a:ext uri="{FF2B5EF4-FFF2-40B4-BE49-F238E27FC236}">
                <a16:creationId xmlns:a16="http://schemas.microsoft.com/office/drawing/2014/main" id="{0615AE77-482D-F4C4-F566-2D422D282D65}"/>
              </a:ext>
            </a:extLst>
          </p:cNvPr>
          <p:cNvSpPr>
            <a:spLocks noGrp="1"/>
          </p:cNvSpPr>
          <p:nvPr>
            <p:ph type="title"/>
          </p:nvPr>
        </p:nvSpPr>
        <p:spPr/>
        <p:txBody>
          <a:bodyPr/>
          <a:lstStyle/>
          <a:p>
            <a:r>
              <a:rPr lang="en-US"/>
              <a:t>Click to edit Master title style</a:t>
            </a:r>
          </a:p>
        </p:txBody>
      </p:sp>
      <p:sp>
        <p:nvSpPr>
          <p:cNvPr id="3" name="Footer Placeholder 4">
            <a:extLst>
              <a:ext uri="{FF2B5EF4-FFF2-40B4-BE49-F238E27FC236}">
                <a16:creationId xmlns:a16="http://schemas.microsoft.com/office/drawing/2014/main" id="{7726BECA-D00F-8E30-AD40-9BB947B8FC40}"/>
              </a:ext>
            </a:extLst>
          </p:cNvPr>
          <p:cNvSpPr>
            <a:spLocks noGrp="1"/>
          </p:cNvSpPr>
          <p:nvPr>
            <p:ph type="ftr" sz="quarter" idx="11"/>
          </p:nvPr>
        </p:nvSpPr>
        <p:spPr>
          <a:xfrm>
            <a:off x="7942881" y="4869657"/>
            <a:ext cx="1201119" cy="273844"/>
          </a:xfrm>
        </p:spPr>
        <p:txBody>
          <a:bodyPr/>
          <a:lstStyle>
            <a:lvl1pPr>
              <a:defRPr sz="800"/>
            </a:lvl1pPr>
          </a:lstStyle>
          <a:p>
            <a:pPr defTabSz="685800">
              <a:buClrTx/>
            </a:pPr>
            <a:r>
              <a:rPr lang="en-US" kern="1200" dirty="0">
                <a:solidFill>
                  <a:prstClr val="black">
                    <a:tint val="82000"/>
                  </a:prstClr>
                </a:solidFill>
                <a:ea typeface="+mn-ea"/>
              </a:rPr>
              <a:t>Revised 01/12/2026</a:t>
            </a:r>
            <a:endParaRPr lang="en-US" sz="800" kern="1200" dirty="0">
              <a:solidFill>
                <a:prstClr val="black">
                  <a:tint val="82000"/>
                </a:prstClr>
              </a:solidFill>
              <a:ea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367E6-A6C6-0913-2721-7C3F35DCDF5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8BCB8E-4BF9-9058-F0A0-7FEE86BB0D59}"/>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78CC2F-31DF-E13D-CF26-825DE07E362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pPr defTabSz="685800">
              <a:buClrTx/>
            </a:pPr>
            <a:fld id="{64C8A973-4F9E-3A41-88A5-984A26C8B2B0}" type="datetime1">
              <a:rPr lang="en-US" kern="1200" smtClean="0">
                <a:solidFill>
                  <a:prstClr val="black">
                    <a:tint val="82000"/>
                  </a:prstClr>
                </a:solidFill>
                <a:latin typeface="Aptos" panose="02110004020202020204"/>
                <a:ea typeface="+mn-ea"/>
                <a:cs typeface="+mn-cs"/>
              </a:rPr>
              <a:t>1/20/26</a:t>
            </a:fld>
            <a:endParaRPr lang="en-US" kern="1200" dirty="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42284613-9838-C24F-79DF-8CD89F75281A}"/>
              </a:ext>
            </a:extLst>
          </p:cNvPr>
          <p:cNvSpPr>
            <a:spLocks noGrp="1"/>
          </p:cNvSpPr>
          <p:nvPr>
            <p:ph type="ftr" sz="quarter" idx="3"/>
          </p:nvPr>
        </p:nvSpPr>
        <p:spPr>
          <a:xfrm>
            <a:off x="8285787" y="4869657"/>
            <a:ext cx="858213" cy="273844"/>
          </a:xfrm>
          <a:prstGeom prst="rect">
            <a:avLst/>
          </a:prstGeom>
        </p:spPr>
        <p:txBody>
          <a:bodyPr vert="horz" lIns="91440" tIns="45720" rIns="91440" bIns="45720" rtlCol="0" anchor="ctr"/>
          <a:lstStyle>
            <a:lvl1pPr algn="ctr">
              <a:defRPr sz="600">
                <a:solidFill>
                  <a:schemeClr val="tx1">
                    <a:tint val="82000"/>
                  </a:schemeClr>
                </a:solidFill>
                <a:latin typeface="Arial" panose="020B0604020202020204" pitchFamily="34" charset="0"/>
                <a:cs typeface="Arial" panose="020B0604020202020204" pitchFamily="34" charset="0"/>
              </a:defRPr>
            </a:lvl1pPr>
          </a:lstStyle>
          <a:p>
            <a:pPr defTabSz="685800">
              <a:buClrTx/>
            </a:pPr>
            <a:r>
              <a:rPr lang="en-US" kern="1200">
                <a:solidFill>
                  <a:prstClr val="black">
                    <a:tint val="82000"/>
                  </a:prstClr>
                </a:solidFill>
                <a:ea typeface="+mn-ea"/>
              </a:rPr>
              <a:t>Revised 01/12/2026</a:t>
            </a:r>
            <a:endParaRPr lang="en-US" kern="1200" dirty="0">
              <a:solidFill>
                <a:prstClr val="black">
                  <a:tint val="82000"/>
                </a:prstClr>
              </a:solidFill>
              <a:ea typeface="+mn-ea"/>
            </a:endParaRPr>
          </a:p>
        </p:txBody>
      </p:sp>
    </p:spTree>
    <p:extLst>
      <p:ext uri="{BB962C8B-B14F-4D97-AF65-F5344CB8AC3E}">
        <p14:creationId xmlns:p14="http://schemas.microsoft.com/office/powerpoint/2010/main" val="21098832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52" r:id="rId13"/>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jp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1.jp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1.jp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2.jpg"/><Relationship Id="rId5" Type="http://schemas.openxmlformats.org/officeDocument/2006/relationships/image" Target="../media/image10.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ctrTitle"/>
          </p:nvPr>
        </p:nvSpPr>
        <p:spPr>
          <a:xfrm>
            <a:off x="311708" y="-246025"/>
            <a:ext cx="8520600" cy="20526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4800" b="1" dirty="0">
                <a:solidFill>
                  <a:schemeClr val="tx1"/>
                </a:solidFill>
              </a:rPr>
              <a:t>RNA and DNA library prep for </a:t>
            </a:r>
            <a:r>
              <a:rPr lang="en" sz="4800" b="1" dirty="0" err="1">
                <a:solidFill>
                  <a:schemeClr val="tx1"/>
                </a:solidFill>
              </a:rPr>
              <a:t>mNGS</a:t>
            </a:r>
            <a:endParaRPr sz="1500" b="1" dirty="0">
              <a:solidFill>
                <a:schemeClr val="tx1"/>
              </a:solidFill>
            </a:endParaRPr>
          </a:p>
        </p:txBody>
      </p:sp>
      <p:pic>
        <p:nvPicPr>
          <p:cNvPr id="70" name="Google Shape;70;p15"/>
          <p:cNvPicPr preferRelativeResize="0"/>
          <p:nvPr/>
        </p:nvPicPr>
        <p:blipFill rotWithShape="1">
          <a:blip r:embed="rId3">
            <a:alphaModFix/>
          </a:blip>
          <a:srcRect b="50614"/>
          <a:stretch/>
        </p:blipFill>
        <p:spPr>
          <a:xfrm>
            <a:off x="2677238" y="1977865"/>
            <a:ext cx="3608824" cy="1948499"/>
          </a:xfrm>
          <a:prstGeom prst="rect">
            <a:avLst/>
          </a:prstGeom>
          <a:noFill/>
          <a:ln>
            <a:noFill/>
          </a:ln>
        </p:spPr>
      </p:pic>
      <p:sp>
        <p:nvSpPr>
          <p:cNvPr id="2" name="TextBox 1">
            <a:extLst>
              <a:ext uri="{FF2B5EF4-FFF2-40B4-BE49-F238E27FC236}">
                <a16:creationId xmlns:a16="http://schemas.microsoft.com/office/drawing/2014/main" id="{991226F4-5EDE-D34B-2FFD-13FB771BB97D}"/>
              </a:ext>
            </a:extLst>
          </p:cNvPr>
          <p:cNvSpPr txBox="1"/>
          <p:nvPr/>
        </p:nvSpPr>
        <p:spPr>
          <a:xfrm>
            <a:off x="6690701" y="4897279"/>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Revised 01/12/2026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p:nvPr/>
        </p:nvSpPr>
        <p:spPr>
          <a:xfrm>
            <a:off x="337700" y="2518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6"/>
          <p:cNvSpPr txBox="1">
            <a:spLocks noGrp="1"/>
          </p:cNvSpPr>
          <p:nvPr>
            <p:ph type="title"/>
          </p:nvPr>
        </p:nvSpPr>
        <p:spPr>
          <a:xfrm>
            <a:off x="2065200" y="287875"/>
            <a:ext cx="4755600"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b="1">
                <a:solidFill>
                  <a:srgbClr val="FFFFFF"/>
                </a:solidFill>
              </a:rPr>
              <a:t>mNGS pipeline</a:t>
            </a:r>
            <a:endParaRPr sz="4400" b="1">
              <a:solidFill>
                <a:srgbClr val="FFFFFF"/>
              </a:solidFill>
            </a:endParaRPr>
          </a:p>
        </p:txBody>
      </p:sp>
      <p:sp>
        <p:nvSpPr>
          <p:cNvPr id="77" name="Google Shape;77;p16"/>
          <p:cNvSpPr txBox="1"/>
          <p:nvPr/>
        </p:nvSpPr>
        <p:spPr>
          <a:xfrm>
            <a:off x="250750"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78" name="Google Shape;78;p16"/>
          <p:cNvSpPr txBox="1"/>
          <p:nvPr/>
        </p:nvSpPr>
        <p:spPr>
          <a:xfrm>
            <a:off x="1640775"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xNA extraction</a:t>
            </a:r>
            <a:endParaRPr/>
          </a:p>
        </p:txBody>
      </p:sp>
      <p:sp>
        <p:nvSpPr>
          <p:cNvPr id="79" name="Google Shape;79;p16"/>
          <p:cNvSpPr txBox="1"/>
          <p:nvPr/>
        </p:nvSpPr>
        <p:spPr>
          <a:xfrm>
            <a:off x="2950075"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80" name="Google Shape;80;p16"/>
          <p:cNvSpPr txBox="1"/>
          <p:nvPr/>
        </p:nvSpPr>
        <p:spPr>
          <a:xfrm>
            <a:off x="4592180"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81" name="Google Shape;81;p16"/>
          <p:cNvSpPr txBox="1"/>
          <p:nvPr/>
        </p:nvSpPr>
        <p:spPr>
          <a:xfrm>
            <a:off x="613261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sp>
        <p:nvSpPr>
          <p:cNvPr id="82" name="Google Shape;82;p16"/>
          <p:cNvSpPr txBox="1"/>
          <p:nvPr/>
        </p:nvSpPr>
        <p:spPr>
          <a:xfrm>
            <a:off x="-500" y="3033150"/>
            <a:ext cx="15039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Storage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Lab setup</a:t>
            </a:r>
            <a:endParaRPr sz="1200">
              <a:solidFill>
                <a:schemeClr val="dk2"/>
              </a:solidFill>
            </a:endParaRPr>
          </a:p>
        </p:txBody>
      </p:sp>
      <p:sp>
        <p:nvSpPr>
          <p:cNvPr id="83" name="Google Shape;83;p16"/>
          <p:cNvSpPr txBox="1"/>
          <p:nvPr/>
        </p:nvSpPr>
        <p:spPr>
          <a:xfrm>
            <a:off x="1340475" y="3033150"/>
            <a:ext cx="13446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84" name="Google Shape;84;p16"/>
          <p:cNvSpPr txBox="1"/>
          <p:nvPr/>
        </p:nvSpPr>
        <p:spPr>
          <a:xfrm>
            <a:off x="2546425" y="3033150"/>
            <a:ext cx="2173200" cy="21120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Fragmentation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dsDNA generation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End-repair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Adapter ligation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Barcoding &amp; PCR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Clean-up</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Pooling</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85" name="Google Shape;85;p16"/>
          <p:cNvSpPr txBox="1"/>
          <p:nvPr/>
        </p:nvSpPr>
        <p:spPr>
          <a:xfrm>
            <a:off x="5846725" y="3033150"/>
            <a:ext cx="2173200" cy="9591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QC data</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Alignment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Blast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Ranking of hits</a:t>
            </a:r>
            <a:endParaRPr sz="1200">
              <a:solidFill>
                <a:schemeClr val="dk2"/>
              </a:solidFill>
            </a:endParaRPr>
          </a:p>
        </p:txBody>
      </p:sp>
      <p:pic>
        <p:nvPicPr>
          <p:cNvPr id="86" name="Google Shape;86;p16"/>
          <p:cNvPicPr preferRelativeResize="0"/>
          <p:nvPr/>
        </p:nvPicPr>
        <p:blipFill rotWithShape="1">
          <a:blip r:embed="rId3">
            <a:alphaModFix/>
          </a:blip>
          <a:srcRect l="14551" r="17610" b="13941"/>
          <a:stretch/>
        </p:blipFill>
        <p:spPr>
          <a:xfrm>
            <a:off x="4679550" y="1896300"/>
            <a:ext cx="1126125" cy="959049"/>
          </a:xfrm>
          <a:prstGeom prst="rect">
            <a:avLst/>
          </a:prstGeom>
          <a:noFill/>
          <a:ln>
            <a:noFill/>
          </a:ln>
        </p:spPr>
      </p:pic>
      <p:grpSp>
        <p:nvGrpSpPr>
          <p:cNvPr id="87" name="Google Shape;87;p16"/>
          <p:cNvGrpSpPr/>
          <p:nvPr/>
        </p:nvGrpSpPr>
        <p:grpSpPr>
          <a:xfrm>
            <a:off x="6241847" y="1990187"/>
            <a:ext cx="1126132" cy="877745"/>
            <a:chOff x="5059375" y="3618825"/>
            <a:chExt cx="1583426" cy="1234175"/>
          </a:xfrm>
        </p:grpSpPr>
        <p:pic>
          <p:nvPicPr>
            <p:cNvPr id="88" name="Google Shape;88;p16" descr="A screenshot of a cell phone&#10;&#10;Description automatically generated"/>
            <p:cNvPicPr preferRelativeResize="0"/>
            <p:nvPr/>
          </p:nvPicPr>
          <p:blipFill rotWithShape="1">
            <a:blip r:embed="rId4">
              <a:alphaModFix/>
            </a:blip>
            <a:srcRect l="47032" t="64642" r="26637" b="6039"/>
            <a:stretch/>
          </p:blipFill>
          <p:spPr>
            <a:xfrm>
              <a:off x="5059375" y="3618825"/>
              <a:ext cx="1583426" cy="1234175"/>
            </a:xfrm>
            <a:prstGeom prst="rect">
              <a:avLst/>
            </a:prstGeom>
            <a:noFill/>
            <a:ln>
              <a:noFill/>
            </a:ln>
          </p:spPr>
        </p:pic>
        <p:grpSp>
          <p:nvGrpSpPr>
            <p:cNvPr id="89" name="Google Shape;89;p16"/>
            <p:cNvGrpSpPr/>
            <p:nvPr/>
          </p:nvGrpSpPr>
          <p:grpSpPr>
            <a:xfrm>
              <a:off x="5111211" y="3670860"/>
              <a:ext cx="1459635" cy="832076"/>
              <a:chOff x="4301800" y="3312000"/>
              <a:chExt cx="1612500" cy="923400"/>
            </a:xfrm>
          </p:grpSpPr>
          <p:sp>
            <p:nvSpPr>
              <p:cNvPr id="90" name="Google Shape;90;p16"/>
              <p:cNvSpPr/>
              <p:nvPr/>
            </p:nvSpPr>
            <p:spPr>
              <a:xfrm>
                <a:off x="4301800" y="3312000"/>
                <a:ext cx="1612500" cy="923400"/>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 name="Google Shape;91;p16" descr="IDseq_logo.png"/>
              <p:cNvPicPr preferRelativeResize="0"/>
              <p:nvPr/>
            </p:nvPicPr>
            <p:blipFill rotWithShape="1">
              <a:blip r:embed="rId5">
                <a:alphaModFix/>
              </a:blip>
              <a:srcRect/>
              <a:stretch/>
            </p:blipFill>
            <p:spPr>
              <a:xfrm>
                <a:off x="4497525" y="3575725"/>
                <a:ext cx="1221038" cy="395950"/>
              </a:xfrm>
              <a:prstGeom prst="rect">
                <a:avLst/>
              </a:prstGeom>
              <a:noFill/>
              <a:ln>
                <a:noFill/>
              </a:ln>
            </p:spPr>
          </p:pic>
        </p:grpSp>
      </p:grpSp>
      <p:pic>
        <p:nvPicPr>
          <p:cNvPr id="92" name="Google Shape;92;p16"/>
          <p:cNvPicPr preferRelativeResize="0"/>
          <p:nvPr/>
        </p:nvPicPr>
        <p:blipFill rotWithShape="1">
          <a:blip r:embed="rId6">
            <a:alphaModFix/>
          </a:blip>
          <a:srcRect l="13069" t="15507" r="15081" b="13226"/>
          <a:stretch/>
        </p:blipFill>
        <p:spPr>
          <a:xfrm>
            <a:off x="379113" y="1914700"/>
            <a:ext cx="871875" cy="1028700"/>
          </a:xfrm>
          <a:prstGeom prst="rect">
            <a:avLst/>
          </a:prstGeom>
          <a:noFill/>
          <a:ln>
            <a:noFill/>
          </a:ln>
        </p:spPr>
      </p:pic>
      <p:sp>
        <p:nvSpPr>
          <p:cNvPr id="93" name="Google Shape;93;p16"/>
          <p:cNvSpPr txBox="1"/>
          <p:nvPr/>
        </p:nvSpPr>
        <p:spPr>
          <a:xfrm>
            <a:off x="4315963" y="3033150"/>
            <a:ext cx="2245200" cy="8565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Machine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Read length</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Loading conc.</a:t>
            </a:r>
            <a:endParaRPr sz="1200">
              <a:solidFill>
                <a:schemeClr val="dk2"/>
              </a:solidFill>
            </a:endParaRPr>
          </a:p>
        </p:txBody>
      </p:sp>
      <p:pic>
        <p:nvPicPr>
          <p:cNvPr id="94" name="Google Shape;94;p16"/>
          <p:cNvPicPr preferRelativeResize="0"/>
          <p:nvPr/>
        </p:nvPicPr>
        <p:blipFill>
          <a:blip r:embed="rId7">
            <a:alphaModFix/>
          </a:blip>
          <a:stretch>
            <a:fillRect/>
          </a:stretch>
        </p:blipFill>
        <p:spPr>
          <a:xfrm rot="1149689">
            <a:off x="1852263" y="2113663"/>
            <a:ext cx="607525" cy="727926"/>
          </a:xfrm>
          <a:prstGeom prst="rect">
            <a:avLst/>
          </a:prstGeom>
          <a:noFill/>
          <a:ln>
            <a:noFill/>
          </a:ln>
        </p:spPr>
      </p:pic>
      <p:pic>
        <p:nvPicPr>
          <p:cNvPr id="95" name="Google Shape;95;p16"/>
          <p:cNvPicPr preferRelativeResize="0"/>
          <p:nvPr/>
        </p:nvPicPr>
        <p:blipFill rotWithShape="1">
          <a:blip r:embed="rId8">
            <a:alphaModFix/>
          </a:blip>
          <a:srcRect b="50614"/>
          <a:stretch/>
        </p:blipFill>
        <p:spPr>
          <a:xfrm>
            <a:off x="2884550" y="2066066"/>
            <a:ext cx="1344551" cy="725959"/>
          </a:xfrm>
          <a:prstGeom prst="rect">
            <a:avLst/>
          </a:prstGeom>
          <a:noFill/>
          <a:ln>
            <a:noFill/>
          </a:ln>
        </p:spPr>
      </p:pic>
      <p:cxnSp>
        <p:nvCxnSpPr>
          <p:cNvPr id="96" name="Google Shape;96;p16"/>
          <p:cNvCxnSpPr/>
          <p:nvPr/>
        </p:nvCxnSpPr>
        <p:spPr>
          <a:xfrm rot="10800000" flipH="1">
            <a:off x="7638150" y="24193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97" name="Google Shape;97;p16"/>
          <p:cNvGrpSpPr/>
          <p:nvPr/>
        </p:nvGrpSpPr>
        <p:grpSpPr>
          <a:xfrm>
            <a:off x="7765375" y="1751825"/>
            <a:ext cx="1252725" cy="1357550"/>
            <a:chOff x="7841575" y="1370825"/>
            <a:chExt cx="1252725" cy="1357550"/>
          </a:xfrm>
        </p:grpSpPr>
        <p:sp>
          <p:nvSpPr>
            <p:cNvPr id="98" name="Google Shape;98;p16"/>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9" name="Google Shape;99;p16"/>
            <p:cNvPicPr preferRelativeResize="0"/>
            <p:nvPr/>
          </p:nvPicPr>
          <p:blipFill>
            <a:blip r:embed="rId9">
              <a:alphaModFix/>
            </a:blip>
            <a:stretch>
              <a:fillRect/>
            </a:stretch>
          </p:blipFill>
          <p:spPr>
            <a:xfrm>
              <a:off x="8147262" y="1685076"/>
              <a:ext cx="502137" cy="725949"/>
            </a:xfrm>
            <a:prstGeom prst="rect">
              <a:avLst/>
            </a:prstGeom>
            <a:noFill/>
            <a:ln>
              <a:noFill/>
            </a:ln>
          </p:spPr>
        </p:pic>
        <p:sp>
          <p:nvSpPr>
            <p:cNvPr id="100" name="Google Shape;100;p16"/>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1" name="Google Shape;101;p16"/>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02" name="Google Shape;102;p16"/>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03" name="Google Shape;103;p16"/>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104" name="Google Shape;104;p16"/>
          <p:cNvSpPr txBox="1"/>
          <p:nvPr/>
        </p:nvSpPr>
        <p:spPr>
          <a:xfrm>
            <a:off x="765036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
        <p:nvSpPr>
          <p:cNvPr id="105" name="Google Shape;105;p16"/>
          <p:cNvSpPr/>
          <p:nvPr/>
        </p:nvSpPr>
        <p:spPr>
          <a:xfrm>
            <a:off x="2687250" y="1276500"/>
            <a:ext cx="1783200" cy="37239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Footer Placeholder 3">
            <a:extLst>
              <a:ext uri="{FF2B5EF4-FFF2-40B4-BE49-F238E27FC236}">
                <a16:creationId xmlns:a16="http://schemas.microsoft.com/office/drawing/2014/main" id="{3A91518A-2183-5DA2-A043-D45F7CED71A5}"/>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7"/>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10" name="Google Shape;110;p17"/>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RNA to sequencing library</a:t>
            </a:r>
            <a:endParaRPr/>
          </a:p>
        </p:txBody>
      </p:sp>
      <p:sp>
        <p:nvSpPr>
          <p:cNvPr id="111" name="Google Shape;111;p17"/>
          <p:cNvSpPr txBox="1">
            <a:spLocks noGrp="1"/>
          </p:cNvSpPr>
          <p:nvPr>
            <p:ph type="body" idx="1"/>
          </p:nvPr>
        </p:nvSpPr>
        <p:spPr>
          <a:xfrm>
            <a:off x="83100" y="923875"/>
            <a:ext cx="8520600" cy="10089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Sequencing library = Pool of DNA inserts with sequencing adapters attached</a:t>
            </a:r>
            <a:endParaRPr sz="1700">
              <a:solidFill>
                <a:srgbClr val="000000"/>
              </a:solidFill>
            </a:endParaRPr>
          </a:p>
        </p:txBody>
      </p:sp>
      <p:pic>
        <p:nvPicPr>
          <p:cNvPr id="112" name="Google Shape;112;p17"/>
          <p:cNvPicPr preferRelativeResize="0"/>
          <p:nvPr/>
        </p:nvPicPr>
        <p:blipFill rotWithShape="1">
          <a:blip r:embed="rId4">
            <a:alphaModFix/>
          </a:blip>
          <a:srcRect b="54849"/>
          <a:stretch/>
        </p:blipFill>
        <p:spPr>
          <a:xfrm>
            <a:off x="4613075" y="1748725"/>
            <a:ext cx="3990618" cy="1008899"/>
          </a:xfrm>
          <a:prstGeom prst="rect">
            <a:avLst/>
          </a:prstGeom>
          <a:noFill/>
          <a:ln>
            <a:noFill/>
          </a:ln>
        </p:spPr>
      </p:pic>
      <p:grpSp>
        <p:nvGrpSpPr>
          <p:cNvPr id="113" name="Google Shape;113;p17"/>
          <p:cNvGrpSpPr/>
          <p:nvPr/>
        </p:nvGrpSpPr>
        <p:grpSpPr>
          <a:xfrm>
            <a:off x="1210800" y="2166773"/>
            <a:ext cx="1396599" cy="613277"/>
            <a:chOff x="687725" y="2186148"/>
            <a:chExt cx="1396599" cy="613277"/>
          </a:xfrm>
        </p:grpSpPr>
        <p:pic>
          <p:nvPicPr>
            <p:cNvPr id="114" name="Google Shape;114;p17"/>
            <p:cNvPicPr preferRelativeResize="0"/>
            <p:nvPr/>
          </p:nvPicPr>
          <p:blipFill rotWithShape="1">
            <a:blip r:embed="rId5">
              <a:alphaModFix/>
            </a:blip>
            <a:srcRect l="12215" t="5458" r="67405" b="88571"/>
            <a:stretch/>
          </p:blipFill>
          <p:spPr>
            <a:xfrm>
              <a:off x="687725" y="2186148"/>
              <a:ext cx="1396599" cy="613226"/>
            </a:xfrm>
            <a:prstGeom prst="rect">
              <a:avLst/>
            </a:prstGeom>
            <a:noFill/>
            <a:ln>
              <a:noFill/>
            </a:ln>
          </p:spPr>
        </p:pic>
        <p:sp>
          <p:nvSpPr>
            <p:cNvPr id="115" name="Google Shape;115;p17"/>
            <p:cNvSpPr/>
            <p:nvPr/>
          </p:nvSpPr>
          <p:spPr>
            <a:xfrm>
              <a:off x="1172050" y="2702525"/>
              <a:ext cx="280800" cy="96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 name="Google Shape;116;p17"/>
          <p:cNvSpPr txBox="1"/>
          <p:nvPr/>
        </p:nvSpPr>
        <p:spPr>
          <a:xfrm>
            <a:off x="1386275" y="2915625"/>
            <a:ext cx="9783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Extracted RNA</a:t>
            </a:r>
            <a:endParaRPr/>
          </a:p>
        </p:txBody>
      </p:sp>
      <p:cxnSp>
        <p:nvCxnSpPr>
          <p:cNvPr id="117" name="Google Shape;117;p17"/>
          <p:cNvCxnSpPr/>
          <p:nvPr/>
        </p:nvCxnSpPr>
        <p:spPr>
          <a:xfrm rot="10800000" flipH="1">
            <a:off x="3206225" y="2625100"/>
            <a:ext cx="678000" cy="9600"/>
          </a:xfrm>
          <a:prstGeom prst="straightConnector1">
            <a:avLst/>
          </a:prstGeom>
          <a:noFill/>
          <a:ln w="28575" cap="flat" cmpd="sng">
            <a:solidFill>
              <a:schemeClr val="dk2"/>
            </a:solidFill>
            <a:prstDash val="solid"/>
            <a:round/>
            <a:headEnd type="none" w="med" len="med"/>
            <a:tailEnd type="triangle" w="med" len="med"/>
          </a:ln>
        </p:spPr>
      </p:cxnSp>
      <p:sp>
        <p:nvSpPr>
          <p:cNvPr id="118" name="Google Shape;118;p17"/>
          <p:cNvSpPr txBox="1"/>
          <p:nvPr/>
        </p:nvSpPr>
        <p:spPr>
          <a:xfrm>
            <a:off x="5829800" y="3944950"/>
            <a:ext cx="1638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Sequencing library</a:t>
            </a:r>
            <a:endParaRPr/>
          </a:p>
        </p:txBody>
      </p:sp>
      <p:pic>
        <p:nvPicPr>
          <p:cNvPr id="119" name="Google Shape;119;p17"/>
          <p:cNvPicPr preferRelativeResize="0"/>
          <p:nvPr/>
        </p:nvPicPr>
        <p:blipFill rotWithShape="1">
          <a:blip r:embed="rId4">
            <a:alphaModFix/>
          </a:blip>
          <a:srcRect l="14262" t="22163" r="9627" b="62930"/>
          <a:stretch/>
        </p:blipFill>
        <p:spPr>
          <a:xfrm>
            <a:off x="4821263" y="2752138"/>
            <a:ext cx="3117042" cy="341826"/>
          </a:xfrm>
          <a:prstGeom prst="rect">
            <a:avLst/>
          </a:prstGeom>
          <a:noFill/>
          <a:ln>
            <a:noFill/>
          </a:ln>
        </p:spPr>
      </p:pic>
      <p:pic>
        <p:nvPicPr>
          <p:cNvPr id="120" name="Google Shape;120;p17"/>
          <p:cNvPicPr preferRelativeResize="0"/>
          <p:nvPr/>
        </p:nvPicPr>
        <p:blipFill rotWithShape="1">
          <a:blip r:embed="rId4">
            <a:alphaModFix/>
          </a:blip>
          <a:srcRect l="14262" t="22163" r="9627" b="62930"/>
          <a:stretch/>
        </p:blipFill>
        <p:spPr>
          <a:xfrm>
            <a:off x="4499038" y="3348550"/>
            <a:ext cx="3117042" cy="341826"/>
          </a:xfrm>
          <a:prstGeom prst="rect">
            <a:avLst/>
          </a:prstGeom>
          <a:noFill/>
          <a:ln>
            <a:noFill/>
          </a:ln>
        </p:spPr>
      </p:pic>
      <p:sp>
        <p:nvSpPr>
          <p:cNvPr id="3" name="Footer Placeholder 3">
            <a:extLst>
              <a:ext uri="{FF2B5EF4-FFF2-40B4-BE49-F238E27FC236}">
                <a16:creationId xmlns:a16="http://schemas.microsoft.com/office/drawing/2014/main" id="{3C76FACA-CB65-8F46-D293-18D92F46484D}"/>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18"/>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26" name="Google Shape;126;p1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Steps in library preparation:</a:t>
            </a:r>
            <a:endParaRPr/>
          </a:p>
        </p:txBody>
      </p:sp>
      <p:sp>
        <p:nvSpPr>
          <p:cNvPr id="127" name="Google Shape;127;p18"/>
          <p:cNvSpPr txBox="1">
            <a:spLocks noGrp="1"/>
          </p:cNvSpPr>
          <p:nvPr>
            <p:ph type="body" idx="1"/>
          </p:nvPr>
        </p:nvSpPr>
        <p:spPr>
          <a:xfrm>
            <a:off x="560725" y="1272400"/>
            <a:ext cx="8273400" cy="3522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a:solidFill>
                  <a:schemeClr val="dk1"/>
                </a:solidFill>
                <a:highlight>
                  <a:srgbClr val="FFFFFF"/>
                </a:highlight>
              </a:rPr>
              <a:t>1. Host depletion, RNA fragmentation + priming</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2. First strand cDNA synthesis</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3. Second strand cDNA synthesis</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4. End Prep</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5. Adapter Ligation</a:t>
            </a:r>
            <a:endParaRPr sz="1600">
              <a:solidFill>
                <a:schemeClr val="dk1"/>
              </a:solidFill>
              <a:highlight>
                <a:srgbClr val="FFFFFF"/>
              </a:highlight>
            </a:endParaRPr>
          </a:p>
          <a:p>
            <a:pPr marL="0" lvl="0" indent="0" algn="l" rtl="0">
              <a:lnSpc>
                <a:spcPct val="100000"/>
              </a:lnSpc>
              <a:spcBef>
                <a:spcPts val="1600"/>
              </a:spcBef>
              <a:spcAft>
                <a:spcPts val="1600"/>
              </a:spcAft>
              <a:buNone/>
            </a:pPr>
            <a:r>
              <a:rPr lang="en" sz="1600">
                <a:solidFill>
                  <a:schemeClr val="dk1"/>
                </a:solidFill>
                <a:highlight>
                  <a:srgbClr val="FFFFFF"/>
                </a:highlight>
              </a:rPr>
              <a:t>6.. USER + Barcoding PCR</a:t>
            </a:r>
            <a:endParaRPr sz="2300">
              <a:solidFill>
                <a:srgbClr val="000000"/>
              </a:solidFill>
            </a:endParaRPr>
          </a:p>
        </p:txBody>
      </p:sp>
      <p:sp>
        <p:nvSpPr>
          <p:cNvPr id="2" name="Footer Placeholder 3">
            <a:extLst>
              <a:ext uri="{FF2B5EF4-FFF2-40B4-BE49-F238E27FC236}">
                <a16:creationId xmlns:a16="http://schemas.microsoft.com/office/drawing/2014/main" id="{C80C7A6A-0473-FF23-27AD-7DFE19A268D4}"/>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7"/>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11" name="Google Shape;111;p17"/>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a:t>
            </a:r>
            <a:endParaRPr/>
          </a:p>
        </p:txBody>
      </p:sp>
      <p:sp>
        <p:nvSpPr>
          <p:cNvPr id="112" name="Google Shape;112;p17"/>
          <p:cNvSpPr txBox="1">
            <a:spLocks noGrp="1"/>
          </p:cNvSpPr>
          <p:nvPr>
            <p:ph type="body" idx="1"/>
          </p:nvPr>
        </p:nvSpPr>
        <p:spPr>
          <a:xfrm>
            <a:off x="83100" y="923875"/>
            <a:ext cx="8520600" cy="10089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Sequencing library = Pool of DNA inserts with sequencing adapters attached</a:t>
            </a:r>
            <a:endParaRPr sz="1700">
              <a:solidFill>
                <a:srgbClr val="000000"/>
              </a:solidFill>
            </a:endParaRPr>
          </a:p>
        </p:txBody>
      </p:sp>
      <p:pic>
        <p:nvPicPr>
          <p:cNvPr id="113" name="Google Shape;113;p17"/>
          <p:cNvPicPr preferRelativeResize="0"/>
          <p:nvPr/>
        </p:nvPicPr>
        <p:blipFill>
          <a:blip r:embed="rId4">
            <a:alphaModFix/>
          </a:blip>
          <a:stretch>
            <a:fillRect/>
          </a:stretch>
        </p:blipFill>
        <p:spPr>
          <a:xfrm>
            <a:off x="1246900" y="1717150"/>
            <a:ext cx="6150074" cy="3443695"/>
          </a:xfrm>
          <a:prstGeom prst="rect">
            <a:avLst/>
          </a:prstGeom>
          <a:noFill/>
          <a:ln>
            <a:noFill/>
          </a:ln>
        </p:spPr>
      </p:pic>
      <p:sp>
        <p:nvSpPr>
          <p:cNvPr id="2" name="Footer Placeholder 3">
            <a:extLst>
              <a:ext uri="{FF2B5EF4-FFF2-40B4-BE49-F238E27FC236}">
                <a16:creationId xmlns:a16="http://schemas.microsoft.com/office/drawing/2014/main" id="{30B7FE14-6825-4B83-32A8-2CF3F25877EC}"/>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p:nvPr/>
        </p:nvSpPr>
        <p:spPr>
          <a:xfrm>
            <a:off x="1868875" y="2216350"/>
            <a:ext cx="562500" cy="14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O</a:t>
            </a:r>
            <a:endParaRPr sz="1000"/>
          </a:p>
          <a:p>
            <a:pPr marL="0" lvl="0" indent="0" algn="l" rtl="0">
              <a:spcBef>
                <a:spcPts val="0"/>
              </a:spcBef>
              <a:spcAft>
                <a:spcPts val="0"/>
              </a:spcAft>
              <a:buNone/>
            </a:pPr>
            <a:r>
              <a:rPr lang="en" sz="1000"/>
              <a:t>W</a:t>
            </a:r>
            <a:endParaRPr sz="1000"/>
          </a:p>
          <a:p>
            <a:pPr marL="0" lvl="0" indent="0" algn="l" rtl="0">
              <a:spcBef>
                <a:spcPts val="0"/>
              </a:spcBef>
              <a:spcAft>
                <a:spcPts val="0"/>
              </a:spcAft>
              <a:buNone/>
            </a:pPr>
            <a:r>
              <a:rPr lang="en" sz="1000"/>
              <a:t>C</a:t>
            </a:r>
            <a:endParaRPr sz="1000"/>
          </a:p>
          <a:p>
            <a:pPr marL="0" lvl="0" indent="0" algn="l" rtl="0">
              <a:spcBef>
                <a:spcPts val="0"/>
              </a:spcBef>
              <a:spcAft>
                <a:spcPts val="0"/>
              </a:spcAft>
              <a:buNone/>
            </a:pPr>
            <a:r>
              <a:rPr lang="en" sz="1000"/>
              <a:t>E</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L</a:t>
            </a:r>
            <a:endParaRPr sz="1000"/>
          </a:p>
        </p:txBody>
      </p:sp>
      <p:pic>
        <p:nvPicPr>
          <p:cNvPr id="119" name="Google Shape;119;p18"/>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20" name="Google Shape;120;p18"/>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a:t>
            </a:r>
            <a:endParaRPr/>
          </a:p>
        </p:txBody>
      </p:sp>
      <p:sp>
        <p:nvSpPr>
          <p:cNvPr id="121" name="Google Shape;121;p18"/>
          <p:cNvSpPr txBox="1"/>
          <p:nvPr/>
        </p:nvSpPr>
        <p:spPr>
          <a:xfrm>
            <a:off x="4975" y="906100"/>
            <a:ext cx="8783700" cy="665700"/>
          </a:xfrm>
          <a:prstGeom prst="rect">
            <a:avLst/>
          </a:prstGeom>
          <a:noFill/>
          <a:ln>
            <a:noFill/>
          </a:ln>
        </p:spPr>
        <p:txBody>
          <a:bodyPr spcFirstLastPara="1" wrap="square" lIns="91425" tIns="45700" rIns="91425" bIns="45700" anchor="t" anchorCtr="0">
            <a:noAutofit/>
          </a:bodyPr>
          <a:lstStyle/>
          <a:p>
            <a:pPr marL="457200" lvl="0" indent="-336550" algn="l" rtl="0">
              <a:lnSpc>
                <a:spcPct val="150000"/>
              </a:lnSpc>
              <a:spcBef>
                <a:spcPts val="0"/>
              </a:spcBef>
              <a:spcAft>
                <a:spcPts val="0"/>
              </a:spcAft>
              <a:buClr>
                <a:schemeClr val="dk1"/>
              </a:buClr>
              <a:buSzPts val="1700"/>
              <a:buChar char="●"/>
            </a:pPr>
            <a:r>
              <a:rPr lang="en" sz="1700">
                <a:solidFill>
                  <a:schemeClr val="dk1"/>
                </a:solidFill>
              </a:rPr>
              <a:t>Sequencing process:</a:t>
            </a:r>
            <a:endParaRPr sz="1700"/>
          </a:p>
          <a:p>
            <a:pPr marL="0" marR="0" lvl="0" indent="0" algn="l" rtl="0">
              <a:lnSpc>
                <a:spcPct val="200000"/>
              </a:lnSpc>
              <a:spcBef>
                <a:spcPts val="1600"/>
              </a:spcBef>
              <a:spcAft>
                <a:spcPts val="0"/>
              </a:spcAft>
              <a:buNone/>
            </a:pPr>
            <a:endParaRPr sz="17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2600"/>
          </a:p>
          <a:p>
            <a:pPr marL="19050" lvl="1" indent="438150" algn="l" rtl="0">
              <a:lnSpc>
                <a:spcPct val="150000"/>
              </a:lnSpc>
              <a:spcBef>
                <a:spcPts val="0"/>
              </a:spcBef>
              <a:spcAft>
                <a:spcPts val="0"/>
              </a:spcAft>
              <a:buClr>
                <a:schemeClr val="dk1"/>
              </a:buClr>
              <a:buFont typeface="Arial"/>
              <a:buNone/>
            </a:pPr>
            <a:endParaRPr sz="1300"/>
          </a:p>
        </p:txBody>
      </p:sp>
      <p:pic>
        <p:nvPicPr>
          <p:cNvPr id="122" name="Google Shape;122;p18"/>
          <p:cNvPicPr preferRelativeResize="0"/>
          <p:nvPr/>
        </p:nvPicPr>
        <p:blipFill rotWithShape="1">
          <a:blip r:embed="rId4">
            <a:alphaModFix/>
          </a:blip>
          <a:srcRect t="26010" b="56603"/>
          <a:stretch/>
        </p:blipFill>
        <p:spPr>
          <a:xfrm>
            <a:off x="1246900" y="2590800"/>
            <a:ext cx="6150074" cy="598724"/>
          </a:xfrm>
          <a:prstGeom prst="rect">
            <a:avLst/>
          </a:prstGeom>
          <a:noFill/>
          <a:ln>
            <a:noFill/>
          </a:ln>
        </p:spPr>
      </p:pic>
      <p:cxnSp>
        <p:nvCxnSpPr>
          <p:cNvPr id="123" name="Google Shape;123;p18"/>
          <p:cNvCxnSpPr/>
          <p:nvPr/>
        </p:nvCxnSpPr>
        <p:spPr>
          <a:xfrm>
            <a:off x="3068425" y="2546575"/>
            <a:ext cx="312900" cy="0"/>
          </a:xfrm>
          <a:prstGeom prst="straightConnector1">
            <a:avLst/>
          </a:prstGeom>
          <a:noFill/>
          <a:ln w="19050" cap="flat" cmpd="sng">
            <a:solidFill>
              <a:srgbClr val="C00000"/>
            </a:solidFill>
            <a:prstDash val="solid"/>
            <a:round/>
            <a:headEnd type="none" w="med" len="med"/>
            <a:tailEnd type="triangle" w="med" len="med"/>
          </a:ln>
        </p:spPr>
      </p:cxnSp>
      <p:cxnSp>
        <p:nvCxnSpPr>
          <p:cNvPr id="124" name="Google Shape;124;p18"/>
          <p:cNvCxnSpPr/>
          <p:nvPr/>
        </p:nvCxnSpPr>
        <p:spPr>
          <a:xfrm>
            <a:off x="3386075" y="2546575"/>
            <a:ext cx="1047900" cy="0"/>
          </a:xfrm>
          <a:prstGeom prst="straightConnector1">
            <a:avLst/>
          </a:prstGeom>
          <a:noFill/>
          <a:ln w="19050" cap="flat" cmpd="sng">
            <a:solidFill>
              <a:srgbClr val="999999"/>
            </a:solidFill>
            <a:prstDash val="solid"/>
            <a:round/>
            <a:headEnd type="none" w="med" len="med"/>
            <a:tailEnd type="triangle" w="med" len="med"/>
          </a:ln>
        </p:spPr>
      </p:cxnSp>
      <p:sp>
        <p:nvSpPr>
          <p:cNvPr id="125" name="Google Shape;125;p18"/>
          <p:cNvSpPr txBox="1"/>
          <p:nvPr/>
        </p:nvSpPr>
        <p:spPr>
          <a:xfrm>
            <a:off x="3468800" y="2203675"/>
            <a:ext cx="8028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999999"/>
                </a:solidFill>
              </a:rPr>
              <a:t>Read 1</a:t>
            </a:r>
            <a:endParaRPr>
              <a:solidFill>
                <a:srgbClr val="999999"/>
              </a:solidFill>
            </a:endParaRPr>
          </a:p>
        </p:txBody>
      </p:sp>
      <p:cxnSp>
        <p:nvCxnSpPr>
          <p:cNvPr id="126" name="Google Shape;126;p18"/>
          <p:cNvCxnSpPr/>
          <p:nvPr/>
        </p:nvCxnSpPr>
        <p:spPr>
          <a:xfrm>
            <a:off x="5863025" y="2546575"/>
            <a:ext cx="312900" cy="0"/>
          </a:xfrm>
          <a:prstGeom prst="straightConnector1">
            <a:avLst/>
          </a:prstGeom>
          <a:noFill/>
          <a:ln w="19050" cap="flat" cmpd="sng">
            <a:solidFill>
              <a:srgbClr val="C00000"/>
            </a:solidFill>
            <a:prstDash val="solid"/>
            <a:round/>
            <a:headEnd type="none" w="med" len="med"/>
            <a:tailEnd type="triangle" w="med" len="med"/>
          </a:ln>
        </p:spPr>
      </p:cxnSp>
      <p:cxnSp>
        <p:nvCxnSpPr>
          <p:cNvPr id="127" name="Google Shape;127;p18"/>
          <p:cNvCxnSpPr/>
          <p:nvPr/>
        </p:nvCxnSpPr>
        <p:spPr>
          <a:xfrm>
            <a:off x="6181700" y="2548025"/>
            <a:ext cx="282000" cy="0"/>
          </a:xfrm>
          <a:prstGeom prst="straightConnector1">
            <a:avLst/>
          </a:prstGeom>
          <a:noFill/>
          <a:ln w="19050" cap="flat" cmpd="sng">
            <a:solidFill>
              <a:srgbClr val="999999"/>
            </a:solidFill>
            <a:prstDash val="solid"/>
            <a:round/>
            <a:headEnd type="none" w="med" len="med"/>
            <a:tailEnd type="triangle" w="med" len="med"/>
          </a:ln>
        </p:spPr>
      </p:cxnSp>
      <p:cxnSp>
        <p:nvCxnSpPr>
          <p:cNvPr id="128" name="Google Shape;128;p18"/>
          <p:cNvCxnSpPr/>
          <p:nvPr/>
        </p:nvCxnSpPr>
        <p:spPr>
          <a:xfrm>
            <a:off x="6921200" y="1876500"/>
            <a:ext cx="0" cy="1553700"/>
          </a:xfrm>
          <a:prstGeom prst="straightConnector1">
            <a:avLst/>
          </a:prstGeom>
          <a:noFill/>
          <a:ln w="19050" cap="flat" cmpd="sng">
            <a:solidFill>
              <a:schemeClr val="dk2"/>
            </a:solidFill>
            <a:prstDash val="solid"/>
            <a:round/>
            <a:headEnd type="none" w="med" len="med"/>
            <a:tailEnd type="none" w="med" len="med"/>
          </a:ln>
        </p:spPr>
      </p:cxnSp>
      <p:cxnSp>
        <p:nvCxnSpPr>
          <p:cNvPr id="129" name="Google Shape;129;p18"/>
          <p:cNvCxnSpPr/>
          <p:nvPr/>
        </p:nvCxnSpPr>
        <p:spPr>
          <a:xfrm>
            <a:off x="6742175" y="2653350"/>
            <a:ext cx="176100" cy="0"/>
          </a:xfrm>
          <a:prstGeom prst="straightConnector1">
            <a:avLst/>
          </a:prstGeom>
          <a:noFill/>
          <a:ln w="19050" cap="flat" cmpd="sng">
            <a:solidFill>
              <a:schemeClr val="dk2"/>
            </a:solidFill>
            <a:prstDash val="solid"/>
            <a:round/>
            <a:headEnd type="none" w="med" len="med"/>
            <a:tailEnd type="none" w="med" len="med"/>
          </a:ln>
        </p:spPr>
      </p:cxnSp>
      <p:sp>
        <p:nvSpPr>
          <p:cNvPr id="130" name="Google Shape;130;p18"/>
          <p:cNvSpPr txBox="1"/>
          <p:nvPr/>
        </p:nvSpPr>
        <p:spPr>
          <a:xfrm>
            <a:off x="6890650" y="1984325"/>
            <a:ext cx="562500" cy="14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O</a:t>
            </a:r>
            <a:endParaRPr sz="1000"/>
          </a:p>
          <a:p>
            <a:pPr marL="0" lvl="0" indent="0" algn="l" rtl="0">
              <a:spcBef>
                <a:spcPts val="0"/>
              </a:spcBef>
              <a:spcAft>
                <a:spcPts val="0"/>
              </a:spcAft>
              <a:buNone/>
            </a:pPr>
            <a:r>
              <a:rPr lang="en" sz="1000"/>
              <a:t>W</a:t>
            </a:r>
            <a:endParaRPr sz="1000"/>
          </a:p>
          <a:p>
            <a:pPr marL="0" lvl="0" indent="0" algn="l" rtl="0">
              <a:spcBef>
                <a:spcPts val="0"/>
              </a:spcBef>
              <a:spcAft>
                <a:spcPts val="0"/>
              </a:spcAft>
              <a:buNone/>
            </a:pPr>
            <a:r>
              <a:rPr lang="en" sz="1000"/>
              <a:t>C</a:t>
            </a:r>
            <a:endParaRPr sz="1000"/>
          </a:p>
          <a:p>
            <a:pPr marL="0" lvl="0" indent="0" algn="l" rtl="0">
              <a:spcBef>
                <a:spcPts val="0"/>
              </a:spcBef>
              <a:spcAft>
                <a:spcPts val="0"/>
              </a:spcAft>
              <a:buNone/>
            </a:pPr>
            <a:r>
              <a:rPr lang="en" sz="1000"/>
              <a:t>E</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L</a:t>
            </a:r>
            <a:endParaRPr sz="1000"/>
          </a:p>
        </p:txBody>
      </p:sp>
      <p:cxnSp>
        <p:nvCxnSpPr>
          <p:cNvPr id="131" name="Google Shape;131;p18"/>
          <p:cNvCxnSpPr/>
          <p:nvPr/>
        </p:nvCxnSpPr>
        <p:spPr>
          <a:xfrm rot="10800000">
            <a:off x="2147000" y="2108525"/>
            <a:ext cx="0" cy="1553700"/>
          </a:xfrm>
          <a:prstGeom prst="straightConnector1">
            <a:avLst/>
          </a:prstGeom>
          <a:noFill/>
          <a:ln w="19050" cap="flat" cmpd="sng">
            <a:solidFill>
              <a:schemeClr val="dk2"/>
            </a:solidFill>
            <a:prstDash val="solid"/>
            <a:round/>
            <a:headEnd type="none" w="med" len="med"/>
            <a:tailEnd type="none" w="med" len="med"/>
          </a:ln>
        </p:spPr>
      </p:cxnSp>
      <p:cxnSp>
        <p:nvCxnSpPr>
          <p:cNvPr id="132" name="Google Shape;132;p18"/>
          <p:cNvCxnSpPr/>
          <p:nvPr/>
        </p:nvCxnSpPr>
        <p:spPr>
          <a:xfrm rot="10800000">
            <a:off x="2149925" y="2885375"/>
            <a:ext cx="176100" cy="0"/>
          </a:xfrm>
          <a:prstGeom prst="straightConnector1">
            <a:avLst/>
          </a:prstGeom>
          <a:noFill/>
          <a:ln w="19050" cap="flat" cmpd="sng">
            <a:solidFill>
              <a:schemeClr val="dk2"/>
            </a:solidFill>
            <a:prstDash val="solid"/>
            <a:round/>
            <a:headEnd type="none" w="med" len="med"/>
            <a:tailEnd type="none" w="med" len="med"/>
          </a:ln>
        </p:spPr>
      </p:cxnSp>
      <p:cxnSp>
        <p:nvCxnSpPr>
          <p:cNvPr id="133" name="Google Shape;133;p18"/>
          <p:cNvCxnSpPr/>
          <p:nvPr/>
        </p:nvCxnSpPr>
        <p:spPr>
          <a:xfrm>
            <a:off x="2336675" y="2996200"/>
            <a:ext cx="271500" cy="0"/>
          </a:xfrm>
          <a:prstGeom prst="straightConnector1">
            <a:avLst/>
          </a:prstGeom>
          <a:noFill/>
          <a:ln w="19050" cap="flat" cmpd="sng">
            <a:solidFill>
              <a:srgbClr val="C00000"/>
            </a:solidFill>
            <a:prstDash val="solid"/>
            <a:round/>
            <a:headEnd type="none" w="med" len="med"/>
            <a:tailEnd type="triangle" w="med" len="med"/>
          </a:ln>
        </p:spPr>
      </p:cxnSp>
      <p:cxnSp>
        <p:nvCxnSpPr>
          <p:cNvPr id="134" name="Google Shape;134;p18"/>
          <p:cNvCxnSpPr/>
          <p:nvPr/>
        </p:nvCxnSpPr>
        <p:spPr>
          <a:xfrm>
            <a:off x="2608175" y="2996200"/>
            <a:ext cx="282000" cy="0"/>
          </a:xfrm>
          <a:prstGeom prst="straightConnector1">
            <a:avLst/>
          </a:prstGeom>
          <a:noFill/>
          <a:ln w="19050" cap="flat" cmpd="sng">
            <a:solidFill>
              <a:srgbClr val="999999"/>
            </a:solidFill>
            <a:prstDash val="solid"/>
            <a:round/>
            <a:headEnd type="none" w="med" len="med"/>
            <a:tailEnd type="triangle" w="med" len="med"/>
          </a:ln>
        </p:spPr>
      </p:cxnSp>
      <p:cxnSp>
        <p:nvCxnSpPr>
          <p:cNvPr id="135" name="Google Shape;135;p18"/>
          <p:cNvCxnSpPr/>
          <p:nvPr/>
        </p:nvCxnSpPr>
        <p:spPr>
          <a:xfrm rot="10800000">
            <a:off x="5691350" y="2996200"/>
            <a:ext cx="312900" cy="0"/>
          </a:xfrm>
          <a:prstGeom prst="straightConnector1">
            <a:avLst/>
          </a:prstGeom>
          <a:noFill/>
          <a:ln w="19050" cap="flat" cmpd="sng">
            <a:solidFill>
              <a:srgbClr val="C00000"/>
            </a:solidFill>
            <a:prstDash val="solid"/>
            <a:round/>
            <a:headEnd type="none" w="med" len="med"/>
            <a:tailEnd type="triangle" w="med" len="med"/>
          </a:ln>
        </p:spPr>
      </p:cxnSp>
      <p:cxnSp>
        <p:nvCxnSpPr>
          <p:cNvPr id="136" name="Google Shape;136;p18"/>
          <p:cNvCxnSpPr/>
          <p:nvPr/>
        </p:nvCxnSpPr>
        <p:spPr>
          <a:xfrm rot="10800000">
            <a:off x="4643450" y="2996200"/>
            <a:ext cx="1047900" cy="0"/>
          </a:xfrm>
          <a:prstGeom prst="straightConnector1">
            <a:avLst/>
          </a:prstGeom>
          <a:noFill/>
          <a:ln w="19050" cap="flat" cmpd="sng">
            <a:solidFill>
              <a:srgbClr val="999999"/>
            </a:solidFill>
            <a:prstDash val="solid"/>
            <a:round/>
            <a:headEnd type="none" w="med" len="med"/>
            <a:tailEnd type="triangle" w="med" len="med"/>
          </a:ln>
        </p:spPr>
      </p:cxnSp>
      <p:sp>
        <p:nvSpPr>
          <p:cNvPr id="137" name="Google Shape;137;p18"/>
          <p:cNvSpPr txBox="1"/>
          <p:nvPr/>
        </p:nvSpPr>
        <p:spPr>
          <a:xfrm>
            <a:off x="4865250" y="2941975"/>
            <a:ext cx="8028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999999"/>
                </a:solidFill>
              </a:rPr>
              <a:t>Read 2</a:t>
            </a:r>
            <a:endParaRPr>
              <a:solidFill>
                <a:srgbClr val="999999"/>
              </a:solidFill>
            </a:endParaRPr>
          </a:p>
        </p:txBody>
      </p:sp>
      <p:pic>
        <p:nvPicPr>
          <p:cNvPr id="138" name="Google Shape;138;p18"/>
          <p:cNvPicPr preferRelativeResize="0"/>
          <p:nvPr/>
        </p:nvPicPr>
        <p:blipFill rotWithShape="1">
          <a:blip r:embed="rId5">
            <a:alphaModFix/>
          </a:blip>
          <a:srcRect b="74630"/>
          <a:stretch/>
        </p:blipFill>
        <p:spPr>
          <a:xfrm>
            <a:off x="1246900" y="1336150"/>
            <a:ext cx="6150074" cy="873651"/>
          </a:xfrm>
          <a:prstGeom prst="rect">
            <a:avLst/>
          </a:prstGeom>
          <a:noFill/>
          <a:ln>
            <a:noFill/>
          </a:ln>
        </p:spPr>
      </p:pic>
      <p:sp>
        <p:nvSpPr>
          <p:cNvPr id="2" name="Footer Placeholder 3">
            <a:extLst>
              <a:ext uri="{FF2B5EF4-FFF2-40B4-BE49-F238E27FC236}">
                <a16:creationId xmlns:a16="http://schemas.microsoft.com/office/drawing/2014/main" id="{0929B0A5-F3B5-1C06-012B-CCEA4A34424B}"/>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1000"/>
                                        <p:tgtEl>
                                          <p:spTgt spid="129"/>
                                        </p:tgtEl>
                                      </p:cBhvr>
                                    </p:animEffect>
                                  </p:childTnLst>
                                </p:cTn>
                              </p:par>
                              <p:par>
                                <p:cTn id="8" presetID="10" presetClass="entr" presetSubtype="0"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1000"/>
                                        <p:tgtEl>
                                          <p:spTgt spid="130"/>
                                        </p:tgtEl>
                                      </p:cBhvr>
                                    </p:animEffect>
                                  </p:childTnLst>
                                </p:cTn>
                              </p:par>
                              <p:par>
                                <p:cTn id="11" presetID="10" presetClass="entr" presetSubtype="0" fill="hold"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1000"/>
                                        <p:tgtEl>
                                          <p:spTgt spid="1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3"/>
                                        </p:tgtEl>
                                        <p:attrNameLst>
                                          <p:attrName>style.visibility</p:attrName>
                                        </p:attrNameLst>
                                      </p:cBhvr>
                                      <p:to>
                                        <p:strVal val="visible"/>
                                      </p:to>
                                    </p:set>
                                    <p:animEffect transition="in" filter="fade">
                                      <p:cBhvr>
                                        <p:cTn id="18" dur="1000"/>
                                        <p:tgtEl>
                                          <p:spTgt spid="1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5"/>
                                        </p:tgtEl>
                                        <p:attrNameLst>
                                          <p:attrName>style.visibility</p:attrName>
                                        </p:attrNameLst>
                                      </p:cBhvr>
                                      <p:to>
                                        <p:strVal val="visible"/>
                                      </p:to>
                                    </p:set>
                                    <p:animEffect transition="in" filter="fade">
                                      <p:cBhvr>
                                        <p:cTn id="23" dur="1000"/>
                                        <p:tgtEl>
                                          <p:spTgt spid="125"/>
                                        </p:tgtEl>
                                      </p:cBhvr>
                                    </p:animEffect>
                                  </p:childTnLst>
                                </p:cTn>
                              </p:par>
                              <p:par>
                                <p:cTn id="24" presetID="10" presetClass="entr" presetSubtype="0" fill="hold" nodeType="withEffect">
                                  <p:stCondLst>
                                    <p:cond delay="0"/>
                                  </p:stCondLst>
                                  <p:childTnLst>
                                    <p:set>
                                      <p:cBhvr>
                                        <p:cTn id="25" dur="1" fill="hold">
                                          <p:stCondLst>
                                            <p:cond delay="0"/>
                                          </p:stCondLst>
                                        </p:cTn>
                                        <p:tgtEl>
                                          <p:spTgt spid="124"/>
                                        </p:tgtEl>
                                        <p:attrNameLst>
                                          <p:attrName>style.visibility</p:attrName>
                                        </p:attrNameLst>
                                      </p:cBhvr>
                                      <p:to>
                                        <p:strVal val="visible"/>
                                      </p:to>
                                    </p:set>
                                    <p:animEffect transition="in" filter="fade">
                                      <p:cBhvr>
                                        <p:cTn id="26" dur="1000"/>
                                        <p:tgtEl>
                                          <p:spTgt spid="1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6"/>
                                        </p:tgtEl>
                                        <p:attrNameLst>
                                          <p:attrName>style.visibility</p:attrName>
                                        </p:attrNameLst>
                                      </p:cBhvr>
                                      <p:to>
                                        <p:strVal val="visible"/>
                                      </p:to>
                                    </p:set>
                                    <p:animEffect transition="in" filter="fade">
                                      <p:cBhvr>
                                        <p:cTn id="31" dur="1000"/>
                                        <p:tgtEl>
                                          <p:spTgt spid="1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7"/>
                                        </p:tgtEl>
                                        <p:attrNameLst>
                                          <p:attrName>style.visibility</p:attrName>
                                        </p:attrNameLst>
                                      </p:cBhvr>
                                      <p:to>
                                        <p:strVal val="visible"/>
                                      </p:to>
                                    </p:set>
                                    <p:animEffect transition="in" filter="fade">
                                      <p:cBhvr>
                                        <p:cTn id="36" dur="1000"/>
                                        <p:tgtEl>
                                          <p:spTgt spid="12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1000"/>
                                        <p:tgtEl>
                                          <p:spTgt spid="123"/>
                                        </p:tgtEl>
                                      </p:cBhvr>
                                    </p:animEffect>
                                    <p:set>
                                      <p:cBhvr>
                                        <p:cTn id="41" dur="1" fill="hold">
                                          <p:stCondLst>
                                            <p:cond delay="1000"/>
                                          </p:stCondLst>
                                        </p:cTn>
                                        <p:tgtEl>
                                          <p:spTgt spid="123"/>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1000"/>
                                        <p:tgtEl>
                                          <p:spTgt spid="124"/>
                                        </p:tgtEl>
                                      </p:cBhvr>
                                    </p:animEffect>
                                    <p:set>
                                      <p:cBhvr>
                                        <p:cTn id="44" dur="1" fill="hold">
                                          <p:stCondLst>
                                            <p:cond delay="1000"/>
                                          </p:stCondLst>
                                        </p:cTn>
                                        <p:tgtEl>
                                          <p:spTgt spid="124"/>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1100"/>
                                        <p:tgtEl>
                                          <p:spTgt spid="125"/>
                                        </p:tgtEl>
                                      </p:cBhvr>
                                    </p:animEffect>
                                    <p:set>
                                      <p:cBhvr>
                                        <p:cTn id="47" dur="1" fill="hold">
                                          <p:stCondLst>
                                            <p:cond delay="1100"/>
                                          </p:stCondLst>
                                        </p:cTn>
                                        <p:tgtEl>
                                          <p:spTgt spid="125"/>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1000"/>
                                        <p:tgtEl>
                                          <p:spTgt spid="126"/>
                                        </p:tgtEl>
                                      </p:cBhvr>
                                    </p:animEffect>
                                    <p:set>
                                      <p:cBhvr>
                                        <p:cTn id="50" dur="1" fill="hold">
                                          <p:stCondLst>
                                            <p:cond delay="1000"/>
                                          </p:stCondLst>
                                        </p:cTn>
                                        <p:tgtEl>
                                          <p:spTgt spid="126"/>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000"/>
                                        <p:tgtEl>
                                          <p:spTgt spid="127"/>
                                        </p:tgtEl>
                                      </p:cBhvr>
                                    </p:animEffect>
                                    <p:set>
                                      <p:cBhvr>
                                        <p:cTn id="53" dur="1" fill="hold">
                                          <p:stCondLst>
                                            <p:cond delay="1000"/>
                                          </p:stCondLst>
                                        </p:cTn>
                                        <p:tgtEl>
                                          <p:spTgt spid="127"/>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1000"/>
                                        <p:tgtEl>
                                          <p:spTgt spid="128"/>
                                        </p:tgtEl>
                                      </p:cBhvr>
                                    </p:animEffect>
                                    <p:set>
                                      <p:cBhvr>
                                        <p:cTn id="56" dur="1" fill="hold">
                                          <p:stCondLst>
                                            <p:cond delay="1000"/>
                                          </p:stCondLst>
                                        </p:cTn>
                                        <p:tgtEl>
                                          <p:spTgt spid="128"/>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1000"/>
                                        <p:tgtEl>
                                          <p:spTgt spid="130"/>
                                        </p:tgtEl>
                                      </p:cBhvr>
                                    </p:animEffect>
                                    <p:set>
                                      <p:cBhvr>
                                        <p:cTn id="59" dur="1" fill="hold">
                                          <p:stCondLst>
                                            <p:cond delay="1000"/>
                                          </p:stCondLst>
                                        </p:cTn>
                                        <p:tgtEl>
                                          <p:spTgt spid="130"/>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1000"/>
                                        <p:tgtEl>
                                          <p:spTgt spid="129"/>
                                        </p:tgtEl>
                                      </p:cBhvr>
                                    </p:animEffect>
                                    <p:set>
                                      <p:cBhvr>
                                        <p:cTn id="62" dur="1" fill="hold">
                                          <p:stCondLst>
                                            <p:cond delay="1000"/>
                                          </p:stCondLst>
                                        </p:cTn>
                                        <p:tgtEl>
                                          <p:spTgt spid="129"/>
                                        </p:tgtEl>
                                        <p:attrNameLst>
                                          <p:attrName>style.visibility</p:attrName>
                                        </p:attrNameLst>
                                      </p:cBhvr>
                                      <p:to>
                                        <p:strVal val="hidden"/>
                                      </p:to>
                                    </p:set>
                                  </p:childTnLst>
                                </p:cTn>
                              </p:par>
                              <p:par>
                                <p:cTn id="63" presetID="10" presetClass="entr" presetSubtype="0" fill="hold" nodeType="withEffect">
                                  <p:stCondLst>
                                    <p:cond delay="0"/>
                                  </p:stCondLst>
                                  <p:childTnLst>
                                    <p:set>
                                      <p:cBhvr>
                                        <p:cTn id="64" dur="1" fill="hold">
                                          <p:stCondLst>
                                            <p:cond delay="0"/>
                                          </p:stCondLst>
                                        </p:cTn>
                                        <p:tgtEl>
                                          <p:spTgt spid="118"/>
                                        </p:tgtEl>
                                        <p:attrNameLst>
                                          <p:attrName>style.visibility</p:attrName>
                                        </p:attrNameLst>
                                      </p:cBhvr>
                                      <p:to>
                                        <p:strVal val="visible"/>
                                      </p:to>
                                    </p:set>
                                    <p:animEffect transition="in" filter="fade">
                                      <p:cBhvr>
                                        <p:cTn id="65" dur="1000"/>
                                        <p:tgtEl>
                                          <p:spTgt spid="118"/>
                                        </p:tgtEl>
                                      </p:cBhvr>
                                    </p:animEffect>
                                  </p:childTnLst>
                                </p:cTn>
                              </p:par>
                              <p:par>
                                <p:cTn id="66" presetID="10" presetClass="entr" presetSubtype="0" fill="hold" nodeType="withEffect">
                                  <p:stCondLst>
                                    <p:cond delay="0"/>
                                  </p:stCondLst>
                                  <p:childTnLst>
                                    <p:set>
                                      <p:cBhvr>
                                        <p:cTn id="67" dur="1" fill="hold">
                                          <p:stCondLst>
                                            <p:cond delay="0"/>
                                          </p:stCondLst>
                                        </p:cTn>
                                        <p:tgtEl>
                                          <p:spTgt spid="132"/>
                                        </p:tgtEl>
                                        <p:attrNameLst>
                                          <p:attrName>style.visibility</p:attrName>
                                        </p:attrNameLst>
                                      </p:cBhvr>
                                      <p:to>
                                        <p:strVal val="visible"/>
                                      </p:to>
                                    </p:set>
                                    <p:animEffect transition="in" filter="fade">
                                      <p:cBhvr>
                                        <p:cTn id="68" dur="1000"/>
                                        <p:tgtEl>
                                          <p:spTgt spid="132"/>
                                        </p:tgtEl>
                                      </p:cBhvr>
                                    </p:animEffect>
                                  </p:childTnLst>
                                </p:cTn>
                              </p:par>
                              <p:par>
                                <p:cTn id="69" presetID="10" presetClass="entr" presetSubtype="0" fill="hold" nodeType="withEffect">
                                  <p:stCondLst>
                                    <p:cond delay="0"/>
                                  </p:stCondLst>
                                  <p:childTnLst>
                                    <p:set>
                                      <p:cBhvr>
                                        <p:cTn id="70" dur="1" fill="hold">
                                          <p:stCondLst>
                                            <p:cond delay="0"/>
                                          </p:stCondLst>
                                        </p:cTn>
                                        <p:tgtEl>
                                          <p:spTgt spid="131"/>
                                        </p:tgtEl>
                                        <p:attrNameLst>
                                          <p:attrName>style.visibility</p:attrName>
                                        </p:attrNameLst>
                                      </p:cBhvr>
                                      <p:to>
                                        <p:strVal val="visible"/>
                                      </p:to>
                                    </p:set>
                                    <p:animEffect transition="in" filter="fade">
                                      <p:cBhvr>
                                        <p:cTn id="71" dur="1000"/>
                                        <p:tgtEl>
                                          <p:spTgt spid="13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33"/>
                                        </p:tgtEl>
                                        <p:attrNameLst>
                                          <p:attrName>style.visibility</p:attrName>
                                        </p:attrNameLst>
                                      </p:cBhvr>
                                      <p:to>
                                        <p:strVal val="visible"/>
                                      </p:to>
                                    </p:set>
                                    <p:animEffect transition="in" filter="fade">
                                      <p:cBhvr>
                                        <p:cTn id="76" dur="1000"/>
                                        <p:tgtEl>
                                          <p:spTgt spid="133"/>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34"/>
                                        </p:tgtEl>
                                        <p:attrNameLst>
                                          <p:attrName>style.visibility</p:attrName>
                                        </p:attrNameLst>
                                      </p:cBhvr>
                                      <p:to>
                                        <p:strVal val="visible"/>
                                      </p:to>
                                    </p:set>
                                    <p:animEffect transition="in" filter="fade">
                                      <p:cBhvr>
                                        <p:cTn id="81" dur="1000"/>
                                        <p:tgtEl>
                                          <p:spTgt spid="13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35"/>
                                        </p:tgtEl>
                                        <p:attrNameLst>
                                          <p:attrName>style.visibility</p:attrName>
                                        </p:attrNameLst>
                                      </p:cBhvr>
                                      <p:to>
                                        <p:strVal val="visible"/>
                                      </p:to>
                                    </p:set>
                                    <p:animEffect transition="in" filter="fade">
                                      <p:cBhvr>
                                        <p:cTn id="86" dur="1000"/>
                                        <p:tgtEl>
                                          <p:spTgt spid="13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36"/>
                                        </p:tgtEl>
                                        <p:attrNameLst>
                                          <p:attrName>style.visibility</p:attrName>
                                        </p:attrNameLst>
                                      </p:cBhvr>
                                      <p:to>
                                        <p:strVal val="visible"/>
                                      </p:to>
                                    </p:set>
                                    <p:animEffect transition="in" filter="fade">
                                      <p:cBhvr>
                                        <p:cTn id="91" dur="1000"/>
                                        <p:tgtEl>
                                          <p:spTgt spid="136"/>
                                        </p:tgtEl>
                                      </p:cBhvr>
                                    </p:animEffect>
                                  </p:childTnLst>
                                </p:cTn>
                              </p:par>
                              <p:par>
                                <p:cTn id="92" presetID="10" presetClass="entr" presetSubtype="0" fill="hold" nodeType="withEffect">
                                  <p:stCondLst>
                                    <p:cond delay="0"/>
                                  </p:stCondLst>
                                  <p:childTnLst>
                                    <p:set>
                                      <p:cBhvr>
                                        <p:cTn id="93" dur="1" fill="hold">
                                          <p:stCondLst>
                                            <p:cond delay="0"/>
                                          </p:stCondLst>
                                        </p:cTn>
                                        <p:tgtEl>
                                          <p:spTgt spid="137"/>
                                        </p:tgtEl>
                                        <p:attrNameLst>
                                          <p:attrName>style.visibility</p:attrName>
                                        </p:attrNameLst>
                                      </p:cBhvr>
                                      <p:to>
                                        <p:strVal val="visible"/>
                                      </p:to>
                                    </p:set>
                                    <p:animEffect transition="in" filter="fade">
                                      <p:cBhvr>
                                        <p:cTn id="94" dur="10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19"/>
          <p:cNvPicPr preferRelativeResize="0"/>
          <p:nvPr/>
        </p:nvPicPr>
        <p:blipFill>
          <a:blip r:embed="rId3">
            <a:alphaModFix/>
          </a:blip>
          <a:stretch>
            <a:fillRect/>
          </a:stretch>
        </p:blipFill>
        <p:spPr>
          <a:xfrm>
            <a:off x="3507350" y="45200"/>
            <a:ext cx="5636650" cy="5002027"/>
          </a:xfrm>
          <a:prstGeom prst="rect">
            <a:avLst/>
          </a:prstGeom>
          <a:noFill/>
          <a:ln>
            <a:noFill/>
          </a:ln>
        </p:spPr>
      </p:pic>
      <p:pic>
        <p:nvPicPr>
          <p:cNvPr id="144" name="Google Shape;144;p19"/>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145" name="Google Shape;145;p19"/>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a:t>
            </a:r>
            <a:endParaRPr/>
          </a:p>
        </p:txBody>
      </p:sp>
      <p:sp>
        <p:nvSpPr>
          <p:cNvPr id="146" name="Google Shape;146;p19"/>
          <p:cNvSpPr txBox="1">
            <a:spLocks noGrp="1"/>
          </p:cNvSpPr>
          <p:nvPr>
            <p:ph type="body" idx="1"/>
          </p:nvPr>
        </p:nvSpPr>
        <p:spPr>
          <a:xfrm>
            <a:off x="83100" y="923875"/>
            <a:ext cx="8520600" cy="10089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RNA or DNA library</a:t>
            </a:r>
            <a:endParaRPr sz="1700">
              <a:solidFill>
                <a:srgbClr val="000000"/>
              </a:solidFill>
            </a:endParaRPr>
          </a:p>
          <a:p>
            <a:pPr marL="457200" lvl="0" indent="0" algn="l" rtl="0">
              <a:lnSpc>
                <a:spcPct val="150000"/>
              </a:lnSpc>
              <a:spcBef>
                <a:spcPts val="1600"/>
              </a:spcBef>
              <a:spcAft>
                <a:spcPts val="1600"/>
              </a:spcAft>
              <a:buNone/>
            </a:pPr>
            <a:endParaRPr sz="1700">
              <a:solidFill>
                <a:srgbClr val="000000"/>
              </a:solidFill>
            </a:endParaRPr>
          </a:p>
        </p:txBody>
      </p:sp>
      <p:sp>
        <p:nvSpPr>
          <p:cNvPr id="2" name="Footer Placeholder 3">
            <a:extLst>
              <a:ext uri="{FF2B5EF4-FFF2-40B4-BE49-F238E27FC236}">
                <a16:creationId xmlns:a16="http://schemas.microsoft.com/office/drawing/2014/main" id="{92A40FDE-6747-FC05-8AAB-FDE21831E1D1}"/>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20"/>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52" name="Google Shape;152;p20"/>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 </a:t>
            </a:r>
            <a:endParaRPr/>
          </a:p>
        </p:txBody>
      </p:sp>
      <p:sp>
        <p:nvSpPr>
          <p:cNvPr id="153" name="Google Shape;153;p20"/>
          <p:cNvSpPr txBox="1"/>
          <p:nvPr/>
        </p:nvSpPr>
        <p:spPr>
          <a:xfrm>
            <a:off x="233575" y="906100"/>
            <a:ext cx="6181800" cy="27516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0. Starting material: RNA or TNA</a:t>
            </a:r>
            <a:endParaRPr sz="1700" b="1">
              <a:solidFill>
                <a:srgbClr val="000000"/>
              </a:solidFill>
            </a:endParaRPr>
          </a:p>
          <a:p>
            <a:pPr marL="457200" marR="0" lvl="0" indent="-323850" algn="l" rtl="0">
              <a:lnSpc>
                <a:spcPct val="200000"/>
              </a:lnSpc>
              <a:spcBef>
                <a:spcPts val="0"/>
              </a:spcBef>
              <a:spcAft>
                <a:spcPts val="0"/>
              </a:spcAft>
              <a:buClr>
                <a:srgbClr val="000000"/>
              </a:buClr>
              <a:buSzPts val="1500"/>
              <a:buChar char="●"/>
            </a:pPr>
            <a:r>
              <a:rPr lang="en" sz="1500" i="0" u="none" strike="noStrike" cap="none">
                <a:solidFill>
                  <a:srgbClr val="000000"/>
                </a:solidFill>
              </a:rPr>
              <a:t>RNA only: move on to host rRNA depletion</a:t>
            </a:r>
            <a:endParaRPr sz="1500" i="0" u="none" strike="noStrike" cap="none">
              <a:solidFill>
                <a:srgbClr val="000000"/>
              </a:solidFill>
            </a:endParaRPr>
          </a:p>
          <a:p>
            <a:pPr marL="457200" marR="0" lvl="0" indent="-323850" algn="l" rtl="0">
              <a:lnSpc>
                <a:spcPct val="150000"/>
              </a:lnSpc>
              <a:spcBef>
                <a:spcPts val="0"/>
              </a:spcBef>
              <a:spcAft>
                <a:spcPts val="0"/>
              </a:spcAft>
              <a:buClr>
                <a:srgbClr val="000000"/>
              </a:buClr>
              <a:buSzPts val="1500"/>
              <a:buChar char="●"/>
            </a:pPr>
            <a:r>
              <a:rPr lang="en" sz="1500" i="0" u="none" strike="noStrike" cap="none">
                <a:solidFill>
                  <a:srgbClr val="000000"/>
                </a:solidFill>
              </a:rPr>
              <a:t>TNA (total nucleic acid): need to remove DNA</a:t>
            </a:r>
            <a:endParaRPr sz="15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Aliquot sample</a:t>
            </a:r>
            <a:endParaRPr sz="13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DNAse I treatment</a:t>
            </a:r>
            <a:endParaRPr sz="13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SPRI bead clean-up (2x)</a:t>
            </a:r>
            <a:endParaRPr sz="13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Qubit quantification</a:t>
            </a:r>
            <a:endParaRPr sz="1700" i="0" u="none" strike="noStrike" cap="none">
              <a:solidFill>
                <a:srgbClr val="000000"/>
              </a:solidFill>
            </a:endParaRPr>
          </a:p>
        </p:txBody>
      </p:sp>
      <p:sp>
        <p:nvSpPr>
          <p:cNvPr id="2" name="Footer Placeholder 3">
            <a:extLst>
              <a:ext uri="{FF2B5EF4-FFF2-40B4-BE49-F238E27FC236}">
                <a16:creationId xmlns:a16="http://schemas.microsoft.com/office/drawing/2014/main" id="{31F23EE0-4832-15D9-2092-D18F969D1F15}"/>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21"/>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159" name="Google Shape;159;p21"/>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160" name="Google Shape;160;p21"/>
          <p:cNvSpPr txBox="1"/>
          <p:nvPr/>
        </p:nvSpPr>
        <p:spPr>
          <a:xfrm>
            <a:off x="233575" y="906100"/>
            <a:ext cx="71103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dirty="0">
                <a:solidFill>
                  <a:srgbClr val="000000"/>
                </a:solidFill>
              </a:rPr>
              <a:t>STEP </a:t>
            </a:r>
            <a:r>
              <a:rPr lang="en" sz="1700" b="1" dirty="0"/>
              <a:t>1</a:t>
            </a:r>
            <a:r>
              <a:rPr lang="en" sz="1700" b="1" dirty="0">
                <a:solidFill>
                  <a:srgbClr val="000000"/>
                </a:solidFill>
              </a:rPr>
              <a:t>. </a:t>
            </a:r>
            <a:r>
              <a:rPr lang="en" sz="1700" b="1" dirty="0"/>
              <a:t>Host rRNA depletion</a:t>
            </a:r>
            <a:endParaRPr sz="1700" dirty="0"/>
          </a:p>
          <a:p>
            <a:pPr marL="457200" marR="0" lvl="0" indent="-323850" algn="l" rtl="0">
              <a:lnSpc>
                <a:spcPct val="150000"/>
              </a:lnSpc>
              <a:spcBef>
                <a:spcPts val="0"/>
              </a:spcBef>
              <a:spcAft>
                <a:spcPts val="0"/>
              </a:spcAft>
              <a:buClr>
                <a:srgbClr val="000000"/>
              </a:buClr>
              <a:buSzPts val="1500"/>
              <a:buChar char="●"/>
            </a:pPr>
            <a:r>
              <a:rPr lang="en" sz="1500" dirty="0"/>
              <a:t>Before RNA extraction:</a:t>
            </a:r>
            <a:endParaRPr sz="1500" dirty="0"/>
          </a:p>
          <a:p>
            <a:pPr marL="914400" marR="0" lvl="1" indent="-311150" algn="l" rtl="0">
              <a:lnSpc>
                <a:spcPct val="200000"/>
              </a:lnSpc>
              <a:spcBef>
                <a:spcPts val="0"/>
              </a:spcBef>
              <a:spcAft>
                <a:spcPts val="0"/>
              </a:spcAft>
              <a:buClr>
                <a:srgbClr val="000000"/>
              </a:buClr>
              <a:buSzPts val="1300"/>
              <a:buChar char="○"/>
            </a:pPr>
            <a:r>
              <a:rPr lang="en" sz="1300" dirty="0"/>
              <a:t>Serum or plasma instead of blood </a:t>
            </a:r>
            <a:endParaRPr sz="1300" dirty="0"/>
          </a:p>
          <a:p>
            <a:pPr marL="914400" marR="0" lvl="1" indent="-311150" algn="l" rtl="0">
              <a:lnSpc>
                <a:spcPct val="150000"/>
              </a:lnSpc>
              <a:spcBef>
                <a:spcPts val="0"/>
              </a:spcBef>
              <a:spcAft>
                <a:spcPts val="0"/>
              </a:spcAft>
              <a:buClr>
                <a:srgbClr val="000000"/>
              </a:buClr>
              <a:buSzPts val="1300"/>
              <a:buChar char="○"/>
            </a:pPr>
            <a:r>
              <a:rPr lang="en" sz="1300" dirty="0"/>
              <a:t>Supernatant of CSF to remove WBCs</a:t>
            </a:r>
            <a:endParaRPr sz="1300" dirty="0"/>
          </a:p>
          <a:p>
            <a:pPr marL="457200" marR="0" lvl="0" indent="0" algn="l" rtl="0">
              <a:lnSpc>
                <a:spcPct val="150000"/>
              </a:lnSpc>
              <a:spcBef>
                <a:spcPts val="0"/>
              </a:spcBef>
              <a:spcAft>
                <a:spcPts val="0"/>
              </a:spcAft>
              <a:buNone/>
            </a:pPr>
            <a:endParaRPr sz="1300" dirty="0"/>
          </a:p>
          <a:p>
            <a:pPr marL="457200" marR="0" lvl="0" indent="-323850" algn="l" rtl="0">
              <a:lnSpc>
                <a:spcPct val="150000"/>
              </a:lnSpc>
              <a:spcBef>
                <a:spcPts val="0"/>
              </a:spcBef>
              <a:spcAft>
                <a:spcPts val="0"/>
              </a:spcAft>
              <a:buClr>
                <a:srgbClr val="000000"/>
              </a:buClr>
              <a:buSzPts val="1500"/>
              <a:buChar char="●"/>
            </a:pPr>
            <a:r>
              <a:rPr lang="en" sz="1500" dirty="0"/>
              <a:t>Human RNA depletion kits to use after RNA extraction:</a:t>
            </a:r>
            <a:endParaRPr sz="1500" dirty="0"/>
          </a:p>
          <a:p>
            <a:pPr marL="914400" marR="0" lvl="1" indent="-311150" algn="l" rtl="0">
              <a:lnSpc>
                <a:spcPct val="150000"/>
              </a:lnSpc>
              <a:spcBef>
                <a:spcPts val="0"/>
              </a:spcBef>
              <a:spcAft>
                <a:spcPts val="0"/>
              </a:spcAft>
              <a:buClr>
                <a:srgbClr val="000000"/>
              </a:buClr>
              <a:buSzPts val="1300"/>
              <a:buChar char="○"/>
            </a:pPr>
            <a:r>
              <a:rPr lang="en" sz="1300" dirty="0" err="1"/>
              <a:t>TruSeq</a:t>
            </a:r>
            <a:r>
              <a:rPr lang="en" sz="1300" dirty="0"/>
              <a:t> Stranded total RNA Human (previously Ribo-Zero, Illumina)</a:t>
            </a:r>
            <a:endParaRPr sz="1300" dirty="0"/>
          </a:p>
          <a:p>
            <a:pPr marL="1371600" marR="0" lvl="2" indent="-311150" algn="l" rtl="0">
              <a:lnSpc>
                <a:spcPct val="200000"/>
              </a:lnSpc>
              <a:spcBef>
                <a:spcPts val="0"/>
              </a:spcBef>
              <a:spcAft>
                <a:spcPts val="0"/>
              </a:spcAft>
              <a:buClr>
                <a:srgbClr val="000000"/>
              </a:buClr>
              <a:buSzPts val="1300"/>
              <a:buChar char="■"/>
            </a:pPr>
            <a:r>
              <a:rPr lang="en" sz="1300" dirty="0"/>
              <a:t>Biotinylated, target-specific oligos + Ribo-Zero beads to fish out rRNA</a:t>
            </a:r>
            <a:endParaRPr sz="1300" dirty="0"/>
          </a:p>
          <a:p>
            <a:pPr marL="914400" marR="0" lvl="1" indent="-311150" algn="l" rtl="0">
              <a:lnSpc>
                <a:spcPct val="150000"/>
              </a:lnSpc>
              <a:spcBef>
                <a:spcPts val="0"/>
              </a:spcBef>
              <a:spcAft>
                <a:spcPts val="0"/>
              </a:spcAft>
              <a:buClr>
                <a:srgbClr val="000000"/>
              </a:buClr>
              <a:buSzPts val="1300"/>
              <a:buChar char="○"/>
            </a:pPr>
            <a:r>
              <a:rPr lang="en" sz="1300" dirty="0" err="1"/>
              <a:t>FastSelect</a:t>
            </a:r>
            <a:r>
              <a:rPr lang="en" sz="1300" dirty="0"/>
              <a:t> (Qiagen): $150 for 24 samples when reagent is diluted 1:10</a:t>
            </a:r>
            <a:endParaRPr sz="1300" dirty="0"/>
          </a:p>
          <a:p>
            <a:pPr marL="1371600" marR="0" lvl="2" indent="-311150" algn="l" rtl="0">
              <a:lnSpc>
                <a:spcPct val="150000"/>
              </a:lnSpc>
              <a:spcBef>
                <a:spcPts val="0"/>
              </a:spcBef>
              <a:spcAft>
                <a:spcPts val="0"/>
              </a:spcAft>
              <a:buClr>
                <a:srgbClr val="000000"/>
              </a:buClr>
              <a:buSzPts val="1300"/>
              <a:buChar char="■"/>
            </a:pPr>
            <a:r>
              <a:rPr lang="en" sz="1300" dirty="0"/>
              <a:t>Proprietary technology, presumably with hybridizing probes that make rRNA inaccessible to enzymes in subsequent steps</a:t>
            </a:r>
            <a:endParaRPr sz="1700" i="0" u="none" strike="noStrike" cap="none" dirty="0">
              <a:solidFill>
                <a:srgbClr val="000000"/>
              </a:solidFill>
            </a:endParaRPr>
          </a:p>
        </p:txBody>
      </p:sp>
      <p:graphicFrame>
        <p:nvGraphicFramePr>
          <p:cNvPr id="161" name="Google Shape;161;p21"/>
          <p:cNvGraphicFramePr/>
          <p:nvPr/>
        </p:nvGraphicFramePr>
        <p:xfrm>
          <a:off x="6862775" y="400200"/>
          <a:ext cx="1933575" cy="2072610"/>
        </p:xfrm>
        <a:graphic>
          <a:graphicData uri="http://schemas.openxmlformats.org/drawingml/2006/table">
            <a:tbl>
              <a:tblPr>
                <a:noFill/>
                <a:tableStyleId>{2B486B22-836C-4846-A538-40941FD952B8}</a:tableStyleId>
              </a:tblPr>
              <a:tblGrid>
                <a:gridCol w="1933575">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200" b="1">
                          <a:solidFill>
                            <a:srgbClr val="FFFFFF"/>
                          </a:solidFill>
                        </a:rPr>
                        <a:t>RNA content of typical host sample</a:t>
                      </a:r>
                      <a:endParaRPr sz="1200" b="1">
                        <a:solidFill>
                          <a:srgbClr val="FFFFFF"/>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t>95% host rRNA</a:t>
                      </a:r>
                      <a:endParaRPr sz="1200"/>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t>2-3% host mRNA</a:t>
                      </a:r>
                      <a:endParaRPr sz="1200"/>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t>1% other host RNA</a:t>
                      </a:r>
                      <a:endParaRPr sz="1200"/>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t>&lt;1% pathogen RNA</a:t>
                      </a:r>
                      <a:endParaRPr sz="1200"/>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bl>
          </a:graphicData>
        </a:graphic>
      </p:graphicFrame>
      <p:sp>
        <p:nvSpPr>
          <p:cNvPr id="162" name="Google Shape;162;p21"/>
          <p:cNvSpPr txBox="1"/>
          <p:nvPr/>
        </p:nvSpPr>
        <p:spPr>
          <a:xfrm rot="-547">
            <a:off x="-152390" y="4188224"/>
            <a:ext cx="1885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0000"/>
                </a:solidFill>
              </a:rPr>
              <a:t>Preferred</a:t>
            </a:r>
            <a:endParaRPr sz="1000">
              <a:solidFill>
                <a:srgbClr val="FF0000"/>
              </a:solidFill>
            </a:endParaRPr>
          </a:p>
          <a:p>
            <a:pPr marL="0" lvl="0" indent="0" algn="ctr" rtl="0">
              <a:spcBef>
                <a:spcPts val="0"/>
              </a:spcBef>
              <a:spcAft>
                <a:spcPts val="0"/>
              </a:spcAft>
              <a:buNone/>
            </a:pPr>
            <a:r>
              <a:rPr lang="en" sz="1000">
                <a:solidFill>
                  <a:srgbClr val="FF0000"/>
                </a:solidFill>
              </a:rPr>
              <a:t>(no extra wash required)</a:t>
            </a:r>
            <a:endParaRPr sz="1000">
              <a:solidFill>
                <a:srgbClr val="FF0000"/>
              </a:solidFill>
            </a:endParaRPr>
          </a:p>
        </p:txBody>
      </p:sp>
      <p:sp>
        <p:nvSpPr>
          <p:cNvPr id="2" name="Footer Placeholder 3">
            <a:extLst>
              <a:ext uri="{FF2B5EF4-FFF2-40B4-BE49-F238E27FC236}">
                <a16:creationId xmlns:a16="http://schemas.microsoft.com/office/drawing/2014/main" id="{7FE7A105-95D3-2FD0-F445-BFE7BF40C130}"/>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10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2"/>
          <p:cNvPicPr preferRelativeResize="0"/>
          <p:nvPr/>
        </p:nvPicPr>
        <p:blipFill rotWithShape="1">
          <a:blip r:embed="rId3">
            <a:alphaModFix/>
          </a:blip>
          <a:srcRect l="15816" t="72531" r="40899" b="8003"/>
          <a:stretch/>
        </p:blipFill>
        <p:spPr>
          <a:xfrm>
            <a:off x="6027350" y="939625"/>
            <a:ext cx="3078449" cy="1214176"/>
          </a:xfrm>
          <a:prstGeom prst="rect">
            <a:avLst/>
          </a:prstGeom>
          <a:noFill/>
          <a:ln>
            <a:noFill/>
          </a:ln>
        </p:spPr>
      </p:pic>
      <p:pic>
        <p:nvPicPr>
          <p:cNvPr id="168" name="Google Shape;168;p22"/>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169" name="Google Shape;169;p22"/>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170" name="Google Shape;170;p22"/>
          <p:cNvSpPr txBox="1"/>
          <p:nvPr/>
        </p:nvSpPr>
        <p:spPr>
          <a:xfrm>
            <a:off x="233575" y="906100"/>
            <a:ext cx="71103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2</a:t>
            </a:r>
            <a:r>
              <a:rPr lang="en" sz="1700" b="1">
                <a:solidFill>
                  <a:srgbClr val="000000"/>
                </a:solidFill>
              </a:rPr>
              <a:t>. Fragmentation</a:t>
            </a:r>
            <a:endParaRPr sz="1700"/>
          </a:p>
          <a:p>
            <a:pPr marL="457200" marR="0" lvl="0" indent="-323850" algn="l" rtl="0">
              <a:lnSpc>
                <a:spcPct val="200000"/>
              </a:lnSpc>
              <a:spcBef>
                <a:spcPts val="0"/>
              </a:spcBef>
              <a:spcAft>
                <a:spcPts val="0"/>
              </a:spcAft>
              <a:buClr>
                <a:srgbClr val="000000"/>
              </a:buClr>
              <a:buSzPts val="1500"/>
              <a:buChar char="●"/>
            </a:pPr>
            <a:r>
              <a:rPr lang="en" sz="1500"/>
              <a:t>Ideal insert size = </a:t>
            </a:r>
            <a:r>
              <a:rPr lang="en" sz="1500">
                <a:solidFill>
                  <a:schemeClr val="dk1"/>
                </a:solidFill>
              </a:rPr>
              <a:t>± 400 nt</a:t>
            </a:r>
            <a:endParaRPr sz="1500"/>
          </a:p>
          <a:p>
            <a:pPr marL="457200" marR="0" lvl="0" indent="-323850" algn="l" rtl="0">
              <a:lnSpc>
                <a:spcPct val="150000"/>
              </a:lnSpc>
              <a:spcBef>
                <a:spcPts val="0"/>
              </a:spcBef>
              <a:spcAft>
                <a:spcPts val="0"/>
              </a:spcAft>
              <a:buClr>
                <a:srgbClr val="000000"/>
              </a:buClr>
              <a:buSzPts val="1500"/>
              <a:buChar char="●"/>
            </a:pPr>
            <a:r>
              <a:rPr lang="en" sz="1500"/>
              <a:t>Several ways to fragment RNA:</a:t>
            </a:r>
            <a:endParaRPr sz="1500"/>
          </a:p>
          <a:p>
            <a:pPr marL="914400" marR="0" lvl="1" indent="-311150" algn="l" rtl="0">
              <a:lnSpc>
                <a:spcPct val="150000"/>
              </a:lnSpc>
              <a:spcBef>
                <a:spcPts val="0"/>
              </a:spcBef>
              <a:spcAft>
                <a:spcPts val="0"/>
              </a:spcAft>
              <a:buClr>
                <a:srgbClr val="000000"/>
              </a:buClr>
              <a:buSzPts val="1300"/>
              <a:buAutoNum type="alphaLcPeriod"/>
            </a:pPr>
            <a:r>
              <a:rPr lang="en" sz="1300"/>
              <a:t>Enzymatic: %GC-dependent -&gt; may bias mNGS results</a:t>
            </a:r>
            <a:endParaRPr sz="1300"/>
          </a:p>
          <a:p>
            <a:pPr marL="914400" marR="0" lvl="1" indent="-311150" algn="l" rtl="0">
              <a:lnSpc>
                <a:spcPct val="150000"/>
              </a:lnSpc>
              <a:spcBef>
                <a:spcPts val="0"/>
              </a:spcBef>
              <a:spcAft>
                <a:spcPts val="0"/>
              </a:spcAft>
              <a:buClr>
                <a:srgbClr val="000000"/>
              </a:buClr>
              <a:buSzPts val="1300"/>
              <a:buAutoNum type="alphaLcPeriod"/>
            </a:pPr>
            <a:r>
              <a:rPr lang="en" sz="1300"/>
              <a:t>Heat cycling: relatively random</a:t>
            </a:r>
            <a:endParaRPr sz="1300"/>
          </a:p>
          <a:p>
            <a:pPr marL="914400" marR="0" lvl="1" indent="-311150" algn="l" rtl="0">
              <a:lnSpc>
                <a:spcPct val="150000"/>
              </a:lnSpc>
              <a:spcBef>
                <a:spcPts val="0"/>
              </a:spcBef>
              <a:spcAft>
                <a:spcPts val="0"/>
              </a:spcAft>
              <a:buClr>
                <a:srgbClr val="000000"/>
              </a:buClr>
              <a:buSzPts val="1300"/>
              <a:buAutoNum type="alphaLcPeriod"/>
            </a:pPr>
            <a:r>
              <a:rPr lang="en" sz="1300"/>
              <a:t>Sonication: larger volume required, expensive machine, contamination risk</a:t>
            </a:r>
            <a:endParaRPr sz="1300"/>
          </a:p>
          <a:p>
            <a:pPr marL="914400" marR="0" lvl="1" indent="-311150" algn="l" rtl="0">
              <a:lnSpc>
                <a:spcPct val="150000"/>
              </a:lnSpc>
              <a:spcBef>
                <a:spcPts val="0"/>
              </a:spcBef>
              <a:spcAft>
                <a:spcPts val="0"/>
              </a:spcAft>
              <a:buClr>
                <a:srgbClr val="000000"/>
              </a:buClr>
              <a:buSzPts val="1300"/>
              <a:buAutoNum type="alphaLcPeriod"/>
            </a:pPr>
            <a:r>
              <a:rPr lang="en" sz="1300"/>
              <a:t>Divalent cations: allow RNA to be self-cleaving (Mg</a:t>
            </a:r>
            <a:r>
              <a:rPr lang="en" sz="1300" baseline="30000"/>
              <a:t>2+</a:t>
            </a:r>
            <a:r>
              <a:rPr lang="en" sz="1300"/>
              <a:t>, Ca</a:t>
            </a:r>
            <a:r>
              <a:rPr lang="en" sz="1300" baseline="30000"/>
              <a:t>2+</a:t>
            </a:r>
            <a:r>
              <a:rPr lang="en" sz="1300"/>
              <a:t>, Zn</a:t>
            </a:r>
            <a:r>
              <a:rPr lang="en" sz="1300" baseline="30000"/>
              <a:t>2+</a:t>
            </a:r>
            <a:r>
              <a:rPr lang="en" sz="1300"/>
              <a:t>, …)</a:t>
            </a:r>
            <a:endParaRPr sz="1300"/>
          </a:p>
          <a:p>
            <a:pPr marL="1371600" marR="0" lvl="2" indent="-311150" algn="l" rtl="0">
              <a:lnSpc>
                <a:spcPct val="150000"/>
              </a:lnSpc>
              <a:spcBef>
                <a:spcPts val="0"/>
              </a:spcBef>
              <a:spcAft>
                <a:spcPts val="0"/>
              </a:spcAft>
              <a:buSzPts val="1300"/>
              <a:buChar char="■"/>
            </a:pPr>
            <a:r>
              <a:rPr lang="en" sz="1300"/>
              <a:t>Mg</a:t>
            </a:r>
            <a:r>
              <a:rPr lang="en" sz="1300" baseline="30000"/>
              <a:t>2+</a:t>
            </a:r>
            <a:r>
              <a:rPr lang="en" sz="1300"/>
              <a:t> and heat (94</a:t>
            </a:r>
            <a:r>
              <a:rPr lang="en" sz="1300" baseline="30000"/>
              <a:t>o</a:t>
            </a:r>
            <a:r>
              <a:rPr lang="en" sz="1300"/>
              <a:t>C) for 2-15 minutes depending on RNA quality</a:t>
            </a:r>
            <a:endParaRPr sz="1300"/>
          </a:p>
          <a:p>
            <a:pPr marL="1828800" marR="0" lvl="3" indent="-311150" algn="l" rtl="0">
              <a:lnSpc>
                <a:spcPct val="150000"/>
              </a:lnSpc>
              <a:spcBef>
                <a:spcPts val="0"/>
              </a:spcBef>
              <a:spcAft>
                <a:spcPts val="0"/>
              </a:spcAft>
              <a:buSzPts val="1300"/>
              <a:buChar char="●"/>
            </a:pPr>
            <a:r>
              <a:rPr lang="en" sz="1300"/>
              <a:t>High quality RNA: long fragmentation time</a:t>
            </a:r>
            <a:endParaRPr sz="1300"/>
          </a:p>
          <a:p>
            <a:pPr marL="1828800" marR="0" lvl="3" indent="-311150" algn="l" rtl="0">
              <a:lnSpc>
                <a:spcPct val="150000"/>
              </a:lnSpc>
              <a:spcBef>
                <a:spcPts val="0"/>
              </a:spcBef>
              <a:spcAft>
                <a:spcPts val="0"/>
              </a:spcAft>
              <a:buSzPts val="1300"/>
              <a:buChar char="●"/>
            </a:pPr>
            <a:r>
              <a:rPr lang="en" sz="1300"/>
              <a:t>Low quality RNA: short fragmentation time</a:t>
            </a:r>
            <a:endParaRPr sz="1300"/>
          </a:p>
        </p:txBody>
      </p:sp>
      <p:sp>
        <p:nvSpPr>
          <p:cNvPr id="171" name="Google Shape;171;p22"/>
          <p:cNvSpPr txBox="1"/>
          <p:nvPr/>
        </p:nvSpPr>
        <p:spPr>
          <a:xfrm>
            <a:off x="7576950" y="1313900"/>
            <a:ext cx="1027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Fragmentation</a:t>
            </a:r>
            <a:endParaRPr sz="1000"/>
          </a:p>
        </p:txBody>
      </p:sp>
      <p:sp>
        <p:nvSpPr>
          <p:cNvPr id="172" name="Google Shape;172;p22"/>
          <p:cNvSpPr txBox="1"/>
          <p:nvPr/>
        </p:nvSpPr>
        <p:spPr>
          <a:xfrm>
            <a:off x="6273475" y="1940800"/>
            <a:ext cx="1027800" cy="2865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000">
                <a:solidFill>
                  <a:schemeClr val="dk1"/>
                </a:solidFill>
              </a:rPr>
              <a:t>± 400 nt</a:t>
            </a:r>
            <a:endParaRPr sz="1000"/>
          </a:p>
        </p:txBody>
      </p:sp>
      <p:sp>
        <p:nvSpPr>
          <p:cNvPr id="173" name="Google Shape;173;p22"/>
          <p:cNvSpPr txBox="1"/>
          <p:nvPr/>
        </p:nvSpPr>
        <p:spPr>
          <a:xfrm>
            <a:off x="7233975" y="1940800"/>
            <a:ext cx="1027800" cy="2865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000">
                <a:solidFill>
                  <a:schemeClr val="dk1"/>
                </a:solidFill>
              </a:rPr>
              <a:t>± 400 nt</a:t>
            </a:r>
            <a:endParaRPr sz="1000"/>
          </a:p>
        </p:txBody>
      </p:sp>
      <p:sp>
        <p:nvSpPr>
          <p:cNvPr id="174" name="Google Shape;174;p22"/>
          <p:cNvSpPr txBox="1"/>
          <p:nvPr/>
        </p:nvSpPr>
        <p:spPr>
          <a:xfrm>
            <a:off x="8215675" y="1940800"/>
            <a:ext cx="1027800" cy="2865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000">
                <a:solidFill>
                  <a:schemeClr val="dk1"/>
                </a:solidFill>
              </a:rPr>
              <a:t>± 400 nt</a:t>
            </a:r>
            <a:endParaRPr sz="1000"/>
          </a:p>
        </p:txBody>
      </p:sp>
      <p:sp>
        <p:nvSpPr>
          <p:cNvPr id="175" name="Google Shape;175;p22"/>
          <p:cNvSpPr/>
          <p:nvPr/>
        </p:nvSpPr>
        <p:spPr>
          <a:xfrm>
            <a:off x="700275" y="3105925"/>
            <a:ext cx="6015000" cy="1214100"/>
          </a:xfrm>
          <a:prstGeom prst="roundRect">
            <a:avLst>
              <a:gd name="adj" fmla="val 16667"/>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2"/>
          <p:cNvSpPr txBox="1"/>
          <p:nvPr/>
        </p:nvSpPr>
        <p:spPr>
          <a:xfrm>
            <a:off x="700275" y="4320025"/>
            <a:ext cx="2783400" cy="49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C00000"/>
                </a:solidFill>
              </a:rPr>
              <a:t>NEBNext Ultra ii RNA library kit</a:t>
            </a:r>
            <a:endParaRPr>
              <a:solidFill>
                <a:srgbClr val="C00000"/>
              </a:solidFill>
            </a:endParaRPr>
          </a:p>
        </p:txBody>
      </p:sp>
      <p:sp>
        <p:nvSpPr>
          <p:cNvPr id="2" name="Footer Placeholder 3">
            <a:extLst>
              <a:ext uri="{FF2B5EF4-FFF2-40B4-BE49-F238E27FC236}">
                <a16:creationId xmlns:a16="http://schemas.microsoft.com/office/drawing/2014/main" id="{1A7C7D34-FE2A-C56A-2B19-D9BFE729682C}"/>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1000"/>
                                        <p:tgtEl>
                                          <p:spTgt spid="176"/>
                                        </p:tgtEl>
                                      </p:cBhvr>
                                    </p:animEffect>
                                  </p:childTnLst>
                                </p:cTn>
                              </p:par>
                              <p:par>
                                <p:cTn id="8" presetID="10" presetClass="entr" presetSubtype="0" fill="hold" nodeType="withEffect">
                                  <p:stCondLst>
                                    <p:cond delay="0"/>
                                  </p:stCondLst>
                                  <p:childTnLst>
                                    <p:set>
                                      <p:cBhvr>
                                        <p:cTn id="9" dur="1" fill="hold">
                                          <p:stCondLst>
                                            <p:cond delay="0"/>
                                          </p:stCondLst>
                                        </p:cTn>
                                        <p:tgtEl>
                                          <p:spTgt spid="175"/>
                                        </p:tgtEl>
                                        <p:attrNameLst>
                                          <p:attrName>style.visibility</p:attrName>
                                        </p:attrNameLst>
                                      </p:cBhvr>
                                      <p:to>
                                        <p:strVal val="visible"/>
                                      </p:to>
                                    </p:set>
                                    <p:animEffect transition="in" filter="fade">
                                      <p:cBhvr>
                                        <p:cTn id="10" dur="10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3"/>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82" name="Google Shape;182;p23"/>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183" name="Google Shape;183;p23"/>
          <p:cNvSpPr txBox="1"/>
          <p:nvPr/>
        </p:nvSpPr>
        <p:spPr>
          <a:xfrm>
            <a:off x="233575" y="906100"/>
            <a:ext cx="71103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2</a:t>
            </a:r>
            <a:r>
              <a:rPr lang="en" sz="1700" b="1">
                <a:solidFill>
                  <a:srgbClr val="000000"/>
                </a:solidFill>
              </a:rPr>
              <a:t>. Fragmentation</a:t>
            </a:r>
            <a:endParaRPr sz="1700"/>
          </a:p>
          <a:p>
            <a:pPr marL="457200" marR="0" lvl="0" indent="0" algn="l" rtl="0">
              <a:lnSpc>
                <a:spcPct val="200000"/>
              </a:lnSpc>
              <a:spcBef>
                <a:spcPts val="0"/>
              </a:spcBef>
              <a:spcAft>
                <a:spcPts val="0"/>
              </a:spcAft>
              <a:buNone/>
            </a:pPr>
            <a:endParaRPr>
              <a:solidFill>
                <a:srgbClr val="FF0000"/>
              </a:solidFill>
              <a:highlight>
                <a:srgbClr val="FFFF00"/>
              </a:highlight>
            </a:endParaRPr>
          </a:p>
        </p:txBody>
      </p:sp>
      <p:pic>
        <p:nvPicPr>
          <p:cNvPr id="184" name="Google Shape;184;p23"/>
          <p:cNvPicPr preferRelativeResize="0"/>
          <p:nvPr/>
        </p:nvPicPr>
        <p:blipFill>
          <a:blip r:embed="rId4">
            <a:alphaModFix/>
          </a:blip>
          <a:stretch>
            <a:fillRect/>
          </a:stretch>
        </p:blipFill>
        <p:spPr>
          <a:xfrm>
            <a:off x="3216812" y="825425"/>
            <a:ext cx="5750038" cy="4167550"/>
          </a:xfrm>
          <a:prstGeom prst="rect">
            <a:avLst/>
          </a:prstGeom>
          <a:noFill/>
          <a:ln>
            <a:noFill/>
          </a:ln>
        </p:spPr>
      </p:pic>
      <p:sp>
        <p:nvSpPr>
          <p:cNvPr id="185" name="Google Shape;185;p23"/>
          <p:cNvSpPr txBox="1"/>
          <p:nvPr/>
        </p:nvSpPr>
        <p:spPr>
          <a:xfrm>
            <a:off x="4352400" y="476125"/>
            <a:ext cx="3631800" cy="4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Fragmentation pattern of </a:t>
            </a:r>
            <a:r>
              <a:rPr lang="en" u="sng"/>
              <a:t>high quality</a:t>
            </a:r>
            <a:r>
              <a:rPr lang="en"/>
              <a:t> RNA</a:t>
            </a:r>
            <a:endParaRPr/>
          </a:p>
        </p:txBody>
      </p:sp>
      <p:sp>
        <p:nvSpPr>
          <p:cNvPr id="186" name="Google Shape;186;p23"/>
          <p:cNvSpPr txBox="1"/>
          <p:nvPr/>
        </p:nvSpPr>
        <p:spPr>
          <a:xfrm>
            <a:off x="265475" y="2967750"/>
            <a:ext cx="2623800" cy="8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t>Use shorter fragmentation times when RNA quality is compromised!</a:t>
            </a:r>
            <a:endParaRPr sz="1500"/>
          </a:p>
        </p:txBody>
      </p:sp>
      <p:sp>
        <p:nvSpPr>
          <p:cNvPr id="2" name="Footer Placeholder 3">
            <a:extLst>
              <a:ext uri="{FF2B5EF4-FFF2-40B4-BE49-F238E27FC236}">
                <a16:creationId xmlns:a16="http://schemas.microsoft.com/office/drawing/2014/main" id="{A19E89FC-12A0-9D43-DDE6-76FD6B46EA04}"/>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gtEl>
                                        <p:attrNameLst>
                                          <p:attrName>style.visibility</p:attrName>
                                        </p:attrNameLst>
                                      </p:cBhvr>
                                      <p:to>
                                        <p:strVal val="visible"/>
                                      </p:to>
                                    </p:set>
                                    <p:animEffect transition="in" filter="fade">
                                      <p:cBhvr>
                                        <p:cTn id="7" dur="10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4"/>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92" name="Google Shape;192;p24"/>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pic>
        <p:nvPicPr>
          <p:cNvPr id="193" name="Google Shape;193;p24"/>
          <p:cNvPicPr preferRelativeResize="0"/>
          <p:nvPr/>
        </p:nvPicPr>
        <p:blipFill>
          <a:blip r:embed="rId4">
            <a:alphaModFix/>
          </a:blip>
          <a:stretch>
            <a:fillRect/>
          </a:stretch>
        </p:blipFill>
        <p:spPr>
          <a:xfrm>
            <a:off x="3797448" y="1008875"/>
            <a:ext cx="5275448" cy="3852849"/>
          </a:xfrm>
          <a:prstGeom prst="rect">
            <a:avLst/>
          </a:prstGeom>
          <a:noFill/>
          <a:ln>
            <a:noFill/>
          </a:ln>
        </p:spPr>
      </p:pic>
      <p:sp>
        <p:nvSpPr>
          <p:cNvPr id="194" name="Google Shape;194;p24"/>
          <p:cNvSpPr txBox="1"/>
          <p:nvPr/>
        </p:nvSpPr>
        <p:spPr>
          <a:xfrm>
            <a:off x="1225" y="862500"/>
            <a:ext cx="2899800" cy="31137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700" b="1">
                <a:solidFill>
                  <a:schemeClr val="dk1"/>
                </a:solidFill>
              </a:rPr>
              <a:t>STEP 3. dsDNA synthesis</a:t>
            </a:r>
            <a:endParaRPr sz="1700">
              <a:solidFill>
                <a:schemeClr val="dk1"/>
              </a:solidFill>
            </a:endParaRPr>
          </a:p>
          <a:p>
            <a:pPr marL="457200" lvl="0" indent="-323850" algn="l" rtl="0">
              <a:lnSpc>
                <a:spcPct val="200000"/>
              </a:lnSpc>
              <a:spcBef>
                <a:spcPts val="0"/>
              </a:spcBef>
              <a:spcAft>
                <a:spcPts val="0"/>
              </a:spcAft>
              <a:buSzPts val="1500"/>
              <a:buAutoNum type="arabicPeriod"/>
            </a:pPr>
            <a:r>
              <a:rPr lang="en" sz="1500"/>
              <a:t>First strand synthesis</a:t>
            </a:r>
            <a:endParaRPr sz="1500"/>
          </a:p>
          <a:p>
            <a:pPr marL="457200" lvl="0" indent="-323850" algn="l" rtl="0">
              <a:lnSpc>
                <a:spcPct val="200000"/>
              </a:lnSpc>
              <a:spcBef>
                <a:spcPts val="0"/>
              </a:spcBef>
              <a:spcAft>
                <a:spcPts val="0"/>
              </a:spcAft>
              <a:buSzPts val="1500"/>
              <a:buAutoNum type="arabicPeriod"/>
            </a:pPr>
            <a:r>
              <a:rPr lang="en" sz="1500"/>
              <a:t>Second strand synthesis</a:t>
            </a:r>
            <a:endParaRPr sz="1500"/>
          </a:p>
          <a:p>
            <a:pPr marL="457200" lvl="0" indent="-323850" algn="l" rtl="0">
              <a:lnSpc>
                <a:spcPct val="150000"/>
              </a:lnSpc>
              <a:spcBef>
                <a:spcPts val="0"/>
              </a:spcBef>
              <a:spcAft>
                <a:spcPts val="0"/>
              </a:spcAft>
              <a:buSzPts val="1500"/>
              <a:buAutoNum type="arabicPeriod"/>
            </a:pPr>
            <a:r>
              <a:rPr lang="en" sz="1500"/>
              <a:t>Purify dsDNA by          SPRI bead clean-up (1.8x)</a:t>
            </a:r>
            <a:endParaRPr sz="1500"/>
          </a:p>
          <a:p>
            <a:pPr marL="0" lvl="0" indent="457200" algn="l" rtl="0">
              <a:lnSpc>
                <a:spcPct val="150000"/>
              </a:lnSpc>
              <a:spcBef>
                <a:spcPts val="0"/>
              </a:spcBef>
              <a:spcAft>
                <a:spcPts val="0"/>
              </a:spcAft>
              <a:buNone/>
            </a:pPr>
            <a:endParaRPr sz="1500"/>
          </a:p>
        </p:txBody>
      </p:sp>
      <p:sp>
        <p:nvSpPr>
          <p:cNvPr id="2" name="Footer Placeholder 3">
            <a:extLst>
              <a:ext uri="{FF2B5EF4-FFF2-40B4-BE49-F238E27FC236}">
                <a16:creationId xmlns:a16="http://schemas.microsoft.com/office/drawing/2014/main" id="{52B656DD-A894-3B15-1A18-5D9ACA20B0D8}"/>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5"/>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00" name="Google Shape;200;p25"/>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01" name="Google Shape;201;p25"/>
          <p:cNvSpPr txBox="1"/>
          <p:nvPr/>
        </p:nvSpPr>
        <p:spPr>
          <a:xfrm>
            <a:off x="4975" y="906100"/>
            <a:ext cx="46062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4</a:t>
            </a:r>
            <a:r>
              <a:rPr lang="en" sz="1700" b="1">
                <a:solidFill>
                  <a:srgbClr val="000000"/>
                </a:solidFill>
              </a:rPr>
              <a:t>. </a:t>
            </a:r>
            <a:r>
              <a:rPr lang="en" sz="1700" b="1"/>
              <a:t>End repair &amp; dA-tailing</a:t>
            </a:r>
            <a:endParaRPr sz="1700"/>
          </a:p>
          <a:p>
            <a:pPr marL="457200" marR="0" lvl="0" indent="-323850" algn="l" rtl="0">
              <a:lnSpc>
                <a:spcPct val="200000"/>
              </a:lnSpc>
              <a:spcBef>
                <a:spcPts val="0"/>
              </a:spcBef>
              <a:spcAft>
                <a:spcPts val="0"/>
              </a:spcAft>
              <a:buSzPts val="1500"/>
              <a:buAutoNum type="arabicPeriod"/>
            </a:pPr>
            <a:r>
              <a:rPr lang="en" sz="1500"/>
              <a:t>Remove overhangs to get blunt ends</a:t>
            </a:r>
            <a:endParaRPr sz="1500"/>
          </a:p>
          <a:p>
            <a:pPr marL="457200" marR="0" lvl="0" indent="-323850" algn="l" rtl="0">
              <a:lnSpc>
                <a:spcPct val="150000"/>
              </a:lnSpc>
              <a:spcBef>
                <a:spcPts val="0"/>
              </a:spcBef>
              <a:spcAft>
                <a:spcPts val="0"/>
              </a:spcAft>
              <a:buSzPts val="1500"/>
              <a:buAutoNum type="arabicPeriod"/>
            </a:pPr>
            <a:r>
              <a:rPr lang="en" sz="1500"/>
              <a:t>Prep fragment to clone on adapters</a:t>
            </a:r>
            <a:endParaRPr sz="1500"/>
          </a:p>
          <a:p>
            <a:pPr marL="914400" marR="0" lvl="1" indent="-311150" algn="l" rtl="0">
              <a:lnSpc>
                <a:spcPct val="150000"/>
              </a:lnSpc>
              <a:spcBef>
                <a:spcPts val="0"/>
              </a:spcBef>
              <a:spcAft>
                <a:spcPts val="0"/>
              </a:spcAft>
              <a:buSzPts val="1300"/>
              <a:buAutoNum type="alphaLcPeriod"/>
            </a:pPr>
            <a:r>
              <a:rPr lang="en" sz="1300"/>
              <a:t>Add 5’ phosphate (T4 kinase)</a:t>
            </a:r>
            <a:endParaRPr sz="1300"/>
          </a:p>
          <a:p>
            <a:pPr marL="914400" marR="0" lvl="1" indent="-311150" algn="l" rtl="0">
              <a:lnSpc>
                <a:spcPct val="150000"/>
              </a:lnSpc>
              <a:spcBef>
                <a:spcPts val="0"/>
              </a:spcBef>
              <a:spcAft>
                <a:spcPts val="0"/>
              </a:spcAft>
              <a:buSzPts val="1300"/>
              <a:buAutoNum type="alphaLcPeriod"/>
            </a:pPr>
            <a:r>
              <a:rPr lang="en" sz="1300"/>
              <a:t>Add single 3’ A overhang to clone on adapters</a:t>
            </a:r>
            <a:endParaRPr sz="1300"/>
          </a:p>
          <a:p>
            <a:pPr marL="0" marR="0" lvl="0" indent="0" algn="l" rtl="0">
              <a:lnSpc>
                <a:spcPct val="200000"/>
              </a:lnSpc>
              <a:spcBef>
                <a:spcPts val="0"/>
              </a:spcBef>
              <a:spcAft>
                <a:spcPts val="0"/>
              </a:spcAft>
              <a:buNone/>
            </a:pPr>
            <a:r>
              <a:rPr lang="en" sz="1300"/>
              <a:t>		(T4 DNA polymerase)</a:t>
            </a:r>
            <a:endParaRPr sz="1300"/>
          </a:p>
          <a:p>
            <a:pPr marL="0" marR="0" lvl="0" indent="0" algn="l" rtl="0">
              <a:lnSpc>
                <a:spcPct val="115000"/>
              </a:lnSpc>
              <a:spcBef>
                <a:spcPts val="0"/>
              </a:spcBef>
              <a:spcAft>
                <a:spcPts val="0"/>
              </a:spcAft>
              <a:buNone/>
            </a:pPr>
            <a:endParaRPr sz="1700"/>
          </a:p>
          <a:p>
            <a:pPr marL="0" marR="0" lvl="0" indent="0" algn="l" rtl="0">
              <a:lnSpc>
                <a:spcPct val="115000"/>
              </a:lnSpc>
              <a:spcBef>
                <a:spcPts val="0"/>
              </a:spcBef>
              <a:spcAft>
                <a:spcPts val="0"/>
              </a:spcAft>
              <a:buNone/>
            </a:pPr>
            <a:endParaRPr sz="1700"/>
          </a:p>
          <a:p>
            <a:pPr marL="0" marR="0" lvl="0" indent="0" algn="l" rtl="0">
              <a:lnSpc>
                <a:spcPct val="115000"/>
              </a:lnSpc>
              <a:spcBef>
                <a:spcPts val="0"/>
              </a:spcBef>
              <a:spcAft>
                <a:spcPts val="0"/>
              </a:spcAft>
              <a:buNone/>
            </a:pPr>
            <a:endParaRPr sz="1700"/>
          </a:p>
          <a:p>
            <a:pPr marL="19050" lvl="1" indent="0" algn="l" rtl="0">
              <a:lnSpc>
                <a:spcPct val="150000"/>
              </a:lnSpc>
              <a:spcBef>
                <a:spcPts val="0"/>
              </a:spcBef>
              <a:spcAft>
                <a:spcPts val="0"/>
              </a:spcAft>
              <a:buClr>
                <a:schemeClr val="dk1"/>
              </a:buClr>
              <a:buFont typeface="Arial"/>
              <a:buNone/>
            </a:pPr>
            <a:r>
              <a:rPr lang="en" sz="1300">
                <a:solidFill>
                  <a:schemeClr val="dk1"/>
                </a:solidFill>
                <a:latin typeface="Calibri"/>
                <a:ea typeface="Calibri"/>
                <a:cs typeface="Calibri"/>
                <a:sym typeface="Calibri"/>
              </a:rPr>
              <a:t>Note: After end-repair, move on to adapter ligation step ASAP </a:t>
            </a:r>
            <a:endParaRPr sz="1300">
              <a:solidFill>
                <a:schemeClr val="dk1"/>
              </a:solidFill>
              <a:latin typeface="Calibri"/>
              <a:ea typeface="Calibri"/>
              <a:cs typeface="Calibri"/>
              <a:sym typeface="Calibri"/>
            </a:endParaRPr>
          </a:p>
          <a:p>
            <a:pPr marL="19050" lvl="1" indent="408612" algn="l" rtl="0">
              <a:lnSpc>
                <a:spcPct val="150000"/>
              </a:lnSpc>
              <a:spcBef>
                <a:spcPts val="0"/>
              </a:spcBef>
              <a:spcAft>
                <a:spcPts val="0"/>
              </a:spcAft>
              <a:buClr>
                <a:schemeClr val="dk1"/>
              </a:buClr>
              <a:buFont typeface="Arial"/>
              <a:buNone/>
            </a:pPr>
            <a:r>
              <a:rPr lang="en" sz="1300">
                <a:solidFill>
                  <a:schemeClr val="dk1"/>
                </a:solidFill>
                <a:latin typeface="Calibri"/>
                <a:ea typeface="Calibri"/>
                <a:cs typeface="Calibri"/>
                <a:sym typeface="Calibri"/>
              </a:rPr>
              <a:t>(5’ phosphate is fragile)</a:t>
            </a:r>
            <a:endParaRPr sz="1300"/>
          </a:p>
        </p:txBody>
      </p:sp>
      <p:pic>
        <p:nvPicPr>
          <p:cNvPr id="202" name="Google Shape;202;p25"/>
          <p:cNvPicPr preferRelativeResize="0"/>
          <p:nvPr/>
        </p:nvPicPr>
        <p:blipFill>
          <a:blip r:embed="rId4">
            <a:alphaModFix/>
          </a:blip>
          <a:stretch>
            <a:fillRect/>
          </a:stretch>
        </p:blipFill>
        <p:spPr>
          <a:xfrm>
            <a:off x="4763575" y="1282625"/>
            <a:ext cx="4228025" cy="2319423"/>
          </a:xfrm>
          <a:prstGeom prst="rect">
            <a:avLst/>
          </a:prstGeom>
          <a:noFill/>
          <a:ln>
            <a:noFill/>
          </a:ln>
        </p:spPr>
      </p:pic>
      <p:sp>
        <p:nvSpPr>
          <p:cNvPr id="2" name="Footer Placeholder 3">
            <a:extLst>
              <a:ext uri="{FF2B5EF4-FFF2-40B4-BE49-F238E27FC236}">
                <a16:creationId xmlns:a16="http://schemas.microsoft.com/office/drawing/2014/main" id="{4272D30C-CCBD-9ED2-6E39-C278C188BF33}"/>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6"/>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5</a:t>
            </a:r>
            <a:r>
              <a:rPr lang="en" sz="1700" b="1">
                <a:solidFill>
                  <a:srgbClr val="000000"/>
                </a:solidFill>
              </a:rPr>
              <a:t>. </a:t>
            </a:r>
            <a:r>
              <a:rPr lang="en" sz="1700" b="1"/>
              <a:t>Adapter ligation</a:t>
            </a:r>
            <a:endParaRPr sz="1700"/>
          </a:p>
          <a:p>
            <a:pPr marL="457200" marR="0" lvl="0" indent="-323850" algn="l" rtl="0">
              <a:lnSpc>
                <a:spcPct val="200000"/>
              </a:lnSpc>
              <a:spcBef>
                <a:spcPts val="0"/>
              </a:spcBef>
              <a:spcAft>
                <a:spcPts val="0"/>
              </a:spcAft>
              <a:buSzPts val="1500"/>
              <a:buAutoNum type="arabicPeriod"/>
            </a:pPr>
            <a:r>
              <a:rPr lang="en" sz="1500"/>
              <a:t>Adapters are added to allow sequencing</a:t>
            </a:r>
            <a:endParaRPr sz="15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2600"/>
          </a:p>
          <a:p>
            <a:pPr marL="457200" marR="0" lvl="0" indent="-323850" algn="l" rtl="0">
              <a:lnSpc>
                <a:spcPct val="150000"/>
              </a:lnSpc>
              <a:spcBef>
                <a:spcPts val="0"/>
              </a:spcBef>
              <a:spcAft>
                <a:spcPts val="0"/>
              </a:spcAft>
              <a:buSzPts val="1500"/>
              <a:buAutoNum type="arabicPeriod"/>
            </a:pPr>
            <a:r>
              <a:rPr lang="en" sz="1500"/>
              <a:t>Remove adapter dimers by SPRI bead clean-up (0.9x)</a:t>
            </a:r>
            <a:endParaRPr sz="1500"/>
          </a:p>
          <a:p>
            <a:pPr marL="19050" lvl="1" indent="438150" algn="l" rtl="0">
              <a:lnSpc>
                <a:spcPct val="150000"/>
              </a:lnSpc>
              <a:spcBef>
                <a:spcPts val="0"/>
              </a:spcBef>
              <a:spcAft>
                <a:spcPts val="0"/>
              </a:spcAft>
              <a:buClr>
                <a:schemeClr val="dk1"/>
              </a:buClr>
              <a:buFont typeface="Arial"/>
              <a:buNone/>
            </a:pPr>
            <a:r>
              <a:rPr lang="en" sz="1300">
                <a:solidFill>
                  <a:schemeClr val="dk1"/>
                </a:solidFill>
              </a:rPr>
              <a:t>Adapter dimers are our enemy #1 after this step (short fragments get preferentially sequenced)</a:t>
            </a:r>
            <a:endParaRPr sz="1300"/>
          </a:p>
        </p:txBody>
      </p:sp>
      <p:pic>
        <p:nvPicPr>
          <p:cNvPr id="208" name="Google Shape;208;p26"/>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09" name="Google Shape;209;p26"/>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pic>
        <p:nvPicPr>
          <p:cNvPr id="210" name="Google Shape;210;p26"/>
          <p:cNvPicPr preferRelativeResize="0"/>
          <p:nvPr/>
        </p:nvPicPr>
        <p:blipFill>
          <a:blip r:embed="rId4">
            <a:alphaModFix/>
          </a:blip>
          <a:stretch>
            <a:fillRect/>
          </a:stretch>
        </p:blipFill>
        <p:spPr>
          <a:xfrm>
            <a:off x="4119925" y="1933989"/>
            <a:ext cx="4539150" cy="1275523"/>
          </a:xfrm>
          <a:prstGeom prst="rect">
            <a:avLst/>
          </a:prstGeom>
          <a:noFill/>
          <a:ln>
            <a:noFill/>
          </a:ln>
        </p:spPr>
      </p:pic>
      <p:pic>
        <p:nvPicPr>
          <p:cNvPr id="211" name="Google Shape;211;p26"/>
          <p:cNvPicPr preferRelativeResize="0"/>
          <p:nvPr/>
        </p:nvPicPr>
        <p:blipFill>
          <a:blip r:embed="rId5">
            <a:alphaModFix/>
          </a:blip>
          <a:stretch>
            <a:fillRect/>
          </a:stretch>
        </p:blipFill>
        <p:spPr>
          <a:xfrm>
            <a:off x="542966" y="4423725"/>
            <a:ext cx="1085508" cy="405000"/>
          </a:xfrm>
          <a:prstGeom prst="rect">
            <a:avLst/>
          </a:prstGeom>
          <a:noFill/>
          <a:ln>
            <a:noFill/>
          </a:ln>
        </p:spPr>
      </p:pic>
      <p:sp>
        <p:nvSpPr>
          <p:cNvPr id="2" name="Footer Placeholder 3">
            <a:extLst>
              <a:ext uri="{FF2B5EF4-FFF2-40B4-BE49-F238E27FC236}">
                <a16:creationId xmlns:a16="http://schemas.microsoft.com/office/drawing/2014/main" id="{7B826906-0138-6425-F62A-5FC982FD226E}"/>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p:nvPr/>
        </p:nvSpPr>
        <p:spPr>
          <a:xfrm>
            <a:off x="113075" y="3533250"/>
            <a:ext cx="4141800" cy="1769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700" b="1">
                <a:solidFill>
                  <a:srgbClr val="000000"/>
                </a:solidFill>
              </a:rPr>
              <a:t>STEP </a:t>
            </a:r>
            <a:r>
              <a:rPr lang="en" sz="1700" b="1"/>
              <a:t>6</a:t>
            </a:r>
            <a:r>
              <a:rPr lang="en" sz="1700" b="1">
                <a:solidFill>
                  <a:srgbClr val="000000"/>
                </a:solidFill>
              </a:rPr>
              <a:t>. </a:t>
            </a:r>
            <a:endParaRPr sz="1700" b="1">
              <a:solidFill>
                <a:srgbClr val="000000"/>
              </a:solidFill>
            </a:endParaRPr>
          </a:p>
          <a:p>
            <a:pPr marL="0" marR="0" lvl="0" indent="0" algn="l" rtl="0">
              <a:lnSpc>
                <a:spcPct val="115000"/>
              </a:lnSpc>
              <a:spcBef>
                <a:spcPts val="0"/>
              </a:spcBef>
              <a:spcAft>
                <a:spcPts val="0"/>
              </a:spcAft>
              <a:buNone/>
            </a:pPr>
            <a:r>
              <a:rPr lang="en" sz="1700" b="1"/>
              <a:t>USER digestion &amp; barcoding PCR</a:t>
            </a:r>
            <a:endParaRPr sz="1700" b="1"/>
          </a:p>
          <a:p>
            <a:pPr marL="457200" marR="0" lvl="0" indent="-323850" algn="l" rtl="0">
              <a:lnSpc>
                <a:spcPct val="115000"/>
              </a:lnSpc>
              <a:spcBef>
                <a:spcPts val="0"/>
              </a:spcBef>
              <a:spcAft>
                <a:spcPts val="0"/>
              </a:spcAft>
              <a:buSzPts val="1500"/>
              <a:buAutoNum type="arabicPeriod"/>
            </a:pPr>
            <a:r>
              <a:rPr lang="en" sz="1500"/>
              <a:t>USER enzyme opens up adapters</a:t>
            </a:r>
            <a:endParaRPr sz="1500"/>
          </a:p>
          <a:p>
            <a:pPr marL="457200" marR="0" lvl="0" indent="-323850" algn="l" rtl="0">
              <a:lnSpc>
                <a:spcPct val="115000"/>
              </a:lnSpc>
              <a:spcBef>
                <a:spcPts val="0"/>
              </a:spcBef>
              <a:spcAft>
                <a:spcPts val="0"/>
              </a:spcAft>
              <a:buSzPts val="1500"/>
              <a:buAutoNum type="arabicPeriod"/>
            </a:pPr>
            <a:r>
              <a:rPr lang="en" sz="1500"/>
              <a:t>i5 and i7 oligos are added by PCR</a:t>
            </a:r>
            <a:endParaRPr sz="1300"/>
          </a:p>
          <a:p>
            <a:pPr marL="457200" marR="0" lvl="0" indent="-323850" algn="l" rtl="0">
              <a:lnSpc>
                <a:spcPct val="100000"/>
              </a:lnSpc>
              <a:spcBef>
                <a:spcPts val="0"/>
              </a:spcBef>
              <a:spcAft>
                <a:spcPts val="0"/>
              </a:spcAft>
              <a:buSzPts val="1500"/>
              <a:buAutoNum type="arabicPeriod"/>
            </a:pPr>
            <a:r>
              <a:rPr lang="en" sz="1500"/>
              <a:t>SPRI bead clean-up (0.8x) </a:t>
            </a:r>
            <a:endParaRPr sz="1500"/>
          </a:p>
        </p:txBody>
      </p:sp>
      <p:pic>
        <p:nvPicPr>
          <p:cNvPr id="217" name="Google Shape;217;p27"/>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18" name="Google Shape;218;p27"/>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19" name="Google Shape;219;p27"/>
          <p:cNvSpPr txBox="1"/>
          <p:nvPr/>
        </p:nvSpPr>
        <p:spPr>
          <a:xfrm>
            <a:off x="7879850" y="4829550"/>
            <a:ext cx="479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pic>
        <p:nvPicPr>
          <p:cNvPr id="220" name="Google Shape;220;p27"/>
          <p:cNvPicPr preferRelativeResize="0"/>
          <p:nvPr/>
        </p:nvPicPr>
        <p:blipFill>
          <a:blip r:embed="rId4">
            <a:alphaModFix/>
          </a:blip>
          <a:stretch>
            <a:fillRect/>
          </a:stretch>
        </p:blipFill>
        <p:spPr>
          <a:xfrm>
            <a:off x="1906949" y="412775"/>
            <a:ext cx="7105781" cy="4627476"/>
          </a:xfrm>
          <a:prstGeom prst="rect">
            <a:avLst/>
          </a:prstGeom>
          <a:noFill/>
          <a:ln>
            <a:noFill/>
          </a:ln>
        </p:spPr>
      </p:pic>
      <p:sp>
        <p:nvSpPr>
          <p:cNvPr id="221" name="Google Shape;221;p27"/>
          <p:cNvSpPr/>
          <p:nvPr/>
        </p:nvSpPr>
        <p:spPr>
          <a:xfrm>
            <a:off x="6993400" y="4721600"/>
            <a:ext cx="2050200" cy="267300"/>
          </a:xfrm>
          <a:prstGeom prst="roundRect">
            <a:avLst>
              <a:gd name="adj" fmla="val 16667"/>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7"/>
          <p:cNvSpPr/>
          <p:nvPr/>
        </p:nvSpPr>
        <p:spPr>
          <a:xfrm>
            <a:off x="6993400" y="2438100"/>
            <a:ext cx="2050200" cy="267300"/>
          </a:xfrm>
          <a:prstGeom prst="roundRect">
            <a:avLst>
              <a:gd name="adj" fmla="val 16667"/>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10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28"/>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28" name="Google Shape;228;p28"/>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30" name="Google Shape;230;p28"/>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Final library for one sample</a:t>
            </a:r>
            <a:endParaRPr sz="17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2600"/>
          </a:p>
          <a:p>
            <a:pPr marL="19050" lvl="1" indent="438150" algn="l" rtl="0">
              <a:lnSpc>
                <a:spcPct val="150000"/>
              </a:lnSpc>
              <a:spcBef>
                <a:spcPts val="0"/>
              </a:spcBef>
              <a:spcAft>
                <a:spcPts val="0"/>
              </a:spcAft>
              <a:buClr>
                <a:schemeClr val="dk1"/>
              </a:buClr>
              <a:buFont typeface="Arial"/>
              <a:buNone/>
            </a:pPr>
            <a:endParaRPr sz="1300"/>
          </a:p>
        </p:txBody>
      </p:sp>
      <p:pic>
        <p:nvPicPr>
          <p:cNvPr id="231" name="Google Shape;231;p28"/>
          <p:cNvPicPr preferRelativeResize="0"/>
          <p:nvPr/>
        </p:nvPicPr>
        <p:blipFill>
          <a:blip r:embed="rId4">
            <a:alphaModFix/>
          </a:blip>
          <a:stretch>
            <a:fillRect/>
          </a:stretch>
        </p:blipFill>
        <p:spPr>
          <a:xfrm>
            <a:off x="1246900" y="1390300"/>
            <a:ext cx="6150074" cy="3443625"/>
          </a:xfrm>
          <a:prstGeom prst="rect">
            <a:avLst/>
          </a:prstGeom>
          <a:noFill/>
          <a:ln>
            <a:noFill/>
          </a:ln>
        </p:spPr>
      </p:pic>
      <p:sp>
        <p:nvSpPr>
          <p:cNvPr id="2" name="Footer Placeholder 3">
            <a:extLst>
              <a:ext uri="{FF2B5EF4-FFF2-40B4-BE49-F238E27FC236}">
                <a16:creationId xmlns:a16="http://schemas.microsoft.com/office/drawing/2014/main" id="{7CCCB687-86C0-1980-1ABD-BCC4BA408AFC}"/>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9"/>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37" name="Google Shape;237;p29"/>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39" name="Google Shape;239;p29"/>
          <p:cNvSpPr txBox="1"/>
          <p:nvPr/>
        </p:nvSpPr>
        <p:spPr>
          <a:xfrm>
            <a:off x="1092300" y="1772500"/>
            <a:ext cx="6959400" cy="730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900" b="1">
                <a:solidFill>
                  <a:srgbClr val="999999"/>
                </a:solidFill>
              </a:rPr>
              <a:t>How to prepare</a:t>
            </a:r>
            <a:endParaRPr sz="3900" b="1">
              <a:solidFill>
                <a:srgbClr val="999999"/>
              </a:solidFill>
            </a:endParaRPr>
          </a:p>
          <a:p>
            <a:pPr marL="0" lvl="0" indent="0" algn="ctr" rtl="0">
              <a:spcBef>
                <a:spcPts val="0"/>
              </a:spcBef>
              <a:spcAft>
                <a:spcPts val="0"/>
              </a:spcAft>
              <a:buNone/>
            </a:pPr>
            <a:r>
              <a:rPr lang="en" sz="3900" b="1">
                <a:solidFill>
                  <a:srgbClr val="999999"/>
                </a:solidFill>
              </a:rPr>
              <a:t> a library in the lab?</a:t>
            </a:r>
            <a:endParaRPr sz="3900" b="1">
              <a:solidFill>
                <a:srgbClr val="999999"/>
              </a:solidFill>
            </a:endParaRPr>
          </a:p>
        </p:txBody>
      </p:sp>
      <p:sp>
        <p:nvSpPr>
          <p:cNvPr id="2" name="Footer Placeholder 3">
            <a:extLst>
              <a:ext uri="{FF2B5EF4-FFF2-40B4-BE49-F238E27FC236}">
                <a16:creationId xmlns:a16="http://schemas.microsoft.com/office/drawing/2014/main" id="{4D2D98DF-9260-54C9-DA57-6F8B3C0A6838}"/>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76200" y="76200"/>
            <a:ext cx="3391808" cy="4991101"/>
          </a:xfrm>
          <a:prstGeom prst="rect">
            <a:avLst/>
          </a:prstGeom>
          <a:noFill/>
          <a:ln>
            <a:noFill/>
          </a:ln>
        </p:spPr>
      </p:pic>
      <p:sp>
        <p:nvSpPr>
          <p:cNvPr id="245" name="Google Shape;245;p30"/>
          <p:cNvSpPr txBox="1"/>
          <p:nvPr/>
        </p:nvSpPr>
        <p:spPr>
          <a:xfrm>
            <a:off x="3268650" y="1280175"/>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a:t>
            </a:r>
            <a:endParaRPr sz="1300"/>
          </a:p>
          <a:p>
            <a:pPr marL="0" lvl="0" indent="0" algn="l" rtl="0">
              <a:spcBef>
                <a:spcPts val="0"/>
              </a:spcBef>
              <a:spcAft>
                <a:spcPts val="0"/>
              </a:spcAft>
              <a:buNone/>
            </a:pPr>
            <a:r>
              <a:rPr lang="en" sz="1300"/>
              <a:t>fragm. by Mg</a:t>
            </a:r>
            <a:r>
              <a:rPr lang="en" sz="1300" baseline="30000"/>
              <a:t>2+</a:t>
            </a:r>
            <a:r>
              <a:rPr lang="en" sz="1300"/>
              <a:t> &amp; heat</a:t>
            </a:r>
            <a:endParaRPr sz="1300"/>
          </a:p>
        </p:txBody>
      </p:sp>
      <p:sp>
        <p:nvSpPr>
          <p:cNvPr id="246" name="Google Shape;246;p30"/>
          <p:cNvSpPr txBox="1"/>
          <p:nvPr/>
        </p:nvSpPr>
        <p:spPr>
          <a:xfrm>
            <a:off x="3268650" y="1969975"/>
            <a:ext cx="17016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for 1</a:t>
            </a:r>
            <a:r>
              <a:rPr lang="en" sz="1300" baseline="30000"/>
              <a:t>st</a:t>
            </a:r>
            <a:r>
              <a:rPr lang="en" sz="1300"/>
              <a:t> str. synt.</a:t>
            </a:r>
            <a:endParaRPr sz="1300"/>
          </a:p>
          <a:p>
            <a:pPr marL="0" lvl="0" indent="0" algn="l" rtl="0">
              <a:spcBef>
                <a:spcPts val="0"/>
              </a:spcBef>
              <a:spcAft>
                <a:spcPts val="0"/>
              </a:spcAft>
              <a:buNone/>
            </a:pPr>
            <a:r>
              <a:rPr lang="en" sz="1300"/>
              <a:t>1 rxn for 2</a:t>
            </a:r>
            <a:r>
              <a:rPr lang="en" sz="1300" baseline="30000"/>
              <a:t>nd</a:t>
            </a:r>
            <a:r>
              <a:rPr lang="en" sz="1300"/>
              <a:t> str. synt.</a:t>
            </a:r>
            <a:endParaRPr sz="1300"/>
          </a:p>
        </p:txBody>
      </p:sp>
      <p:sp>
        <p:nvSpPr>
          <p:cNvPr id="247" name="Google Shape;247;p30"/>
          <p:cNvSpPr txBox="1"/>
          <p:nvPr/>
        </p:nvSpPr>
        <p:spPr>
          <a:xfrm>
            <a:off x="3268650" y="2730050"/>
            <a:ext cx="680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248" name="Google Shape;248;p30"/>
          <p:cNvSpPr txBox="1"/>
          <p:nvPr/>
        </p:nvSpPr>
        <p:spPr>
          <a:xfrm>
            <a:off x="3268650" y="3389750"/>
            <a:ext cx="14271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U shaped adapters </a:t>
            </a:r>
            <a:endParaRPr sz="1300"/>
          </a:p>
        </p:txBody>
      </p:sp>
      <p:sp>
        <p:nvSpPr>
          <p:cNvPr id="249" name="Google Shape;249;p30"/>
          <p:cNvSpPr txBox="1"/>
          <p:nvPr/>
        </p:nvSpPr>
        <p:spPr>
          <a:xfrm>
            <a:off x="326865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cxnSp>
        <p:nvCxnSpPr>
          <p:cNvPr id="250" name="Google Shape;250;p30"/>
          <p:cNvCxnSpPr/>
          <p:nvPr/>
        </p:nvCxnSpPr>
        <p:spPr>
          <a:xfrm>
            <a:off x="3256100" y="1196775"/>
            <a:ext cx="0" cy="640200"/>
          </a:xfrm>
          <a:prstGeom prst="straightConnector1">
            <a:avLst/>
          </a:prstGeom>
          <a:noFill/>
          <a:ln w="9525" cap="flat" cmpd="sng">
            <a:solidFill>
              <a:schemeClr val="dk2"/>
            </a:solidFill>
            <a:prstDash val="solid"/>
            <a:round/>
            <a:headEnd type="none" w="med" len="med"/>
            <a:tailEnd type="none" w="med" len="med"/>
          </a:ln>
        </p:spPr>
      </p:cxnSp>
      <p:sp>
        <p:nvSpPr>
          <p:cNvPr id="251" name="Google Shape;251;p30"/>
          <p:cNvSpPr txBox="1"/>
          <p:nvPr/>
        </p:nvSpPr>
        <p:spPr>
          <a:xfrm>
            <a:off x="2989325"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NEBNext </a:t>
            </a:r>
            <a:endParaRPr b="1"/>
          </a:p>
          <a:p>
            <a:pPr marL="0" lvl="0" indent="0" algn="ctr" rtl="0">
              <a:spcBef>
                <a:spcPts val="0"/>
              </a:spcBef>
              <a:spcAft>
                <a:spcPts val="0"/>
              </a:spcAft>
              <a:buNone/>
            </a:pPr>
            <a:r>
              <a:rPr lang="en" b="1"/>
              <a:t>Ultra II RNA</a:t>
            </a:r>
            <a:endParaRPr b="1"/>
          </a:p>
        </p:txBody>
      </p:sp>
      <p:sp>
        <p:nvSpPr>
          <p:cNvPr id="252" name="Google Shape;252;p30"/>
          <p:cNvSpPr txBox="1"/>
          <p:nvPr/>
        </p:nvSpPr>
        <p:spPr>
          <a:xfrm>
            <a:off x="707500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Nextera</a:t>
            </a:r>
            <a:endParaRPr b="1"/>
          </a:p>
        </p:txBody>
      </p:sp>
      <p:sp>
        <p:nvSpPr>
          <p:cNvPr id="253" name="Google Shape;253;p30"/>
          <p:cNvSpPr txBox="1"/>
          <p:nvPr/>
        </p:nvSpPr>
        <p:spPr>
          <a:xfrm>
            <a:off x="504055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TruSeq</a:t>
            </a:r>
            <a:endParaRPr b="1"/>
          </a:p>
        </p:txBody>
      </p:sp>
      <p:grpSp>
        <p:nvGrpSpPr>
          <p:cNvPr id="254" name="Google Shape;254;p30"/>
          <p:cNvGrpSpPr/>
          <p:nvPr/>
        </p:nvGrpSpPr>
        <p:grpSpPr>
          <a:xfrm>
            <a:off x="5275050" y="1280175"/>
            <a:ext cx="1848300" cy="3481400"/>
            <a:chOff x="5351250" y="1280175"/>
            <a:chExt cx="1848300" cy="3481400"/>
          </a:xfrm>
        </p:grpSpPr>
        <p:sp>
          <p:nvSpPr>
            <p:cNvPr id="255" name="Google Shape;255;p30"/>
            <p:cNvSpPr txBox="1"/>
            <p:nvPr/>
          </p:nvSpPr>
          <p:spPr>
            <a:xfrm>
              <a:off x="5351250" y="1280175"/>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a:t>
              </a:r>
              <a:endParaRPr sz="1300"/>
            </a:p>
            <a:p>
              <a:pPr marL="0" lvl="0" indent="0" algn="l" rtl="0">
                <a:spcBef>
                  <a:spcPts val="0"/>
                </a:spcBef>
                <a:spcAft>
                  <a:spcPts val="0"/>
                </a:spcAft>
                <a:buNone/>
              </a:pPr>
              <a:r>
                <a:rPr lang="en" sz="1300"/>
                <a:t>fragm. by Mg</a:t>
              </a:r>
              <a:r>
                <a:rPr lang="en" sz="1300" baseline="30000"/>
                <a:t>2+</a:t>
              </a:r>
              <a:r>
                <a:rPr lang="en" sz="1300"/>
                <a:t> &amp; heat</a:t>
              </a:r>
              <a:endParaRPr sz="1300"/>
            </a:p>
          </p:txBody>
        </p:sp>
        <p:sp>
          <p:nvSpPr>
            <p:cNvPr id="256" name="Google Shape;256;p30"/>
            <p:cNvSpPr txBox="1"/>
            <p:nvPr/>
          </p:nvSpPr>
          <p:spPr>
            <a:xfrm>
              <a:off x="5351250" y="1969975"/>
              <a:ext cx="17016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for 1</a:t>
              </a:r>
              <a:r>
                <a:rPr lang="en" sz="1300" baseline="30000"/>
                <a:t>st</a:t>
              </a:r>
              <a:r>
                <a:rPr lang="en" sz="1300"/>
                <a:t> str. synt.</a:t>
              </a:r>
              <a:endParaRPr sz="1300"/>
            </a:p>
            <a:p>
              <a:pPr marL="0" lvl="0" indent="0" algn="l" rtl="0">
                <a:spcBef>
                  <a:spcPts val="0"/>
                </a:spcBef>
                <a:spcAft>
                  <a:spcPts val="0"/>
                </a:spcAft>
                <a:buNone/>
              </a:pPr>
              <a:r>
                <a:rPr lang="en" sz="1300"/>
                <a:t>1 rxn for 2</a:t>
              </a:r>
              <a:r>
                <a:rPr lang="en" sz="1300" baseline="30000"/>
                <a:t>nd</a:t>
              </a:r>
              <a:r>
                <a:rPr lang="en" sz="1300"/>
                <a:t> str. synt.</a:t>
              </a:r>
              <a:endParaRPr sz="1300"/>
            </a:p>
          </p:txBody>
        </p:sp>
        <p:sp>
          <p:nvSpPr>
            <p:cNvPr id="257" name="Google Shape;257;p30"/>
            <p:cNvSpPr txBox="1"/>
            <p:nvPr/>
          </p:nvSpPr>
          <p:spPr>
            <a:xfrm>
              <a:off x="5351250" y="2730050"/>
              <a:ext cx="680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258" name="Google Shape;258;p30"/>
            <p:cNvSpPr txBox="1"/>
            <p:nvPr/>
          </p:nvSpPr>
          <p:spPr>
            <a:xfrm>
              <a:off x="5351250" y="3389750"/>
              <a:ext cx="14271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Y shaped adapters </a:t>
              </a:r>
              <a:endParaRPr sz="1300"/>
            </a:p>
          </p:txBody>
        </p:sp>
        <p:sp>
          <p:nvSpPr>
            <p:cNvPr id="259" name="Google Shape;259;p30"/>
            <p:cNvSpPr txBox="1"/>
            <p:nvPr/>
          </p:nvSpPr>
          <p:spPr>
            <a:xfrm>
              <a:off x="535125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grpSp>
      <p:cxnSp>
        <p:nvCxnSpPr>
          <p:cNvPr id="260" name="Google Shape;260;p30"/>
          <p:cNvCxnSpPr/>
          <p:nvPr/>
        </p:nvCxnSpPr>
        <p:spPr>
          <a:xfrm>
            <a:off x="5237300" y="1196775"/>
            <a:ext cx="0" cy="640200"/>
          </a:xfrm>
          <a:prstGeom prst="straightConnector1">
            <a:avLst/>
          </a:prstGeom>
          <a:noFill/>
          <a:ln w="9525" cap="flat" cmpd="sng">
            <a:solidFill>
              <a:schemeClr val="dk2"/>
            </a:solidFill>
            <a:prstDash val="solid"/>
            <a:round/>
            <a:headEnd type="none" w="med" len="med"/>
            <a:tailEnd type="none" w="med" len="med"/>
          </a:ln>
        </p:spPr>
      </p:cxnSp>
      <p:sp>
        <p:nvSpPr>
          <p:cNvPr id="261" name="Google Shape;261;p30"/>
          <p:cNvSpPr txBox="1"/>
          <p:nvPr/>
        </p:nvSpPr>
        <p:spPr>
          <a:xfrm>
            <a:off x="7428150" y="2276742"/>
            <a:ext cx="1643400" cy="11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1 rxn, </a:t>
            </a:r>
            <a:endParaRPr sz="1300">
              <a:solidFill>
                <a:schemeClr val="dk1"/>
              </a:solidFill>
            </a:endParaRPr>
          </a:p>
          <a:p>
            <a:pPr marL="0" lvl="0" indent="0" algn="l" rtl="0">
              <a:spcBef>
                <a:spcPts val="0"/>
              </a:spcBef>
              <a:spcAft>
                <a:spcPts val="0"/>
              </a:spcAft>
              <a:buNone/>
            </a:pPr>
            <a:r>
              <a:rPr lang="en" sz="1300">
                <a:solidFill>
                  <a:schemeClr val="dk1"/>
                </a:solidFill>
              </a:rPr>
              <a:t>Transposome frag. and ligation of adapters</a:t>
            </a:r>
            <a:endParaRPr sz="1300">
              <a:solidFill>
                <a:schemeClr val="dk1"/>
              </a:solidFill>
            </a:endParaRPr>
          </a:p>
        </p:txBody>
      </p:sp>
      <p:cxnSp>
        <p:nvCxnSpPr>
          <p:cNvPr id="262" name="Google Shape;262;p30"/>
          <p:cNvCxnSpPr/>
          <p:nvPr/>
        </p:nvCxnSpPr>
        <p:spPr>
          <a:xfrm>
            <a:off x="7326350" y="2308300"/>
            <a:ext cx="0" cy="1806600"/>
          </a:xfrm>
          <a:prstGeom prst="straightConnector1">
            <a:avLst/>
          </a:prstGeom>
          <a:noFill/>
          <a:ln w="9525" cap="flat" cmpd="sng">
            <a:solidFill>
              <a:schemeClr val="dk2"/>
            </a:solidFill>
            <a:prstDash val="solid"/>
            <a:round/>
            <a:headEnd type="none" w="med" len="med"/>
            <a:tailEnd type="none" w="med" len="med"/>
          </a:ln>
        </p:spPr>
      </p:cxnSp>
      <p:sp>
        <p:nvSpPr>
          <p:cNvPr id="263" name="Google Shape;263;p30"/>
          <p:cNvSpPr txBox="1"/>
          <p:nvPr/>
        </p:nvSpPr>
        <p:spPr>
          <a:xfrm>
            <a:off x="748085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264" name="Google Shape;264;p30"/>
          <p:cNvSpPr txBox="1"/>
          <p:nvPr/>
        </p:nvSpPr>
        <p:spPr>
          <a:xfrm>
            <a:off x="7492450" y="1454675"/>
            <a:ext cx="1427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cDNA made separately </a:t>
            </a:r>
            <a:endParaRPr sz="1300"/>
          </a:p>
        </p:txBody>
      </p:sp>
      <p:sp>
        <p:nvSpPr>
          <p:cNvPr id="265" name="Google Shape;265;p30"/>
          <p:cNvSpPr txBox="1"/>
          <p:nvPr/>
        </p:nvSpPr>
        <p:spPr>
          <a:xfrm>
            <a:off x="3955825" y="0"/>
            <a:ext cx="4337700" cy="50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a:t>RNA library kit options</a:t>
            </a:r>
            <a:endParaRPr sz="2800"/>
          </a:p>
        </p:txBody>
      </p:sp>
      <p:sp>
        <p:nvSpPr>
          <p:cNvPr id="266" name="Google Shape;266;p30"/>
          <p:cNvSpPr/>
          <p:nvPr/>
        </p:nvSpPr>
        <p:spPr>
          <a:xfrm>
            <a:off x="3165925" y="698500"/>
            <a:ext cx="1996500" cy="40632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Footer Placeholder 3">
            <a:extLst>
              <a:ext uri="{FF2B5EF4-FFF2-40B4-BE49-F238E27FC236}">
                <a16:creationId xmlns:a16="http://schemas.microsoft.com/office/drawing/2014/main" id="{69FB1158-C86C-B026-65F4-0CA99F9CDE04}"/>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Effect transition="in" filter="fade">
                                      <p:cBhvr>
                                        <p:cTn id="7" dur="10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1"/>
          <p:cNvSpPr txBox="1"/>
          <p:nvPr/>
        </p:nvSpPr>
        <p:spPr>
          <a:xfrm>
            <a:off x="4975" y="906100"/>
            <a:ext cx="8783700" cy="1303500"/>
          </a:xfrm>
          <a:prstGeom prst="rect">
            <a:avLst/>
          </a:prstGeom>
          <a:noFill/>
          <a:ln>
            <a:noFill/>
          </a:ln>
        </p:spPr>
        <p:txBody>
          <a:bodyPr spcFirstLastPara="1" wrap="square" lIns="91425" tIns="45700" rIns="91425" bIns="45700" anchor="t" anchorCtr="0">
            <a:noAutofit/>
          </a:bodyPr>
          <a:lstStyle/>
          <a:p>
            <a:pPr marL="457200" marR="0" lvl="0" indent="-336550" algn="l" rtl="0">
              <a:lnSpc>
                <a:spcPct val="200000"/>
              </a:lnSpc>
              <a:spcBef>
                <a:spcPts val="0"/>
              </a:spcBef>
              <a:spcAft>
                <a:spcPts val="0"/>
              </a:spcAft>
              <a:buSzPts val="1700"/>
              <a:buAutoNum type="alphaUcPeriod"/>
            </a:pPr>
            <a:r>
              <a:rPr lang="en" sz="1700" b="1"/>
              <a:t>RNA fragmentation, priming and host rRNA removal</a:t>
            </a:r>
            <a:endParaRPr sz="1700"/>
          </a:p>
          <a:p>
            <a:pPr marL="457200" marR="0" lvl="0" indent="-311150" algn="l" rtl="0">
              <a:lnSpc>
                <a:spcPct val="200000"/>
              </a:lnSpc>
              <a:spcBef>
                <a:spcPts val="0"/>
              </a:spcBef>
              <a:spcAft>
                <a:spcPts val="0"/>
              </a:spcAft>
              <a:buSzPts val="1300"/>
              <a:buAutoNum type="arabicPeriod"/>
            </a:pPr>
            <a:r>
              <a:rPr lang="en" sz="1300"/>
              <a:t>Prepare mix</a:t>
            </a:r>
            <a:endParaRPr sz="1300"/>
          </a:p>
        </p:txBody>
      </p:sp>
      <p:graphicFrame>
        <p:nvGraphicFramePr>
          <p:cNvPr id="272" name="Google Shape;272;p31"/>
          <p:cNvGraphicFramePr/>
          <p:nvPr/>
        </p:nvGraphicFramePr>
        <p:xfrm>
          <a:off x="379675" y="2015125"/>
          <a:ext cx="3954975" cy="2126742"/>
        </p:xfrm>
        <a:graphic>
          <a:graphicData uri="http://schemas.openxmlformats.org/drawingml/2006/table">
            <a:tbl>
              <a:tblPr>
                <a:noFill/>
                <a:tableStyleId>{4C5303A6-42BC-42D0-AC04-2170BE719537}</a:tableStyleId>
              </a:tblPr>
              <a:tblGrid>
                <a:gridCol w="3149225">
                  <a:extLst>
                    <a:ext uri="{9D8B030D-6E8A-4147-A177-3AD203B41FA5}">
                      <a16:colId xmlns:a16="http://schemas.microsoft.com/office/drawing/2014/main" val="20000"/>
                    </a:ext>
                  </a:extLst>
                </a:gridCol>
                <a:gridCol w="805750">
                  <a:extLst>
                    <a:ext uri="{9D8B030D-6E8A-4147-A177-3AD203B41FA5}">
                      <a16:colId xmlns:a16="http://schemas.microsoft.com/office/drawing/2014/main" val="20001"/>
                    </a:ext>
                  </a:extLst>
                </a:gridCol>
              </a:tblGrid>
              <a:tr h="279400">
                <a:tc>
                  <a:txBody>
                    <a:bodyPr/>
                    <a:lstStyle/>
                    <a:p>
                      <a:pPr marL="63500" lvl="0" indent="0" algn="l" rtl="0">
                        <a:lnSpc>
                          <a:spcPct val="115000"/>
                        </a:lnSpc>
                        <a:spcBef>
                          <a:spcPts val="0"/>
                        </a:spcBef>
                        <a:spcAft>
                          <a:spcPts val="0"/>
                        </a:spcAft>
                        <a:buNone/>
                      </a:pPr>
                      <a:r>
                        <a:rPr lang="en" sz="1200" b="1" u="sng"/>
                        <a:t>Reagents</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u="sng"/>
                        <a:t>μl per reaction</a:t>
                      </a:r>
                      <a:endParaRPr sz="1200" b="1" u="sng"/>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400">
                <a:tc>
                  <a:txBody>
                    <a:bodyPr/>
                    <a:lstStyle/>
                    <a:p>
                      <a:pPr marL="63500" lvl="0" indent="0" algn="l" rtl="0">
                        <a:lnSpc>
                          <a:spcPct val="115000"/>
                        </a:lnSpc>
                        <a:spcBef>
                          <a:spcPts val="0"/>
                        </a:spcBef>
                        <a:spcAft>
                          <a:spcPts val="0"/>
                        </a:spcAft>
                        <a:buNone/>
                      </a:pPr>
                      <a:r>
                        <a:rPr lang="en" sz="1200"/>
                        <a:t>RNA sample (10ng – 100ng total)</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4</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400">
                <a:tc>
                  <a:txBody>
                    <a:bodyPr/>
                    <a:lstStyle/>
                    <a:p>
                      <a:pPr marL="63500" lvl="0" indent="0" algn="l" rtl="0">
                        <a:lnSpc>
                          <a:spcPct val="115000"/>
                        </a:lnSpc>
                        <a:spcBef>
                          <a:spcPts val="0"/>
                        </a:spcBef>
                        <a:spcAft>
                          <a:spcPts val="0"/>
                        </a:spcAft>
                        <a:buNone/>
                      </a:pPr>
                      <a:r>
                        <a:rPr lang="en" sz="1200"/>
                        <a:t>First Strand Synthesis Reaction Buffer (5x)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4</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400">
                <a:tc>
                  <a:txBody>
                    <a:bodyPr/>
                    <a:lstStyle/>
                    <a:p>
                      <a:pPr marL="63500" lvl="0" indent="0" algn="l" rtl="0">
                        <a:lnSpc>
                          <a:spcPct val="115000"/>
                        </a:lnSpc>
                        <a:spcBef>
                          <a:spcPts val="0"/>
                        </a:spcBef>
                        <a:spcAft>
                          <a:spcPts val="0"/>
                        </a:spcAft>
                        <a:buNone/>
                      </a:pPr>
                      <a:r>
                        <a:rPr lang="en" sz="1200"/>
                        <a:t>Random Primers</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1</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400">
                <a:tc>
                  <a:txBody>
                    <a:bodyPr/>
                    <a:lstStyle/>
                    <a:p>
                      <a:pPr marL="63500" lvl="0" indent="0" algn="l" rtl="0">
                        <a:lnSpc>
                          <a:spcPct val="115000"/>
                        </a:lnSpc>
                        <a:spcBef>
                          <a:spcPts val="0"/>
                        </a:spcBef>
                        <a:spcAft>
                          <a:spcPts val="0"/>
                        </a:spcAft>
                        <a:buNone/>
                      </a:pPr>
                      <a:r>
                        <a:rPr lang="en" sz="1200"/>
                        <a:t>*QIAseq FastSelect (1:100) rRNA</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1</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79400">
                <a:tc>
                  <a:txBody>
                    <a:bodyPr/>
                    <a:lstStyle/>
                    <a:p>
                      <a:pPr marL="63500" lvl="0" indent="0" algn="l" rtl="0">
                        <a:lnSpc>
                          <a:spcPct val="115000"/>
                        </a:lnSpc>
                        <a:spcBef>
                          <a:spcPts val="0"/>
                        </a:spcBef>
                        <a:spcAft>
                          <a:spcPts val="0"/>
                        </a:spcAft>
                        <a:buNone/>
                      </a:pPr>
                      <a:r>
                        <a:rPr lang="en" sz="1200" b="1" u="sng"/>
                        <a:t>Total volume</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a:t>10</a:t>
                      </a:r>
                      <a:endParaRPr sz="1200" b="1"/>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bl>
          </a:graphicData>
        </a:graphic>
      </p:graphicFrame>
      <p:sp>
        <p:nvSpPr>
          <p:cNvPr id="273" name="Google Shape;273;p31"/>
          <p:cNvSpPr txBox="1"/>
          <p:nvPr/>
        </p:nvSpPr>
        <p:spPr>
          <a:xfrm>
            <a:off x="5081275" y="1369400"/>
            <a:ext cx="3718500" cy="2247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2. Thermocycler:</a:t>
            </a:r>
            <a:endParaRPr sz="1300"/>
          </a:p>
          <a:p>
            <a:pPr marL="914400" lvl="0" indent="-311150" algn="l" rtl="0">
              <a:lnSpc>
                <a:spcPct val="150000"/>
              </a:lnSpc>
              <a:spcBef>
                <a:spcPts val="0"/>
              </a:spcBef>
              <a:spcAft>
                <a:spcPts val="0"/>
              </a:spcAft>
              <a:buSzPts val="1300"/>
              <a:buAutoNum type="alphaUcPeriod"/>
            </a:pPr>
            <a:r>
              <a:rPr lang="en" sz="1300"/>
              <a:t>2-8 min at 94</a:t>
            </a:r>
            <a:r>
              <a:rPr lang="en" sz="1300" baseline="30000"/>
              <a:t>o</a:t>
            </a:r>
            <a:r>
              <a:rPr lang="en" sz="1300"/>
              <a:t>C: fragmentation</a:t>
            </a:r>
            <a:endParaRPr sz="1300"/>
          </a:p>
          <a:p>
            <a:pPr marL="914400" lvl="0" indent="-311150" algn="l" rtl="0">
              <a:lnSpc>
                <a:spcPct val="150000"/>
              </a:lnSpc>
              <a:spcBef>
                <a:spcPts val="0"/>
              </a:spcBef>
              <a:spcAft>
                <a:spcPts val="0"/>
              </a:spcAft>
              <a:buSzPts val="1300"/>
              <a:buAutoNum type="alphaUcPeriod"/>
            </a:pPr>
            <a:r>
              <a:rPr lang="en" sz="1300"/>
              <a:t>2 min at 75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2 min at 70</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2 min at 65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2 min at 60</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2 min at 55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5 min at 37</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5 min at 25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Hold at 4</a:t>
            </a:r>
            <a:r>
              <a:rPr lang="en" sz="1300" baseline="30000"/>
              <a:t>o</a:t>
            </a:r>
            <a:r>
              <a:rPr lang="en" sz="1300"/>
              <a:t>C</a:t>
            </a:r>
            <a:endParaRPr sz="1300"/>
          </a:p>
        </p:txBody>
      </p:sp>
      <p:pic>
        <p:nvPicPr>
          <p:cNvPr id="274" name="Google Shape;274;p31"/>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75" name="Google Shape;275;p31"/>
          <p:cNvSpPr txBox="1">
            <a:spLocks noGrp="1"/>
          </p:cNvSpPr>
          <p:nvPr>
            <p:ph type="title" idx="4294967295"/>
          </p:nvPr>
        </p:nvSpPr>
        <p:spPr>
          <a:xfrm>
            <a:off x="1566863" y="252413"/>
            <a:ext cx="7577137"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 (NEBnext Ultra II RNA)</a:t>
            </a:r>
            <a:endParaRPr/>
          </a:p>
        </p:txBody>
      </p:sp>
      <p:cxnSp>
        <p:nvCxnSpPr>
          <p:cNvPr id="276" name="Google Shape;276;p31"/>
          <p:cNvCxnSpPr/>
          <p:nvPr/>
        </p:nvCxnSpPr>
        <p:spPr>
          <a:xfrm>
            <a:off x="7335250" y="2099100"/>
            <a:ext cx="0" cy="1933200"/>
          </a:xfrm>
          <a:prstGeom prst="straightConnector1">
            <a:avLst/>
          </a:prstGeom>
          <a:noFill/>
          <a:ln w="9525" cap="flat" cmpd="sng">
            <a:solidFill>
              <a:schemeClr val="dk2"/>
            </a:solidFill>
            <a:prstDash val="solid"/>
            <a:round/>
            <a:headEnd type="none" w="med" len="med"/>
            <a:tailEnd type="none" w="med" len="med"/>
          </a:ln>
        </p:spPr>
      </p:cxnSp>
      <p:sp>
        <p:nvSpPr>
          <p:cNvPr id="277" name="Google Shape;277;p31"/>
          <p:cNvSpPr txBox="1"/>
          <p:nvPr/>
        </p:nvSpPr>
        <p:spPr>
          <a:xfrm>
            <a:off x="7335250" y="2543675"/>
            <a:ext cx="1614600" cy="488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300"/>
              <a:t>Slow ramp for FastSelect to  specifically anneal to host rRNA</a:t>
            </a:r>
            <a:endParaRPr sz="1300"/>
          </a:p>
        </p:txBody>
      </p:sp>
      <p:cxnSp>
        <p:nvCxnSpPr>
          <p:cNvPr id="278" name="Google Shape;278;p31"/>
          <p:cNvCxnSpPr/>
          <p:nvPr/>
        </p:nvCxnSpPr>
        <p:spPr>
          <a:xfrm>
            <a:off x="1573000" y="1573000"/>
            <a:ext cx="3121200" cy="0"/>
          </a:xfrm>
          <a:prstGeom prst="straightConnector1">
            <a:avLst/>
          </a:prstGeom>
          <a:noFill/>
          <a:ln w="9525" cap="flat" cmpd="sng">
            <a:solidFill>
              <a:schemeClr val="dk2"/>
            </a:solidFill>
            <a:prstDash val="solid"/>
            <a:round/>
            <a:headEnd type="none" w="med" len="med"/>
            <a:tailEnd type="triangle" w="med" len="med"/>
          </a:ln>
        </p:spPr>
      </p:cxnSp>
      <p:sp>
        <p:nvSpPr>
          <p:cNvPr id="279" name="Google Shape;279;p31"/>
          <p:cNvSpPr txBox="1"/>
          <p:nvPr/>
        </p:nvSpPr>
        <p:spPr>
          <a:xfrm>
            <a:off x="6628825" y="1244200"/>
            <a:ext cx="2092200" cy="4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i="1"/>
              <a:t>Time depends on RNA quality!</a:t>
            </a:r>
            <a:endParaRPr sz="1000" i="1"/>
          </a:p>
        </p:txBody>
      </p:sp>
      <p:cxnSp>
        <p:nvCxnSpPr>
          <p:cNvPr id="280" name="Google Shape;280;p31"/>
          <p:cNvCxnSpPr/>
          <p:nvPr/>
        </p:nvCxnSpPr>
        <p:spPr>
          <a:xfrm flipH="1">
            <a:off x="6479350" y="1504300"/>
            <a:ext cx="224700" cy="193500"/>
          </a:xfrm>
          <a:prstGeom prst="straightConnector1">
            <a:avLst/>
          </a:prstGeom>
          <a:noFill/>
          <a:ln w="9525" cap="flat" cmpd="sng">
            <a:solidFill>
              <a:schemeClr val="dk2"/>
            </a:solidFill>
            <a:prstDash val="solid"/>
            <a:round/>
            <a:headEnd type="none" w="med" len="med"/>
            <a:tailEnd type="triangle" w="med" len="med"/>
          </a:ln>
        </p:spPr>
      </p:cxnSp>
      <p:sp>
        <p:nvSpPr>
          <p:cNvPr id="281" name="Google Shape;281;p31"/>
          <p:cNvSpPr txBox="1"/>
          <p:nvPr/>
        </p:nvSpPr>
        <p:spPr>
          <a:xfrm>
            <a:off x="7368050" y="405050"/>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999999"/>
                </a:solidFill>
              </a:rPr>
              <a:t>All in pre-PCR lab</a:t>
            </a:r>
            <a:endParaRPr sz="1300" b="1">
              <a:solidFill>
                <a:srgbClr val="999999"/>
              </a:solidFill>
            </a:endParaRPr>
          </a:p>
        </p:txBody>
      </p:sp>
      <p:sp>
        <p:nvSpPr>
          <p:cNvPr id="2" name="Footer Placeholder 1">
            <a:extLst>
              <a:ext uri="{FF2B5EF4-FFF2-40B4-BE49-F238E27FC236}">
                <a16:creationId xmlns:a16="http://schemas.microsoft.com/office/drawing/2014/main" id="{D4CAEB74-2BF0-2E9C-2DB1-5743B232D203}"/>
              </a:ext>
            </a:extLst>
          </p:cNvPr>
          <p:cNvSpPr>
            <a:spLocks noGrp="1"/>
          </p:cNvSpPr>
          <p:nvPr>
            <p:ph type="ftr" sz="quarter" idx="11"/>
          </p:nvPr>
        </p:nvSpPr>
        <p:spPr>
          <a:xfrm>
            <a:off x="7996519" y="4869657"/>
            <a:ext cx="1147482"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3"/>
                                        </p:tgtEl>
                                        <p:attrNameLst>
                                          <p:attrName>style.visibility</p:attrName>
                                        </p:attrNameLst>
                                      </p:cBhvr>
                                      <p:to>
                                        <p:strVal val="visible"/>
                                      </p:to>
                                    </p:set>
                                    <p:animEffect transition="in" filter="fade">
                                      <p:cBhvr>
                                        <p:cTn id="7" dur="10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2"/>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B. First Strand Synthesis</a:t>
            </a:r>
            <a:endParaRPr sz="1700"/>
          </a:p>
          <a:p>
            <a:pPr marL="457200" marR="0" lvl="0" indent="-311150" algn="l" rtl="0">
              <a:lnSpc>
                <a:spcPct val="200000"/>
              </a:lnSpc>
              <a:spcBef>
                <a:spcPts val="0"/>
              </a:spcBef>
              <a:spcAft>
                <a:spcPts val="0"/>
              </a:spcAft>
              <a:buSzPts val="1300"/>
              <a:buAutoNum type="arabicPeriod"/>
            </a:pPr>
            <a:r>
              <a:rPr lang="en" sz="1300"/>
              <a:t>Prepare mix</a:t>
            </a:r>
            <a:endParaRPr sz="1300"/>
          </a:p>
        </p:txBody>
      </p:sp>
      <p:graphicFrame>
        <p:nvGraphicFramePr>
          <p:cNvPr id="287" name="Google Shape;287;p32"/>
          <p:cNvGraphicFramePr/>
          <p:nvPr/>
        </p:nvGraphicFramePr>
        <p:xfrm>
          <a:off x="379675" y="2015125"/>
          <a:ext cx="4235875" cy="1807337"/>
        </p:xfrm>
        <a:graphic>
          <a:graphicData uri="http://schemas.openxmlformats.org/drawingml/2006/table">
            <a:tbl>
              <a:tblPr>
                <a:noFill/>
                <a:tableStyleId>{4C5303A6-42BC-42D0-AC04-2170BE719537}</a:tableStyleId>
              </a:tblPr>
              <a:tblGrid>
                <a:gridCol w="3407625">
                  <a:extLst>
                    <a:ext uri="{9D8B030D-6E8A-4147-A177-3AD203B41FA5}">
                      <a16:colId xmlns:a16="http://schemas.microsoft.com/office/drawing/2014/main" val="20000"/>
                    </a:ext>
                  </a:extLst>
                </a:gridCol>
                <a:gridCol w="828250">
                  <a:extLst>
                    <a:ext uri="{9D8B030D-6E8A-4147-A177-3AD203B41FA5}">
                      <a16:colId xmlns:a16="http://schemas.microsoft.com/office/drawing/2014/main" val="20001"/>
                    </a:ext>
                  </a:extLst>
                </a:gridCol>
              </a:tblGrid>
              <a:tr h="279400">
                <a:tc>
                  <a:txBody>
                    <a:bodyPr/>
                    <a:lstStyle/>
                    <a:p>
                      <a:pPr marL="63500" lvl="0" indent="0" algn="l" rtl="0">
                        <a:lnSpc>
                          <a:spcPct val="115000"/>
                        </a:lnSpc>
                        <a:spcBef>
                          <a:spcPts val="0"/>
                        </a:spcBef>
                        <a:spcAft>
                          <a:spcPts val="0"/>
                        </a:spcAft>
                        <a:buNone/>
                      </a:pPr>
                      <a:r>
                        <a:rPr lang="en" sz="1200" b="1" u="sng"/>
                        <a:t>Reagents</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u="sng"/>
                        <a:t>μl per reaction</a:t>
                      </a:r>
                      <a:endParaRPr sz="1200" b="1" u="sng"/>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400">
                <a:tc>
                  <a:txBody>
                    <a:bodyPr/>
                    <a:lstStyle/>
                    <a:p>
                      <a:pPr marL="63500" lvl="0" indent="0" algn="l" rtl="0">
                        <a:lnSpc>
                          <a:spcPct val="115000"/>
                        </a:lnSpc>
                        <a:spcBef>
                          <a:spcPts val="0"/>
                        </a:spcBef>
                        <a:spcAft>
                          <a:spcPts val="0"/>
                        </a:spcAft>
                        <a:buNone/>
                      </a:pPr>
                      <a:r>
                        <a:rPr lang="en" sz="1200"/>
                        <a:t>Fragmented and primed RNA</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10</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400">
                <a:tc>
                  <a:txBody>
                    <a:bodyPr/>
                    <a:lstStyle/>
                    <a:p>
                      <a:pPr marL="63500" lvl="0" indent="0" algn="l" rtl="0">
                        <a:lnSpc>
                          <a:spcPct val="115000"/>
                        </a:lnSpc>
                        <a:spcBef>
                          <a:spcPts val="0"/>
                        </a:spcBef>
                        <a:spcAft>
                          <a:spcPts val="0"/>
                        </a:spcAft>
                        <a:buNone/>
                      </a:pPr>
                      <a:r>
                        <a:rPr lang="en" sz="1200"/>
                        <a:t>Nuclease-free water</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8</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400">
                <a:tc>
                  <a:txBody>
                    <a:bodyPr/>
                    <a:lstStyle/>
                    <a:p>
                      <a:pPr marL="63500" lvl="0" indent="0" algn="l" rtl="0">
                        <a:lnSpc>
                          <a:spcPct val="115000"/>
                        </a:lnSpc>
                        <a:spcBef>
                          <a:spcPts val="0"/>
                        </a:spcBef>
                        <a:spcAft>
                          <a:spcPts val="0"/>
                        </a:spcAft>
                        <a:buNone/>
                      </a:pPr>
                      <a:r>
                        <a:rPr lang="en" sz="1200"/>
                        <a:t>NEBNext First Strand Synthesis Enzyme Mix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2</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400">
                <a:tc>
                  <a:txBody>
                    <a:bodyPr/>
                    <a:lstStyle/>
                    <a:p>
                      <a:pPr marL="63500" lvl="0" indent="0" algn="l" rtl="0">
                        <a:lnSpc>
                          <a:spcPct val="115000"/>
                        </a:lnSpc>
                        <a:spcBef>
                          <a:spcPts val="0"/>
                        </a:spcBef>
                        <a:spcAft>
                          <a:spcPts val="0"/>
                        </a:spcAft>
                        <a:buNone/>
                      </a:pPr>
                      <a:r>
                        <a:rPr lang="en" sz="1200" b="1" u="sng"/>
                        <a:t>Total volume</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a:t>20</a:t>
                      </a:r>
                      <a:endParaRPr sz="1200" b="1"/>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
        <p:nvSpPr>
          <p:cNvPr id="288" name="Google Shape;288;p32"/>
          <p:cNvSpPr txBox="1"/>
          <p:nvPr/>
        </p:nvSpPr>
        <p:spPr>
          <a:xfrm>
            <a:off x="4781450" y="1369400"/>
            <a:ext cx="4362600" cy="2247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2. Thermocycler:</a:t>
            </a:r>
            <a:endParaRPr sz="1300"/>
          </a:p>
          <a:p>
            <a:pPr marL="914400" lvl="0" indent="-311150" algn="l" rtl="0">
              <a:lnSpc>
                <a:spcPct val="150000"/>
              </a:lnSpc>
              <a:spcBef>
                <a:spcPts val="0"/>
              </a:spcBef>
              <a:spcAft>
                <a:spcPts val="0"/>
              </a:spcAft>
              <a:buSzPts val="1300"/>
              <a:buAutoNum type="alphaUcPeriod"/>
            </a:pPr>
            <a:r>
              <a:rPr lang="en" sz="1300"/>
              <a:t>10 min at 25</a:t>
            </a:r>
            <a:r>
              <a:rPr lang="en" sz="1300" baseline="30000"/>
              <a:t>o</a:t>
            </a:r>
            <a:r>
              <a:rPr lang="en" sz="1300"/>
              <a:t>C: random primer annealing</a:t>
            </a:r>
            <a:endParaRPr sz="1300"/>
          </a:p>
          <a:p>
            <a:pPr marL="914400" lvl="0" indent="-311150" algn="l" rtl="0">
              <a:lnSpc>
                <a:spcPct val="150000"/>
              </a:lnSpc>
              <a:spcBef>
                <a:spcPts val="0"/>
              </a:spcBef>
              <a:spcAft>
                <a:spcPts val="0"/>
              </a:spcAft>
              <a:buSzPts val="1300"/>
              <a:buAutoNum type="alphaUcPeriod"/>
            </a:pPr>
            <a:r>
              <a:rPr lang="en" sz="1300"/>
              <a:t>15 min at 42</a:t>
            </a:r>
            <a:r>
              <a:rPr lang="en" sz="1300" baseline="30000"/>
              <a:t>o</a:t>
            </a:r>
            <a:r>
              <a:rPr lang="en" sz="1300"/>
              <a:t>C: reverse transcription rxn</a:t>
            </a:r>
            <a:endParaRPr sz="1300"/>
          </a:p>
          <a:p>
            <a:pPr marL="914400" lvl="0" indent="-311150" algn="l" rtl="0">
              <a:lnSpc>
                <a:spcPct val="150000"/>
              </a:lnSpc>
              <a:spcBef>
                <a:spcPts val="0"/>
              </a:spcBef>
              <a:spcAft>
                <a:spcPts val="0"/>
              </a:spcAft>
              <a:buSzPts val="1300"/>
              <a:buAutoNum type="alphaUcPeriod"/>
            </a:pPr>
            <a:r>
              <a:rPr lang="en" sz="1300"/>
              <a:t>15 min at 70</a:t>
            </a:r>
            <a:r>
              <a:rPr lang="en" sz="1300" baseline="30000"/>
              <a:t>o</a:t>
            </a:r>
            <a:r>
              <a:rPr lang="en" sz="1300"/>
              <a:t>C: heat inactivation of enzymes</a:t>
            </a:r>
            <a:endParaRPr sz="1300"/>
          </a:p>
          <a:p>
            <a:pPr marL="914400" lvl="0" indent="-311150" algn="l" rtl="0">
              <a:lnSpc>
                <a:spcPct val="150000"/>
              </a:lnSpc>
              <a:spcBef>
                <a:spcPts val="0"/>
              </a:spcBef>
              <a:spcAft>
                <a:spcPts val="0"/>
              </a:spcAft>
              <a:buSzPts val="1300"/>
              <a:buAutoNum type="alphaUcPeriod"/>
            </a:pPr>
            <a:r>
              <a:rPr lang="en" sz="1300"/>
              <a:t>Hold at 4</a:t>
            </a:r>
            <a:r>
              <a:rPr lang="en" sz="1300" baseline="30000"/>
              <a:t>o</a:t>
            </a:r>
            <a:r>
              <a:rPr lang="en" sz="1300"/>
              <a:t>C</a:t>
            </a:r>
            <a:endParaRPr sz="1300"/>
          </a:p>
        </p:txBody>
      </p:sp>
      <p:cxnSp>
        <p:nvCxnSpPr>
          <p:cNvPr id="289" name="Google Shape;289;p32"/>
          <p:cNvCxnSpPr/>
          <p:nvPr/>
        </p:nvCxnSpPr>
        <p:spPr>
          <a:xfrm>
            <a:off x="1573000" y="1573000"/>
            <a:ext cx="3121200" cy="0"/>
          </a:xfrm>
          <a:prstGeom prst="straightConnector1">
            <a:avLst/>
          </a:prstGeom>
          <a:noFill/>
          <a:ln w="9525" cap="flat" cmpd="sng">
            <a:solidFill>
              <a:schemeClr val="dk2"/>
            </a:solidFill>
            <a:prstDash val="solid"/>
            <a:round/>
            <a:headEnd type="none" w="med" len="med"/>
            <a:tailEnd type="triangle" w="med" len="med"/>
          </a:ln>
        </p:spPr>
      </p:cxnSp>
      <p:pic>
        <p:nvPicPr>
          <p:cNvPr id="290" name="Google Shape;290;p32"/>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91" name="Google Shape;291;p32"/>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92" name="Google Shape;292;p32"/>
          <p:cNvSpPr txBox="1"/>
          <p:nvPr/>
        </p:nvSpPr>
        <p:spPr>
          <a:xfrm>
            <a:off x="6781068" y="418844"/>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999999"/>
                </a:solidFill>
              </a:rPr>
              <a:t>All in pre-PCR lab</a:t>
            </a:r>
            <a:endParaRPr sz="1300" b="1" dirty="0">
              <a:solidFill>
                <a:srgbClr val="999999"/>
              </a:solidFill>
            </a:endParaRPr>
          </a:p>
        </p:txBody>
      </p:sp>
      <p:sp>
        <p:nvSpPr>
          <p:cNvPr id="2" name="Footer Placeholder 1">
            <a:extLst>
              <a:ext uri="{FF2B5EF4-FFF2-40B4-BE49-F238E27FC236}">
                <a16:creationId xmlns:a16="http://schemas.microsoft.com/office/drawing/2014/main" id="{E362B66F-920F-B0C4-1972-09A05BF9469A}"/>
              </a:ext>
            </a:extLst>
          </p:cNvPr>
          <p:cNvSpPr>
            <a:spLocks noGrp="1"/>
          </p:cNvSpPr>
          <p:nvPr>
            <p:ph type="ftr" sz="quarter" idx="11"/>
          </p:nvPr>
        </p:nvSpPr>
        <p:spPr>
          <a:xfrm>
            <a:off x="7987553" y="4869657"/>
            <a:ext cx="1156447"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3"/>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C. Second Strand Synthesis</a:t>
            </a:r>
            <a:endParaRPr sz="1700"/>
          </a:p>
          <a:p>
            <a:pPr marL="457200" marR="0" lvl="0" indent="-311150" algn="l" rtl="0">
              <a:lnSpc>
                <a:spcPct val="200000"/>
              </a:lnSpc>
              <a:spcBef>
                <a:spcPts val="0"/>
              </a:spcBef>
              <a:spcAft>
                <a:spcPts val="0"/>
              </a:spcAft>
              <a:buSzPts val="1300"/>
              <a:buAutoNum type="arabicPeriod"/>
            </a:pPr>
            <a:r>
              <a:rPr lang="en" sz="1300"/>
              <a:t>Prepare mix</a:t>
            </a:r>
            <a:endParaRPr sz="1300"/>
          </a:p>
        </p:txBody>
      </p:sp>
      <p:graphicFrame>
        <p:nvGraphicFramePr>
          <p:cNvPr id="298" name="Google Shape;298;p33"/>
          <p:cNvGraphicFramePr/>
          <p:nvPr/>
        </p:nvGraphicFramePr>
        <p:xfrm>
          <a:off x="379675" y="2015125"/>
          <a:ext cx="4235875" cy="2126742"/>
        </p:xfrm>
        <a:graphic>
          <a:graphicData uri="http://schemas.openxmlformats.org/drawingml/2006/table">
            <a:tbl>
              <a:tblPr>
                <a:noFill/>
                <a:tableStyleId>{4C5303A6-42BC-42D0-AC04-2170BE719537}</a:tableStyleId>
              </a:tblPr>
              <a:tblGrid>
                <a:gridCol w="3407625">
                  <a:extLst>
                    <a:ext uri="{9D8B030D-6E8A-4147-A177-3AD203B41FA5}">
                      <a16:colId xmlns:a16="http://schemas.microsoft.com/office/drawing/2014/main" val="20000"/>
                    </a:ext>
                  </a:extLst>
                </a:gridCol>
                <a:gridCol w="828250">
                  <a:extLst>
                    <a:ext uri="{9D8B030D-6E8A-4147-A177-3AD203B41FA5}">
                      <a16:colId xmlns:a16="http://schemas.microsoft.com/office/drawing/2014/main" val="20001"/>
                    </a:ext>
                  </a:extLst>
                </a:gridCol>
              </a:tblGrid>
              <a:tr h="279400">
                <a:tc>
                  <a:txBody>
                    <a:bodyPr/>
                    <a:lstStyle/>
                    <a:p>
                      <a:pPr marL="63500" lvl="0" indent="0" algn="l" rtl="0">
                        <a:lnSpc>
                          <a:spcPct val="115000"/>
                        </a:lnSpc>
                        <a:spcBef>
                          <a:spcPts val="0"/>
                        </a:spcBef>
                        <a:spcAft>
                          <a:spcPts val="0"/>
                        </a:spcAft>
                        <a:buNone/>
                      </a:pPr>
                      <a:r>
                        <a:rPr lang="en" sz="1200" b="1" u="sng"/>
                        <a:t>Reagents</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u="sng"/>
                        <a:t>μl per reaction</a:t>
                      </a:r>
                      <a:endParaRPr sz="1200" b="1" u="sng"/>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400">
                <a:tc>
                  <a:txBody>
                    <a:bodyPr/>
                    <a:lstStyle/>
                    <a:p>
                      <a:pPr marL="63500" lvl="0" indent="0" algn="l" rtl="0">
                        <a:lnSpc>
                          <a:spcPct val="115000"/>
                        </a:lnSpc>
                        <a:spcBef>
                          <a:spcPts val="0"/>
                        </a:spcBef>
                        <a:spcAft>
                          <a:spcPts val="0"/>
                        </a:spcAft>
                        <a:buNone/>
                      </a:pPr>
                      <a:r>
                        <a:rPr lang="en" sz="1200"/>
                        <a:t>First strand synthesized DNA</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20</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400">
                <a:tc>
                  <a:txBody>
                    <a:bodyPr/>
                    <a:lstStyle/>
                    <a:p>
                      <a:pPr marL="63500" lvl="0" indent="0" algn="l" rtl="0">
                        <a:lnSpc>
                          <a:spcPct val="115000"/>
                        </a:lnSpc>
                        <a:spcBef>
                          <a:spcPts val="0"/>
                        </a:spcBef>
                        <a:spcAft>
                          <a:spcPts val="0"/>
                        </a:spcAft>
                        <a:buNone/>
                      </a:pPr>
                      <a:r>
                        <a:rPr lang="en" sz="1200"/>
                        <a:t>2</a:t>
                      </a:r>
                      <a:r>
                        <a:rPr lang="en" sz="1200" baseline="30000"/>
                        <a:t>nd</a:t>
                      </a:r>
                      <a:r>
                        <a:rPr lang="en" sz="1200"/>
                        <a:t> Strand Synthesis Reaction Buffer (10x)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8</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400">
                <a:tc>
                  <a:txBody>
                    <a:bodyPr/>
                    <a:lstStyle/>
                    <a:p>
                      <a:pPr marL="63500" lvl="0" indent="0" algn="l" rtl="0">
                        <a:lnSpc>
                          <a:spcPct val="115000"/>
                        </a:lnSpc>
                        <a:spcBef>
                          <a:spcPts val="0"/>
                        </a:spcBef>
                        <a:spcAft>
                          <a:spcPts val="0"/>
                        </a:spcAft>
                        <a:buNone/>
                      </a:pPr>
                      <a:r>
                        <a:rPr lang="en" sz="1200"/>
                        <a:t>2</a:t>
                      </a:r>
                      <a:r>
                        <a:rPr lang="en" sz="1200" baseline="30000"/>
                        <a:t>nd</a:t>
                      </a:r>
                      <a:r>
                        <a:rPr lang="en" sz="1200"/>
                        <a:t> Strand Synthesis Enzyme Mix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4</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400">
                <a:tc>
                  <a:txBody>
                    <a:bodyPr/>
                    <a:lstStyle/>
                    <a:p>
                      <a:pPr marL="63500" lvl="0" indent="0" algn="l" rtl="0">
                        <a:lnSpc>
                          <a:spcPct val="115000"/>
                        </a:lnSpc>
                        <a:spcBef>
                          <a:spcPts val="0"/>
                        </a:spcBef>
                        <a:spcAft>
                          <a:spcPts val="0"/>
                        </a:spcAft>
                        <a:buNone/>
                      </a:pPr>
                      <a:r>
                        <a:rPr lang="en" sz="1200"/>
                        <a:t>Nuclease-free water</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48</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79400">
                <a:tc>
                  <a:txBody>
                    <a:bodyPr/>
                    <a:lstStyle/>
                    <a:p>
                      <a:pPr marL="63500" lvl="0" indent="0" algn="l" rtl="0">
                        <a:lnSpc>
                          <a:spcPct val="115000"/>
                        </a:lnSpc>
                        <a:spcBef>
                          <a:spcPts val="0"/>
                        </a:spcBef>
                        <a:spcAft>
                          <a:spcPts val="0"/>
                        </a:spcAft>
                        <a:buNone/>
                      </a:pPr>
                      <a:r>
                        <a:rPr lang="en" sz="1200" b="1" u="sng"/>
                        <a:t>Total volume</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a:t>80</a:t>
                      </a:r>
                      <a:endParaRPr sz="1200" b="1"/>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bl>
          </a:graphicData>
        </a:graphic>
      </p:graphicFrame>
      <p:sp>
        <p:nvSpPr>
          <p:cNvPr id="299" name="Google Shape;299;p33"/>
          <p:cNvSpPr txBox="1"/>
          <p:nvPr/>
        </p:nvSpPr>
        <p:spPr>
          <a:xfrm>
            <a:off x="4781450" y="1369400"/>
            <a:ext cx="4362600" cy="2247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2. Thermocycler (HEATED LID OFF):</a:t>
            </a:r>
            <a:endParaRPr sz="1300"/>
          </a:p>
          <a:p>
            <a:pPr marL="914400" lvl="0" indent="-311150" algn="l" rtl="0">
              <a:lnSpc>
                <a:spcPct val="150000"/>
              </a:lnSpc>
              <a:spcBef>
                <a:spcPts val="0"/>
              </a:spcBef>
              <a:spcAft>
                <a:spcPts val="0"/>
              </a:spcAft>
              <a:buSzPts val="1300"/>
              <a:buAutoNum type="alphaUcPeriod"/>
            </a:pPr>
            <a:r>
              <a:rPr lang="en" sz="1300"/>
              <a:t>1 hr at 16</a:t>
            </a:r>
            <a:r>
              <a:rPr lang="en" sz="1300" baseline="30000"/>
              <a:t>o</a:t>
            </a:r>
            <a:r>
              <a:rPr lang="en" sz="1300"/>
              <a:t>C: 2</a:t>
            </a:r>
            <a:r>
              <a:rPr lang="en" sz="1300" baseline="30000"/>
              <a:t>nd</a:t>
            </a:r>
            <a:r>
              <a:rPr lang="en" sz="1300"/>
              <a:t> strand synthesis</a:t>
            </a:r>
            <a:endParaRPr sz="1300"/>
          </a:p>
          <a:p>
            <a:pPr marL="914400" lvl="0" indent="-311150" algn="l" rtl="0">
              <a:lnSpc>
                <a:spcPct val="150000"/>
              </a:lnSpc>
              <a:spcBef>
                <a:spcPts val="0"/>
              </a:spcBef>
              <a:spcAft>
                <a:spcPts val="0"/>
              </a:spcAft>
              <a:buSzPts val="1300"/>
              <a:buAutoNum type="alphaUcPeriod"/>
            </a:pPr>
            <a:r>
              <a:rPr lang="en" sz="1300"/>
              <a:t>Hold at 4</a:t>
            </a:r>
            <a:r>
              <a:rPr lang="en" sz="1300" baseline="30000"/>
              <a:t>o</a:t>
            </a:r>
            <a:r>
              <a:rPr lang="en" sz="1300"/>
              <a:t>C</a:t>
            </a:r>
            <a:endParaRPr sz="1300"/>
          </a:p>
        </p:txBody>
      </p:sp>
      <p:cxnSp>
        <p:nvCxnSpPr>
          <p:cNvPr id="300" name="Google Shape;300;p33"/>
          <p:cNvCxnSpPr/>
          <p:nvPr/>
        </p:nvCxnSpPr>
        <p:spPr>
          <a:xfrm>
            <a:off x="1573000" y="1573000"/>
            <a:ext cx="3121200" cy="0"/>
          </a:xfrm>
          <a:prstGeom prst="straightConnector1">
            <a:avLst/>
          </a:prstGeom>
          <a:noFill/>
          <a:ln w="9525" cap="flat" cmpd="sng">
            <a:solidFill>
              <a:schemeClr val="dk2"/>
            </a:solidFill>
            <a:prstDash val="solid"/>
            <a:round/>
            <a:headEnd type="none" w="med" len="med"/>
            <a:tailEnd type="triangle" w="med" len="med"/>
          </a:ln>
        </p:spPr>
      </p:cxnSp>
      <p:pic>
        <p:nvPicPr>
          <p:cNvPr id="301" name="Google Shape;301;p33"/>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302" name="Google Shape;302;p33"/>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303" name="Google Shape;303;p33"/>
          <p:cNvSpPr txBox="1"/>
          <p:nvPr/>
        </p:nvSpPr>
        <p:spPr>
          <a:xfrm>
            <a:off x="4781450" y="4378400"/>
            <a:ext cx="4362600" cy="76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3. SPRI bead cleanup (1.8x) to purify dsDNA</a:t>
            </a:r>
            <a:endParaRPr sz="1300"/>
          </a:p>
        </p:txBody>
      </p:sp>
      <p:cxnSp>
        <p:nvCxnSpPr>
          <p:cNvPr id="304" name="Google Shape;304;p33"/>
          <p:cNvCxnSpPr/>
          <p:nvPr/>
        </p:nvCxnSpPr>
        <p:spPr>
          <a:xfrm>
            <a:off x="6169925" y="2420650"/>
            <a:ext cx="0" cy="1910100"/>
          </a:xfrm>
          <a:prstGeom prst="straightConnector1">
            <a:avLst/>
          </a:prstGeom>
          <a:noFill/>
          <a:ln w="9525" cap="flat" cmpd="sng">
            <a:solidFill>
              <a:schemeClr val="dk2"/>
            </a:solidFill>
            <a:prstDash val="solid"/>
            <a:round/>
            <a:headEnd type="none" w="med" len="med"/>
            <a:tailEnd type="triangle" w="med" len="med"/>
          </a:ln>
        </p:spPr>
      </p:cxnSp>
      <p:sp>
        <p:nvSpPr>
          <p:cNvPr id="305" name="Google Shape;305;p33"/>
          <p:cNvSpPr txBox="1"/>
          <p:nvPr/>
        </p:nvSpPr>
        <p:spPr>
          <a:xfrm>
            <a:off x="6962750" y="501100"/>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999999"/>
                </a:solidFill>
              </a:rPr>
              <a:t>All in pre-PCR lab</a:t>
            </a:r>
            <a:endParaRPr sz="1300" b="1" dirty="0">
              <a:solidFill>
                <a:srgbClr val="999999"/>
              </a:solidFill>
            </a:endParaRPr>
          </a:p>
        </p:txBody>
      </p:sp>
      <p:sp>
        <p:nvSpPr>
          <p:cNvPr id="2" name="Footer Placeholder 1">
            <a:extLst>
              <a:ext uri="{FF2B5EF4-FFF2-40B4-BE49-F238E27FC236}">
                <a16:creationId xmlns:a16="http://schemas.microsoft.com/office/drawing/2014/main" id="{2ECC2DB9-A348-F1C7-2983-B258E7D5DF96}"/>
              </a:ext>
            </a:extLst>
          </p:cNvPr>
          <p:cNvSpPr>
            <a:spLocks noGrp="1"/>
          </p:cNvSpPr>
          <p:nvPr>
            <p:ph type="ftr" sz="quarter" idx="11"/>
          </p:nvPr>
        </p:nvSpPr>
        <p:spPr>
          <a:xfrm>
            <a:off x="8005483" y="4869657"/>
            <a:ext cx="1138518"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4"/>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D. End prep of cDNA</a:t>
            </a:r>
            <a:endParaRPr sz="1700"/>
          </a:p>
          <a:p>
            <a:pPr marL="457200" marR="0" lvl="0" indent="-311150" algn="l" rtl="0">
              <a:lnSpc>
                <a:spcPct val="200000"/>
              </a:lnSpc>
              <a:spcBef>
                <a:spcPts val="0"/>
              </a:spcBef>
              <a:spcAft>
                <a:spcPts val="0"/>
              </a:spcAft>
              <a:buSzPts val="1300"/>
              <a:buAutoNum type="arabicPeriod"/>
            </a:pPr>
            <a:r>
              <a:rPr lang="en" sz="1300"/>
              <a:t>Prepare mix</a:t>
            </a:r>
            <a:endParaRPr sz="1300"/>
          </a:p>
        </p:txBody>
      </p:sp>
      <p:graphicFrame>
        <p:nvGraphicFramePr>
          <p:cNvPr id="311" name="Google Shape;311;p34"/>
          <p:cNvGraphicFramePr/>
          <p:nvPr/>
        </p:nvGraphicFramePr>
        <p:xfrm>
          <a:off x="379675" y="2015125"/>
          <a:ext cx="4235875" cy="1807337"/>
        </p:xfrm>
        <a:graphic>
          <a:graphicData uri="http://schemas.openxmlformats.org/drawingml/2006/table">
            <a:tbl>
              <a:tblPr>
                <a:noFill/>
                <a:tableStyleId>{4C5303A6-42BC-42D0-AC04-2170BE719537}</a:tableStyleId>
              </a:tblPr>
              <a:tblGrid>
                <a:gridCol w="3407625">
                  <a:extLst>
                    <a:ext uri="{9D8B030D-6E8A-4147-A177-3AD203B41FA5}">
                      <a16:colId xmlns:a16="http://schemas.microsoft.com/office/drawing/2014/main" val="20000"/>
                    </a:ext>
                  </a:extLst>
                </a:gridCol>
                <a:gridCol w="828250">
                  <a:extLst>
                    <a:ext uri="{9D8B030D-6E8A-4147-A177-3AD203B41FA5}">
                      <a16:colId xmlns:a16="http://schemas.microsoft.com/office/drawing/2014/main" val="20001"/>
                    </a:ext>
                  </a:extLst>
                </a:gridCol>
              </a:tblGrid>
              <a:tr h="279400">
                <a:tc>
                  <a:txBody>
                    <a:bodyPr/>
                    <a:lstStyle/>
                    <a:p>
                      <a:pPr marL="63500" lvl="0" indent="0" algn="l" rtl="0">
                        <a:lnSpc>
                          <a:spcPct val="115000"/>
                        </a:lnSpc>
                        <a:spcBef>
                          <a:spcPts val="0"/>
                        </a:spcBef>
                        <a:spcAft>
                          <a:spcPts val="0"/>
                        </a:spcAft>
                        <a:buNone/>
                      </a:pPr>
                      <a:r>
                        <a:rPr lang="en" sz="1200" b="1" u="sng"/>
                        <a:t>Reagents</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u="sng"/>
                        <a:t>μl per reaction</a:t>
                      </a:r>
                      <a:endParaRPr sz="1200" b="1" u="sng"/>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400">
                <a:tc>
                  <a:txBody>
                    <a:bodyPr/>
                    <a:lstStyle/>
                    <a:p>
                      <a:pPr marL="63500" lvl="0" indent="0" algn="l" rtl="0">
                        <a:lnSpc>
                          <a:spcPct val="115000"/>
                        </a:lnSpc>
                        <a:spcBef>
                          <a:spcPts val="0"/>
                        </a:spcBef>
                        <a:spcAft>
                          <a:spcPts val="0"/>
                        </a:spcAft>
                        <a:buNone/>
                      </a:pPr>
                      <a:r>
                        <a:rPr lang="en" sz="1200"/>
                        <a:t>Purified dsDNA</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50</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400">
                <a:tc>
                  <a:txBody>
                    <a:bodyPr/>
                    <a:lstStyle/>
                    <a:p>
                      <a:pPr marL="63500" lvl="0" indent="0" algn="l" rtl="0">
                        <a:lnSpc>
                          <a:spcPct val="115000"/>
                        </a:lnSpc>
                        <a:spcBef>
                          <a:spcPts val="0"/>
                        </a:spcBef>
                        <a:spcAft>
                          <a:spcPts val="0"/>
                        </a:spcAft>
                        <a:buNone/>
                      </a:pPr>
                      <a:r>
                        <a:rPr lang="en" sz="1200"/>
                        <a:t>Ultra II End Prep Reaction Buffer (8.6x)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7</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400">
                <a:tc>
                  <a:txBody>
                    <a:bodyPr/>
                    <a:lstStyle/>
                    <a:p>
                      <a:pPr marL="63500" lvl="0" indent="0" algn="l" rtl="0">
                        <a:lnSpc>
                          <a:spcPct val="115000"/>
                        </a:lnSpc>
                        <a:spcBef>
                          <a:spcPts val="0"/>
                        </a:spcBef>
                        <a:spcAft>
                          <a:spcPts val="0"/>
                        </a:spcAft>
                        <a:buNone/>
                      </a:pPr>
                      <a:r>
                        <a:rPr lang="en" sz="1200"/>
                        <a:t>Ultra II End Prep Enzyme Mix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3</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400">
                <a:tc>
                  <a:txBody>
                    <a:bodyPr/>
                    <a:lstStyle/>
                    <a:p>
                      <a:pPr marL="63500" lvl="0" indent="0" algn="l" rtl="0">
                        <a:lnSpc>
                          <a:spcPct val="115000"/>
                        </a:lnSpc>
                        <a:spcBef>
                          <a:spcPts val="0"/>
                        </a:spcBef>
                        <a:spcAft>
                          <a:spcPts val="0"/>
                        </a:spcAft>
                        <a:buNone/>
                      </a:pPr>
                      <a:r>
                        <a:rPr lang="en" sz="1200" b="1" u="sng"/>
                        <a:t>Total volume</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a:t>60</a:t>
                      </a:r>
                      <a:endParaRPr sz="1200" b="1"/>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
        <p:nvSpPr>
          <p:cNvPr id="312" name="Google Shape;312;p34"/>
          <p:cNvSpPr txBox="1"/>
          <p:nvPr/>
        </p:nvSpPr>
        <p:spPr>
          <a:xfrm>
            <a:off x="4781450" y="1369400"/>
            <a:ext cx="4362600" cy="2247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2. Thermocycler (heated lid at 105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30 min at 20</a:t>
            </a:r>
            <a:r>
              <a:rPr lang="en" sz="1300" baseline="30000"/>
              <a:t>o</a:t>
            </a:r>
            <a:r>
              <a:rPr lang="en" sz="1300"/>
              <a:t>C: </a:t>
            </a:r>
            <a:endParaRPr sz="1300"/>
          </a:p>
          <a:p>
            <a:pPr marL="1143000" lvl="0" indent="-139700" algn="l" rtl="0">
              <a:lnSpc>
                <a:spcPct val="150000"/>
              </a:lnSpc>
              <a:spcBef>
                <a:spcPts val="0"/>
              </a:spcBef>
              <a:spcAft>
                <a:spcPts val="0"/>
              </a:spcAft>
              <a:buSzPts val="1300"/>
              <a:buChar char="-"/>
            </a:pPr>
            <a:r>
              <a:rPr lang="en" sz="1300"/>
              <a:t>Klenow fragment creates blunt ends</a:t>
            </a:r>
            <a:endParaRPr sz="1300"/>
          </a:p>
          <a:p>
            <a:pPr marL="1143000" lvl="0" indent="-139700" algn="l" rtl="0">
              <a:lnSpc>
                <a:spcPct val="150000"/>
              </a:lnSpc>
              <a:spcBef>
                <a:spcPts val="0"/>
              </a:spcBef>
              <a:spcAft>
                <a:spcPts val="0"/>
              </a:spcAft>
              <a:buSzPts val="1300"/>
              <a:buChar char="-"/>
            </a:pPr>
            <a:r>
              <a:rPr lang="en" sz="1300"/>
              <a:t>T4 kinase adds 5’ phosphate,</a:t>
            </a:r>
            <a:endParaRPr sz="1300"/>
          </a:p>
          <a:p>
            <a:pPr marL="1143000" lvl="0" indent="-139700" algn="l" rtl="0">
              <a:lnSpc>
                <a:spcPct val="150000"/>
              </a:lnSpc>
              <a:spcBef>
                <a:spcPts val="0"/>
              </a:spcBef>
              <a:spcAft>
                <a:spcPts val="0"/>
              </a:spcAft>
              <a:buSzPts val="1300"/>
              <a:buChar char="-"/>
            </a:pPr>
            <a:r>
              <a:rPr lang="en" sz="1300"/>
              <a:t>T4 DNA polymerase adds 3’ A overhang</a:t>
            </a:r>
            <a:endParaRPr sz="1300"/>
          </a:p>
          <a:p>
            <a:pPr marL="914400" lvl="0" indent="-311150" algn="l" rtl="0">
              <a:lnSpc>
                <a:spcPct val="150000"/>
              </a:lnSpc>
              <a:spcBef>
                <a:spcPts val="0"/>
              </a:spcBef>
              <a:spcAft>
                <a:spcPts val="0"/>
              </a:spcAft>
              <a:buSzPts val="1300"/>
              <a:buAutoNum type="alphaUcPeriod"/>
            </a:pPr>
            <a:r>
              <a:rPr lang="en" sz="1300"/>
              <a:t>30 min at 65</a:t>
            </a:r>
            <a:r>
              <a:rPr lang="en" sz="1300" baseline="30000"/>
              <a:t>o</a:t>
            </a:r>
            <a:r>
              <a:rPr lang="en" sz="1300"/>
              <a:t>C: heat inactivation of enzymes</a:t>
            </a:r>
            <a:endParaRPr sz="1300"/>
          </a:p>
          <a:p>
            <a:pPr marL="914400" lvl="0" indent="-311150" algn="l" rtl="0">
              <a:lnSpc>
                <a:spcPct val="150000"/>
              </a:lnSpc>
              <a:spcBef>
                <a:spcPts val="0"/>
              </a:spcBef>
              <a:spcAft>
                <a:spcPts val="0"/>
              </a:spcAft>
              <a:buSzPts val="1300"/>
              <a:buAutoNum type="alphaUcPeriod"/>
            </a:pPr>
            <a:r>
              <a:rPr lang="en" sz="1300"/>
              <a:t>Hold at 4</a:t>
            </a:r>
            <a:r>
              <a:rPr lang="en" sz="1300" baseline="30000"/>
              <a:t>o</a:t>
            </a:r>
            <a:r>
              <a:rPr lang="en" sz="1300"/>
              <a:t>C</a:t>
            </a:r>
            <a:endParaRPr sz="1300"/>
          </a:p>
        </p:txBody>
      </p:sp>
      <p:cxnSp>
        <p:nvCxnSpPr>
          <p:cNvPr id="313" name="Google Shape;313;p34"/>
          <p:cNvCxnSpPr/>
          <p:nvPr/>
        </p:nvCxnSpPr>
        <p:spPr>
          <a:xfrm>
            <a:off x="1573000" y="1573000"/>
            <a:ext cx="3121200" cy="0"/>
          </a:xfrm>
          <a:prstGeom prst="straightConnector1">
            <a:avLst/>
          </a:prstGeom>
          <a:noFill/>
          <a:ln w="9525" cap="flat" cmpd="sng">
            <a:solidFill>
              <a:schemeClr val="dk2"/>
            </a:solidFill>
            <a:prstDash val="solid"/>
            <a:round/>
            <a:headEnd type="none" w="med" len="med"/>
            <a:tailEnd type="triangle" w="med" len="med"/>
          </a:ln>
        </p:spPr>
      </p:cxnSp>
      <p:pic>
        <p:nvPicPr>
          <p:cNvPr id="314" name="Google Shape;314;p34"/>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315" name="Google Shape;315;p34"/>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316" name="Google Shape;316;p34"/>
          <p:cNvSpPr txBox="1"/>
          <p:nvPr/>
        </p:nvSpPr>
        <p:spPr>
          <a:xfrm>
            <a:off x="4781450" y="4226000"/>
            <a:ext cx="4362600" cy="76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3. Proceed immediately to next step, do NOT freeze.</a:t>
            </a:r>
            <a:endParaRPr sz="1300"/>
          </a:p>
        </p:txBody>
      </p:sp>
      <p:cxnSp>
        <p:nvCxnSpPr>
          <p:cNvPr id="317" name="Google Shape;317;p34"/>
          <p:cNvCxnSpPr/>
          <p:nvPr/>
        </p:nvCxnSpPr>
        <p:spPr>
          <a:xfrm>
            <a:off x="6176550" y="3599375"/>
            <a:ext cx="0" cy="574800"/>
          </a:xfrm>
          <a:prstGeom prst="straightConnector1">
            <a:avLst/>
          </a:prstGeom>
          <a:noFill/>
          <a:ln w="9525" cap="flat" cmpd="sng">
            <a:solidFill>
              <a:schemeClr val="dk2"/>
            </a:solidFill>
            <a:prstDash val="solid"/>
            <a:round/>
            <a:headEnd type="none" w="med" len="med"/>
            <a:tailEnd type="triangle" w="med" len="med"/>
          </a:ln>
        </p:spPr>
      </p:cxnSp>
      <p:sp>
        <p:nvSpPr>
          <p:cNvPr id="318" name="Google Shape;318;p34"/>
          <p:cNvSpPr txBox="1"/>
          <p:nvPr/>
        </p:nvSpPr>
        <p:spPr>
          <a:xfrm>
            <a:off x="6880821" y="336563"/>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999999"/>
                </a:solidFill>
              </a:rPr>
              <a:t>All in pre-PCR lab</a:t>
            </a:r>
            <a:endParaRPr sz="1300" b="1" dirty="0">
              <a:solidFill>
                <a:srgbClr val="999999"/>
              </a:solidFill>
            </a:endParaRPr>
          </a:p>
        </p:txBody>
      </p:sp>
      <p:sp>
        <p:nvSpPr>
          <p:cNvPr id="2" name="Footer Placeholder 1">
            <a:extLst>
              <a:ext uri="{FF2B5EF4-FFF2-40B4-BE49-F238E27FC236}">
                <a16:creationId xmlns:a16="http://schemas.microsoft.com/office/drawing/2014/main" id="{DE7B5FDA-31AE-2FAA-91E8-5B4457A85BD1}"/>
              </a:ext>
            </a:extLst>
          </p:cNvPr>
          <p:cNvSpPr>
            <a:spLocks noGrp="1"/>
          </p:cNvSpPr>
          <p:nvPr>
            <p:ph type="ftr" sz="quarter" idx="11"/>
          </p:nvPr>
        </p:nvSpPr>
        <p:spPr>
          <a:xfrm>
            <a:off x="8032377" y="4869657"/>
            <a:ext cx="1111624"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5"/>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E. Adapter ligation</a:t>
            </a:r>
            <a:endParaRPr sz="1700"/>
          </a:p>
          <a:p>
            <a:pPr marL="457200" marR="0" lvl="0" indent="-311150" algn="l" rtl="0">
              <a:lnSpc>
                <a:spcPct val="200000"/>
              </a:lnSpc>
              <a:spcBef>
                <a:spcPts val="0"/>
              </a:spcBef>
              <a:spcAft>
                <a:spcPts val="0"/>
              </a:spcAft>
              <a:buSzPts val="1300"/>
              <a:buAutoNum type="arabicPeriod"/>
            </a:pPr>
            <a:r>
              <a:rPr lang="en" sz="1300"/>
              <a:t>Prepare mix</a:t>
            </a:r>
            <a:endParaRPr sz="1300"/>
          </a:p>
        </p:txBody>
      </p:sp>
      <p:graphicFrame>
        <p:nvGraphicFramePr>
          <p:cNvPr id="324" name="Google Shape;324;p35"/>
          <p:cNvGraphicFramePr/>
          <p:nvPr/>
        </p:nvGraphicFramePr>
        <p:xfrm>
          <a:off x="379675" y="2015125"/>
          <a:ext cx="4235875" cy="2337054"/>
        </p:xfrm>
        <a:graphic>
          <a:graphicData uri="http://schemas.openxmlformats.org/drawingml/2006/table">
            <a:tbl>
              <a:tblPr>
                <a:noFill/>
                <a:tableStyleId>{4C5303A6-42BC-42D0-AC04-2170BE719537}</a:tableStyleId>
              </a:tblPr>
              <a:tblGrid>
                <a:gridCol w="3407625">
                  <a:extLst>
                    <a:ext uri="{9D8B030D-6E8A-4147-A177-3AD203B41FA5}">
                      <a16:colId xmlns:a16="http://schemas.microsoft.com/office/drawing/2014/main" val="20000"/>
                    </a:ext>
                  </a:extLst>
                </a:gridCol>
                <a:gridCol w="828250">
                  <a:extLst>
                    <a:ext uri="{9D8B030D-6E8A-4147-A177-3AD203B41FA5}">
                      <a16:colId xmlns:a16="http://schemas.microsoft.com/office/drawing/2014/main" val="20001"/>
                    </a:ext>
                  </a:extLst>
                </a:gridCol>
              </a:tblGrid>
              <a:tr h="279400">
                <a:tc>
                  <a:txBody>
                    <a:bodyPr/>
                    <a:lstStyle/>
                    <a:p>
                      <a:pPr marL="63500" lvl="0" indent="0" algn="l" rtl="0">
                        <a:lnSpc>
                          <a:spcPct val="115000"/>
                        </a:lnSpc>
                        <a:spcBef>
                          <a:spcPts val="0"/>
                        </a:spcBef>
                        <a:spcAft>
                          <a:spcPts val="0"/>
                        </a:spcAft>
                        <a:buNone/>
                      </a:pPr>
                      <a:r>
                        <a:rPr lang="en" sz="1200" b="1" u="sng"/>
                        <a:t>Reagents</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u="sng"/>
                        <a:t>μl per reaction</a:t>
                      </a:r>
                      <a:endParaRPr sz="1200" b="1" u="sng"/>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400">
                <a:tc>
                  <a:txBody>
                    <a:bodyPr/>
                    <a:lstStyle/>
                    <a:p>
                      <a:pPr marL="63500" lvl="0" indent="0" algn="l" rtl="0">
                        <a:lnSpc>
                          <a:spcPct val="115000"/>
                        </a:lnSpc>
                        <a:spcBef>
                          <a:spcPts val="0"/>
                        </a:spcBef>
                        <a:spcAft>
                          <a:spcPts val="0"/>
                        </a:spcAft>
                        <a:buNone/>
                      </a:pPr>
                      <a:r>
                        <a:rPr lang="en" sz="1200"/>
                        <a:t>End prep reaction mixture</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60</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400">
                <a:tc>
                  <a:txBody>
                    <a:bodyPr/>
                    <a:lstStyle/>
                    <a:p>
                      <a:pPr marL="63500" lvl="0" indent="0" algn="l" rtl="0">
                        <a:lnSpc>
                          <a:spcPct val="115000"/>
                        </a:lnSpc>
                        <a:spcBef>
                          <a:spcPts val="0"/>
                        </a:spcBef>
                        <a:spcAft>
                          <a:spcPts val="0"/>
                        </a:spcAft>
                        <a:buNone/>
                      </a:pPr>
                      <a:r>
                        <a:rPr lang="en" sz="1200"/>
                        <a:t>NEBNext Ultra II Ligation Master Mix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30</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400">
                <a:tc>
                  <a:txBody>
                    <a:bodyPr/>
                    <a:lstStyle/>
                    <a:p>
                      <a:pPr marL="63500" lvl="0" indent="0" algn="l" rtl="0">
                        <a:lnSpc>
                          <a:spcPct val="115000"/>
                        </a:lnSpc>
                        <a:spcBef>
                          <a:spcPts val="0"/>
                        </a:spcBef>
                        <a:spcAft>
                          <a:spcPts val="0"/>
                        </a:spcAft>
                        <a:buNone/>
                      </a:pPr>
                      <a:r>
                        <a:rPr lang="en" sz="1200"/>
                        <a:t>NEBNext Ligation Enhancer</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1</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400">
                <a:tc>
                  <a:txBody>
                    <a:bodyPr/>
                    <a:lstStyle/>
                    <a:p>
                      <a:pPr marL="63500" lvl="0" indent="0" algn="l" rtl="0">
                        <a:lnSpc>
                          <a:spcPct val="115000"/>
                        </a:lnSpc>
                        <a:spcBef>
                          <a:spcPts val="0"/>
                        </a:spcBef>
                        <a:spcAft>
                          <a:spcPts val="0"/>
                        </a:spcAft>
                        <a:buNone/>
                      </a:pPr>
                      <a:r>
                        <a:rPr lang="en" sz="1200"/>
                        <a:t>1:10 Adapters </a:t>
                      </a:r>
                      <a:endParaRPr sz="1200"/>
                    </a:p>
                    <a:p>
                      <a:pPr marL="63500" lvl="0" indent="0" algn="l" rtl="0">
                        <a:lnSpc>
                          <a:spcPct val="115000"/>
                        </a:lnSpc>
                        <a:spcBef>
                          <a:spcPts val="0"/>
                        </a:spcBef>
                        <a:spcAft>
                          <a:spcPts val="0"/>
                        </a:spcAft>
                        <a:buNone/>
                      </a:pPr>
                      <a:r>
                        <a:rPr lang="en" sz="1200"/>
                        <a:t>(only add at the very end, do not pre-mix)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2.5</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79400">
                <a:tc>
                  <a:txBody>
                    <a:bodyPr/>
                    <a:lstStyle/>
                    <a:p>
                      <a:pPr marL="63500" lvl="0" indent="0" algn="l" rtl="0">
                        <a:lnSpc>
                          <a:spcPct val="115000"/>
                        </a:lnSpc>
                        <a:spcBef>
                          <a:spcPts val="0"/>
                        </a:spcBef>
                        <a:spcAft>
                          <a:spcPts val="0"/>
                        </a:spcAft>
                        <a:buNone/>
                      </a:pPr>
                      <a:r>
                        <a:rPr lang="en" sz="1200" b="1" u="sng"/>
                        <a:t>Total volume</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a:t>93.5</a:t>
                      </a:r>
                      <a:endParaRPr sz="1200" b="1"/>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bl>
          </a:graphicData>
        </a:graphic>
      </p:graphicFrame>
      <p:sp>
        <p:nvSpPr>
          <p:cNvPr id="325" name="Google Shape;325;p35"/>
          <p:cNvSpPr txBox="1"/>
          <p:nvPr/>
        </p:nvSpPr>
        <p:spPr>
          <a:xfrm>
            <a:off x="4781450" y="1369400"/>
            <a:ext cx="4362600" cy="2247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2. Thermocycler (HEATED LID OFF):</a:t>
            </a:r>
            <a:endParaRPr sz="1300"/>
          </a:p>
          <a:p>
            <a:pPr marL="914400" lvl="0" indent="-311150" algn="l" rtl="0">
              <a:lnSpc>
                <a:spcPct val="150000"/>
              </a:lnSpc>
              <a:spcBef>
                <a:spcPts val="0"/>
              </a:spcBef>
              <a:spcAft>
                <a:spcPts val="0"/>
              </a:spcAft>
              <a:buSzPts val="1300"/>
              <a:buAutoNum type="alphaUcPeriod"/>
            </a:pPr>
            <a:r>
              <a:rPr lang="en" sz="1300"/>
              <a:t>15 min at 20</a:t>
            </a:r>
            <a:r>
              <a:rPr lang="en" sz="1300" baseline="30000"/>
              <a:t>o</a:t>
            </a:r>
            <a:r>
              <a:rPr lang="en" sz="1300"/>
              <a:t>C</a:t>
            </a:r>
            <a:endParaRPr sz="1300"/>
          </a:p>
        </p:txBody>
      </p:sp>
      <p:cxnSp>
        <p:nvCxnSpPr>
          <p:cNvPr id="326" name="Google Shape;326;p35"/>
          <p:cNvCxnSpPr/>
          <p:nvPr/>
        </p:nvCxnSpPr>
        <p:spPr>
          <a:xfrm>
            <a:off x="1573000" y="1573000"/>
            <a:ext cx="3121200" cy="0"/>
          </a:xfrm>
          <a:prstGeom prst="straightConnector1">
            <a:avLst/>
          </a:prstGeom>
          <a:noFill/>
          <a:ln w="9525" cap="flat" cmpd="sng">
            <a:solidFill>
              <a:schemeClr val="dk2"/>
            </a:solidFill>
            <a:prstDash val="solid"/>
            <a:round/>
            <a:headEnd type="none" w="med" len="med"/>
            <a:tailEnd type="triangle" w="med" len="med"/>
          </a:ln>
        </p:spPr>
      </p:cxnSp>
      <p:pic>
        <p:nvPicPr>
          <p:cNvPr id="327" name="Google Shape;327;p35"/>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328" name="Google Shape;328;p35"/>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329" name="Google Shape;329;p35"/>
          <p:cNvSpPr txBox="1"/>
          <p:nvPr/>
        </p:nvSpPr>
        <p:spPr>
          <a:xfrm>
            <a:off x="4781450" y="4378400"/>
            <a:ext cx="4362600" cy="76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3. Proceed immediately to SPRI bead cleanup (0.9x)</a:t>
            </a:r>
            <a:endParaRPr sz="1300"/>
          </a:p>
        </p:txBody>
      </p:sp>
      <p:cxnSp>
        <p:nvCxnSpPr>
          <p:cNvPr id="330" name="Google Shape;330;p35"/>
          <p:cNvCxnSpPr/>
          <p:nvPr/>
        </p:nvCxnSpPr>
        <p:spPr>
          <a:xfrm>
            <a:off x="6169925" y="2121025"/>
            <a:ext cx="0" cy="2209800"/>
          </a:xfrm>
          <a:prstGeom prst="straightConnector1">
            <a:avLst/>
          </a:prstGeom>
          <a:noFill/>
          <a:ln w="9525" cap="flat" cmpd="sng">
            <a:solidFill>
              <a:schemeClr val="dk2"/>
            </a:solidFill>
            <a:prstDash val="solid"/>
            <a:round/>
            <a:headEnd type="none" w="med" len="med"/>
            <a:tailEnd type="triangle" w="med" len="med"/>
          </a:ln>
        </p:spPr>
      </p:cxnSp>
      <p:sp>
        <p:nvSpPr>
          <p:cNvPr id="331" name="Google Shape;331;p35"/>
          <p:cNvSpPr txBox="1"/>
          <p:nvPr/>
        </p:nvSpPr>
        <p:spPr>
          <a:xfrm>
            <a:off x="6880821" y="336587"/>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999999"/>
                </a:solidFill>
              </a:rPr>
              <a:t>All in pre-PCR lab</a:t>
            </a:r>
            <a:endParaRPr sz="1300" b="1">
              <a:solidFill>
                <a:srgbClr val="999999"/>
              </a:solidFill>
            </a:endParaRPr>
          </a:p>
        </p:txBody>
      </p:sp>
      <p:sp>
        <p:nvSpPr>
          <p:cNvPr id="2" name="Footer Placeholder 1">
            <a:extLst>
              <a:ext uri="{FF2B5EF4-FFF2-40B4-BE49-F238E27FC236}">
                <a16:creationId xmlns:a16="http://schemas.microsoft.com/office/drawing/2014/main" id="{BEB39293-3177-1CB7-1150-14D46180705F}"/>
              </a:ext>
            </a:extLst>
          </p:cNvPr>
          <p:cNvSpPr>
            <a:spLocks noGrp="1"/>
          </p:cNvSpPr>
          <p:nvPr>
            <p:ph type="ftr" sz="quarter" idx="11"/>
          </p:nvPr>
        </p:nvSpPr>
        <p:spPr>
          <a:xfrm>
            <a:off x="8014447" y="4869657"/>
            <a:ext cx="1129553"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6"/>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F. USER digestion and Barcoding PCR</a:t>
            </a:r>
            <a:endParaRPr sz="1700"/>
          </a:p>
          <a:p>
            <a:pPr marL="457200" marR="0" lvl="0" indent="-311150" algn="l" rtl="0">
              <a:lnSpc>
                <a:spcPct val="200000"/>
              </a:lnSpc>
              <a:spcBef>
                <a:spcPts val="0"/>
              </a:spcBef>
              <a:spcAft>
                <a:spcPts val="0"/>
              </a:spcAft>
              <a:buSzPts val="1300"/>
              <a:buAutoNum type="arabicPeriod"/>
            </a:pPr>
            <a:r>
              <a:rPr lang="en" sz="1300"/>
              <a:t>Prepare mix</a:t>
            </a:r>
            <a:endParaRPr sz="1300"/>
          </a:p>
        </p:txBody>
      </p:sp>
      <p:graphicFrame>
        <p:nvGraphicFramePr>
          <p:cNvPr id="337" name="Google Shape;337;p36"/>
          <p:cNvGraphicFramePr/>
          <p:nvPr/>
        </p:nvGraphicFramePr>
        <p:xfrm>
          <a:off x="379675" y="2015125"/>
          <a:ext cx="4235875" cy="2446147"/>
        </p:xfrm>
        <a:graphic>
          <a:graphicData uri="http://schemas.openxmlformats.org/drawingml/2006/table">
            <a:tbl>
              <a:tblPr>
                <a:noFill/>
                <a:tableStyleId>{4C5303A6-42BC-42D0-AC04-2170BE719537}</a:tableStyleId>
              </a:tblPr>
              <a:tblGrid>
                <a:gridCol w="3407625">
                  <a:extLst>
                    <a:ext uri="{9D8B030D-6E8A-4147-A177-3AD203B41FA5}">
                      <a16:colId xmlns:a16="http://schemas.microsoft.com/office/drawing/2014/main" val="20000"/>
                    </a:ext>
                  </a:extLst>
                </a:gridCol>
                <a:gridCol w="828250">
                  <a:extLst>
                    <a:ext uri="{9D8B030D-6E8A-4147-A177-3AD203B41FA5}">
                      <a16:colId xmlns:a16="http://schemas.microsoft.com/office/drawing/2014/main" val="20001"/>
                    </a:ext>
                  </a:extLst>
                </a:gridCol>
              </a:tblGrid>
              <a:tr h="279400">
                <a:tc>
                  <a:txBody>
                    <a:bodyPr/>
                    <a:lstStyle/>
                    <a:p>
                      <a:pPr marL="63500" lvl="0" indent="0" algn="l" rtl="0">
                        <a:lnSpc>
                          <a:spcPct val="115000"/>
                        </a:lnSpc>
                        <a:spcBef>
                          <a:spcPts val="0"/>
                        </a:spcBef>
                        <a:spcAft>
                          <a:spcPts val="0"/>
                        </a:spcAft>
                        <a:buNone/>
                      </a:pPr>
                      <a:r>
                        <a:rPr lang="en" sz="1200" b="1" u="sng"/>
                        <a:t>Reagents</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u="sng"/>
                        <a:t>μl per reaction</a:t>
                      </a:r>
                      <a:endParaRPr sz="1200" b="1" u="sng"/>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279400">
                <a:tc>
                  <a:txBody>
                    <a:bodyPr/>
                    <a:lstStyle/>
                    <a:p>
                      <a:pPr marL="63500" lvl="0" indent="0" algn="l" rtl="0">
                        <a:lnSpc>
                          <a:spcPct val="115000"/>
                        </a:lnSpc>
                        <a:spcBef>
                          <a:spcPts val="0"/>
                        </a:spcBef>
                        <a:spcAft>
                          <a:spcPts val="0"/>
                        </a:spcAft>
                        <a:buNone/>
                      </a:pPr>
                      <a:r>
                        <a:rPr lang="en" sz="1200"/>
                        <a:t>Purified, adapter-ligated dsDNA</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15</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79400">
                <a:tc>
                  <a:txBody>
                    <a:bodyPr/>
                    <a:lstStyle/>
                    <a:p>
                      <a:pPr marL="63500" lvl="0" indent="0" algn="l" rtl="0">
                        <a:lnSpc>
                          <a:spcPct val="115000"/>
                        </a:lnSpc>
                        <a:spcBef>
                          <a:spcPts val="0"/>
                        </a:spcBef>
                        <a:spcAft>
                          <a:spcPts val="0"/>
                        </a:spcAft>
                        <a:buNone/>
                      </a:pPr>
                      <a:r>
                        <a:rPr lang="en" sz="1200"/>
                        <a:t>USER Enzyme</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3</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79400">
                <a:tc>
                  <a:txBody>
                    <a:bodyPr/>
                    <a:lstStyle/>
                    <a:p>
                      <a:pPr marL="63500" lvl="0" indent="0" algn="l" rtl="0">
                        <a:lnSpc>
                          <a:spcPct val="115000"/>
                        </a:lnSpc>
                        <a:spcBef>
                          <a:spcPts val="0"/>
                        </a:spcBef>
                        <a:spcAft>
                          <a:spcPts val="0"/>
                        </a:spcAft>
                        <a:buNone/>
                      </a:pPr>
                      <a:r>
                        <a:rPr lang="en" sz="1200"/>
                        <a:t>NEBNext Ultra II Q5 Master Mix</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25</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79400">
                <a:tc>
                  <a:txBody>
                    <a:bodyPr/>
                    <a:lstStyle/>
                    <a:p>
                      <a:pPr marL="63500" lvl="0" indent="0" algn="l" rtl="0">
                        <a:lnSpc>
                          <a:spcPct val="115000"/>
                        </a:lnSpc>
                        <a:spcBef>
                          <a:spcPts val="0"/>
                        </a:spcBef>
                        <a:spcAft>
                          <a:spcPts val="0"/>
                        </a:spcAft>
                        <a:buNone/>
                      </a:pPr>
                      <a:r>
                        <a:rPr lang="en" sz="1200"/>
                        <a:t>5 μM i7 barcoded primer</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5</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79400">
                <a:tc>
                  <a:txBody>
                    <a:bodyPr/>
                    <a:lstStyle/>
                    <a:p>
                      <a:pPr marL="63500" lvl="0" indent="0" algn="l" rtl="0">
                        <a:lnSpc>
                          <a:spcPct val="115000"/>
                        </a:lnSpc>
                        <a:spcBef>
                          <a:spcPts val="0"/>
                        </a:spcBef>
                        <a:spcAft>
                          <a:spcPts val="0"/>
                        </a:spcAft>
                        <a:buNone/>
                      </a:pPr>
                      <a:r>
                        <a:rPr lang="en" sz="1200"/>
                        <a:t>5 μM i5 barcoded primer</a:t>
                      </a:r>
                      <a:endParaRPr sz="1200"/>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a:t>5</a:t>
                      </a:r>
                      <a:endParaRPr sz="1200"/>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79400">
                <a:tc>
                  <a:txBody>
                    <a:bodyPr/>
                    <a:lstStyle/>
                    <a:p>
                      <a:pPr marL="63500" lvl="0" indent="0" algn="l" rtl="0">
                        <a:lnSpc>
                          <a:spcPct val="115000"/>
                        </a:lnSpc>
                        <a:spcBef>
                          <a:spcPts val="0"/>
                        </a:spcBef>
                        <a:spcAft>
                          <a:spcPts val="0"/>
                        </a:spcAft>
                        <a:buNone/>
                      </a:pPr>
                      <a:r>
                        <a:rPr lang="en" sz="1200" b="1" u="sng"/>
                        <a:t>Total volume</a:t>
                      </a:r>
                      <a:endParaRPr sz="1200" b="1" u="sng"/>
                    </a:p>
                  </a:txBody>
                  <a:tcPr marL="63500" marR="63500" marT="63500" marB="635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63500" lvl="0" indent="0" algn="ctr" rtl="0">
                        <a:lnSpc>
                          <a:spcPct val="115000"/>
                        </a:lnSpc>
                        <a:spcBef>
                          <a:spcPts val="0"/>
                        </a:spcBef>
                        <a:spcAft>
                          <a:spcPts val="0"/>
                        </a:spcAft>
                        <a:buNone/>
                      </a:pPr>
                      <a:r>
                        <a:rPr lang="en" sz="1200" b="1"/>
                        <a:t>53</a:t>
                      </a:r>
                      <a:endParaRPr sz="1200" b="1"/>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bl>
          </a:graphicData>
        </a:graphic>
      </p:graphicFrame>
      <p:cxnSp>
        <p:nvCxnSpPr>
          <p:cNvPr id="338" name="Google Shape;338;p36"/>
          <p:cNvCxnSpPr/>
          <p:nvPr/>
        </p:nvCxnSpPr>
        <p:spPr>
          <a:xfrm>
            <a:off x="1573000" y="1573000"/>
            <a:ext cx="3233400" cy="0"/>
          </a:xfrm>
          <a:prstGeom prst="straightConnector1">
            <a:avLst/>
          </a:prstGeom>
          <a:noFill/>
          <a:ln w="9525" cap="flat" cmpd="sng">
            <a:solidFill>
              <a:schemeClr val="dk2"/>
            </a:solidFill>
            <a:prstDash val="solid"/>
            <a:round/>
            <a:headEnd type="none" w="med" len="med"/>
            <a:tailEnd type="triangle" w="med" len="med"/>
          </a:ln>
        </p:spPr>
      </p:cxnSp>
      <p:pic>
        <p:nvPicPr>
          <p:cNvPr id="339" name="Google Shape;339;p36"/>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340" name="Google Shape;340;p36"/>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341" name="Google Shape;341;p36"/>
          <p:cNvSpPr txBox="1"/>
          <p:nvPr/>
        </p:nvSpPr>
        <p:spPr>
          <a:xfrm>
            <a:off x="5238650" y="1360800"/>
            <a:ext cx="4362600" cy="861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2. Bring tubes/plate to POST-PCR lab</a:t>
            </a:r>
            <a:endParaRPr sz="1300"/>
          </a:p>
          <a:p>
            <a:pPr marL="0" lvl="0" indent="0" algn="l" rtl="0">
              <a:lnSpc>
                <a:spcPct val="150000"/>
              </a:lnSpc>
              <a:spcBef>
                <a:spcPts val="0"/>
              </a:spcBef>
              <a:spcAft>
                <a:spcPts val="0"/>
              </a:spcAft>
              <a:buNone/>
            </a:pPr>
            <a:endParaRPr sz="1300"/>
          </a:p>
        </p:txBody>
      </p:sp>
      <p:cxnSp>
        <p:nvCxnSpPr>
          <p:cNvPr id="342" name="Google Shape;342;p36"/>
          <p:cNvCxnSpPr/>
          <p:nvPr/>
        </p:nvCxnSpPr>
        <p:spPr>
          <a:xfrm>
            <a:off x="6627125" y="1810200"/>
            <a:ext cx="0" cy="299700"/>
          </a:xfrm>
          <a:prstGeom prst="straightConnector1">
            <a:avLst/>
          </a:prstGeom>
          <a:noFill/>
          <a:ln w="9525" cap="flat" cmpd="sng">
            <a:solidFill>
              <a:schemeClr val="dk2"/>
            </a:solidFill>
            <a:prstDash val="solid"/>
            <a:round/>
            <a:headEnd type="none" w="med" len="med"/>
            <a:tailEnd type="triangle" w="med" len="med"/>
          </a:ln>
        </p:spPr>
      </p:cxnSp>
      <p:grpSp>
        <p:nvGrpSpPr>
          <p:cNvPr id="343" name="Google Shape;343;p36"/>
          <p:cNvGrpSpPr/>
          <p:nvPr/>
        </p:nvGrpSpPr>
        <p:grpSpPr>
          <a:xfrm>
            <a:off x="5238650" y="2131400"/>
            <a:ext cx="4362600" cy="2247000"/>
            <a:chOff x="5010050" y="2817200"/>
            <a:chExt cx="4362600" cy="2247000"/>
          </a:xfrm>
        </p:grpSpPr>
        <p:sp>
          <p:nvSpPr>
            <p:cNvPr id="344" name="Google Shape;344;p36"/>
            <p:cNvSpPr txBox="1"/>
            <p:nvPr/>
          </p:nvSpPr>
          <p:spPr>
            <a:xfrm>
              <a:off x="5010050" y="2817200"/>
              <a:ext cx="4362600" cy="2247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3. Thermocycler (Heated lid at 105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15 min at 37</a:t>
              </a:r>
              <a:r>
                <a:rPr lang="en" sz="1300" baseline="30000"/>
                <a:t>o</a:t>
              </a:r>
              <a:r>
                <a:rPr lang="en" sz="1300"/>
                <a:t>C: USER enzyme activity</a:t>
              </a:r>
              <a:endParaRPr sz="1300"/>
            </a:p>
            <a:p>
              <a:pPr marL="914400" lvl="0" indent="-311150" algn="l" rtl="0">
                <a:lnSpc>
                  <a:spcPct val="150000"/>
                </a:lnSpc>
                <a:spcBef>
                  <a:spcPts val="0"/>
                </a:spcBef>
                <a:spcAft>
                  <a:spcPts val="0"/>
                </a:spcAft>
                <a:buSzPts val="1300"/>
                <a:buAutoNum type="alphaUcPeriod"/>
              </a:pPr>
              <a:r>
                <a:rPr lang="en" sz="1300"/>
                <a:t>30 sec at 98</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10 sec at 98</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75 sec at 65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5 min at 65</a:t>
              </a:r>
              <a:r>
                <a:rPr lang="en" sz="1300" baseline="30000"/>
                <a:t>o</a:t>
              </a:r>
              <a:r>
                <a:rPr lang="en" sz="1300"/>
                <a:t>C</a:t>
              </a:r>
              <a:endParaRPr sz="1300"/>
            </a:p>
            <a:p>
              <a:pPr marL="914400" lvl="0" indent="-311150" algn="l" rtl="0">
                <a:lnSpc>
                  <a:spcPct val="150000"/>
                </a:lnSpc>
                <a:spcBef>
                  <a:spcPts val="0"/>
                </a:spcBef>
                <a:spcAft>
                  <a:spcPts val="0"/>
                </a:spcAft>
                <a:buSzPts val="1300"/>
                <a:buAutoNum type="alphaUcPeriod"/>
              </a:pPr>
              <a:r>
                <a:rPr lang="en" sz="1300"/>
                <a:t>Hold at 4</a:t>
              </a:r>
              <a:r>
                <a:rPr lang="en" sz="1300" baseline="30000"/>
                <a:t>o</a:t>
              </a:r>
              <a:r>
                <a:rPr lang="en" sz="1300"/>
                <a:t>C</a:t>
              </a:r>
              <a:endParaRPr sz="1300"/>
            </a:p>
          </p:txBody>
        </p:sp>
        <p:cxnSp>
          <p:nvCxnSpPr>
            <p:cNvPr id="345" name="Google Shape;345;p36"/>
            <p:cNvCxnSpPr/>
            <p:nvPr/>
          </p:nvCxnSpPr>
          <p:spPr>
            <a:xfrm>
              <a:off x="7247850" y="3819775"/>
              <a:ext cx="0" cy="471600"/>
            </a:xfrm>
            <a:prstGeom prst="straightConnector1">
              <a:avLst/>
            </a:prstGeom>
            <a:noFill/>
            <a:ln w="9525" cap="flat" cmpd="sng">
              <a:solidFill>
                <a:schemeClr val="dk2"/>
              </a:solidFill>
              <a:prstDash val="solid"/>
              <a:round/>
              <a:headEnd type="none" w="med" len="med"/>
              <a:tailEnd type="none" w="med" len="med"/>
            </a:ln>
          </p:spPr>
        </p:cxnSp>
        <p:sp>
          <p:nvSpPr>
            <p:cNvPr id="346" name="Google Shape;346;p36"/>
            <p:cNvSpPr txBox="1"/>
            <p:nvPr/>
          </p:nvSpPr>
          <p:spPr>
            <a:xfrm>
              <a:off x="7019250" y="3892825"/>
              <a:ext cx="1614600" cy="48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6 to 15 cycles</a:t>
              </a:r>
              <a:endParaRPr sz="1300"/>
            </a:p>
          </p:txBody>
        </p:sp>
      </p:grpSp>
      <p:cxnSp>
        <p:nvCxnSpPr>
          <p:cNvPr id="347" name="Google Shape;347;p36"/>
          <p:cNvCxnSpPr/>
          <p:nvPr/>
        </p:nvCxnSpPr>
        <p:spPr>
          <a:xfrm>
            <a:off x="6627125" y="4254625"/>
            <a:ext cx="0" cy="299700"/>
          </a:xfrm>
          <a:prstGeom prst="straightConnector1">
            <a:avLst/>
          </a:prstGeom>
          <a:noFill/>
          <a:ln w="9525" cap="flat" cmpd="sng">
            <a:solidFill>
              <a:schemeClr val="dk2"/>
            </a:solidFill>
            <a:prstDash val="solid"/>
            <a:round/>
            <a:headEnd type="none" w="med" len="med"/>
            <a:tailEnd type="triangle" w="med" len="med"/>
          </a:ln>
        </p:spPr>
      </p:cxnSp>
      <p:sp>
        <p:nvSpPr>
          <p:cNvPr id="348" name="Google Shape;348;p36"/>
          <p:cNvSpPr txBox="1"/>
          <p:nvPr/>
        </p:nvSpPr>
        <p:spPr>
          <a:xfrm>
            <a:off x="5238650" y="4545550"/>
            <a:ext cx="4362600" cy="477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4. SPRI bead cleanup to remove amplified dimers</a:t>
            </a:r>
            <a:endParaRPr sz="1300"/>
          </a:p>
          <a:p>
            <a:pPr marL="0" lvl="0" indent="0" algn="l" rtl="0">
              <a:lnSpc>
                <a:spcPct val="150000"/>
              </a:lnSpc>
              <a:spcBef>
                <a:spcPts val="0"/>
              </a:spcBef>
              <a:spcAft>
                <a:spcPts val="0"/>
              </a:spcAft>
              <a:buNone/>
            </a:pPr>
            <a:endParaRPr sz="1300"/>
          </a:p>
        </p:txBody>
      </p:sp>
      <p:cxnSp>
        <p:nvCxnSpPr>
          <p:cNvPr id="349" name="Google Shape;349;p36"/>
          <p:cNvCxnSpPr/>
          <p:nvPr/>
        </p:nvCxnSpPr>
        <p:spPr>
          <a:xfrm>
            <a:off x="5156050" y="1031025"/>
            <a:ext cx="0" cy="4005600"/>
          </a:xfrm>
          <a:prstGeom prst="straightConnector1">
            <a:avLst/>
          </a:prstGeom>
          <a:noFill/>
          <a:ln w="28575" cap="flat" cmpd="sng">
            <a:solidFill>
              <a:srgbClr val="999999"/>
            </a:solidFill>
            <a:prstDash val="dash"/>
            <a:round/>
            <a:headEnd type="none" w="med" len="med"/>
            <a:tailEnd type="none" w="med" len="med"/>
          </a:ln>
        </p:spPr>
      </p:cxnSp>
      <p:sp>
        <p:nvSpPr>
          <p:cNvPr id="350" name="Google Shape;350;p36"/>
          <p:cNvSpPr txBox="1"/>
          <p:nvPr/>
        </p:nvSpPr>
        <p:spPr>
          <a:xfrm>
            <a:off x="4950475" y="1126956"/>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999999"/>
                </a:solidFill>
              </a:rPr>
              <a:t>Post-PCR lab</a:t>
            </a:r>
            <a:endParaRPr sz="1300" b="1">
              <a:solidFill>
                <a:srgbClr val="999999"/>
              </a:solidFill>
            </a:endParaRPr>
          </a:p>
        </p:txBody>
      </p:sp>
      <p:sp>
        <p:nvSpPr>
          <p:cNvPr id="351" name="Google Shape;351;p36"/>
          <p:cNvSpPr txBox="1"/>
          <p:nvPr/>
        </p:nvSpPr>
        <p:spPr>
          <a:xfrm>
            <a:off x="3788875" y="1126956"/>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999999"/>
                </a:solidFill>
              </a:rPr>
              <a:t>Pre-PCR lab</a:t>
            </a:r>
            <a:endParaRPr sz="1300" b="1">
              <a:solidFill>
                <a:srgbClr val="999999"/>
              </a:solidFill>
            </a:endParaRPr>
          </a:p>
        </p:txBody>
      </p:sp>
      <p:sp>
        <p:nvSpPr>
          <p:cNvPr id="2" name="Footer Placeholder 1">
            <a:extLst>
              <a:ext uri="{FF2B5EF4-FFF2-40B4-BE49-F238E27FC236}">
                <a16:creationId xmlns:a16="http://schemas.microsoft.com/office/drawing/2014/main" id="{BA3F4BDB-D2A2-A05F-555E-18DDF9A0CD64}"/>
              </a:ext>
            </a:extLst>
          </p:cNvPr>
          <p:cNvSpPr>
            <a:spLocks noGrp="1"/>
          </p:cNvSpPr>
          <p:nvPr>
            <p:ph type="ftr" sz="quarter" idx="11"/>
          </p:nvPr>
        </p:nvSpPr>
        <p:spPr>
          <a:xfrm>
            <a:off x="8032385" y="4869657"/>
            <a:ext cx="1111616"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356" name="Google Shape;356;p37"/>
          <p:cNvPicPr preferRelativeResize="0"/>
          <p:nvPr/>
        </p:nvPicPr>
        <p:blipFill>
          <a:blip r:embed="rId3">
            <a:alphaModFix/>
          </a:blip>
          <a:stretch>
            <a:fillRect/>
          </a:stretch>
        </p:blipFill>
        <p:spPr>
          <a:xfrm>
            <a:off x="76200" y="76200"/>
            <a:ext cx="3391808" cy="4991101"/>
          </a:xfrm>
          <a:prstGeom prst="rect">
            <a:avLst/>
          </a:prstGeom>
          <a:noFill/>
          <a:ln>
            <a:noFill/>
          </a:ln>
        </p:spPr>
      </p:pic>
      <p:sp>
        <p:nvSpPr>
          <p:cNvPr id="357" name="Google Shape;357;p37"/>
          <p:cNvSpPr txBox="1"/>
          <p:nvPr/>
        </p:nvSpPr>
        <p:spPr>
          <a:xfrm>
            <a:off x="3268650" y="1280175"/>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a:t>
            </a:r>
            <a:endParaRPr sz="1300"/>
          </a:p>
          <a:p>
            <a:pPr marL="0" lvl="0" indent="0" algn="l" rtl="0">
              <a:spcBef>
                <a:spcPts val="0"/>
              </a:spcBef>
              <a:spcAft>
                <a:spcPts val="0"/>
              </a:spcAft>
              <a:buNone/>
            </a:pPr>
            <a:r>
              <a:rPr lang="en" sz="1300"/>
              <a:t>fragm. by Mg</a:t>
            </a:r>
            <a:r>
              <a:rPr lang="en" sz="1300" baseline="30000"/>
              <a:t>2+</a:t>
            </a:r>
            <a:r>
              <a:rPr lang="en" sz="1300"/>
              <a:t> &amp; heat</a:t>
            </a:r>
            <a:endParaRPr sz="1300"/>
          </a:p>
        </p:txBody>
      </p:sp>
      <p:sp>
        <p:nvSpPr>
          <p:cNvPr id="358" name="Google Shape;358;p37"/>
          <p:cNvSpPr txBox="1"/>
          <p:nvPr/>
        </p:nvSpPr>
        <p:spPr>
          <a:xfrm>
            <a:off x="3268650" y="1969975"/>
            <a:ext cx="17016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for 1</a:t>
            </a:r>
            <a:r>
              <a:rPr lang="en" sz="1300" baseline="30000"/>
              <a:t>st</a:t>
            </a:r>
            <a:r>
              <a:rPr lang="en" sz="1300"/>
              <a:t> str. synt.</a:t>
            </a:r>
            <a:endParaRPr sz="1300"/>
          </a:p>
          <a:p>
            <a:pPr marL="0" lvl="0" indent="0" algn="l" rtl="0">
              <a:spcBef>
                <a:spcPts val="0"/>
              </a:spcBef>
              <a:spcAft>
                <a:spcPts val="0"/>
              </a:spcAft>
              <a:buNone/>
            </a:pPr>
            <a:r>
              <a:rPr lang="en" sz="1300"/>
              <a:t>1 rxn for 2</a:t>
            </a:r>
            <a:r>
              <a:rPr lang="en" sz="1300" baseline="30000"/>
              <a:t>nd</a:t>
            </a:r>
            <a:r>
              <a:rPr lang="en" sz="1300"/>
              <a:t> str. synt.</a:t>
            </a:r>
            <a:endParaRPr sz="1300"/>
          </a:p>
        </p:txBody>
      </p:sp>
      <p:sp>
        <p:nvSpPr>
          <p:cNvPr id="359" name="Google Shape;359;p37"/>
          <p:cNvSpPr txBox="1"/>
          <p:nvPr/>
        </p:nvSpPr>
        <p:spPr>
          <a:xfrm>
            <a:off x="3268650" y="2730050"/>
            <a:ext cx="680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360" name="Google Shape;360;p37"/>
          <p:cNvSpPr txBox="1"/>
          <p:nvPr/>
        </p:nvSpPr>
        <p:spPr>
          <a:xfrm>
            <a:off x="3268650" y="3389750"/>
            <a:ext cx="14271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U shaped adapters </a:t>
            </a:r>
            <a:endParaRPr sz="1300"/>
          </a:p>
        </p:txBody>
      </p:sp>
      <p:sp>
        <p:nvSpPr>
          <p:cNvPr id="361" name="Google Shape;361;p37"/>
          <p:cNvSpPr txBox="1"/>
          <p:nvPr/>
        </p:nvSpPr>
        <p:spPr>
          <a:xfrm>
            <a:off x="326865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cxnSp>
        <p:nvCxnSpPr>
          <p:cNvPr id="362" name="Google Shape;362;p37"/>
          <p:cNvCxnSpPr/>
          <p:nvPr/>
        </p:nvCxnSpPr>
        <p:spPr>
          <a:xfrm>
            <a:off x="3256100" y="1196775"/>
            <a:ext cx="0" cy="640200"/>
          </a:xfrm>
          <a:prstGeom prst="straightConnector1">
            <a:avLst/>
          </a:prstGeom>
          <a:noFill/>
          <a:ln w="9525" cap="flat" cmpd="sng">
            <a:solidFill>
              <a:schemeClr val="dk2"/>
            </a:solidFill>
            <a:prstDash val="solid"/>
            <a:round/>
            <a:headEnd type="none" w="med" len="med"/>
            <a:tailEnd type="none" w="med" len="med"/>
          </a:ln>
        </p:spPr>
      </p:cxnSp>
      <p:sp>
        <p:nvSpPr>
          <p:cNvPr id="363" name="Google Shape;363;p37"/>
          <p:cNvSpPr txBox="1"/>
          <p:nvPr/>
        </p:nvSpPr>
        <p:spPr>
          <a:xfrm>
            <a:off x="2989325"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NEBNext </a:t>
            </a:r>
            <a:endParaRPr b="1"/>
          </a:p>
          <a:p>
            <a:pPr marL="0" lvl="0" indent="0" algn="ctr" rtl="0">
              <a:spcBef>
                <a:spcPts val="0"/>
              </a:spcBef>
              <a:spcAft>
                <a:spcPts val="0"/>
              </a:spcAft>
              <a:buNone/>
            </a:pPr>
            <a:r>
              <a:rPr lang="en" b="1"/>
              <a:t>Ultra II RNA</a:t>
            </a:r>
            <a:endParaRPr b="1"/>
          </a:p>
        </p:txBody>
      </p:sp>
      <p:sp>
        <p:nvSpPr>
          <p:cNvPr id="364" name="Google Shape;364;p37"/>
          <p:cNvSpPr txBox="1"/>
          <p:nvPr/>
        </p:nvSpPr>
        <p:spPr>
          <a:xfrm>
            <a:off x="707500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Nextera</a:t>
            </a:r>
            <a:endParaRPr b="1"/>
          </a:p>
        </p:txBody>
      </p:sp>
      <p:sp>
        <p:nvSpPr>
          <p:cNvPr id="365" name="Google Shape;365;p37"/>
          <p:cNvSpPr txBox="1"/>
          <p:nvPr/>
        </p:nvSpPr>
        <p:spPr>
          <a:xfrm>
            <a:off x="504055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TruSeq</a:t>
            </a:r>
            <a:endParaRPr b="1"/>
          </a:p>
        </p:txBody>
      </p:sp>
      <p:grpSp>
        <p:nvGrpSpPr>
          <p:cNvPr id="366" name="Google Shape;366;p37"/>
          <p:cNvGrpSpPr/>
          <p:nvPr/>
        </p:nvGrpSpPr>
        <p:grpSpPr>
          <a:xfrm>
            <a:off x="5275050" y="1280175"/>
            <a:ext cx="1848300" cy="3481400"/>
            <a:chOff x="5351250" y="1280175"/>
            <a:chExt cx="1848300" cy="3481400"/>
          </a:xfrm>
        </p:grpSpPr>
        <p:sp>
          <p:nvSpPr>
            <p:cNvPr id="367" name="Google Shape;367;p37"/>
            <p:cNvSpPr txBox="1"/>
            <p:nvPr/>
          </p:nvSpPr>
          <p:spPr>
            <a:xfrm>
              <a:off x="5351250" y="1280175"/>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a:t>
              </a:r>
              <a:endParaRPr sz="1300"/>
            </a:p>
            <a:p>
              <a:pPr marL="0" lvl="0" indent="0" algn="l" rtl="0">
                <a:spcBef>
                  <a:spcPts val="0"/>
                </a:spcBef>
                <a:spcAft>
                  <a:spcPts val="0"/>
                </a:spcAft>
                <a:buNone/>
              </a:pPr>
              <a:r>
                <a:rPr lang="en" sz="1300"/>
                <a:t>fragm. by Mg</a:t>
              </a:r>
              <a:r>
                <a:rPr lang="en" sz="1300" baseline="30000"/>
                <a:t>2+</a:t>
              </a:r>
              <a:r>
                <a:rPr lang="en" sz="1300"/>
                <a:t> &amp; heat</a:t>
              </a:r>
              <a:endParaRPr sz="1300"/>
            </a:p>
          </p:txBody>
        </p:sp>
        <p:sp>
          <p:nvSpPr>
            <p:cNvPr id="368" name="Google Shape;368;p37"/>
            <p:cNvSpPr txBox="1"/>
            <p:nvPr/>
          </p:nvSpPr>
          <p:spPr>
            <a:xfrm>
              <a:off x="5351250" y="1969975"/>
              <a:ext cx="17016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for 1</a:t>
              </a:r>
              <a:r>
                <a:rPr lang="en" sz="1300" baseline="30000"/>
                <a:t>st</a:t>
              </a:r>
              <a:r>
                <a:rPr lang="en" sz="1300"/>
                <a:t> str. synt.</a:t>
              </a:r>
              <a:endParaRPr sz="1300"/>
            </a:p>
            <a:p>
              <a:pPr marL="0" lvl="0" indent="0" algn="l" rtl="0">
                <a:spcBef>
                  <a:spcPts val="0"/>
                </a:spcBef>
                <a:spcAft>
                  <a:spcPts val="0"/>
                </a:spcAft>
                <a:buNone/>
              </a:pPr>
              <a:r>
                <a:rPr lang="en" sz="1300"/>
                <a:t>1 rxn for 2</a:t>
              </a:r>
              <a:r>
                <a:rPr lang="en" sz="1300" baseline="30000"/>
                <a:t>nd</a:t>
              </a:r>
              <a:r>
                <a:rPr lang="en" sz="1300"/>
                <a:t> str. synt.</a:t>
              </a:r>
              <a:endParaRPr sz="1300"/>
            </a:p>
          </p:txBody>
        </p:sp>
        <p:sp>
          <p:nvSpPr>
            <p:cNvPr id="369" name="Google Shape;369;p37"/>
            <p:cNvSpPr txBox="1"/>
            <p:nvPr/>
          </p:nvSpPr>
          <p:spPr>
            <a:xfrm>
              <a:off x="5351250" y="2730050"/>
              <a:ext cx="680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370" name="Google Shape;370;p37"/>
            <p:cNvSpPr txBox="1"/>
            <p:nvPr/>
          </p:nvSpPr>
          <p:spPr>
            <a:xfrm>
              <a:off x="5351250" y="3389750"/>
              <a:ext cx="14271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Y shaped adapters </a:t>
              </a:r>
              <a:endParaRPr sz="1300"/>
            </a:p>
          </p:txBody>
        </p:sp>
        <p:sp>
          <p:nvSpPr>
            <p:cNvPr id="371" name="Google Shape;371;p37"/>
            <p:cNvSpPr txBox="1"/>
            <p:nvPr/>
          </p:nvSpPr>
          <p:spPr>
            <a:xfrm>
              <a:off x="535125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grpSp>
      <p:cxnSp>
        <p:nvCxnSpPr>
          <p:cNvPr id="372" name="Google Shape;372;p37"/>
          <p:cNvCxnSpPr/>
          <p:nvPr/>
        </p:nvCxnSpPr>
        <p:spPr>
          <a:xfrm>
            <a:off x="5237300" y="1196775"/>
            <a:ext cx="0" cy="640200"/>
          </a:xfrm>
          <a:prstGeom prst="straightConnector1">
            <a:avLst/>
          </a:prstGeom>
          <a:noFill/>
          <a:ln w="9525" cap="flat" cmpd="sng">
            <a:solidFill>
              <a:schemeClr val="dk2"/>
            </a:solidFill>
            <a:prstDash val="solid"/>
            <a:round/>
            <a:headEnd type="none" w="med" len="med"/>
            <a:tailEnd type="none" w="med" len="med"/>
          </a:ln>
        </p:spPr>
      </p:cxnSp>
      <p:sp>
        <p:nvSpPr>
          <p:cNvPr id="373" name="Google Shape;373;p37"/>
          <p:cNvSpPr txBox="1"/>
          <p:nvPr/>
        </p:nvSpPr>
        <p:spPr>
          <a:xfrm>
            <a:off x="7428150" y="2276742"/>
            <a:ext cx="1643400" cy="11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1 rxn, </a:t>
            </a:r>
            <a:endParaRPr sz="1300">
              <a:solidFill>
                <a:schemeClr val="dk1"/>
              </a:solidFill>
            </a:endParaRPr>
          </a:p>
          <a:p>
            <a:pPr marL="0" lvl="0" indent="0" algn="l" rtl="0">
              <a:spcBef>
                <a:spcPts val="0"/>
              </a:spcBef>
              <a:spcAft>
                <a:spcPts val="0"/>
              </a:spcAft>
              <a:buNone/>
            </a:pPr>
            <a:r>
              <a:rPr lang="en" sz="1300">
                <a:solidFill>
                  <a:schemeClr val="dk1"/>
                </a:solidFill>
              </a:rPr>
              <a:t>Transposome frag. and ligation of adapters</a:t>
            </a:r>
            <a:endParaRPr sz="1300">
              <a:solidFill>
                <a:schemeClr val="dk1"/>
              </a:solidFill>
            </a:endParaRPr>
          </a:p>
        </p:txBody>
      </p:sp>
      <p:cxnSp>
        <p:nvCxnSpPr>
          <p:cNvPr id="374" name="Google Shape;374;p37"/>
          <p:cNvCxnSpPr/>
          <p:nvPr/>
        </p:nvCxnSpPr>
        <p:spPr>
          <a:xfrm>
            <a:off x="7326350" y="2308300"/>
            <a:ext cx="0" cy="1806600"/>
          </a:xfrm>
          <a:prstGeom prst="straightConnector1">
            <a:avLst/>
          </a:prstGeom>
          <a:noFill/>
          <a:ln w="9525" cap="flat" cmpd="sng">
            <a:solidFill>
              <a:schemeClr val="dk2"/>
            </a:solidFill>
            <a:prstDash val="solid"/>
            <a:round/>
            <a:headEnd type="none" w="med" len="med"/>
            <a:tailEnd type="none" w="med" len="med"/>
          </a:ln>
        </p:spPr>
      </p:cxnSp>
      <p:sp>
        <p:nvSpPr>
          <p:cNvPr id="375" name="Google Shape;375;p37"/>
          <p:cNvSpPr txBox="1"/>
          <p:nvPr/>
        </p:nvSpPr>
        <p:spPr>
          <a:xfrm>
            <a:off x="748085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376" name="Google Shape;376;p37"/>
          <p:cNvSpPr txBox="1"/>
          <p:nvPr/>
        </p:nvSpPr>
        <p:spPr>
          <a:xfrm>
            <a:off x="7492450" y="1454675"/>
            <a:ext cx="1427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cDNA made separately </a:t>
            </a:r>
            <a:endParaRPr sz="1300"/>
          </a:p>
        </p:txBody>
      </p:sp>
      <p:sp>
        <p:nvSpPr>
          <p:cNvPr id="2" name="Footer Placeholder 3">
            <a:extLst>
              <a:ext uri="{FF2B5EF4-FFF2-40B4-BE49-F238E27FC236}">
                <a16:creationId xmlns:a16="http://schemas.microsoft.com/office/drawing/2014/main" id="{6EEF3262-6D2E-5EA3-B967-B1270AD52B1E}"/>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1" name="Google Shape;381;p38"/>
          <p:cNvPicPr preferRelativeResize="0"/>
          <p:nvPr/>
        </p:nvPicPr>
        <p:blipFill rotWithShape="1">
          <a:blip r:embed="rId3">
            <a:alphaModFix/>
          </a:blip>
          <a:srcRect b="50614"/>
          <a:stretch/>
        </p:blipFill>
        <p:spPr>
          <a:xfrm>
            <a:off x="113075" y="184163"/>
            <a:ext cx="750124" cy="405024"/>
          </a:xfrm>
          <a:prstGeom prst="rect">
            <a:avLst/>
          </a:prstGeom>
          <a:noFill/>
          <a:ln>
            <a:noFill/>
          </a:ln>
        </p:spPr>
      </p:pic>
      <p:sp>
        <p:nvSpPr>
          <p:cNvPr id="382" name="Google Shape;382;p38"/>
          <p:cNvSpPr txBox="1">
            <a:spLocks noGrp="1"/>
          </p:cNvSpPr>
          <p:nvPr>
            <p:ph type="title"/>
          </p:nvPr>
        </p:nvSpPr>
        <p:spPr>
          <a:xfrm>
            <a:off x="939400" y="1003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DNA library prep</a:t>
            </a:r>
            <a:endParaRPr/>
          </a:p>
        </p:txBody>
      </p:sp>
      <p:pic>
        <p:nvPicPr>
          <p:cNvPr id="383" name="Google Shape;383;p38"/>
          <p:cNvPicPr preferRelativeResize="0"/>
          <p:nvPr/>
        </p:nvPicPr>
        <p:blipFill rotWithShape="1">
          <a:blip r:embed="rId4">
            <a:alphaModFix/>
          </a:blip>
          <a:srcRect t="54020"/>
          <a:stretch/>
        </p:blipFill>
        <p:spPr>
          <a:xfrm>
            <a:off x="113075" y="2374300"/>
            <a:ext cx="3619824" cy="2449099"/>
          </a:xfrm>
          <a:prstGeom prst="rect">
            <a:avLst/>
          </a:prstGeom>
          <a:noFill/>
          <a:ln>
            <a:noFill/>
          </a:ln>
        </p:spPr>
      </p:pic>
      <p:sp>
        <p:nvSpPr>
          <p:cNvPr id="384" name="Google Shape;384;p38"/>
          <p:cNvSpPr/>
          <p:nvPr/>
        </p:nvSpPr>
        <p:spPr>
          <a:xfrm>
            <a:off x="238350" y="1010600"/>
            <a:ext cx="26991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8"/>
          <p:cNvSpPr/>
          <p:nvPr/>
        </p:nvSpPr>
        <p:spPr>
          <a:xfrm>
            <a:off x="238350" y="1134425"/>
            <a:ext cx="26991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8"/>
          <p:cNvSpPr txBox="1"/>
          <p:nvPr/>
        </p:nvSpPr>
        <p:spPr>
          <a:xfrm>
            <a:off x="1917900" y="571500"/>
            <a:ext cx="13062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t>gDNA or cDNA</a:t>
            </a:r>
            <a:endParaRPr sz="1100"/>
          </a:p>
        </p:txBody>
      </p:sp>
      <p:cxnSp>
        <p:nvCxnSpPr>
          <p:cNvPr id="387" name="Google Shape;387;p38"/>
          <p:cNvCxnSpPr/>
          <p:nvPr/>
        </p:nvCxnSpPr>
        <p:spPr>
          <a:xfrm flipH="1">
            <a:off x="1664000" y="1455225"/>
            <a:ext cx="4500" cy="485400"/>
          </a:xfrm>
          <a:prstGeom prst="straightConnector1">
            <a:avLst/>
          </a:prstGeom>
          <a:noFill/>
          <a:ln w="9525" cap="flat" cmpd="sng">
            <a:solidFill>
              <a:srgbClr val="000000"/>
            </a:solidFill>
            <a:prstDash val="solid"/>
            <a:round/>
            <a:headEnd type="none" w="med" len="med"/>
            <a:tailEnd type="triangle" w="med" len="med"/>
          </a:ln>
        </p:spPr>
      </p:cxnSp>
      <p:sp>
        <p:nvSpPr>
          <p:cNvPr id="388" name="Google Shape;388;p38"/>
          <p:cNvSpPr txBox="1"/>
          <p:nvPr/>
        </p:nvSpPr>
        <p:spPr>
          <a:xfrm>
            <a:off x="1767350" y="1490695"/>
            <a:ext cx="13062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t>Fragmentation</a:t>
            </a:r>
            <a:endParaRPr sz="1100"/>
          </a:p>
        </p:txBody>
      </p:sp>
      <p:sp>
        <p:nvSpPr>
          <p:cNvPr id="389" name="Google Shape;389;p38"/>
          <p:cNvSpPr/>
          <p:nvPr/>
        </p:nvSpPr>
        <p:spPr>
          <a:xfrm>
            <a:off x="238350" y="2046725"/>
            <a:ext cx="8808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8"/>
          <p:cNvSpPr/>
          <p:nvPr/>
        </p:nvSpPr>
        <p:spPr>
          <a:xfrm>
            <a:off x="238350" y="2175188"/>
            <a:ext cx="9534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8"/>
          <p:cNvSpPr/>
          <p:nvPr/>
        </p:nvSpPr>
        <p:spPr>
          <a:xfrm>
            <a:off x="1213100" y="2046725"/>
            <a:ext cx="10200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8"/>
          <p:cNvSpPr/>
          <p:nvPr/>
        </p:nvSpPr>
        <p:spPr>
          <a:xfrm>
            <a:off x="1279600" y="2175175"/>
            <a:ext cx="7500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8"/>
          <p:cNvSpPr/>
          <p:nvPr/>
        </p:nvSpPr>
        <p:spPr>
          <a:xfrm>
            <a:off x="2320850" y="2046725"/>
            <a:ext cx="9534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8"/>
          <p:cNvSpPr/>
          <p:nvPr/>
        </p:nvSpPr>
        <p:spPr>
          <a:xfrm>
            <a:off x="2076450" y="2175200"/>
            <a:ext cx="11979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8"/>
          <p:cNvSpPr txBox="1"/>
          <p:nvPr/>
        </p:nvSpPr>
        <p:spPr>
          <a:xfrm>
            <a:off x="3217925"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NEBNext </a:t>
            </a:r>
            <a:endParaRPr b="1"/>
          </a:p>
          <a:p>
            <a:pPr marL="0" lvl="0" indent="0" algn="ctr" rtl="0">
              <a:spcBef>
                <a:spcPts val="0"/>
              </a:spcBef>
              <a:spcAft>
                <a:spcPts val="0"/>
              </a:spcAft>
              <a:buNone/>
            </a:pPr>
            <a:r>
              <a:rPr lang="en" b="1"/>
              <a:t>Ultra II FS DNA</a:t>
            </a:r>
            <a:endParaRPr b="1"/>
          </a:p>
        </p:txBody>
      </p:sp>
      <p:sp>
        <p:nvSpPr>
          <p:cNvPr id="396" name="Google Shape;396;p38"/>
          <p:cNvSpPr txBox="1"/>
          <p:nvPr/>
        </p:nvSpPr>
        <p:spPr>
          <a:xfrm>
            <a:off x="722740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Nextera XT</a:t>
            </a:r>
            <a:endParaRPr b="1"/>
          </a:p>
          <a:p>
            <a:pPr marL="0" lvl="0" indent="0" algn="ctr" rtl="0">
              <a:spcBef>
                <a:spcPts val="0"/>
              </a:spcBef>
              <a:spcAft>
                <a:spcPts val="0"/>
              </a:spcAft>
              <a:buNone/>
            </a:pPr>
            <a:r>
              <a:rPr lang="en"/>
              <a:t>(small genomes, cDNA, amplicons)</a:t>
            </a:r>
            <a:endParaRPr/>
          </a:p>
        </p:txBody>
      </p:sp>
      <p:sp>
        <p:nvSpPr>
          <p:cNvPr id="397" name="Google Shape;397;p38"/>
          <p:cNvSpPr txBox="1"/>
          <p:nvPr/>
        </p:nvSpPr>
        <p:spPr>
          <a:xfrm>
            <a:off x="534535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DNA Prep</a:t>
            </a:r>
            <a:endParaRPr b="1"/>
          </a:p>
          <a:p>
            <a:pPr marL="0" lvl="0" indent="0" algn="ctr" rtl="0">
              <a:spcBef>
                <a:spcPts val="0"/>
              </a:spcBef>
              <a:spcAft>
                <a:spcPts val="0"/>
              </a:spcAft>
              <a:buNone/>
            </a:pPr>
            <a:r>
              <a:rPr lang="en"/>
              <a:t>WGS, cDNA, amplicons</a:t>
            </a:r>
            <a:endParaRPr/>
          </a:p>
        </p:txBody>
      </p:sp>
      <p:cxnSp>
        <p:nvCxnSpPr>
          <p:cNvPr id="398" name="Google Shape;398;p38"/>
          <p:cNvCxnSpPr/>
          <p:nvPr/>
        </p:nvCxnSpPr>
        <p:spPr>
          <a:xfrm>
            <a:off x="3582275" y="1407300"/>
            <a:ext cx="0" cy="1540800"/>
          </a:xfrm>
          <a:prstGeom prst="straightConnector1">
            <a:avLst/>
          </a:prstGeom>
          <a:noFill/>
          <a:ln w="9525" cap="flat" cmpd="sng">
            <a:solidFill>
              <a:schemeClr val="dk2"/>
            </a:solidFill>
            <a:prstDash val="solid"/>
            <a:round/>
            <a:headEnd type="none" w="med" len="med"/>
            <a:tailEnd type="none" w="med" len="med"/>
          </a:ln>
        </p:spPr>
      </p:cxnSp>
      <p:sp>
        <p:nvSpPr>
          <p:cNvPr id="399" name="Google Shape;399;p38"/>
          <p:cNvSpPr txBox="1"/>
          <p:nvPr/>
        </p:nvSpPr>
        <p:spPr>
          <a:xfrm>
            <a:off x="3582275" y="1771700"/>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a:t>
            </a:r>
            <a:endParaRPr sz="1300"/>
          </a:p>
          <a:p>
            <a:pPr marL="0" lvl="0" indent="0" algn="l" rtl="0">
              <a:spcBef>
                <a:spcPts val="0"/>
              </a:spcBef>
              <a:spcAft>
                <a:spcPts val="0"/>
              </a:spcAft>
              <a:buNone/>
            </a:pPr>
            <a:r>
              <a:rPr lang="en" sz="1300"/>
              <a:t>Fragm. enzyme + repair enzymes</a:t>
            </a:r>
            <a:endParaRPr sz="1300"/>
          </a:p>
        </p:txBody>
      </p:sp>
      <p:sp>
        <p:nvSpPr>
          <p:cNvPr id="400" name="Google Shape;400;p38"/>
          <p:cNvSpPr txBox="1"/>
          <p:nvPr/>
        </p:nvSpPr>
        <p:spPr>
          <a:xfrm>
            <a:off x="3582275" y="3038975"/>
            <a:ext cx="14271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U shaped adapters </a:t>
            </a:r>
            <a:endParaRPr sz="1300"/>
          </a:p>
        </p:txBody>
      </p:sp>
      <p:sp>
        <p:nvSpPr>
          <p:cNvPr id="401" name="Google Shape;401;p38"/>
          <p:cNvSpPr txBox="1"/>
          <p:nvPr/>
        </p:nvSpPr>
        <p:spPr>
          <a:xfrm>
            <a:off x="3582275"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402" name="Google Shape;402;p38"/>
          <p:cNvSpPr txBox="1"/>
          <p:nvPr/>
        </p:nvSpPr>
        <p:spPr>
          <a:xfrm>
            <a:off x="558620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cxnSp>
        <p:nvCxnSpPr>
          <p:cNvPr id="403" name="Google Shape;403;p38"/>
          <p:cNvCxnSpPr/>
          <p:nvPr/>
        </p:nvCxnSpPr>
        <p:spPr>
          <a:xfrm flipH="1">
            <a:off x="5492800" y="1407300"/>
            <a:ext cx="2700" cy="256950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404;p38"/>
          <p:cNvCxnSpPr/>
          <p:nvPr/>
        </p:nvCxnSpPr>
        <p:spPr>
          <a:xfrm>
            <a:off x="7389825" y="1407300"/>
            <a:ext cx="0" cy="2582100"/>
          </a:xfrm>
          <a:prstGeom prst="straightConnector1">
            <a:avLst/>
          </a:prstGeom>
          <a:noFill/>
          <a:ln w="9525" cap="flat" cmpd="sng">
            <a:solidFill>
              <a:schemeClr val="dk2"/>
            </a:solidFill>
            <a:prstDash val="solid"/>
            <a:round/>
            <a:headEnd type="none" w="med" len="med"/>
            <a:tailEnd type="none" w="med" len="med"/>
          </a:ln>
        </p:spPr>
      </p:cxnSp>
      <p:sp>
        <p:nvSpPr>
          <p:cNvPr id="405" name="Google Shape;405;p38"/>
          <p:cNvSpPr txBox="1"/>
          <p:nvPr/>
        </p:nvSpPr>
        <p:spPr>
          <a:xfrm>
            <a:off x="5586200" y="1643225"/>
            <a:ext cx="1713000" cy="170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a:t>
            </a:r>
            <a:endParaRPr sz="1300"/>
          </a:p>
          <a:p>
            <a:pPr marL="0" lvl="0" indent="0" algn="l" rtl="0">
              <a:spcBef>
                <a:spcPts val="0"/>
              </a:spcBef>
              <a:spcAft>
                <a:spcPts val="0"/>
              </a:spcAft>
              <a:buNone/>
            </a:pPr>
            <a:r>
              <a:rPr lang="en" sz="1300"/>
              <a:t>Transposome frag. + ligation on bead</a:t>
            </a:r>
            <a:endParaRPr sz="1300"/>
          </a:p>
        </p:txBody>
      </p:sp>
      <p:sp>
        <p:nvSpPr>
          <p:cNvPr id="406" name="Google Shape;406;p38"/>
          <p:cNvSpPr txBox="1"/>
          <p:nvPr/>
        </p:nvSpPr>
        <p:spPr>
          <a:xfrm>
            <a:off x="7466025" y="1643225"/>
            <a:ext cx="1713000" cy="170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a:t>
            </a:r>
            <a:endParaRPr sz="1300"/>
          </a:p>
          <a:p>
            <a:pPr marL="0" lvl="0" indent="0" algn="l" rtl="0">
              <a:spcBef>
                <a:spcPts val="0"/>
              </a:spcBef>
              <a:spcAft>
                <a:spcPts val="0"/>
              </a:spcAft>
              <a:buNone/>
            </a:pPr>
            <a:r>
              <a:rPr lang="en" sz="1300"/>
              <a:t>Transposome frag. + ligation in solution</a:t>
            </a:r>
            <a:endParaRPr sz="1300"/>
          </a:p>
        </p:txBody>
      </p:sp>
      <p:sp>
        <p:nvSpPr>
          <p:cNvPr id="407" name="Google Shape;407;p38"/>
          <p:cNvSpPr txBox="1"/>
          <p:nvPr/>
        </p:nvSpPr>
        <p:spPr>
          <a:xfrm>
            <a:off x="7466025"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408" name="Google Shape;408;p38"/>
          <p:cNvSpPr txBox="1"/>
          <p:nvPr/>
        </p:nvSpPr>
        <p:spPr>
          <a:xfrm>
            <a:off x="3955825" y="0"/>
            <a:ext cx="4337700" cy="50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a:t>DNA library kit options</a:t>
            </a:r>
            <a:endParaRPr sz="2800"/>
          </a:p>
        </p:txBody>
      </p:sp>
      <p:sp>
        <p:nvSpPr>
          <p:cNvPr id="2" name="Footer Placeholder 3">
            <a:extLst>
              <a:ext uri="{FF2B5EF4-FFF2-40B4-BE49-F238E27FC236}">
                <a16:creationId xmlns:a16="http://schemas.microsoft.com/office/drawing/2014/main" id="{751F3652-8DB9-404F-0593-D7142F63D1E8}"/>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9"/>
          <p:cNvSpPr txBox="1"/>
          <p:nvPr/>
        </p:nvSpPr>
        <p:spPr>
          <a:xfrm>
            <a:off x="1382201" y="4271100"/>
            <a:ext cx="16389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b="1">
                <a:solidFill>
                  <a:schemeClr val="dk1"/>
                </a:solidFill>
              </a:rPr>
              <a:t>Dimers </a:t>
            </a:r>
            <a:r>
              <a:rPr lang="en" sz="1300">
                <a:solidFill>
                  <a:schemeClr val="dk1"/>
                </a:solidFill>
              </a:rPr>
              <a:t>(143 bp)</a:t>
            </a:r>
            <a:endParaRPr sz="1300"/>
          </a:p>
        </p:txBody>
      </p:sp>
      <p:pic>
        <p:nvPicPr>
          <p:cNvPr id="415" name="Google Shape;415;p39"/>
          <p:cNvPicPr preferRelativeResize="0"/>
          <p:nvPr/>
        </p:nvPicPr>
        <p:blipFill rotWithShape="1">
          <a:blip r:embed="rId3">
            <a:alphaModFix/>
          </a:blip>
          <a:srcRect/>
          <a:stretch/>
        </p:blipFill>
        <p:spPr>
          <a:xfrm>
            <a:off x="340247" y="2377229"/>
            <a:ext cx="1067990" cy="2597664"/>
          </a:xfrm>
          <a:prstGeom prst="rect">
            <a:avLst/>
          </a:prstGeom>
          <a:noFill/>
          <a:ln>
            <a:noFill/>
          </a:ln>
        </p:spPr>
      </p:pic>
      <p:pic>
        <p:nvPicPr>
          <p:cNvPr id="417" name="Google Shape;417;p39"/>
          <p:cNvPicPr preferRelativeResize="0"/>
          <p:nvPr/>
        </p:nvPicPr>
        <p:blipFill rotWithShape="1">
          <a:blip r:embed="rId4">
            <a:alphaModFix/>
          </a:blip>
          <a:srcRect/>
          <a:stretch/>
        </p:blipFill>
        <p:spPr>
          <a:xfrm>
            <a:off x="3021101" y="2600940"/>
            <a:ext cx="5674182" cy="2268717"/>
          </a:xfrm>
          <a:prstGeom prst="rect">
            <a:avLst/>
          </a:prstGeom>
          <a:noFill/>
          <a:ln>
            <a:noFill/>
          </a:ln>
        </p:spPr>
      </p:pic>
      <p:sp>
        <p:nvSpPr>
          <p:cNvPr id="418" name="Google Shape;418;p39"/>
          <p:cNvSpPr txBox="1"/>
          <p:nvPr/>
        </p:nvSpPr>
        <p:spPr>
          <a:xfrm rot="-5400000">
            <a:off x="4577819" y="3075978"/>
            <a:ext cx="7293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b="1" dirty="0">
                <a:solidFill>
                  <a:schemeClr val="dk1"/>
                </a:solidFill>
              </a:rPr>
              <a:t>Dimers</a:t>
            </a:r>
            <a:endParaRPr sz="1300" dirty="0"/>
          </a:p>
        </p:txBody>
      </p:sp>
      <p:cxnSp>
        <p:nvCxnSpPr>
          <p:cNvPr id="419" name="Google Shape;419;p39"/>
          <p:cNvCxnSpPr/>
          <p:nvPr/>
        </p:nvCxnSpPr>
        <p:spPr>
          <a:xfrm>
            <a:off x="5150854" y="3676061"/>
            <a:ext cx="889500" cy="0"/>
          </a:xfrm>
          <a:prstGeom prst="straightConnector1">
            <a:avLst/>
          </a:prstGeom>
          <a:noFill/>
          <a:ln w="38100" cap="flat" cmpd="sng">
            <a:solidFill>
              <a:schemeClr val="dk1"/>
            </a:solidFill>
            <a:prstDash val="solid"/>
            <a:miter lim="800000"/>
            <a:headEnd type="none" w="sm" len="sm"/>
            <a:tailEnd type="none" w="sm" len="sm"/>
          </a:ln>
        </p:spPr>
      </p:cxnSp>
      <p:sp>
        <p:nvSpPr>
          <p:cNvPr id="420" name="Google Shape;420;p39"/>
          <p:cNvSpPr txBox="1"/>
          <p:nvPr/>
        </p:nvSpPr>
        <p:spPr>
          <a:xfrm>
            <a:off x="5220604" y="3302178"/>
            <a:ext cx="750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b="1">
                <a:solidFill>
                  <a:schemeClr val="dk1"/>
                </a:solidFill>
              </a:rPr>
              <a:t>Library</a:t>
            </a:r>
            <a:endParaRPr sz="1300"/>
          </a:p>
        </p:txBody>
      </p:sp>
      <p:sp>
        <p:nvSpPr>
          <p:cNvPr id="421" name="Google Shape;421;p39"/>
          <p:cNvSpPr txBox="1"/>
          <p:nvPr/>
        </p:nvSpPr>
        <p:spPr>
          <a:xfrm>
            <a:off x="1382201" y="3900850"/>
            <a:ext cx="19803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b="1">
                <a:solidFill>
                  <a:schemeClr val="dk1"/>
                </a:solidFill>
              </a:rPr>
              <a:t>Library </a:t>
            </a:r>
            <a:r>
              <a:rPr lang="en" sz="1300">
                <a:solidFill>
                  <a:schemeClr val="dk1"/>
                </a:solidFill>
              </a:rPr>
              <a:t>(250-1000 bp)</a:t>
            </a:r>
            <a:endParaRPr sz="1300"/>
          </a:p>
        </p:txBody>
      </p:sp>
      <p:cxnSp>
        <p:nvCxnSpPr>
          <p:cNvPr id="422" name="Google Shape;422;p39"/>
          <p:cNvCxnSpPr/>
          <p:nvPr/>
        </p:nvCxnSpPr>
        <p:spPr>
          <a:xfrm rot="10800000">
            <a:off x="1390876" y="3796871"/>
            <a:ext cx="0" cy="514200"/>
          </a:xfrm>
          <a:prstGeom prst="straightConnector1">
            <a:avLst/>
          </a:prstGeom>
          <a:noFill/>
          <a:ln w="38100" cap="flat" cmpd="sng">
            <a:solidFill>
              <a:schemeClr val="dk1"/>
            </a:solidFill>
            <a:prstDash val="solid"/>
            <a:miter lim="800000"/>
            <a:headEnd type="none" w="sm" len="sm"/>
            <a:tailEnd type="none" w="sm" len="sm"/>
          </a:ln>
        </p:spPr>
      </p:cxnSp>
      <p:cxnSp>
        <p:nvCxnSpPr>
          <p:cNvPr id="423" name="Google Shape;423;p39"/>
          <p:cNvCxnSpPr/>
          <p:nvPr/>
        </p:nvCxnSpPr>
        <p:spPr>
          <a:xfrm rot="10800000">
            <a:off x="1390876" y="4375402"/>
            <a:ext cx="0" cy="77100"/>
          </a:xfrm>
          <a:prstGeom prst="straightConnector1">
            <a:avLst/>
          </a:prstGeom>
          <a:noFill/>
          <a:ln w="38100" cap="flat" cmpd="sng">
            <a:solidFill>
              <a:schemeClr val="dk1"/>
            </a:solidFill>
            <a:prstDash val="solid"/>
            <a:miter lim="800000"/>
            <a:headEnd type="none" w="sm" len="sm"/>
            <a:tailEnd type="none" w="sm" len="sm"/>
          </a:ln>
        </p:spPr>
      </p:cxnSp>
      <p:pic>
        <p:nvPicPr>
          <p:cNvPr id="424" name="Google Shape;424;p39"/>
          <p:cNvPicPr preferRelativeResize="0"/>
          <p:nvPr/>
        </p:nvPicPr>
        <p:blipFill rotWithShape="1">
          <a:blip r:embed="rId5">
            <a:alphaModFix/>
          </a:blip>
          <a:srcRect b="50614"/>
          <a:stretch/>
        </p:blipFill>
        <p:spPr>
          <a:xfrm>
            <a:off x="113075" y="336563"/>
            <a:ext cx="750124" cy="405024"/>
          </a:xfrm>
          <a:prstGeom prst="rect">
            <a:avLst/>
          </a:prstGeom>
          <a:noFill/>
          <a:ln>
            <a:noFill/>
          </a:ln>
        </p:spPr>
      </p:pic>
      <p:sp>
        <p:nvSpPr>
          <p:cNvPr id="425" name="Google Shape;425;p39"/>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sp>
        <p:nvSpPr>
          <p:cNvPr id="426" name="Google Shape;426;p39"/>
          <p:cNvSpPr txBox="1"/>
          <p:nvPr/>
        </p:nvSpPr>
        <p:spPr>
          <a:xfrm>
            <a:off x="4975" y="906100"/>
            <a:ext cx="8783700" cy="13824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Library QC: quantity &amp; quality</a:t>
            </a:r>
            <a:endParaRPr sz="1700"/>
          </a:p>
          <a:p>
            <a:pPr marL="457200" marR="0" lvl="0" indent="-323850" algn="l" rtl="0">
              <a:lnSpc>
                <a:spcPct val="200000"/>
              </a:lnSpc>
              <a:spcBef>
                <a:spcPts val="0"/>
              </a:spcBef>
              <a:spcAft>
                <a:spcPts val="0"/>
              </a:spcAft>
              <a:buSzPts val="1500"/>
              <a:buAutoNum type="arabicPeriod"/>
            </a:pPr>
            <a:r>
              <a:rPr lang="en" sz="1500"/>
              <a:t>Quantity (ng/μl): Qubit to determine concentration of individual libraries (0.5-10 ng/μl)</a:t>
            </a:r>
            <a:endParaRPr sz="1500"/>
          </a:p>
          <a:p>
            <a:pPr marL="457200" marR="0" lvl="0" indent="-323850" algn="l" rtl="0">
              <a:lnSpc>
                <a:spcPct val="200000"/>
              </a:lnSpc>
              <a:spcBef>
                <a:spcPts val="0"/>
              </a:spcBef>
              <a:spcAft>
                <a:spcPts val="0"/>
              </a:spcAft>
              <a:buSzPts val="1500"/>
              <a:buAutoNum type="arabicPeriod"/>
            </a:pPr>
            <a:r>
              <a:rPr lang="en" sz="1500"/>
              <a:t>Quality (bp): Tapestation to determine (i) length of library and (ii) degree of dimers present</a:t>
            </a:r>
            <a:endParaRPr sz="1300"/>
          </a:p>
        </p:txBody>
      </p:sp>
      <p:sp>
        <p:nvSpPr>
          <p:cNvPr id="427" name="Google Shape;427;p39"/>
          <p:cNvSpPr txBox="1"/>
          <p:nvPr/>
        </p:nvSpPr>
        <p:spPr>
          <a:xfrm>
            <a:off x="7280300" y="906106"/>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999999"/>
                </a:solidFill>
              </a:rPr>
              <a:t>Post-PCR lab</a:t>
            </a:r>
            <a:endParaRPr sz="1300" b="1">
              <a:solidFill>
                <a:srgbClr val="999999"/>
              </a:solidFill>
            </a:endParaRPr>
          </a:p>
        </p:txBody>
      </p:sp>
      <p:sp>
        <p:nvSpPr>
          <p:cNvPr id="2" name="Footer Placeholder 1">
            <a:extLst>
              <a:ext uri="{FF2B5EF4-FFF2-40B4-BE49-F238E27FC236}">
                <a16:creationId xmlns:a16="http://schemas.microsoft.com/office/drawing/2014/main" id="{09A008D6-3B80-3835-115C-45BF08938E7C}"/>
              </a:ext>
            </a:extLst>
          </p:cNvPr>
          <p:cNvSpPr>
            <a:spLocks noGrp="1"/>
          </p:cNvSpPr>
          <p:nvPr>
            <p:ph type="ftr" sz="quarter" idx="11"/>
          </p:nvPr>
        </p:nvSpPr>
        <p:spPr>
          <a:xfrm>
            <a:off x="7969624" y="4869657"/>
            <a:ext cx="1174377"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40"/>
          <p:cNvPicPr preferRelativeResize="0"/>
          <p:nvPr/>
        </p:nvPicPr>
        <p:blipFill rotWithShape="1">
          <a:blip r:embed="rId3">
            <a:alphaModFix/>
          </a:blip>
          <a:srcRect/>
          <a:stretch/>
        </p:blipFill>
        <p:spPr>
          <a:xfrm>
            <a:off x="5068320" y="3015237"/>
            <a:ext cx="3984172" cy="1723881"/>
          </a:xfrm>
          <a:prstGeom prst="rect">
            <a:avLst/>
          </a:prstGeom>
          <a:noFill/>
          <a:ln>
            <a:noFill/>
          </a:ln>
        </p:spPr>
      </p:pic>
      <p:pic>
        <p:nvPicPr>
          <p:cNvPr id="434" name="Google Shape;434;p40"/>
          <p:cNvPicPr preferRelativeResize="0"/>
          <p:nvPr/>
        </p:nvPicPr>
        <p:blipFill rotWithShape="1">
          <a:blip r:embed="rId4">
            <a:alphaModFix/>
          </a:blip>
          <a:srcRect/>
          <a:stretch/>
        </p:blipFill>
        <p:spPr>
          <a:xfrm>
            <a:off x="158332" y="2987240"/>
            <a:ext cx="4121921" cy="1776181"/>
          </a:xfrm>
          <a:prstGeom prst="rect">
            <a:avLst/>
          </a:prstGeom>
          <a:noFill/>
          <a:ln>
            <a:noFill/>
          </a:ln>
        </p:spPr>
      </p:pic>
      <p:cxnSp>
        <p:nvCxnSpPr>
          <p:cNvPr id="435" name="Google Shape;435;p40"/>
          <p:cNvCxnSpPr>
            <a:stCxn id="434" idx="3"/>
            <a:endCxn id="433" idx="1"/>
          </p:cNvCxnSpPr>
          <p:nvPr/>
        </p:nvCxnSpPr>
        <p:spPr>
          <a:xfrm>
            <a:off x="4280253" y="3875331"/>
            <a:ext cx="788100" cy="1800"/>
          </a:xfrm>
          <a:prstGeom prst="straightConnector1">
            <a:avLst/>
          </a:prstGeom>
          <a:noFill/>
          <a:ln w="41275" cap="flat" cmpd="sng">
            <a:solidFill>
              <a:schemeClr val="dk1"/>
            </a:solidFill>
            <a:prstDash val="solid"/>
            <a:miter lim="800000"/>
            <a:headEnd type="none" w="sm" len="sm"/>
            <a:tailEnd type="triangle" w="med" len="med"/>
          </a:ln>
        </p:spPr>
      </p:cxnSp>
      <p:sp>
        <p:nvSpPr>
          <p:cNvPr id="436" name="Google Shape;436;p40"/>
          <p:cNvSpPr txBox="1"/>
          <p:nvPr/>
        </p:nvSpPr>
        <p:spPr>
          <a:xfrm>
            <a:off x="4189057" y="3133838"/>
            <a:ext cx="970500" cy="4845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3 rounds </a:t>
            </a:r>
            <a:endParaRPr sz="1300"/>
          </a:p>
          <a:p>
            <a:pPr marL="0" marR="0" lvl="0" indent="0" algn="ctr" rtl="0">
              <a:spcBef>
                <a:spcPts val="0"/>
              </a:spcBef>
              <a:spcAft>
                <a:spcPts val="0"/>
              </a:spcAft>
              <a:buNone/>
            </a:pPr>
            <a:r>
              <a:rPr lang="en" sz="1300">
                <a:solidFill>
                  <a:schemeClr val="dk1"/>
                </a:solidFill>
              </a:rPr>
              <a:t>SPRI (0.85x)</a:t>
            </a:r>
            <a:endParaRPr sz="1300"/>
          </a:p>
        </p:txBody>
      </p:sp>
      <p:sp>
        <p:nvSpPr>
          <p:cNvPr id="437" name="Google Shape;437;p40"/>
          <p:cNvSpPr txBox="1"/>
          <p:nvPr/>
        </p:nvSpPr>
        <p:spPr>
          <a:xfrm>
            <a:off x="1244197" y="2677375"/>
            <a:ext cx="1926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After PCR amplification</a:t>
            </a:r>
            <a:endParaRPr sz="1300"/>
          </a:p>
        </p:txBody>
      </p:sp>
      <p:sp>
        <p:nvSpPr>
          <p:cNvPr id="438" name="Google Shape;438;p40"/>
          <p:cNvSpPr txBox="1"/>
          <p:nvPr/>
        </p:nvSpPr>
        <p:spPr>
          <a:xfrm>
            <a:off x="5880350" y="2677375"/>
            <a:ext cx="22974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a:solidFill>
                  <a:schemeClr val="dk1"/>
                </a:solidFill>
              </a:rPr>
              <a:t>After SPRI bead clean-up</a:t>
            </a:r>
            <a:endParaRPr sz="1300"/>
          </a:p>
        </p:txBody>
      </p:sp>
      <p:sp>
        <p:nvSpPr>
          <p:cNvPr id="439" name="Google Shape;439;p40"/>
          <p:cNvSpPr/>
          <p:nvPr/>
        </p:nvSpPr>
        <p:spPr>
          <a:xfrm>
            <a:off x="6326542" y="3015237"/>
            <a:ext cx="231900" cy="14943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40" name="Google Shape;440;p40"/>
          <p:cNvSpPr/>
          <p:nvPr/>
        </p:nvSpPr>
        <p:spPr>
          <a:xfrm>
            <a:off x="1468264" y="3015237"/>
            <a:ext cx="231900" cy="1494300"/>
          </a:xfrm>
          <a:prstGeom prst="roundRect">
            <a:avLst>
              <a:gd name="adj" fmla="val 16667"/>
            </a:avLst>
          </a:prstGeom>
          <a:noFill/>
          <a:ln w="1905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441" name="Google Shape;441;p40"/>
          <p:cNvPicPr preferRelativeResize="0"/>
          <p:nvPr/>
        </p:nvPicPr>
        <p:blipFill rotWithShape="1">
          <a:blip r:embed="rId5">
            <a:alphaModFix/>
          </a:blip>
          <a:srcRect b="50614"/>
          <a:stretch/>
        </p:blipFill>
        <p:spPr>
          <a:xfrm>
            <a:off x="113075" y="336563"/>
            <a:ext cx="750124" cy="405024"/>
          </a:xfrm>
          <a:prstGeom prst="rect">
            <a:avLst/>
          </a:prstGeom>
          <a:noFill/>
          <a:ln>
            <a:noFill/>
          </a:ln>
        </p:spPr>
      </p:pic>
      <p:sp>
        <p:nvSpPr>
          <p:cNvPr id="442" name="Google Shape;442;p40"/>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sp>
        <p:nvSpPr>
          <p:cNvPr id="443" name="Google Shape;443;p40"/>
          <p:cNvSpPr txBox="1"/>
          <p:nvPr/>
        </p:nvSpPr>
        <p:spPr>
          <a:xfrm>
            <a:off x="4975" y="906100"/>
            <a:ext cx="8783700" cy="13824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t>Library QC: quantity &amp; quality</a:t>
            </a:r>
            <a:endParaRPr sz="1700"/>
          </a:p>
          <a:p>
            <a:pPr marL="457200" marR="0" lvl="0" indent="-323850" algn="l" rtl="0">
              <a:lnSpc>
                <a:spcPct val="200000"/>
              </a:lnSpc>
              <a:spcBef>
                <a:spcPts val="0"/>
              </a:spcBef>
              <a:spcAft>
                <a:spcPts val="0"/>
              </a:spcAft>
              <a:buSzPts val="1500"/>
              <a:buAutoNum type="arabicPeriod"/>
            </a:pPr>
            <a:r>
              <a:rPr lang="en" sz="1500"/>
              <a:t>Quantity (ng/μl): Qubit to determine concentration of individual libraries (0.5-10 ng/μl)</a:t>
            </a:r>
            <a:endParaRPr sz="1500"/>
          </a:p>
          <a:p>
            <a:pPr marL="457200" marR="0" lvl="0" indent="-323850" algn="l" rtl="0">
              <a:lnSpc>
                <a:spcPct val="200000"/>
              </a:lnSpc>
              <a:spcBef>
                <a:spcPts val="0"/>
              </a:spcBef>
              <a:spcAft>
                <a:spcPts val="0"/>
              </a:spcAft>
              <a:buSzPts val="1500"/>
              <a:buAutoNum type="arabicPeriod"/>
            </a:pPr>
            <a:r>
              <a:rPr lang="en" sz="1500"/>
              <a:t>Quality (bp): Tapestation to determine (i) length of library and (ii) degree of dimers present</a:t>
            </a:r>
            <a:endParaRPr sz="1300"/>
          </a:p>
        </p:txBody>
      </p:sp>
      <p:sp>
        <p:nvSpPr>
          <p:cNvPr id="444" name="Google Shape;444;p40"/>
          <p:cNvSpPr txBox="1"/>
          <p:nvPr/>
        </p:nvSpPr>
        <p:spPr>
          <a:xfrm>
            <a:off x="3158775" y="2313750"/>
            <a:ext cx="3029400" cy="55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Size selection by SPRI beads</a:t>
            </a:r>
            <a:endParaRPr sz="1500"/>
          </a:p>
          <a:p>
            <a:pPr marL="0" lvl="0" indent="0" algn="ctr" rtl="0">
              <a:spcBef>
                <a:spcPts val="0"/>
              </a:spcBef>
              <a:spcAft>
                <a:spcPts val="0"/>
              </a:spcAft>
              <a:buNone/>
            </a:pPr>
            <a:r>
              <a:rPr lang="en" sz="1500"/>
              <a:t>to remove dimers</a:t>
            </a:r>
            <a:endParaRPr sz="1500"/>
          </a:p>
        </p:txBody>
      </p:sp>
      <p:sp>
        <p:nvSpPr>
          <p:cNvPr id="445" name="Google Shape;445;p40"/>
          <p:cNvSpPr txBox="1"/>
          <p:nvPr/>
        </p:nvSpPr>
        <p:spPr>
          <a:xfrm>
            <a:off x="4502900" y="4709108"/>
            <a:ext cx="39303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dirty="0">
                <a:solidFill>
                  <a:srgbClr val="C00000"/>
                </a:solidFill>
              </a:rPr>
              <a:t>ALL DIMERS SHOULD BE REMOVED!</a:t>
            </a:r>
            <a:endParaRPr sz="1300" b="1" dirty="0">
              <a:solidFill>
                <a:srgbClr val="C00000"/>
              </a:solidFill>
            </a:endParaRPr>
          </a:p>
        </p:txBody>
      </p:sp>
      <p:sp>
        <p:nvSpPr>
          <p:cNvPr id="446" name="Google Shape;446;p40"/>
          <p:cNvSpPr txBox="1"/>
          <p:nvPr/>
        </p:nvSpPr>
        <p:spPr>
          <a:xfrm>
            <a:off x="710800" y="4739125"/>
            <a:ext cx="17676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00000"/>
                </a:solidFill>
              </a:rPr>
              <a:t>Adapter dimers</a:t>
            </a:r>
            <a:endParaRPr sz="1300" b="1">
              <a:solidFill>
                <a:srgbClr val="C00000"/>
              </a:solidFill>
            </a:endParaRPr>
          </a:p>
        </p:txBody>
      </p:sp>
      <p:sp>
        <p:nvSpPr>
          <p:cNvPr id="447" name="Google Shape;447;p40"/>
          <p:cNvSpPr txBox="1"/>
          <p:nvPr/>
        </p:nvSpPr>
        <p:spPr>
          <a:xfrm>
            <a:off x="7280300" y="906106"/>
            <a:ext cx="16731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999999"/>
                </a:solidFill>
              </a:rPr>
              <a:t>Post-PCR lab</a:t>
            </a:r>
            <a:endParaRPr sz="1300" b="1">
              <a:solidFill>
                <a:srgbClr val="999999"/>
              </a:solidFill>
            </a:endParaRPr>
          </a:p>
        </p:txBody>
      </p:sp>
      <p:sp>
        <p:nvSpPr>
          <p:cNvPr id="2" name="Footer Placeholder 1">
            <a:extLst>
              <a:ext uri="{FF2B5EF4-FFF2-40B4-BE49-F238E27FC236}">
                <a16:creationId xmlns:a16="http://schemas.microsoft.com/office/drawing/2014/main" id="{A35D28B0-00F5-FFF2-0F83-2345CF6D775B}"/>
              </a:ext>
            </a:extLst>
          </p:cNvPr>
          <p:cNvSpPr>
            <a:spLocks noGrp="1"/>
          </p:cNvSpPr>
          <p:nvPr>
            <p:ph type="ftr" sz="quarter" idx="11"/>
          </p:nvPr>
        </p:nvSpPr>
        <p:spPr>
          <a:xfrm>
            <a:off x="8041341" y="4869657"/>
            <a:ext cx="1102659"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pic>
        <p:nvPicPr>
          <p:cNvPr id="453" name="Google Shape;453;p41"/>
          <p:cNvPicPr preferRelativeResize="0"/>
          <p:nvPr/>
        </p:nvPicPr>
        <p:blipFill rotWithShape="1">
          <a:blip r:embed="rId3">
            <a:alphaModFix/>
          </a:blip>
          <a:srcRect/>
          <a:stretch/>
        </p:blipFill>
        <p:spPr>
          <a:xfrm>
            <a:off x="343500" y="3002550"/>
            <a:ext cx="6258776" cy="2193100"/>
          </a:xfrm>
          <a:prstGeom prst="rect">
            <a:avLst/>
          </a:prstGeom>
          <a:noFill/>
          <a:ln>
            <a:noFill/>
          </a:ln>
        </p:spPr>
      </p:pic>
      <p:pic>
        <p:nvPicPr>
          <p:cNvPr id="454" name="Google Shape;454;p41"/>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455" name="Google Shape;455;p41"/>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sp>
        <p:nvSpPr>
          <p:cNvPr id="456" name="Google Shape;456;p41"/>
          <p:cNvSpPr txBox="1"/>
          <p:nvPr/>
        </p:nvSpPr>
        <p:spPr>
          <a:xfrm>
            <a:off x="4975" y="906100"/>
            <a:ext cx="8783700" cy="1382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 sz="1700" b="1"/>
              <a:t>AMPure XP SPRI select beads (paramagnetic) </a:t>
            </a:r>
            <a:endParaRPr sz="1700" b="1"/>
          </a:p>
          <a:p>
            <a:pPr marL="0" marR="0" lvl="0" indent="0" algn="l" rtl="0">
              <a:lnSpc>
                <a:spcPct val="200000"/>
              </a:lnSpc>
              <a:spcBef>
                <a:spcPts val="0"/>
              </a:spcBef>
              <a:spcAft>
                <a:spcPts val="0"/>
              </a:spcAft>
              <a:buNone/>
            </a:pPr>
            <a:r>
              <a:rPr lang="en" sz="1700"/>
              <a:t>or homemade SPRI beads (&gt;10x cheaper)</a:t>
            </a:r>
            <a:endParaRPr sz="1700"/>
          </a:p>
          <a:p>
            <a:pPr marL="457200" marR="0" lvl="0" indent="-323850" algn="l" rtl="0">
              <a:lnSpc>
                <a:spcPct val="175000"/>
              </a:lnSpc>
              <a:spcBef>
                <a:spcPts val="0"/>
              </a:spcBef>
              <a:spcAft>
                <a:spcPts val="0"/>
              </a:spcAft>
              <a:buSzPts val="1500"/>
              <a:buChar char="●"/>
            </a:pPr>
            <a:r>
              <a:rPr lang="en" sz="1500"/>
              <a:t>The longer a fragment, the better it will bind to the beads</a:t>
            </a:r>
            <a:endParaRPr sz="1500"/>
          </a:p>
          <a:p>
            <a:pPr marL="457200" marR="0" lvl="0" indent="-323850" algn="l" rtl="0">
              <a:lnSpc>
                <a:spcPct val="175000"/>
              </a:lnSpc>
              <a:spcBef>
                <a:spcPts val="0"/>
              </a:spcBef>
              <a:spcAft>
                <a:spcPts val="0"/>
              </a:spcAft>
              <a:buSzPts val="1500"/>
              <a:buChar char="●"/>
            </a:pPr>
            <a:r>
              <a:rPr lang="en" sz="1500"/>
              <a:t>The fewer beads you add, the more short fragments you’ll lose</a:t>
            </a:r>
            <a:endParaRPr sz="1500"/>
          </a:p>
          <a:p>
            <a:pPr marL="457200" marR="0" lvl="0" indent="-323850" algn="l" rtl="0">
              <a:lnSpc>
                <a:spcPct val="175000"/>
              </a:lnSpc>
              <a:spcBef>
                <a:spcPts val="0"/>
              </a:spcBef>
              <a:spcAft>
                <a:spcPts val="0"/>
              </a:spcAft>
              <a:buSzPts val="1500"/>
              <a:buChar char="●"/>
            </a:pPr>
            <a:r>
              <a:rPr lang="en" sz="1500"/>
              <a:t>Perform size selection using SPRI beads to remove adapter dimers (143 bp)</a:t>
            </a:r>
            <a:endParaRPr sz="1500"/>
          </a:p>
        </p:txBody>
      </p:sp>
      <p:sp>
        <p:nvSpPr>
          <p:cNvPr id="457" name="Google Shape;457;p41"/>
          <p:cNvSpPr txBox="1"/>
          <p:nvPr/>
        </p:nvSpPr>
        <p:spPr>
          <a:xfrm>
            <a:off x="6963475" y="3253675"/>
            <a:ext cx="2001000" cy="603300"/>
          </a:xfrm>
          <a:prstGeom prst="rect">
            <a:avLst/>
          </a:prstGeom>
          <a:noFill/>
          <a:ln>
            <a:noFill/>
          </a:ln>
        </p:spPr>
        <p:txBody>
          <a:bodyPr spcFirstLastPara="1" wrap="square" lIns="91425" tIns="91425" rIns="91425" bIns="91425" anchor="t" anchorCtr="0">
            <a:noAutofit/>
          </a:bodyPr>
          <a:lstStyle/>
          <a:p>
            <a:pPr marL="0" lvl="0" indent="457200" algn="ctr" rtl="0">
              <a:lnSpc>
                <a:spcPct val="150000"/>
              </a:lnSpc>
              <a:spcBef>
                <a:spcPts val="0"/>
              </a:spcBef>
              <a:spcAft>
                <a:spcPts val="0"/>
              </a:spcAft>
              <a:buNone/>
            </a:pPr>
            <a:r>
              <a:rPr lang="en"/>
              <a:t>Volume beads</a:t>
            </a:r>
            <a:endParaRPr/>
          </a:p>
          <a:p>
            <a:pPr marL="0" lvl="0" indent="457200" algn="ctr" rtl="0">
              <a:lnSpc>
                <a:spcPct val="150000"/>
              </a:lnSpc>
              <a:spcBef>
                <a:spcPts val="0"/>
              </a:spcBef>
              <a:spcAft>
                <a:spcPts val="0"/>
              </a:spcAft>
              <a:buNone/>
            </a:pPr>
            <a:r>
              <a:rPr lang="en"/>
              <a:t>Volume reaction</a:t>
            </a:r>
            <a:endParaRPr/>
          </a:p>
        </p:txBody>
      </p:sp>
      <p:pic>
        <p:nvPicPr>
          <p:cNvPr id="458" name="Google Shape;458;p41"/>
          <p:cNvPicPr preferRelativeResize="0"/>
          <p:nvPr/>
        </p:nvPicPr>
        <p:blipFill rotWithShape="1">
          <a:blip r:embed="rId5">
            <a:alphaModFix/>
          </a:blip>
          <a:srcRect/>
          <a:stretch/>
        </p:blipFill>
        <p:spPr>
          <a:xfrm>
            <a:off x="6130302" y="149825"/>
            <a:ext cx="2834174" cy="2421925"/>
          </a:xfrm>
          <a:prstGeom prst="rect">
            <a:avLst/>
          </a:prstGeom>
          <a:noFill/>
          <a:ln>
            <a:noFill/>
          </a:ln>
        </p:spPr>
      </p:pic>
      <p:cxnSp>
        <p:nvCxnSpPr>
          <p:cNvPr id="459" name="Google Shape;459;p41"/>
          <p:cNvCxnSpPr/>
          <p:nvPr/>
        </p:nvCxnSpPr>
        <p:spPr>
          <a:xfrm rot="10800000" flipH="1">
            <a:off x="7529700" y="3625900"/>
            <a:ext cx="1304700" cy="300"/>
          </a:xfrm>
          <a:prstGeom prst="straightConnector1">
            <a:avLst/>
          </a:prstGeom>
          <a:noFill/>
          <a:ln w="9525" cap="flat" cmpd="sng">
            <a:solidFill>
              <a:schemeClr val="dk2"/>
            </a:solidFill>
            <a:prstDash val="solid"/>
            <a:round/>
            <a:headEnd type="none" w="med" len="med"/>
            <a:tailEnd type="none" w="med" len="med"/>
          </a:ln>
        </p:spPr>
      </p:cxnSp>
      <p:sp>
        <p:nvSpPr>
          <p:cNvPr id="460" name="Google Shape;460;p41"/>
          <p:cNvSpPr txBox="1"/>
          <p:nvPr/>
        </p:nvSpPr>
        <p:spPr>
          <a:xfrm>
            <a:off x="6377400" y="3377200"/>
            <a:ext cx="1304700" cy="345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SPRI ratio =</a:t>
            </a:r>
            <a:endParaRPr/>
          </a:p>
        </p:txBody>
      </p:sp>
      <p:sp>
        <p:nvSpPr>
          <p:cNvPr id="461" name="Google Shape;461;p41"/>
          <p:cNvSpPr txBox="1"/>
          <p:nvPr/>
        </p:nvSpPr>
        <p:spPr>
          <a:xfrm>
            <a:off x="6338200" y="4005500"/>
            <a:ext cx="2773200" cy="85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t>Example: for a 1.8x SPRI clean-up:</a:t>
            </a:r>
            <a:endParaRPr sz="1300"/>
          </a:p>
          <a:p>
            <a:pPr marL="457200" lvl="0" indent="-311150" algn="l" rtl="0">
              <a:lnSpc>
                <a:spcPct val="115000"/>
              </a:lnSpc>
              <a:spcBef>
                <a:spcPts val="0"/>
              </a:spcBef>
              <a:spcAft>
                <a:spcPts val="0"/>
              </a:spcAft>
              <a:buSzPts val="1300"/>
              <a:buChar char="-"/>
            </a:pPr>
            <a:r>
              <a:rPr lang="en" sz="1300"/>
              <a:t>Add 18 μl of SPRI beads to 10 μl of sample</a:t>
            </a:r>
            <a:endParaRPr sz="1300"/>
          </a:p>
        </p:txBody>
      </p:sp>
      <p:sp>
        <p:nvSpPr>
          <p:cNvPr id="2" name="Footer Placeholder 1">
            <a:extLst>
              <a:ext uri="{FF2B5EF4-FFF2-40B4-BE49-F238E27FC236}">
                <a16:creationId xmlns:a16="http://schemas.microsoft.com/office/drawing/2014/main" id="{309A5287-3C43-B724-F7C3-F0D668616AAC}"/>
              </a:ext>
            </a:extLst>
          </p:cNvPr>
          <p:cNvSpPr>
            <a:spLocks noGrp="1"/>
          </p:cNvSpPr>
          <p:nvPr>
            <p:ph type="ftr" sz="quarter" idx="11"/>
          </p:nvPr>
        </p:nvSpPr>
        <p:spPr>
          <a:xfrm>
            <a:off x="8023413" y="4869657"/>
            <a:ext cx="1120588"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pic>
        <p:nvPicPr>
          <p:cNvPr id="467" name="Google Shape;467;p42"/>
          <p:cNvPicPr preferRelativeResize="0"/>
          <p:nvPr/>
        </p:nvPicPr>
        <p:blipFill rotWithShape="1">
          <a:blip r:embed="rId3">
            <a:alphaModFix/>
          </a:blip>
          <a:srcRect/>
          <a:stretch/>
        </p:blipFill>
        <p:spPr>
          <a:xfrm>
            <a:off x="6130302" y="149825"/>
            <a:ext cx="2834174" cy="2421925"/>
          </a:xfrm>
          <a:prstGeom prst="rect">
            <a:avLst/>
          </a:prstGeom>
          <a:noFill/>
          <a:ln>
            <a:noFill/>
          </a:ln>
        </p:spPr>
      </p:pic>
      <p:graphicFrame>
        <p:nvGraphicFramePr>
          <p:cNvPr id="468" name="Google Shape;468;p42"/>
          <p:cNvGraphicFramePr/>
          <p:nvPr/>
        </p:nvGraphicFramePr>
        <p:xfrm>
          <a:off x="227713" y="2668983"/>
          <a:ext cx="7625425" cy="1966065"/>
        </p:xfrm>
        <a:graphic>
          <a:graphicData uri="http://schemas.openxmlformats.org/drawingml/2006/table">
            <a:tbl>
              <a:tblPr firstRow="1" bandRow="1">
                <a:noFill/>
                <a:tableStyleId>{9B504011-19AA-4C3E-BF02-0CD5D6DC7553}</a:tableStyleId>
              </a:tblPr>
              <a:tblGrid>
                <a:gridCol w="2060225">
                  <a:extLst>
                    <a:ext uri="{9D8B030D-6E8A-4147-A177-3AD203B41FA5}">
                      <a16:colId xmlns:a16="http://schemas.microsoft.com/office/drawing/2014/main" val="20000"/>
                    </a:ext>
                  </a:extLst>
                </a:gridCol>
                <a:gridCol w="1423275">
                  <a:extLst>
                    <a:ext uri="{9D8B030D-6E8A-4147-A177-3AD203B41FA5}">
                      <a16:colId xmlns:a16="http://schemas.microsoft.com/office/drawing/2014/main" val="20001"/>
                    </a:ext>
                  </a:extLst>
                </a:gridCol>
                <a:gridCol w="3192750">
                  <a:extLst>
                    <a:ext uri="{9D8B030D-6E8A-4147-A177-3AD203B41FA5}">
                      <a16:colId xmlns:a16="http://schemas.microsoft.com/office/drawing/2014/main" val="20002"/>
                    </a:ext>
                  </a:extLst>
                </a:gridCol>
                <a:gridCol w="949175">
                  <a:extLst>
                    <a:ext uri="{9D8B030D-6E8A-4147-A177-3AD203B41FA5}">
                      <a16:colId xmlns:a16="http://schemas.microsoft.com/office/drawing/2014/main" val="20003"/>
                    </a:ext>
                  </a:extLst>
                </a:gridCol>
              </a:tblGrid>
              <a:tr h="388625">
                <a:tc>
                  <a:txBody>
                    <a:bodyPr/>
                    <a:lstStyle/>
                    <a:p>
                      <a:pPr marL="0" marR="0" lvl="0" indent="0" algn="ctr" rtl="0">
                        <a:spcBef>
                          <a:spcPts val="0"/>
                        </a:spcBef>
                        <a:spcAft>
                          <a:spcPts val="0"/>
                        </a:spcAft>
                        <a:buNone/>
                      </a:pPr>
                      <a:r>
                        <a:rPr lang="en" sz="1300">
                          <a:latin typeface="Arial"/>
                          <a:ea typeface="Arial"/>
                          <a:cs typeface="Arial"/>
                          <a:sym typeface="Arial"/>
                        </a:rPr>
                        <a:t>Step</a:t>
                      </a:r>
                      <a:endParaRPr sz="1300">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spcBef>
                          <a:spcPts val="0"/>
                        </a:spcBef>
                        <a:spcAft>
                          <a:spcPts val="0"/>
                        </a:spcAft>
                        <a:buNone/>
                      </a:pPr>
                      <a:r>
                        <a:rPr lang="en" sz="1300">
                          <a:latin typeface="Arial"/>
                          <a:ea typeface="Arial"/>
                          <a:cs typeface="Arial"/>
                          <a:sym typeface="Arial"/>
                        </a:rPr>
                        <a:t>Ideal RNA/library size</a:t>
                      </a:r>
                      <a:endParaRPr sz="1300">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spcBef>
                          <a:spcPts val="0"/>
                        </a:spcBef>
                        <a:spcAft>
                          <a:spcPts val="0"/>
                        </a:spcAft>
                        <a:buNone/>
                      </a:pPr>
                      <a:r>
                        <a:rPr lang="en" sz="1300">
                          <a:latin typeface="Arial"/>
                          <a:ea typeface="Arial"/>
                          <a:cs typeface="Arial"/>
                          <a:sym typeface="Arial"/>
                        </a:rPr>
                        <a:t>To remove</a:t>
                      </a:r>
                      <a:endParaRPr sz="1300">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spcBef>
                          <a:spcPts val="0"/>
                        </a:spcBef>
                        <a:spcAft>
                          <a:spcPts val="0"/>
                        </a:spcAft>
                        <a:buNone/>
                      </a:pPr>
                      <a:r>
                        <a:rPr lang="en" sz="1300">
                          <a:latin typeface="Arial"/>
                          <a:ea typeface="Arial"/>
                          <a:cs typeface="Arial"/>
                          <a:sym typeface="Arial"/>
                        </a:rPr>
                        <a:t>SPRI</a:t>
                      </a:r>
                      <a:endParaRPr sz="1300">
                        <a:latin typeface="Arial"/>
                        <a:ea typeface="Arial"/>
                        <a:cs typeface="Arial"/>
                        <a:sym typeface="Arial"/>
                      </a:endParaRPr>
                    </a:p>
                    <a:p>
                      <a:pPr marL="0" marR="0" lvl="0" indent="0" algn="ctr" rtl="0">
                        <a:spcBef>
                          <a:spcPts val="0"/>
                        </a:spcBef>
                        <a:spcAft>
                          <a:spcPts val="0"/>
                        </a:spcAft>
                        <a:buNone/>
                      </a:pPr>
                      <a:r>
                        <a:rPr lang="en" sz="1300">
                          <a:latin typeface="Arial"/>
                          <a:ea typeface="Arial"/>
                          <a:cs typeface="Arial"/>
                          <a:sym typeface="Arial"/>
                        </a:rPr>
                        <a:t>ratio</a:t>
                      </a:r>
                      <a:endParaRPr sz="1300">
                        <a:latin typeface="Arial"/>
                        <a:ea typeface="Arial"/>
                        <a:cs typeface="Arial"/>
                        <a:sym typeface="Arial"/>
                      </a:endParaRPr>
                    </a:p>
                  </a:txBody>
                  <a:tcPr marL="68600" marR="68600" marT="34300" marB="34300" anchor="ctr">
                    <a:solidFill>
                      <a:srgbClr val="4A86E8"/>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DNAse I treatment</a:t>
                      </a:r>
                      <a:endParaRPr sz="1300">
                        <a:latin typeface="Arial"/>
                        <a:ea typeface="Arial"/>
                        <a:cs typeface="Arial"/>
                        <a:sym typeface="Arial"/>
                      </a:endParaRPr>
                    </a:p>
                  </a:txBody>
                  <a:tcPr marL="68600" marR="68600" marT="34300" marB="34300">
                    <a:noFill/>
                  </a:tcPr>
                </a:tc>
                <a:tc>
                  <a:txBody>
                    <a:bodyPr/>
                    <a:lstStyle/>
                    <a:p>
                      <a:pPr marL="0" marR="0" lvl="0" indent="0" algn="ctr" rtl="0">
                        <a:spcBef>
                          <a:spcPts val="0"/>
                        </a:spcBef>
                        <a:spcAft>
                          <a:spcPts val="0"/>
                        </a:spcAft>
                        <a:buNone/>
                      </a:pPr>
                      <a:r>
                        <a:rPr lang="en" sz="1300">
                          <a:latin typeface="Arial"/>
                          <a:ea typeface="Arial"/>
                          <a:cs typeface="Arial"/>
                          <a:sym typeface="Arial"/>
                        </a:rPr>
                        <a:t>-</a:t>
                      </a:r>
                      <a:endParaRPr sz="1300">
                        <a:latin typeface="Arial"/>
                        <a:ea typeface="Arial"/>
                        <a:cs typeface="Arial"/>
                        <a:sym typeface="Arial"/>
                      </a:endParaRPr>
                    </a:p>
                  </a:txBody>
                  <a:tcPr marL="68600" marR="68600" marT="34300" marB="34300">
                    <a:noFill/>
                  </a:tcPr>
                </a:tc>
                <a:tc>
                  <a:txBody>
                    <a:bodyPr/>
                    <a:lstStyle/>
                    <a:p>
                      <a:pPr marL="0" marR="0" lvl="0" indent="0" algn="l" rtl="0">
                        <a:spcBef>
                          <a:spcPts val="0"/>
                        </a:spcBef>
                        <a:spcAft>
                          <a:spcPts val="0"/>
                        </a:spcAft>
                        <a:buNone/>
                      </a:pPr>
                      <a:r>
                        <a:rPr lang="en" sz="1300">
                          <a:latin typeface="Arial"/>
                          <a:ea typeface="Arial"/>
                          <a:cs typeface="Arial"/>
                          <a:sym typeface="Arial"/>
                        </a:rPr>
                        <a:t>Reagents</a:t>
                      </a:r>
                      <a:endParaRPr sz="1300">
                        <a:latin typeface="Arial"/>
                        <a:ea typeface="Arial"/>
                        <a:cs typeface="Arial"/>
                        <a:sym typeface="Arial"/>
                      </a:endParaRPr>
                    </a:p>
                  </a:txBody>
                  <a:tcPr marL="68600" marR="68600" marT="34300" marB="34300">
                    <a:noFill/>
                  </a:tcPr>
                </a:tc>
                <a:tc>
                  <a:txBody>
                    <a:bodyPr/>
                    <a:lstStyle/>
                    <a:p>
                      <a:pPr marL="0" marR="0" lvl="0" indent="0" algn="ctr" rtl="0">
                        <a:spcBef>
                          <a:spcPts val="0"/>
                        </a:spcBef>
                        <a:spcAft>
                          <a:spcPts val="0"/>
                        </a:spcAft>
                        <a:buNone/>
                      </a:pPr>
                      <a:endParaRPr sz="1300">
                        <a:latin typeface="Arial"/>
                        <a:ea typeface="Arial"/>
                        <a:cs typeface="Arial"/>
                        <a:sym typeface="Arial"/>
                      </a:endParaRPr>
                    </a:p>
                  </a:txBody>
                  <a:tcPr marL="68600" marR="68600" marT="34300" marB="34300">
                    <a:noFill/>
                  </a:tcPr>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second strand synth.</a:t>
                      </a:r>
                      <a:endParaRPr sz="1300">
                        <a:latin typeface="Arial"/>
                        <a:ea typeface="Arial"/>
                        <a:cs typeface="Arial"/>
                        <a:sym typeface="Arial"/>
                      </a:endParaRPr>
                    </a:p>
                  </a:txBody>
                  <a:tcPr marL="68600" marR="68600" marT="34300" marB="34300">
                    <a:noFill/>
                  </a:tcPr>
                </a:tc>
                <a:tc>
                  <a:txBody>
                    <a:bodyPr/>
                    <a:lstStyle/>
                    <a:p>
                      <a:pPr marL="0" marR="0" lvl="0" indent="0" algn="ctr" rtl="0">
                        <a:spcBef>
                          <a:spcPts val="0"/>
                        </a:spcBef>
                        <a:spcAft>
                          <a:spcPts val="0"/>
                        </a:spcAft>
                        <a:buNone/>
                      </a:pPr>
                      <a:r>
                        <a:rPr lang="en" sz="1300">
                          <a:latin typeface="Arial"/>
                          <a:ea typeface="Arial"/>
                          <a:cs typeface="Arial"/>
                          <a:sym typeface="Arial"/>
                        </a:rPr>
                        <a:t>± 400 bp</a:t>
                      </a:r>
                      <a:endParaRPr sz="1300">
                        <a:latin typeface="Arial"/>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chemeClr val="dk1"/>
                        </a:buClr>
                        <a:buSzPts val="1100"/>
                        <a:buFont typeface="Calibri"/>
                        <a:buNone/>
                      </a:pPr>
                      <a:r>
                        <a:rPr lang="en" sz="1300">
                          <a:latin typeface="Arial"/>
                          <a:ea typeface="Arial"/>
                          <a:cs typeface="Arial"/>
                          <a:sym typeface="Arial"/>
                        </a:rPr>
                        <a:t>Reagents</a:t>
                      </a:r>
                      <a:endParaRPr sz="1300">
                        <a:latin typeface="Arial"/>
                        <a:ea typeface="Arial"/>
                        <a:cs typeface="Arial"/>
                        <a:sym typeface="Arial"/>
                      </a:endParaRPr>
                    </a:p>
                  </a:txBody>
                  <a:tcPr marL="68600" marR="68600" marT="34300" marB="34300">
                    <a:noFill/>
                  </a:tcPr>
                </a:tc>
                <a:tc>
                  <a:txBody>
                    <a:bodyPr/>
                    <a:lstStyle/>
                    <a:p>
                      <a:pPr marL="0" marR="0" lvl="0" indent="0" algn="ctr" rtl="0">
                        <a:spcBef>
                          <a:spcPts val="0"/>
                        </a:spcBef>
                        <a:spcAft>
                          <a:spcPts val="0"/>
                        </a:spcAft>
                        <a:buNone/>
                      </a:pPr>
                      <a:r>
                        <a:rPr lang="en" sz="1300">
                          <a:latin typeface="Arial"/>
                          <a:ea typeface="Arial"/>
                          <a:cs typeface="Arial"/>
                          <a:sym typeface="Arial"/>
                        </a:rPr>
                        <a:t>1.8x</a:t>
                      </a:r>
                      <a:endParaRPr sz="1300">
                        <a:latin typeface="Arial"/>
                        <a:ea typeface="Arial"/>
                        <a:cs typeface="Arial"/>
                        <a:sym typeface="Arial"/>
                      </a:endParaRPr>
                    </a:p>
                  </a:txBody>
                  <a:tcPr marL="68600" marR="68600" marT="34300" marB="34300">
                    <a:noFill/>
                  </a:tcPr>
                </a:tc>
                <a:extLst>
                  <a:ext uri="{0D108BD9-81ED-4DB2-BD59-A6C34878D82A}">
                    <a16:rowId xmlns:a16="http://schemas.microsoft.com/office/drawing/2014/main" val="10002"/>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adapter ligation</a:t>
                      </a:r>
                      <a:endParaRPr sz="1300">
                        <a:latin typeface="Arial"/>
                        <a:ea typeface="Arial"/>
                        <a:cs typeface="Arial"/>
                        <a:sym typeface="Arial"/>
                      </a:endParaRPr>
                    </a:p>
                  </a:txBody>
                  <a:tcPr marL="68600" marR="68600" marT="34300" marB="34300">
                    <a:noFill/>
                  </a:tcPr>
                </a:tc>
                <a:tc>
                  <a:txBody>
                    <a:bodyPr/>
                    <a:lstStyle/>
                    <a:p>
                      <a:pPr marL="0" lvl="0" indent="0" algn="ctr" rtl="0">
                        <a:spcBef>
                          <a:spcPts val="0"/>
                        </a:spcBef>
                        <a:spcAft>
                          <a:spcPts val="0"/>
                        </a:spcAft>
                        <a:buClr>
                          <a:schemeClr val="dk1"/>
                        </a:buClr>
                        <a:buFont typeface="Arial"/>
                        <a:buNone/>
                      </a:pPr>
                      <a:r>
                        <a:rPr lang="en" sz="1300">
                          <a:latin typeface="Arial"/>
                          <a:ea typeface="Arial"/>
                          <a:cs typeface="Arial"/>
                          <a:sym typeface="Arial"/>
                        </a:rPr>
                        <a:t>± 464 bp</a:t>
                      </a:r>
                      <a:endParaRPr sz="1300">
                        <a:latin typeface="Arial"/>
                        <a:ea typeface="Arial"/>
                        <a:cs typeface="Arial"/>
                        <a:sym typeface="Arial"/>
                      </a:endParaRPr>
                    </a:p>
                  </a:txBody>
                  <a:tcPr marL="68600" marR="68600" marT="34300" marB="34300">
                    <a:noFill/>
                  </a:tcPr>
                </a:tc>
                <a:tc>
                  <a:txBody>
                    <a:bodyPr/>
                    <a:lstStyle/>
                    <a:p>
                      <a:pPr marL="0" marR="0" lvl="0" indent="0" algn="l" rtl="0">
                        <a:spcBef>
                          <a:spcPts val="0"/>
                        </a:spcBef>
                        <a:spcAft>
                          <a:spcPts val="0"/>
                        </a:spcAft>
                        <a:buNone/>
                      </a:pPr>
                      <a:r>
                        <a:rPr lang="en" sz="1300">
                          <a:latin typeface="Arial"/>
                          <a:ea typeface="Arial"/>
                          <a:cs typeface="Arial"/>
                          <a:sym typeface="Arial"/>
                        </a:rPr>
                        <a:t>Adapter dimers (64 bp) &amp; reagents</a:t>
                      </a:r>
                      <a:endParaRPr sz="1300">
                        <a:latin typeface="Arial"/>
                        <a:ea typeface="Arial"/>
                        <a:cs typeface="Arial"/>
                        <a:sym typeface="Arial"/>
                      </a:endParaRPr>
                    </a:p>
                  </a:txBody>
                  <a:tcPr marL="68600" marR="68600" marT="34300" marB="34300">
                    <a:noFill/>
                  </a:tcPr>
                </a:tc>
                <a:tc>
                  <a:txBody>
                    <a:bodyPr/>
                    <a:lstStyle/>
                    <a:p>
                      <a:pPr marL="0" marR="0" lvl="0" indent="0" algn="ctr" rtl="0">
                        <a:spcBef>
                          <a:spcPts val="0"/>
                        </a:spcBef>
                        <a:spcAft>
                          <a:spcPts val="0"/>
                        </a:spcAft>
                        <a:buNone/>
                      </a:pPr>
                      <a:r>
                        <a:rPr lang="en" sz="1300">
                          <a:latin typeface="Arial"/>
                          <a:ea typeface="Arial"/>
                          <a:cs typeface="Arial"/>
                          <a:sym typeface="Arial"/>
                        </a:rPr>
                        <a:t>0.9x</a:t>
                      </a:r>
                      <a:endParaRPr sz="1300">
                        <a:latin typeface="Arial"/>
                        <a:ea typeface="Arial"/>
                        <a:cs typeface="Arial"/>
                        <a:sym typeface="Arial"/>
                      </a:endParaRPr>
                    </a:p>
                  </a:txBody>
                  <a:tcPr marL="68600" marR="68600" marT="34300" marB="34300">
                    <a:noFill/>
                  </a:tcPr>
                </a:tc>
                <a:extLst>
                  <a:ext uri="{0D108BD9-81ED-4DB2-BD59-A6C34878D82A}">
                    <a16:rowId xmlns:a16="http://schemas.microsoft.com/office/drawing/2014/main" val="10003"/>
                  </a:ext>
                </a:extLst>
              </a:tr>
              <a:tr h="278150">
                <a:tc>
                  <a:txBody>
                    <a:bodyPr/>
                    <a:lstStyle/>
                    <a:p>
                      <a:pPr marL="0" marR="0" lvl="0" indent="0" algn="l" rtl="0">
                        <a:spcBef>
                          <a:spcPts val="0"/>
                        </a:spcBef>
                        <a:spcAft>
                          <a:spcPts val="0"/>
                        </a:spcAft>
                        <a:buNone/>
                      </a:pPr>
                      <a:r>
                        <a:rPr lang="en" sz="1300">
                          <a:latin typeface="Arial"/>
                          <a:ea typeface="Arial"/>
                          <a:cs typeface="Arial"/>
                          <a:sym typeface="Arial"/>
                        </a:rPr>
                        <a:t>After P7/P5 PCR</a:t>
                      </a:r>
                      <a:endParaRPr sz="1300">
                        <a:latin typeface="Arial"/>
                        <a:ea typeface="Arial"/>
                        <a:cs typeface="Arial"/>
                        <a:sym typeface="Arial"/>
                      </a:endParaRPr>
                    </a:p>
                  </a:txBody>
                  <a:tcPr marL="68600" marR="68600" marT="34300" marB="34300">
                    <a:noFill/>
                  </a:tcPr>
                </a:tc>
                <a:tc>
                  <a:txBody>
                    <a:bodyPr/>
                    <a:lstStyle/>
                    <a:p>
                      <a:pPr marL="0" lvl="0" indent="0" algn="ctr" rtl="0">
                        <a:spcBef>
                          <a:spcPts val="0"/>
                        </a:spcBef>
                        <a:spcAft>
                          <a:spcPts val="0"/>
                        </a:spcAft>
                        <a:buClr>
                          <a:schemeClr val="dk1"/>
                        </a:buClr>
                        <a:buFont typeface="Arial"/>
                        <a:buNone/>
                      </a:pPr>
                      <a:r>
                        <a:rPr lang="en" sz="1300">
                          <a:latin typeface="Arial"/>
                          <a:ea typeface="Arial"/>
                          <a:cs typeface="Arial"/>
                          <a:sym typeface="Arial"/>
                        </a:rPr>
                        <a:t>± 543 bp</a:t>
                      </a:r>
                      <a:endParaRPr sz="1300">
                        <a:latin typeface="Arial"/>
                        <a:ea typeface="Arial"/>
                        <a:cs typeface="Arial"/>
                        <a:sym typeface="Arial"/>
                      </a:endParaRPr>
                    </a:p>
                  </a:txBody>
                  <a:tcPr marL="68600" marR="68600" marT="34300" marB="34300">
                    <a:noFill/>
                  </a:tcPr>
                </a:tc>
                <a:tc>
                  <a:txBody>
                    <a:bodyPr/>
                    <a:lstStyle/>
                    <a:p>
                      <a:pPr marL="0" marR="0" lvl="0" indent="0" algn="l" rtl="0">
                        <a:spcBef>
                          <a:spcPts val="0"/>
                        </a:spcBef>
                        <a:spcAft>
                          <a:spcPts val="0"/>
                        </a:spcAft>
                        <a:buNone/>
                      </a:pPr>
                      <a:r>
                        <a:rPr lang="en" sz="1300">
                          <a:latin typeface="Arial"/>
                          <a:ea typeface="Arial"/>
                          <a:cs typeface="Arial"/>
                          <a:sym typeface="Arial"/>
                        </a:rPr>
                        <a:t>P5-adapter dimer-P7 (143 bp) &amp; reagents</a:t>
                      </a:r>
                      <a:endParaRPr sz="1300">
                        <a:latin typeface="Arial"/>
                        <a:ea typeface="Arial"/>
                        <a:cs typeface="Arial"/>
                        <a:sym typeface="Arial"/>
                      </a:endParaRPr>
                    </a:p>
                  </a:txBody>
                  <a:tcPr marL="68600" marR="68600" marT="34300" marB="34300">
                    <a:noFill/>
                  </a:tcPr>
                </a:tc>
                <a:tc>
                  <a:txBody>
                    <a:bodyPr/>
                    <a:lstStyle/>
                    <a:p>
                      <a:pPr marL="0" lvl="0" indent="0" algn="ctr" rtl="0">
                        <a:spcBef>
                          <a:spcPts val="0"/>
                        </a:spcBef>
                        <a:spcAft>
                          <a:spcPts val="0"/>
                        </a:spcAft>
                        <a:buClr>
                          <a:schemeClr val="dk1"/>
                        </a:buClr>
                        <a:buFont typeface="Arial"/>
                        <a:buNone/>
                      </a:pPr>
                      <a:r>
                        <a:rPr lang="en" sz="1300">
                          <a:latin typeface="Arial"/>
                          <a:ea typeface="Arial"/>
                          <a:cs typeface="Arial"/>
                          <a:sym typeface="Arial"/>
                        </a:rPr>
                        <a:t>0.8x</a:t>
                      </a:r>
                      <a:endParaRPr sz="1300">
                        <a:latin typeface="Arial"/>
                        <a:ea typeface="Arial"/>
                        <a:cs typeface="Arial"/>
                        <a:sym typeface="Arial"/>
                      </a:endParaRPr>
                    </a:p>
                  </a:txBody>
                  <a:tcPr marL="68600" marR="68600" marT="34300" marB="34300">
                    <a:noFill/>
                  </a:tcPr>
                </a:tc>
                <a:extLst>
                  <a:ext uri="{0D108BD9-81ED-4DB2-BD59-A6C34878D82A}">
                    <a16:rowId xmlns:a16="http://schemas.microsoft.com/office/drawing/2014/main" val="10004"/>
                  </a:ext>
                </a:extLst>
              </a:tr>
              <a:tr h="388625">
                <a:tc>
                  <a:txBody>
                    <a:bodyPr/>
                    <a:lstStyle/>
                    <a:p>
                      <a:pPr marL="0" marR="0" lvl="0" indent="0" algn="l" rtl="0">
                        <a:spcBef>
                          <a:spcPts val="0"/>
                        </a:spcBef>
                        <a:spcAft>
                          <a:spcPts val="0"/>
                        </a:spcAft>
                        <a:buNone/>
                      </a:pPr>
                      <a:r>
                        <a:rPr lang="en" sz="1300">
                          <a:latin typeface="Arial"/>
                          <a:ea typeface="Arial"/>
                          <a:cs typeface="Arial"/>
                          <a:sym typeface="Arial"/>
                        </a:rPr>
                        <a:t>QC of library</a:t>
                      </a:r>
                      <a:endParaRPr sz="1300">
                        <a:latin typeface="Arial"/>
                        <a:ea typeface="Arial"/>
                        <a:cs typeface="Arial"/>
                        <a:sym typeface="Arial"/>
                      </a:endParaRPr>
                    </a:p>
                  </a:txBody>
                  <a:tcPr marL="68600" marR="68600" marT="34300" marB="34300" anchor="ctr">
                    <a:noFill/>
                  </a:tcPr>
                </a:tc>
                <a:tc>
                  <a:txBody>
                    <a:bodyPr/>
                    <a:lstStyle/>
                    <a:p>
                      <a:pPr marL="0" lvl="0" indent="0" algn="ctr" rtl="0">
                        <a:spcBef>
                          <a:spcPts val="0"/>
                        </a:spcBef>
                        <a:spcAft>
                          <a:spcPts val="0"/>
                        </a:spcAft>
                        <a:buClr>
                          <a:schemeClr val="dk1"/>
                        </a:buClr>
                        <a:buFont typeface="Arial"/>
                        <a:buNone/>
                      </a:pPr>
                      <a:r>
                        <a:rPr lang="en" sz="1300">
                          <a:latin typeface="Arial"/>
                          <a:ea typeface="Arial"/>
                          <a:cs typeface="Arial"/>
                          <a:sym typeface="Arial"/>
                        </a:rPr>
                        <a:t>± 543 bp</a:t>
                      </a:r>
                      <a:endParaRPr sz="1300">
                        <a:latin typeface="Arial"/>
                        <a:ea typeface="Arial"/>
                        <a:cs typeface="Arial"/>
                        <a:sym typeface="Arial"/>
                      </a:endParaRPr>
                    </a:p>
                  </a:txBody>
                  <a:tcPr marL="68600" marR="68600" marT="34300" marB="34300" anchor="ctr">
                    <a:noFill/>
                  </a:tcPr>
                </a:tc>
                <a:tc>
                  <a:txBody>
                    <a:bodyPr/>
                    <a:lstStyle/>
                    <a:p>
                      <a:pPr marL="0" marR="0" lvl="0" indent="0" algn="l" rtl="0">
                        <a:spcBef>
                          <a:spcPts val="0"/>
                        </a:spcBef>
                        <a:spcAft>
                          <a:spcPts val="0"/>
                        </a:spcAft>
                        <a:buNone/>
                      </a:pPr>
                      <a:r>
                        <a:rPr lang="en" sz="1300">
                          <a:latin typeface="Arial"/>
                          <a:ea typeface="Arial"/>
                          <a:cs typeface="Arial"/>
                          <a:sym typeface="Arial"/>
                        </a:rPr>
                        <a:t>P5-Adapter dimer-P7 (143 bp)</a:t>
                      </a:r>
                      <a:endParaRPr sz="1300">
                        <a:latin typeface="Arial"/>
                        <a:ea typeface="Arial"/>
                        <a:cs typeface="Arial"/>
                        <a:sym typeface="Arial"/>
                      </a:endParaRPr>
                    </a:p>
                  </a:txBody>
                  <a:tcPr marL="68600" marR="68600" marT="34300" marB="34300" anchor="ctr">
                    <a:noFill/>
                  </a:tcPr>
                </a:tc>
                <a:tc>
                  <a:txBody>
                    <a:bodyPr/>
                    <a:lstStyle/>
                    <a:p>
                      <a:pPr marL="0" marR="0" lvl="0" indent="0" algn="ctr" rtl="0">
                        <a:spcBef>
                          <a:spcPts val="0"/>
                        </a:spcBef>
                        <a:spcAft>
                          <a:spcPts val="0"/>
                        </a:spcAft>
                        <a:buNone/>
                      </a:pPr>
                      <a:r>
                        <a:rPr lang="en" sz="1300">
                          <a:latin typeface="Arial"/>
                          <a:ea typeface="Arial"/>
                          <a:cs typeface="Arial"/>
                          <a:sym typeface="Arial"/>
                        </a:rPr>
                        <a:t>0.8x</a:t>
                      </a:r>
                      <a:endParaRPr sz="1300">
                        <a:latin typeface="Arial"/>
                        <a:ea typeface="Arial"/>
                        <a:cs typeface="Arial"/>
                        <a:sym typeface="Arial"/>
                      </a:endParaRPr>
                    </a:p>
                  </a:txBody>
                  <a:tcPr marL="68600" marR="68600" marT="34300" marB="34300" anchor="ctr">
                    <a:noFill/>
                  </a:tcPr>
                </a:tc>
                <a:extLst>
                  <a:ext uri="{0D108BD9-81ED-4DB2-BD59-A6C34878D82A}">
                    <a16:rowId xmlns:a16="http://schemas.microsoft.com/office/drawing/2014/main" val="10005"/>
                  </a:ext>
                </a:extLst>
              </a:tr>
            </a:tbl>
          </a:graphicData>
        </a:graphic>
      </p:graphicFrame>
      <p:pic>
        <p:nvPicPr>
          <p:cNvPr id="469" name="Google Shape;469;p42"/>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470" name="Google Shape;470;p42"/>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sp>
        <p:nvSpPr>
          <p:cNvPr id="471" name="Google Shape;471;p42"/>
          <p:cNvSpPr txBox="1"/>
          <p:nvPr/>
        </p:nvSpPr>
        <p:spPr>
          <a:xfrm>
            <a:off x="4975" y="906100"/>
            <a:ext cx="4931700" cy="5727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 sz="1700" b="1"/>
              <a:t>SPRI bead clean-ups during library prep</a:t>
            </a:r>
            <a:endParaRPr sz="1700" b="1"/>
          </a:p>
          <a:p>
            <a:pPr marL="457200" marR="0" lvl="0" indent="0" algn="l" rtl="0">
              <a:lnSpc>
                <a:spcPct val="200000"/>
              </a:lnSpc>
              <a:spcBef>
                <a:spcPts val="0"/>
              </a:spcBef>
              <a:spcAft>
                <a:spcPts val="0"/>
              </a:spcAft>
              <a:buNone/>
            </a:pPr>
            <a:endParaRPr sz="1500"/>
          </a:p>
        </p:txBody>
      </p:sp>
      <p:sp>
        <p:nvSpPr>
          <p:cNvPr id="472" name="Google Shape;472;p42"/>
          <p:cNvSpPr txBox="1"/>
          <p:nvPr/>
        </p:nvSpPr>
        <p:spPr>
          <a:xfrm>
            <a:off x="381000" y="1317175"/>
            <a:ext cx="5225100" cy="609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Size selection using SPRI beads to remove adapter dimers</a:t>
            </a:r>
            <a:endParaRPr/>
          </a:p>
          <a:p>
            <a:pPr marL="457200" lvl="0" indent="-317500" algn="l" rtl="0">
              <a:spcBef>
                <a:spcPts val="0"/>
              </a:spcBef>
              <a:spcAft>
                <a:spcPts val="0"/>
              </a:spcAft>
              <a:buSzPts val="1400"/>
              <a:buChar char="●"/>
            </a:pPr>
            <a:r>
              <a:rPr lang="en"/>
              <a:t>Rule of thumb: dimers should be completely should disappear before </a:t>
            </a:r>
            <a:endParaRPr/>
          </a:p>
        </p:txBody>
      </p:sp>
      <p:sp>
        <p:nvSpPr>
          <p:cNvPr id="2" name="Footer Placeholder 1">
            <a:extLst>
              <a:ext uri="{FF2B5EF4-FFF2-40B4-BE49-F238E27FC236}">
                <a16:creationId xmlns:a16="http://schemas.microsoft.com/office/drawing/2014/main" id="{F1FEED18-1D76-5243-9A41-F82CBBA00FAD}"/>
              </a:ext>
            </a:extLst>
          </p:cNvPr>
          <p:cNvSpPr>
            <a:spLocks noGrp="1"/>
          </p:cNvSpPr>
          <p:nvPr>
            <p:ph type="ftr" sz="quarter" idx="11"/>
          </p:nvPr>
        </p:nvSpPr>
        <p:spPr>
          <a:xfrm>
            <a:off x="8014447" y="4869657"/>
            <a:ext cx="1129553"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43"/>
          <p:cNvSpPr txBox="1"/>
          <p:nvPr/>
        </p:nvSpPr>
        <p:spPr>
          <a:xfrm>
            <a:off x="6529125" y="3085475"/>
            <a:ext cx="13836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Final QC &amp; seq prep</a:t>
            </a:r>
            <a:endParaRPr sz="1600"/>
          </a:p>
        </p:txBody>
      </p:sp>
      <p:pic>
        <p:nvPicPr>
          <p:cNvPr id="478" name="Google Shape;478;p43"/>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479" name="Google Shape;479;p43"/>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sp>
        <p:nvSpPr>
          <p:cNvPr id="480" name="Google Shape;480;p43"/>
          <p:cNvSpPr txBox="1"/>
          <p:nvPr/>
        </p:nvSpPr>
        <p:spPr>
          <a:xfrm>
            <a:off x="113075" y="891900"/>
            <a:ext cx="8568000" cy="4050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for sequencing</a:t>
            </a:r>
            <a:endParaRPr sz="1700" b="1">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 sz="1300">
                <a:solidFill>
                  <a:schemeClr val="dk1"/>
                </a:solidFill>
              </a:rPr>
              <a:t>Each sample has a unique set of barcodes -&gt; multiple samples can be pooled in one sequencing reaction</a:t>
            </a:r>
            <a:endParaRPr sz="1300">
              <a:solidFill>
                <a:schemeClr val="dk1"/>
              </a:solidFill>
            </a:endParaRPr>
          </a:p>
        </p:txBody>
      </p:sp>
      <p:pic>
        <p:nvPicPr>
          <p:cNvPr id="481" name="Google Shape;481;p43"/>
          <p:cNvPicPr preferRelativeResize="0"/>
          <p:nvPr/>
        </p:nvPicPr>
        <p:blipFill>
          <a:blip r:embed="rId4">
            <a:alphaModFix/>
          </a:blip>
          <a:stretch>
            <a:fillRect/>
          </a:stretch>
        </p:blipFill>
        <p:spPr>
          <a:xfrm>
            <a:off x="1527120" y="1577300"/>
            <a:ext cx="661200" cy="1107599"/>
          </a:xfrm>
          <a:prstGeom prst="rect">
            <a:avLst/>
          </a:prstGeom>
          <a:noFill/>
          <a:ln>
            <a:noFill/>
          </a:ln>
        </p:spPr>
      </p:pic>
      <p:sp>
        <p:nvSpPr>
          <p:cNvPr id="482" name="Google Shape;482;p43"/>
          <p:cNvSpPr txBox="1"/>
          <p:nvPr/>
        </p:nvSpPr>
        <p:spPr>
          <a:xfrm>
            <a:off x="577625" y="18189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 Sample A</a:t>
            </a:r>
            <a:endParaRPr sz="1600"/>
          </a:p>
        </p:txBody>
      </p:sp>
      <p:sp>
        <p:nvSpPr>
          <p:cNvPr id="483" name="Google Shape;483;p43"/>
          <p:cNvSpPr txBox="1"/>
          <p:nvPr/>
        </p:nvSpPr>
        <p:spPr>
          <a:xfrm>
            <a:off x="577625" y="30092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a:t>
            </a:r>
            <a:endParaRPr sz="1500"/>
          </a:p>
          <a:p>
            <a:pPr marL="0" lvl="0" indent="0" algn="ctr" rtl="0">
              <a:spcBef>
                <a:spcPts val="0"/>
              </a:spcBef>
              <a:spcAft>
                <a:spcPts val="0"/>
              </a:spcAft>
              <a:buNone/>
            </a:pPr>
            <a:r>
              <a:rPr lang="en" sz="1500"/>
              <a:t>Sample B</a:t>
            </a:r>
            <a:endParaRPr sz="1600"/>
          </a:p>
        </p:txBody>
      </p:sp>
      <p:sp>
        <p:nvSpPr>
          <p:cNvPr id="484" name="Google Shape;484;p43"/>
          <p:cNvSpPr txBox="1"/>
          <p:nvPr/>
        </p:nvSpPr>
        <p:spPr>
          <a:xfrm>
            <a:off x="341675" y="41870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QCed</a:t>
            </a:r>
            <a:endParaRPr sz="1500"/>
          </a:p>
          <a:p>
            <a:pPr marL="0" lvl="0" indent="0" algn="ctr" rtl="0">
              <a:spcBef>
                <a:spcPts val="0"/>
              </a:spcBef>
              <a:spcAft>
                <a:spcPts val="0"/>
              </a:spcAft>
              <a:buNone/>
            </a:pPr>
            <a:r>
              <a:rPr lang="en" sz="1500"/>
              <a:t>Water control A </a:t>
            </a:r>
            <a:endParaRPr sz="1600"/>
          </a:p>
        </p:txBody>
      </p:sp>
      <p:pic>
        <p:nvPicPr>
          <p:cNvPr id="485" name="Google Shape;485;p43"/>
          <p:cNvPicPr preferRelativeResize="0"/>
          <p:nvPr/>
        </p:nvPicPr>
        <p:blipFill>
          <a:blip r:embed="rId4">
            <a:alphaModFix/>
          </a:blip>
          <a:stretch>
            <a:fillRect/>
          </a:stretch>
        </p:blipFill>
        <p:spPr>
          <a:xfrm>
            <a:off x="1527120" y="2767625"/>
            <a:ext cx="661200" cy="1107599"/>
          </a:xfrm>
          <a:prstGeom prst="rect">
            <a:avLst/>
          </a:prstGeom>
          <a:noFill/>
          <a:ln>
            <a:noFill/>
          </a:ln>
        </p:spPr>
      </p:pic>
      <p:pic>
        <p:nvPicPr>
          <p:cNvPr id="486" name="Google Shape;486;p43"/>
          <p:cNvPicPr preferRelativeResize="0"/>
          <p:nvPr/>
        </p:nvPicPr>
        <p:blipFill>
          <a:blip r:embed="rId4">
            <a:alphaModFix/>
          </a:blip>
          <a:stretch>
            <a:fillRect/>
          </a:stretch>
        </p:blipFill>
        <p:spPr>
          <a:xfrm>
            <a:off x="1527120" y="3957950"/>
            <a:ext cx="661200" cy="1107599"/>
          </a:xfrm>
          <a:prstGeom prst="rect">
            <a:avLst/>
          </a:prstGeom>
          <a:noFill/>
          <a:ln>
            <a:noFill/>
          </a:ln>
        </p:spPr>
      </p:pic>
      <p:pic>
        <p:nvPicPr>
          <p:cNvPr id="487" name="Google Shape;487;p43"/>
          <p:cNvPicPr preferRelativeResize="0"/>
          <p:nvPr/>
        </p:nvPicPr>
        <p:blipFill>
          <a:blip r:embed="rId4">
            <a:alphaModFix/>
          </a:blip>
          <a:stretch>
            <a:fillRect/>
          </a:stretch>
        </p:blipFill>
        <p:spPr>
          <a:xfrm>
            <a:off x="5885245" y="2815762"/>
            <a:ext cx="661200" cy="1107599"/>
          </a:xfrm>
          <a:prstGeom prst="rect">
            <a:avLst/>
          </a:prstGeom>
          <a:noFill/>
          <a:ln>
            <a:noFill/>
          </a:ln>
        </p:spPr>
      </p:pic>
      <p:sp>
        <p:nvSpPr>
          <p:cNvPr id="488" name="Google Shape;488;p43"/>
          <p:cNvSpPr txBox="1"/>
          <p:nvPr/>
        </p:nvSpPr>
        <p:spPr>
          <a:xfrm>
            <a:off x="5695675" y="32098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sp>
        <p:nvSpPr>
          <p:cNvPr id="489" name="Google Shape;489;p43"/>
          <p:cNvSpPr txBox="1"/>
          <p:nvPr/>
        </p:nvSpPr>
        <p:spPr>
          <a:xfrm>
            <a:off x="2577975" y="1744375"/>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BC2</a:t>
            </a:r>
            <a:endParaRPr sz="1300" b="1">
              <a:solidFill>
                <a:srgbClr val="C1E0AF"/>
              </a:solidFill>
            </a:endParaRPr>
          </a:p>
        </p:txBody>
      </p:sp>
      <p:sp>
        <p:nvSpPr>
          <p:cNvPr id="490" name="Google Shape;490;p43"/>
          <p:cNvSpPr txBox="1"/>
          <p:nvPr/>
        </p:nvSpPr>
        <p:spPr>
          <a:xfrm>
            <a:off x="4438250" y="1744375"/>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BC1</a:t>
            </a:r>
            <a:endParaRPr sz="1300" b="1">
              <a:solidFill>
                <a:srgbClr val="A3D28D"/>
              </a:solidFill>
            </a:endParaRPr>
          </a:p>
        </p:txBody>
      </p:sp>
      <p:sp>
        <p:nvSpPr>
          <p:cNvPr id="491" name="Google Shape;491;p43"/>
          <p:cNvSpPr txBox="1"/>
          <p:nvPr/>
        </p:nvSpPr>
        <p:spPr>
          <a:xfrm>
            <a:off x="4438250" y="2995644"/>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BC3</a:t>
            </a:r>
            <a:endParaRPr sz="1300" b="1">
              <a:solidFill>
                <a:srgbClr val="A3D28D"/>
              </a:solidFill>
            </a:endParaRPr>
          </a:p>
        </p:txBody>
      </p:sp>
      <p:sp>
        <p:nvSpPr>
          <p:cNvPr id="492" name="Google Shape;492;p43"/>
          <p:cNvSpPr txBox="1"/>
          <p:nvPr/>
        </p:nvSpPr>
        <p:spPr>
          <a:xfrm>
            <a:off x="2577975" y="2995644"/>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BC4</a:t>
            </a:r>
            <a:endParaRPr sz="1300" b="1">
              <a:solidFill>
                <a:srgbClr val="C1E0AF"/>
              </a:solidFill>
            </a:endParaRPr>
          </a:p>
        </p:txBody>
      </p:sp>
      <p:sp>
        <p:nvSpPr>
          <p:cNvPr id="493" name="Google Shape;493;p43"/>
          <p:cNvSpPr txBox="1"/>
          <p:nvPr/>
        </p:nvSpPr>
        <p:spPr>
          <a:xfrm>
            <a:off x="4438250" y="4151638"/>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A3D28D"/>
                </a:solidFill>
              </a:rPr>
              <a:t>BC5</a:t>
            </a:r>
            <a:endParaRPr sz="1300" b="1">
              <a:solidFill>
                <a:srgbClr val="A3D28D"/>
              </a:solidFill>
            </a:endParaRPr>
          </a:p>
        </p:txBody>
      </p:sp>
      <p:sp>
        <p:nvSpPr>
          <p:cNvPr id="494" name="Google Shape;494;p43"/>
          <p:cNvSpPr txBox="1"/>
          <p:nvPr/>
        </p:nvSpPr>
        <p:spPr>
          <a:xfrm>
            <a:off x="2577975" y="4151638"/>
            <a:ext cx="5688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C1E0AF"/>
                </a:solidFill>
              </a:rPr>
              <a:t>BC6</a:t>
            </a:r>
            <a:endParaRPr sz="1300" b="1">
              <a:solidFill>
                <a:srgbClr val="C1E0AF"/>
              </a:solidFill>
            </a:endParaRPr>
          </a:p>
        </p:txBody>
      </p:sp>
      <p:pic>
        <p:nvPicPr>
          <p:cNvPr id="495" name="Google Shape;495;p43"/>
          <p:cNvPicPr preferRelativeResize="0"/>
          <p:nvPr/>
        </p:nvPicPr>
        <p:blipFill rotWithShape="1">
          <a:blip r:embed="rId5">
            <a:alphaModFix/>
          </a:blip>
          <a:srcRect t="25700" b="62539"/>
          <a:stretch/>
        </p:blipFill>
        <p:spPr>
          <a:xfrm>
            <a:off x="2087219" y="2101463"/>
            <a:ext cx="3192750" cy="210250"/>
          </a:xfrm>
          <a:prstGeom prst="rect">
            <a:avLst/>
          </a:prstGeom>
          <a:noFill/>
          <a:ln>
            <a:noFill/>
          </a:ln>
        </p:spPr>
      </p:pic>
      <p:pic>
        <p:nvPicPr>
          <p:cNvPr id="496" name="Google Shape;496;p43"/>
          <p:cNvPicPr preferRelativeResize="0"/>
          <p:nvPr/>
        </p:nvPicPr>
        <p:blipFill rotWithShape="1">
          <a:blip r:embed="rId5">
            <a:alphaModFix/>
          </a:blip>
          <a:srcRect t="25700" b="62539"/>
          <a:stretch/>
        </p:blipFill>
        <p:spPr>
          <a:xfrm>
            <a:off x="2087219" y="3289000"/>
            <a:ext cx="3192750" cy="210250"/>
          </a:xfrm>
          <a:prstGeom prst="rect">
            <a:avLst/>
          </a:prstGeom>
          <a:noFill/>
          <a:ln>
            <a:noFill/>
          </a:ln>
        </p:spPr>
      </p:pic>
      <p:pic>
        <p:nvPicPr>
          <p:cNvPr id="497" name="Google Shape;497;p43"/>
          <p:cNvPicPr preferRelativeResize="0"/>
          <p:nvPr/>
        </p:nvPicPr>
        <p:blipFill rotWithShape="1">
          <a:blip r:embed="rId5">
            <a:alphaModFix/>
          </a:blip>
          <a:srcRect t="25700" b="62539"/>
          <a:stretch/>
        </p:blipFill>
        <p:spPr>
          <a:xfrm>
            <a:off x="2087219" y="4448700"/>
            <a:ext cx="3192750" cy="210250"/>
          </a:xfrm>
          <a:prstGeom prst="rect">
            <a:avLst/>
          </a:prstGeom>
          <a:noFill/>
          <a:ln>
            <a:noFill/>
          </a:ln>
        </p:spPr>
      </p:pic>
      <p:cxnSp>
        <p:nvCxnSpPr>
          <p:cNvPr id="498" name="Google Shape;498;p43"/>
          <p:cNvCxnSpPr/>
          <p:nvPr/>
        </p:nvCxnSpPr>
        <p:spPr>
          <a:xfrm>
            <a:off x="5124638" y="3413175"/>
            <a:ext cx="516600" cy="0"/>
          </a:xfrm>
          <a:prstGeom prst="straightConnector1">
            <a:avLst/>
          </a:prstGeom>
          <a:noFill/>
          <a:ln w="9525" cap="flat" cmpd="sng">
            <a:solidFill>
              <a:schemeClr val="dk2"/>
            </a:solidFill>
            <a:prstDash val="solid"/>
            <a:round/>
            <a:headEnd type="none" w="med" len="med"/>
            <a:tailEnd type="triangle" w="med" len="med"/>
          </a:ln>
        </p:spPr>
      </p:cxnSp>
      <p:cxnSp>
        <p:nvCxnSpPr>
          <p:cNvPr id="499" name="Google Shape;499;p43"/>
          <p:cNvCxnSpPr/>
          <p:nvPr/>
        </p:nvCxnSpPr>
        <p:spPr>
          <a:xfrm rot="10800000" flipH="1">
            <a:off x="5124638" y="3920825"/>
            <a:ext cx="507000" cy="633000"/>
          </a:xfrm>
          <a:prstGeom prst="straightConnector1">
            <a:avLst/>
          </a:prstGeom>
          <a:noFill/>
          <a:ln w="9525" cap="flat" cmpd="sng">
            <a:solidFill>
              <a:schemeClr val="dk2"/>
            </a:solidFill>
            <a:prstDash val="solid"/>
            <a:round/>
            <a:headEnd type="none" w="med" len="med"/>
            <a:tailEnd type="triangle" w="med" len="med"/>
          </a:ln>
        </p:spPr>
      </p:cxnSp>
      <p:cxnSp>
        <p:nvCxnSpPr>
          <p:cNvPr id="500" name="Google Shape;500;p43"/>
          <p:cNvCxnSpPr/>
          <p:nvPr/>
        </p:nvCxnSpPr>
        <p:spPr>
          <a:xfrm>
            <a:off x="5124638" y="2206588"/>
            <a:ext cx="536100" cy="646500"/>
          </a:xfrm>
          <a:prstGeom prst="straightConnector1">
            <a:avLst/>
          </a:prstGeom>
          <a:noFill/>
          <a:ln w="9525" cap="flat" cmpd="sng">
            <a:solidFill>
              <a:schemeClr val="dk2"/>
            </a:solidFill>
            <a:prstDash val="solid"/>
            <a:round/>
            <a:headEnd type="none" w="med" len="med"/>
            <a:tailEnd type="triangle" w="med" len="med"/>
          </a:ln>
        </p:spPr>
      </p:cxnSp>
      <p:pic>
        <p:nvPicPr>
          <p:cNvPr id="501" name="Google Shape;501;p43"/>
          <p:cNvPicPr preferRelativeResize="0"/>
          <p:nvPr/>
        </p:nvPicPr>
        <p:blipFill rotWithShape="1">
          <a:blip r:embed="rId6">
            <a:alphaModFix/>
          </a:blip>
          <a:srcRect l="14551" r="17610" b="13941"/>
          <a:stretch/>
        </p:blipFill>
        <p:spPr>
          <a:xfrm>
            <a:off x="7930625" y="2966250"/>
            <a:ext cx="1126125" cy="959049"/>
          </a:xfrm>
          <a:prstGeom prst="rect">
            <a:avLst/>
          </a:prstGeom>
          <a:noFill/>
          <a:ln>
            <a:noFill/>
          </a:ln>
        </p:spPr>
      </p:pic>
      <p:cxnSp>
        <p:nvCxnSpPr>
          <p:cNvPr id="502" name="Google Shape;502;p43"/>
          <p:cNvCxnSpPr/>
          <p:nvPr/>
        </p:nvCxnSpPr>
        <p:spPr>
          <a:xfrm>
            <a:off x="6618425" y="3445774"/>
            <a:ext cx="1236000" cy="0"/>
          </a:xfrm>
          <a:prstGeom prst="straightConnector1">
            <a:avLst/>
          </a:prstGeom>
          <a:noFill/>
          <a:ln w="9525" cap="flat" cmpd="sng">
            <a:solidFill>
              <a:schemeClr val="dk2"/>
            </a:solidFill>
            <a:prstDash val="solid"/>
            <a:round/>
            <a:headEnd type="none" w="med" len="med"/>
            <a:tailEnd type="triangle" w="med" len="med"/>
          </a:ln>
        </p:spPr>
      </p:cxnSp>
      <p:sp>
        <p:nvSpPr>
          <p:cNvPr id="2" name="Footer Placeholder 3">
            <a:extLst>
              <a:ext uri="{FF2B5EF4-FFF2-40B4-BE49-F238E27FC236}">
                <a16:creationId xmlns:a16="http://schemas.microsoft.com/office/drawing/2014/main" id="{5FC78B0E-40FC-FBD3-6D23-13C5DB381E4A}"/>
              </a:ext>
            </a:extLst>
          </p:cNvPr>
          <p:cNvSpPr>
            <a:spLocks noGrp="1"/>
          </p:cNvSpPr>
          <p:nvPr>
            <p:ph type="ftr" sz="quarter" idx="11"/>
          </p:nvPr>
        </p:nvSpPr>
        <p:spPr>
          <a:xfrm>
            <a:off x="7999716" y="4778375"/>
            <a:ext cx="1144284" cy="365125"/>
          </a:xfrm>
        </p:spPr>
        <p:txBody>
          <a:bodyPr/>
          <a:lstStyle/>
          <a:p>
            <a:r>
              <a:rPr lang="en-US" sz="800" dirty="0">
                <a:latin typeface="Arial" panose="020B0604020202020204" pitchFamily="34" charset="0"/>
                <a:cs typeface="Arial" panose="020B0604020202020204" pitchFamily="34" charset="0"/>
              </a:rPr>
              <a:t>Revised 01/12/2026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4"/>
          <p:cNvSpPr txBox="1"/>
          <p:nvPr/>
        </p:nvSpPr>
        <p:spPr>
          <a:xfrm>
            <a:off x="113075" y="968100"/>
            <a:ext cx="8568000" cy="1182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together for sequencing</a:t>
            </a:r>
            <a:endParaRPr sz="1700"/>
          </a:p>
          <a:p>
            <a:pPr marL="266700" marR="0" lvl="1" indent="-260350" algn="l" rtl="0">
              <a:lnSpc>
                <a:spcPct val="150000"/>
              </a:lnSpc>
              <a:spcBef>
                <a:spcPts val="0"/>
              </a:spcBef>
              <a:spcAft>
                <a:spcPts val="0"/>
              </a:spcAft>
              <a:buClr>
                <a:schemeClr val="dk1"/>
              </a:buClr>
              <a:buSzPts val="1500"/>
              <a:buAutoNum type="arabicPeriod"/>
            </a:pPr>
            <a:r>
              <a:rPr lang="en" sz="1500" i="0" u="none" strike="noStrike" cap="none">
                <a:solidFill>
                  <a:schemeClr val="dk1"/>
                </a:solidFill>
              </a:rPr>
              <a:t>Qubit to determine concentration of individual libraries (expect library to be 0.5 to 10 ng/ul)</a:t>
            </a:r>
            <a:endParaRPr sz="1500"/>
          </a:p>
          <a:p>
            <a:pPr marL="266700" marR="0" lvl="1" indent="-260350" algn="l" rtl="0">
              <a:lnSpc>
                <a:spcPct val="125000"/>
              </a:lnSpc>
              <a:spcBef>
                <a:spcPts val="0"/>
              </a:spcBef>
              <a:spcAft>
                <a:spcPts val="0"/>
              </a:spcAft>
              <a:buClr>
                <a:schemeClr val="dk1"/>
              </a:buClr>
              <a:buSzPts val="1500"/>
              <a:buAutoNum type="arabicPeriod"/>
            </a:pPr>
            <a:r>
              <a:rPr lang="en" sz="1500" i="0" u="none" strike="noStrike" cap="none">
                <a:solidFill>
                  <a:schemeClr val="dk1"/>
                </a:solidFill>
              </a:rPr>
              <a:t>Pool barcoded libraries so that all are equally represented (except H</a:t>
            </a:r>
            <a:r>
              <a:rPr lang="en" sz="1500" i="0" u="none" strike="noStrike" cap="none" baseline="-25000">
                <a:solidFill>
                  <a:schemeClr val="dk1"/>
                </a:solidFill>
              </a:rPr>
              <a:t>2</a:t>
            </a:r>
            <a:r>
              <a:rPr lang="en" sz="1500" i="0" u="none" strike="noStrike" cap="none">
                <a:solidFill>
                  <a:schemeClr val="dk1"/>
                </a:solidFill>
              </a:rPr>
              <a:t>O controls, only 1:5)</a:t>
            </a:r>
            <a:endParaRPr sz="1500">
              <a:solidFill>
                <a:schemeClr val="dk1"/>
              </a:solidFill>
            </a:endParaRPr>
          </a:p>
        </p:txBody>
      </p:sp>
      <p:pic>
        <p:nvPicPr>
          <p:cNvPr id="509" name="Google Shape;509;p44"/>
          <p:cNvPicPr preferRelativeResize="0"/>
          <p:nvPr/>
        </p:nvPicPr>
        <p:blipFill rotWithShape="1">
          <a:blip r:embed="rId3">
            <a:alphaModFix/>
          </a:blip>
          <a:srcRect/>
          <a:stretch/>
        </p:blipFill>
        <p:spPr>
          <a:xfrm>
            <a:off x="438534" y="2142547"/>
            <a:ext cx="1860947" cy="1717797"/>
          </a:xfrm>
          <a:prstGeom prst="rect">
            <a:avLst/>
          </a:prstGeom>
          <a:noFill/>
          <a:ln>
            <a:noFill/>
          </a:ln>
        </p:spPr>
      </p:pic>
      <p:sp>
        <p:nvSpPr>
          <p:cNvPr id="510" name="Google Shape;510;p44"/>
          <p:cNvSpPr txBox="1"/>
          <p:nvPr/>
        </p:nvSpPr>
        <p:spPr>
          <a:xfrm>
            <a:off x="2160175" y="2574009"/>
            <a:ext cx="5715000" cy="1107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a:solidFill>
                  <a:schemeClr val="dk1"/>
                </a:solidFill>
              </a:rPr>
              <a:t>Sample 1: 	10 ng/ul 	-&gt;	4.0 μl		-&gt; 	40 ng</a:t>
            </a:r>
            <a:endParaRPr sz="1300"/>
          </a:p>
          <a:p>
            <a:pPr marL="0" marR="0" lvl="0" indent="0" algn="l" rtl="0">
              <a:spcBef>
                <a:spcPts val="0"/>
              </a:spcBef>
              <a:spcAft>
                <a:spcPts val="0"/>
              </a:spcAft>
              <a:buNone/>
            </a:pPr>
            <a:r>
              <a:rPr lang="en" sz="1300">
                <a:solidFill>
                  <a:schemeClr val="dk1"/>
                </a:solidFill>
              </a:rPr>
              <a:t>Sample 2: 	  5 ng/ul	-&gt;	8.0 μl		-&gt;	40 ng</a:t>
            </a:r>
            <a:endParaRPr sz="1300"/>
          </a:p>
          <a:p>
            <a:pPr marL="0" marR="0" lvl="0" indent="0" algn="l" rtl="0">
              <a:spcBef>
                <a:spcPts val="0"/>
              </a:spcBef>
              <a:spcAft>
                <a:spcPts val="0"/>
              </a:spcAft>
              <a:buNone/>
            </a:pPr>
            <a:r>
              <a:rPr lang="en" sz="1300">
                <a:solidFill>
                  <a:schemeClr val="dk1"/>
                </a:solidFill>
              </a:rPr>
              <a:t>Sample 3: 	8 ng/ul	-&gt;	5.0 μl		-&gt;	40 ng</a:t>
            </a:r>
            <a:endParaRPr sz="1300"/>
          </a:p>
          <a:p>
            <a:pPr marL="0" marR="0" lvl="0" indent="0" algn="l" rtl="0">
              <a:spcBef>
                <a:spcPts val="0"/>
              </a:spcBef>
              <a:spcAft>
                <a:spcPts val="0"/>
              </a:spcAft>
              <a:buNone/>
            </a:pPr>
            <a:r>
              <a:rPr lang="en" sz="1300">
                <a:solidFill>
                  <a:schemeClr val="dk1"/>
                </a:solidFill>
              </a:rPr>
              <a:t>Sample 4: 	15 ng/ul	-&gt;	2.6 μl		-&gt;	40 ng</a:t>
            </a:r>
            <a:endParaRPr sz="1300"/>
          </a:p>
          <a:p>
            <a:pPr marL="0" marR="0" lvl="0" indent="0" algn="l" rtl="0">
              <a:spcBef>
                <a:spcPts val="0"/>
              </a:spcBef>
              <a:spcAft>
                <a:spcPts val="0"/>
              </a:spcAft>
              <a:buNone/>
            </a:pPr>
            <a:r>
              <a:rPr lang="en" sz="1300">
                <a:solidFill>
                  <a:schemeClr val="dk1"/>
                </a:solidFill>
              </a:rPr>
              <a:t>H</a:t>
            </a:r>
            <a:r>
              <a:rPr lang="en" sz="1300" baseline="-25000">
                <a:solidFill>
                  <a:schemeClr val="dk1"/>
                </a:solidFill>
              </a:rPr>
              <a:t>2</a:t>
            </a:r>
            <a:r>
              <a:rPr lang="en" sz="1300">
                <a:solidFill>
                  <a:schemeClr val="dk1"/>
                </a:solidFill>
              </a:rPr>
              <a:t>O control:	  1 ng/ul	-&gt;	8.0 μl		-&gt;	8 ng</a:t>
            </a:r>
            <a:endParaRPr sz="1300"/>
          </a:p>
        </p:txBody>
      </p:sp>
      <p:sp>
        <p:nvSpPr>
          <p:cNvPr id="511" name="Google Shape;511;p44"/>
          <p:cNvSpPr txBox="1"/>
          <p:nvPr/>
        </p:nvSpPr>
        <p:spPr>
          <a:xfrm>
            <a:off x="2252425" y="4465800"/>
            <a:ext cx="57150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b="1">
                <a:solidFill>
                  <a:srgbClr val="C00000"/>
                </a:solidFill>
              </a:rPr>
              <a:t>End goal is &gt;10 μl of 2 nM pooled library (or 4 nM for MiSeq)</a:t>
            </a:r>
            <a:endParaRPr sz="1300" b="1">
              <a:solidFill>
                <a:srgbClr val="C00000"/>
              </a:solidFill>
            </a:endParaRPr>
          </a:p>
        </p:txBody>
      </p:sp>
      <p:sp>
        <p:nvSpPr>
          <p:cNvPr id="512" name="Google Shape;512;p44"/>
          <p:cNvSpPr txBox="1"/>
          <p:nvPr/>
        </p:nvSpPr>
        <p:spPr>
          <a:xfrm>
            <a:off x="2160175" y="2297000"/>
            <a:ext cx="20307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u="sng">
                <a:solidFill>
                  <a:schemeClr val="dk1"/>
                </a:solidFill>
              </a:rPr>
              <a:t>Qubit concentration</a:t>
            </a:r>
            <a:endParaRPr sz="1300"/>
          </a:p>
        </p:txBody>
      </p:sp>
      <p:sp>
        <p:nvSpPr>
          <p:cNvPr id="513" name="Google Shape;513;p44"/>
          <p:cNvSpPr txBox="1"/>
          <p:nvPr/>
        </p:nvSpPr>
        <p:spPr>
          <a:xfrm>
            <a:off x="4439715" y="2297000"/>
            <a:ext cx="8319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u="sng">
                <a:solidFill>
                  <a:schemeClr val="dk1"/>
                </a:solidFill>
              </a:rPr>
              <a:t>Pool</a:t>
            </a:r>
            <a:endParaRPr sz="1300"/>
          </a:p>
        </p:txBody>
      </p:sp>
      <p:pic>
        <p:nvPicPr>
          <p:cNvPr id="514" name="Google Shape;514;p44"/>
          <p:cNvPicPr preferRelativeResize="0"/>
          <p:nvPr/>
        </p:nvPicPr>
        <p:blipFill rotWithShape="1">
          <a:blip r:embed="rId4">
            <a:alphaModFix/>
          </a:blip>
          <a:srcRect b="50614"/>
          <a:stretch/>
        </p:blipFill>
        <p:spPr>
          <a:xfrm>
            <a:off x="113075" y="336563"/>
            <a:ext cx="750124" cy="405024"/>
          </a:xfrm>
          <a:prstGeom prst="rect">
            <a:avLst/>
          </a:prstGeom>
          <a:noFill/>
          <a:ln>
            <a:noFill/>
          </a:ln>
        </p:spPr>
      </p:pic>
      <p:sp>
        <p:nvSpPr>
          <p:cNvPr id="515" name="Google Shape;515;p44"/>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sp>
        <p:nvSpPr>
          <p:cNvPr id="516" name="Google Shape;516;p44"/>
          <p:cNvSpPr txBox="1"/>
          <p:nvPr/>
        </p:nvSpPr>
        <p:spPr>
          <a:xfrm>
            <a:off x="5765525" y="3638775"/>
            <a:ext cx="33729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168 ng  </a:t>
            </a:r>
            <a:endParaRPr sz="1300"/>
          </a:p>
        </p:txBody>
      </p:sp>
      <p:sp>
        <p:nvSpPr>
          <p:cNvPr id="517" name="Google Shape;517;p44"/>
          <p:cNvSpPr txBox="1"/>
          <p:nvPr/>
        </p:nvSpPr>
        <p:spPr>
          <a:xfrm>
            <a:off x="3750625" y="3638775"/>
            <a:ext cx="2109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Total:    27.6 μl</a:t>
            </a:r>
            <a:endParaRPr sz="1300"/>
          </a:p>
        </p:txBody>
      </p:sp>
      <p:sp>
        <p:nvSpPr>
          <p:cNvPr id="2" name="Footer Placeholder 1">
            <a:extLst>
              <a:ext uri="{FF2B5EF4-FFF2-40B4-BE49-F238E27FC236}">
                <a16:creationId xmlns:a16="http://schemas.microsoft.com/office/drawing/2014/main" id="{6E1820EA-5FBC-1258-0F70-665BA30BA737}"/>
              </a:ext>
            </a:extLst>
          </p:cNvPr>
          <p:cNvSpPr>
            <a:spLocks noGrp="1"/>
          </p:cNvSpPr>
          <p:nvPr>
            <p:ph type="ftr" sz="quarter" idx="11"/>
          </p:nvPr>
        </p:nvSpPr>
        <p:spPr>
          <a:xfrm>
            <a:off x="7967425" y="4869657"/>
            <a:ext cx="1176575"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5"/>
          <p:cNvSpPr txBox="1"/>
          <p:nvPr/>
        </p:nvSpPr>
        <p:spPr>
          <a:xfrm>
            <a:off x="113075" y="968100"/>
            <a:ext cx="4944600" cy="1182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together for sequencing</a:t>
            </a:r>
            <a:endParaRPr sz="1700"/>
          </a:p>
          <a:p>
            <a:pPr marL="0" marR="0" lvl="0" indent="0" algn="l" rtl="0">
              <a:lnSpc>
                <a:spcPct val="150000"/>
              </a:lnSpc>
              <a:spcBef>
                <a:spcPts val="0"/>
              </a:spcBef>
              <a:spcAft>
                <a:spcPts val="0"/>
              </a:spcAft>
              <a:buNone/>
            </a:pPr>
            <a:r>
              <a:rPr lang="en" sz="1500">
                <a:solidFill>
                  <a:schemeClr val="dk1"/>
                </a:solidFill>
              </a:rPr>
              <a:t>3. After pooling, determine quantity and quality of pool</a:t>
            </a:r>
            <a:endParaRPr sz="1500">
              <a:solidFill>
                <a:schemeClr val="dk1"/>
              </a:solidFill>
            </a:endParaRPr>
          </a:p>
        </p:txBody>
      </p:sp>
      <p:pic>
        <p:nvPicPr>
          <p:cNvPr id="523" name="Google Shape;523;p45"/>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524" name="Google Shape;524;p45"/>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grpSp>
        <p:nvGrpSpPr>
          <p:cNvPr id="525" name="Google Shape;525;p45"/>
          <p:cNvGrpSpPr/>
          <p:nvPr/>
        </p:nvGrpSpPr>
        <p:grpSpPr>
          <a:xfrm>
            <a:off x="2209450" y="2526100"/>
            <a:ext cx="3799600" cy="810000"/>
            <a:chOff x="5139650" y="427675"/>
            <a:chExt cx="3799600" cy="810000"/>
          </a:xfrm>
        </p:grpSpPr>
        <p:sp>
          <p:nvSpPr>
            <p:cNvPr id="526" name="Google Shape;526;p45"/>
            <p:cNvSpPr txBox="1"/>
            <p:nvPr/>
          </p:nvSpPr>
          <p:spPr>
            <a:xfrm>
              <a:off x="5738550" y="427675"/>
              <a:ext cx="19302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concentration in ng/μl</a:t>
              </a:r>
              <a:endParaRPr sz="1300"/>
            </a:p>
          </p:txBody>
        </p:sp>
        <p:sp>
          <p:nvSpPr>
            <p:cNvPr id="527" name="Google Shape;527;p45"/>
            <p:cNvSpPr txBox="1"/>
            <p:nvPr/>
          </p:nvSpPr>
          <p:spPr>
            <a:xfrm>
              <a:off x="5139650" y="832675"/>
              <a:ext cx="3372900" cy="40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660g/mol x average library size in bp</a:t>
              </a:r>
              <a:endParaRPr sz="1300"/>
            </a:p>
          </p:txBody>
        </p:sp>
        <p:sp>
          <p:nvSpPr>
            <p:cNvPr id="528" name="Google Shape;528;p45"/>
            <p:cNvSpPr txBox="1"/>
            <p:nvPr/>
          </p:nvSpPr>
          <p:spPr>
            <a:xfrm>
              <a:off x="8332350" y="635550"/>
              <a:ext cx="606900" cy="4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x 10</a:t>
              </a:r>
              <a:r>
                <a:rPr lang="en" sz="1300" baseline="30000"/>
                <a:t>6</a:t>
              </a:r>
              <a:endParaRPr sz="1300"/>
            </a:p>
          </p:txBody>
        </p:sp>
        <p:cxnSp>
          <p:nvCxnSpPr>
            <p:cNvPr id="529" name="Google Shape;529;p45"/>
            <p:cNvCxnSpPr/>
            <p:nvPr/>
          </p:nvCxnSpPr>
          <p:spPr>
            <a:xfrm>
              <a:off x="5391800" y="832200"/>
              <a:ext cx="2878200" cy="11700"/>
            </a:xfrm>
            <a:prstGeom prst="straightConnector1">
              <a:avLst/>
            </a:prstGeom>
            <a:noFill/>
            <a:ln w="9525" cap="flat" cmpd="sng">
              <a:solidFill>
                <a:schemeClr val="dk2"/>
              </a:solidFill>
              <a:prstDash val="solid"/>
              <a:round/>
              <a:headEnd type="none" w="med" len="med"/>
              <a:tailEnd type="none" w="med" len="med"/>
            </a:ln>
          </p:spPr>
        </p:cxnSp>
      </p:grpSp>
      <p:sp>
        <p:nvSpPr>
          <p:cNvPr id="530" name="Google Shape;530;p45"/>
          <p:cNvSpPr txBox="1"/>
          <p:nvPr/>
        </p:nvSpPr>
        <p:spPr>
          <a:xfrm>
            <a:off x="3367775" y="1912225"/>
            <a:ext cx="816300" cy="4050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300">
                <a:solidFill>
                  <a:srgbClr val="C00000"/>
                </a:solidFill>
              </a:rPr>
              <a:t>Qubit</a:t>
            </a:r>
            <a:endParaRPr sz="1300">
              <a:solidFill>
                <a:srgbClr val="C00000"/>
              </a:solidFill>
            </a:endParaRPr>
          </a:p>
          <a:p>
            <a:pPr marL="0" lvl="0" indent="0" algn="ctr" rtl="0">
              <a:lnSpc>
                <a:spcPct val="150000"/>
              </a:lnSpc>
              <a:spcBef>
                <a:spcPts val="0"/>
              </a:spcBef>
              <a:spcAft>
                <a:spcPts val="0"/>
              </a:spcAft>
              <a:buNone/>
            </a:pPr>
            <a:endParaRPr sz="1300"/>
          </a:p>
        </p:txBody>
      </p:sp>
      <p:sp>
        <p:nvSpPr>
          <p:cNvPr id="531" name="Google Shape;531;p45"/>
          <p:cNvSpPr txBox="1"/>
          <p:nvPr/>
        </p:nvSpPr>
        <p:spPr>
          <a:xfrm>
            <a:off x="350575" y="2699950"/>
            <a:ext cx="19881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Concentration in nM = </a:t>
            </a:r>
            <a:endParaRPr/>
          </a:p>
        </p:txBody>
      </p:sp>
      <p:sp>
        <p:nvSpPr>
          <p:cNvPr id="532" name="Google Shape;532;p45"/>
          <p:cNvSpPr txBox="1"/>
          <p:nvPr/>
        </p:nvSpPr>
        <p:spPr>
          <a:xfrm>
            <a:off x="3607925" y="3506725"/>
            <a:ext cx="1426800" cy="405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300">
                <a:solidFill>
                  <a:srgbClr val="C00000"/>
                </a:solidFill>
              </a:rPr>
              <a:t>Capillary or gel electrophoresis</a:t>
            </a:r>
            <a:endParaRPr sz="1300">
              <a:solidFill>
                <a:srgbClr val="C00000"/>
              </a:solidFill>
            </a:endParaRPr>
          </a:p>
          <a:p>
            <a:pPr marL="0" lvl="0" indent="0" algn="ctr" rtl="0">
              <a:lnSpc>
                <a:spcPct val="115000"/>
              </a:lnSpc>
              <a:spcBef>
                <a:spcPts val="0"/>
              </a:spcBef>
              <a:spcAft>
                <a:spcPts val="0"/>
              </a:spcAft>
              <a:buNone/>
            </a:pPr>
            <a:endParaRPr sz="1300"/>
          </a:p>
        </p:txBody>
      </p:sp>
      <p:cxnSp>
        <p:nvCxnSpPr>
          <p:cNvPr id="533" name="Google Shape;533;p45"/>
          <p:cNvCxnSpPr/>
          <p:nvPr/>
        </p:nvCxnSpPr>
        <p:spPr>
          <a:xfrm>
            <a:off x="3775925" y="2241025"/>
            <a:ext cx="0" cy="231300"/>
          </a:xfrm>
          <a:prstGeom prst="straightConnector1">
            <a:avLst/>
          </a:prstGeom>
          <a:noFill/>
          <a:ln w="9525" cap="flat" cmpd="sng">
            <a:solidFill>
              <a:srgbClr val="C00000"/>
            </a:solidFill>
            <a:prstDash val="solid"/>
            <a:round/>
            <a:headEnd type="none" w="med" len="med"/>
            <a:tailEnd type="triangle" w="med" len="med"/>
          </a:ln>
        </p:spPr>
      </p:cxnSp>
      <p:cxnSp>
        <p:nvCxnSpPr>
          <p:cNvPr id="534" name="Google Shape;534;p45"/>
          <p:cNvCxnSpPr/>
          <p:nvPr/>
        </p:nvCxnSpPr>
        <p:spPr>
          <a:xfrm rot="10800000">
            <a:off x="4260275" y="3351625"/>
            <a:ext cx="0" cy="231300"/>
          </a:xfrm>
          <a:prstGeom prst="straightConnector1">
            <a:avLst/>
          </a:prstGeom>
          <a:noFill/>
          <a:ln w="9525" cap="flat" cmpd="sng">
            <a:solidFill>
              <a:srgbClr val="C00000"/>
            </a:solidFill>
            <a:prstDash val="solid"/>
            <a:round/>
            <a:headEnd type="none" w="med" len="med"/>
            <a:tailEnd type="triangle" w="med" len="med"/>
          </a:ln>
        </p:spPr>
      </p:cxnSp>
      <p:sp>
        <p:nvSpPr>
          <p:cNvPr id="535" name="Google Shape;535;p45"/>
          <p:cNvSpPr txBox="1"/>
          <p:nvPr/>
        </p:nvSpPr>
        <p:spPr>
          <a:xfrm>
            <a:off x="344600" y="4230375"/>
            <a:ext cx="8460900" cy="46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Example: if concentration is 6.1 ng/μl, and average library size is 550 bp -&gt; concentration is 16.8 nM</a:t>
            </a:r>
            <a:endParaRPr/>
          </a:p>
        </p:txBody>
      </p:sp>
      <p:sp>
        <p:nvSpPr>
          <p:cNvPr id="536" name="Google Shape;536;p45"/>
          <p:cNvSpPr txBox="1"/>
          <p:nvPr/>
        </p:nvSpPr>
        <p:spPr>
          <a:xfrm>
            <a:off x="5057675" y="336575"/>
            <a:ext cx="3941700" cy="77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b="1">
                <a:solidFill>
                  <a:srgbClr val="C00000"/>
                </a:solidFill>
              </a:rPr>
              <a:t>Pick one way to calculate nM and stick with it!</a:t>
            </a:r>
            <a:endParaRPr sz="1300" b="1">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b="1">
                <a:solidFill>
                  <a:srgbClr val="C00000"/>
                </a:solidFill>
              </a:rPr>
              <a:t>Qubit concentration and library size</a:t>
            </a:r>
            <a:endParaRPr sz="1300" b="1">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b="1">
                <a:solidFill>
                  <a:srgbClr val="C00000"/>
                </a:solidFill>
              </a:rPr>
              <a:t>Automatic calculation by Tapestation </a:t>
            </a:r>
            <a:endParaRPr sz="1300" b="1">
              <a:solidFill>
                <a:srgbClr val="C00000"/>
              </a:solidFill>
            </a:endParaRPr>
          </a:p>
        </p:txBody>
      </p:sp>
      <p:sp>
        <p:nvSpPr>
          <p:cNvPr id="537" name="Google Shape;537;p45"/>
          <p:cNvSpPr txBox="1"/>
          <p:nvPr/>
        </p:nvSpPr>
        <p:spPr>
          <a:xfrm>
            <a:off x="2837748" y="4748925"/>
            <a:ext cx="38931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300" b="1">
                <a:solidFill>
                  <a:srgbClr val="C00000"/>
                </a:solidFill>
              </a:rPr>
              <a:t>End goal is &gt;10 μl of 2 nM pooled library</a:t>
            </a:r>
            <a:endParaRPr sz="1300" b="1">
              <a:solidFill>
                <a:srgbClr val="C00000"/>
              </a:solidFill>
            </a:endParaRPr>
          </a:p>
        </p:txBody>
      </p:sp>
      <p:sp>
        <p:nvSpPr>
          <p:cNvPr id="2" name="Footer Placeholder 1">
            <a:extLst>
              <a:ext uri="{FF2B5EF4-FFF2-40B4-BE49-F238E27FC236}">
                <a16:creationId xmlns:a16="http://schemas.microsoft.com/office/drawing/2014/main" id="{878AAF4B-60B0-102B-B1D6-846CABE7967C}"/>
              </a:ext>
            </a:extLst>
          </p:cNvPr>
          <p:cNvSpPr>
            <a:spLocks noGrp="1"/>
          </p:cNvSpPr>
          <p:nvPr>
            <p:ph type="ftr" sz="quarter" idx="11"/>
          </p:nvPr>
        </p:nvSpPr>
        <p:spPr>
          <a:xfrm>
            <a:off x="8023413" y="4869657"/>
            <a:ext cx="1120588"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pic>
        <p:nvPicPr>
          <p:cNvPr id="542" name="Google Shape;542;p46"/>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543" name="Google Shape;543;p46"/>
          <p:cNvSpPr txBox="1">
            <a:spLocks noGrp="1"/>
          </p:cNvSpPr>
          <p:nvPr>
            <p:ph type="title" idx="4294967295"/>
          </p:nvPr>
        </p:nvSpPr>
        <p:spPr>
          <a:xfrm>
            <a:off x="0" y="252413"/>
            <a:ext cx="3279775"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QC</a:t>
            </a:r>
            <a:endParaRPr/>
          </a:p>
        </p:txBody>
      </p:sp>
      <p:pic>
        <p:nvPicPr>
          <p:cNvPr id="544" name="Google Shape;544;p46"/>
          <p:cNvPicPr preferRelativeResize="0"/>
          <p:nvPr/>
        </p:nvPicPr>
        <p:blipFill>
          <a:blip r:embed="rId4">
            <a:alphaModFix/>
          </a:blip>
          <a:stretch>
            <a:fillRect/>
          </a:stretch>
        </p:blipFill>
        <p:spPr>
          <a:xfrm>
            <a:off x="107275" y="1663875"/>
            <a:ext cx="6249851" cy="3417476"/>
          </a:xfrm>
          <a:prstGeom prst="rect">
            <a:avLst/>
          </a:prstGeom>
          <a:noFill/>
          <a:ln>
            <a:noFill/>
          </a:ln>
        </p:spPr>
      </p:pic>
      <p:sp>
        <p:nvSpPr>
          <p:cNvPr id="545" name="Google Shape;545;p46"/>
          <p:cNvSpPr txBox="1"/>
          <p:nvPr/>
        </p:nvSpPr>
        <p:spPr>
          <a:xfrm>
            <a:off x="113075" y="968100"/>
            <a:ext cx="4944600" cy="1182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1700" b="1">
                <a:solidFill>
                  <a:schemeClr val="dk1"/>
                </a:solidFill>
              </a:rPr>
              <a:t>Pooling samples together for sequencing</a:t>
            </a:r>
            <a:endParaRPr sz="1700"/>
          </a:p>
          <a:p>
            <a:pPr marL="0" marR="0" lvl="0" indent="0" algn="l" rtl="0">
              <a:lnSpc>
                <a:spcPct val="150000"/>
              </a:lnSpc>
              <a:spcBef>
                <a:spcPts val="0"/>
              </a:spcBef>
              <a:spcAft>
                <a:spcPts val="0"/>
              </a:spcAft>
              <a:buNone/>
            </a:pPr>
            <a:r>
              <a:rPr lang="en" sz="1500">
                <a:solidFill>
                  <a:schemeClr val="dk1"/>
                </a:solidFill>
              </a:rPr>
              <a:t>3. After pooling, determine quantity and quality of pool</a:t>
            </a:r>
            <a:endParaRPr sz="1500">
              <a:solidFill>
                <a:schemeClr val="dk1"/>
              </a:solidFill>
            </a:endParaRPr>
          </a:p>
        </p:txBody>
      </p:sp>
      <p:sp>
        <p:nvSpPr>
          <p:cNvPr id="546" name="Google Shape;546;p46"/>
          <p:cNvSpPr txBox="1"/>
          <p:nvPr/>
        </p:nvSpPr>
        <p:spPr>
          <a:xfrm>
            <a:off x="6151200" y="1999050"/>
            <a:ext cx="3023700" cy="5727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300"/>
              <a:t>Or use Tapestation to calculate concentration of library in nM for fragments between 200-1000 bp long</a:t>
            </a:r>
            <a:endParaRPr sz="1300"/>
          </a:p>
          <a:p>
            <a:pPr marL="0" lvl="0" indent="0" algn="ctr" rtl="0">
              <a:lnSpc>
                <a:spcPct val="150000"/>
              </a:lnSpc>
              <a:spcBef>
                <a:spcPts val="0"/>
              </a:spcBef>
              <a:spcAft>
                <a:spcPts val="0"/>
              </a:spcAft>
              <a:buNone/>
            </a:pPr>
            <a:r>
              <a:rPr lang="en" sz="1300"/>
              <a:t>(see extra slides for a step-by-step guide on how to set that up)</a:t>
            </a:r>
            <a:endParaRPr sz="1300"/>
          </a:p>
          <a:p>
            <a:pPr marL="0" lvl="0" indent="0" algn="ctr" rtl="0">
              <a:lnSpc>
                <a:spcPct val="150000"/>
              </a:lnSpc>
              <a:spcBef>
                <a:spcPts val="0"/>
              </a:spcBef>
              <a:spcAft>
                <a:spcPts val="0"/>
              </a:spcAft>
              <a:buNone/>
            </a:pPr>
            <a:endParaRPr sz="1300"/>
          </a:p>
        </p:txBody>
      </p:sp>
      <p:sp>
        <p:nvSpPr>
          <p:cNvPr id="547" name="Google Shape;547;p46"/>
          <p:cNvSpPr txBox="1"/>
          <p:nvPr/>
        </p:nvSpPr>
        <p:spPr>
          <a:xfrm>
            <a:off x="3541425" y="2601750"/>
            <a:ext cx="1232100" cy="40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C00000"/>
                </a:solidFill>
              </a:rPr>
              <a:t>200-1000 bp: 9.92 nM</a:t>
            </a:r>
            <a:endParaRPr sz="1300">
              <a:solidFill>
                <a:srgbClr val="C00000"/>
              </a:solidFill>
            </a:endParaRPr>
          </a:p>
        </p:txBody>
      </p:sp>
      <p:sp>
        <p:nvSpPr>
          <p:cNvPr id="548" name="Google Shape;548;p46"/>
          <p:cNvSpPr/>
          <p:nvPr/>
        </p:nvSpPr>
        <p:spPr>
          <a:xfrm>
            <a:off x="3364575" y="4935450"/>
            <a:ext cx="750000" cy="1458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49" name="Google Shape;549;p46"/>
          <p:cNvSpPr/>
          <p:nvPr/>
        </p:nvSpPr>
        <p:spPr>
          <a:xfrm>
            <a:off x="2346350" y="2057400"/>
            <a:ext cx="1132800" cy="1838100"/>
          </a:xfrm>
          <a:prstGeom prst="rect">
            <a:avLst/>
          </a:prstGeom>
          <a:noFill/>
          <a:ln w="28575"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50" name="Google Shape;550;p46"/>
          <p:cNvSpPr txBox="1"/>
          <p:nvPr/>
        </p:nvSpPr>
        <p:spPr>
          <a:xfrm>
            <a:off x="5057675" y="336575"/>
            <a:ext cx="3941700" cy="77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b="1">
                <a:solidFill>
                  <a:srgbClr val="C00000"/>
                </a:solidFill>
              </a:rPr>
              <a:t>Pick one way to calculate nM and stick with it!</a:t>
            </a:r>
            <a:endParaRPr sz="1300" b="1">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b="1">
                <a:solidFill>
                  <a:srgbClr val="C00000"/>
                </a:solidFill>
              </a:rPr>
              <a:t>Qubit concentration and library size</a:t>
            </a:r>
            <a:endParaRPr sz="1300" b="1">
              <a:solidFill>
                <a:srgbClr val="C00000"/>
              </a:solidFill>
            </a:endParaRPr>
          </a:p>
          <a:p>
            <a:pPr marL="457200" lvl="0" indent="-311150" algn="l" rtl="0">
              <a:lnSpc>
                <a:spcPct val="115000"/>
              </a:lnSpc>
              <a:spcBef>
                <a:spcPts val="0"/>
              </a:spcBef>
              <a:spcAft>
                <a:spcPts val="0"/>
              </a:spcAft>
              <a:buClr>
                <a:srgbClr val="C00000"/>
              </a:buClr>
              <a:buSzPts val="1300"/>
              <a:buChar char="-"/>
            </a:pPr>
            <a:r>
              <a:rPr lang="en" sz="1300" b="1">
                <a:solidFill>
                  <a:srgbClr val="C00000"/>
                </a:solidFill>
              </a:rPr>
              <a:t>Automatic calculation by Tapestation </a:t>
            </a:r>
            <a:endParaRPr sz="1300" b="1">
              <a:solidFill>
                <a:srgbClr val="C00000"/>
              </a:solidFill>
            </a:endParaRPr>
          </a:p>
        </p:txBody>
      </p:sp>
      <p:sp>
        <p:nvSpPr>
          <p:cNvPr id="2" name="Footer Placeholder 1">
            <a:extLst>
              <a:ext uri="{FF2B5EF4-FFF2-40B4-BE49-F238E27FC236}">
                <a16:creationId xmlns:a16="http://schemas.microsoft.com/office/drawing/2014/main" id="{48C8FB69-E2F3-E9B5-E2A1-81251D993415}"/>
              </a:ext>
            </a:extLst>
          </p:cNvPr>
          <p:cNvSpPr>
            <a:spLocks noGrp="1"/>
          </p:cNvSpPr>
          <p:nvPr>
            <p:ph type="ftr" sz="quarter" idx="11"/>
          </p:nvPr>
        </p:nvSpPr>
        <p:spPr>
          <a:xfrm>
            <a:off x="8032377" y="4869657"/>
            <a:ext cx="1111624"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47"/>
          <p:cNvSpPr txBox="1"/>
          <p:nvPr/>
        </p:nvSpPr>
        <p:spPr>
          <a:xfrm>
            <a:off x="113075" y="1092500"/>
            <a:ext cx="8388000" cy="361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Dilute library to the correct loading concentration:</a:t>
            </a:r>
            <a:endParaRPr/>
          </a:p>
          <a:p>
            <a:pPr marL="0" lvl="0" indent="0" algn="l" rtl="0">
              <a:lnSpc>
                <a:spcPct val="150000"/>
              </a:lnSpc>
              <a:spcBef>
                <a:spcPts val="0"/>
              </a:spcBef>
              <a:spcAft>
                <a:spcPts val="0"/>
              </a:spcAft>
              <a:buNone/>
            </a:pPr>
            <a:endParaRPr sz="900"/>
          </a:p>
          <a:p>
            <a:pPr marL="914400" lvl="1" indent="-317500" algn="l" rtl="0">
              <a:lnSpc>
                <a:spcPct val="150000"/>
              </a:lnSpc>
              <a:spcBef>
                <a:spcPts val="0"/>
              </a:spcBef>
              <a:spcAft>
                <a:spcPts val="0"/>
              </a:spcAft>
              <a:buSzPts val="1400"/>
              <a:buAutoNum type="alphaLcPeriod"/>
            </a:pPr>
            <a:r>
              <a:rPr lang="en"/>
              <a:t>iSeq: </a:t>
            </a:r>
            <a:endParaRPr/>
          </a:p>
          <a:p>
            <a:pPr marL="1371600" lvl="2" indent="-317500" algn="l" rtl="0">
              <a:lnSpc>
                <a:spcPct val="150000"/>
              </a:lnSpc>
              <a:spcBef>
                <a:spcPts val="0"/>
              </a:spcBef>
              <a:spcAft>
                <a:spcPts val="0"/>
              </a:spcAft>
              <a:buSzPts val="1400"/>
              <a:buAutoNum type="romanLcPeriod"/>
            </a:pPr>
            <a:r>
              <a:rPr lang="en"/>
              <a:t>dilute to 75 pM (or another optimized concentration), </a:t>
            </a:r>
            <a:endParaRPr/>
          </a:p>
          <a:p>
            <a:pPr marL="1371600" lvl="2" indent="-317500" algn="l" rtl="0">
              <a:lnSpc>
                <a:spcPct val="150000"/>
              </a:lnSpc>
              <a:spcBef>
                <a:spcPts val="0"/>
              </a:spcBef>
              <a:spcAft>
                <a:spcPts val="0"/>
              </a:spcAft>
              <a:buSzPts val="1400"/>
              <a:buAutoNum type="romanLcPeriod"/>
            </a:pPr>
            <a:r>
              <a:rPr lang="en"/>
              <a:t>Spike in 1-5% of PhiX at the same concentration </a:t>
            </a:r>
            <a:endParaRPr/>
          </a:p>
          <a:p>
            <a:pPr marL="1371600" lvl="0" indent="0" algn="l" rtl="0">
              <a:lnSpc>
                <a:spcPct val="150000"/>
              </a:lnSpc>
              <a:spcBef>
                <a:spcPts val="0"/>
              </a:spcBef>
              <a:spcAft>
                <a:spcPts val="0"/>
              </a:spcAft>
              <a:buNone/>
            </a:pPr>
            <a:endParaRPr sz="900"/>
          </a:p>
          <a:p>
            <a:pPr marL="914400" lvl="1" indent="-317500" algn="l" rtl="0">
              <a:lnSpc>
                <a:spcPct val="150000"/>
              </a:lnSpc>
              <a:spcBef>
                <a:spcPts val="0"/>
              </a:spcBef>
              <a:spcAft>
                <a:spcPts val="0"/>
              </a:spcAft>
              <a:buSzPts val="1400"/>
              <a:buAutoNum type="alphaLcPeriod"/>
            </a:pPr>
            <a:r>
              <a:rPr lang="en"/>
              <a:t>MiSeq: </a:t>
            </a:r>
            <a:endParaRPr/>
          </a:p>
          <a:p>
            <a:pPr marL="1371600" lvl="2" indent="-317500" algn="l" rtl="0">
              <a:lnSpc>
                <a:spcPct val="150000"/>
              </a:lnSpc>
              <a:spcBef>
                <a:spcPts val="0"/>
              </a:spcBef>
              <a:spcAft>
                <a:spcPts val="0"/>
              </a:spcAft>
              <a:buSzPts val="1400"/>
              <a:buAutoNum type="romanLcPeriod"/>
            </a:pPr>
            <a:r>
              <a:rPr lang="en"/>
              <a:t>First denature library with sodium hydroxide (NaOH)</a:t>
            </a:r>
            <a:endParaRPr/>
          </a:p>
          <a:p>
            <a:pPr marL="1371600" lvl="2" indent="-317500" algn="l" rtl="0">
              <a:lnSpc>
                <a:spcPct val="150000"/>
              </a:lnSpc>
              <a:spcBef>
                <a:spcPts val="0"/>
              </a:spcBef>
              <a:spcAft>
                <a:spcPts val="0"/>
              </a:spcAft>
              <a:buSzPts val="1400"/>
              <a:buAutoNum type="romanLcPeriod"/>
            </a:pPr>
            <a:r>
              <a:rPr lang="en"/>
              <a:t>Then dilute to 10-12 pM (or another optimized concentration)</a:t>
            </a:r>
            <a:endParaRPr/>
          </a:p>
          <a:p>
            <a:pPr marL="1371600" lvl="2" indent="-317500" algn="l" rtl="0">
              <a:lnSpc>
                <a:spcPct val="150000"/>
              </a:lnSpc>
              <a:spcBef>
                <a:spcPts val="0"/>
              </a:spcBef>
              <a:spcAft>
                <a:spcPts val="0"/>
              </a:spcAft>
              <a:buSzPts val="1400"/>
              <a:buAutoNum type="romanLcPeriod"/>
            </a:pPr>
            <a:r>
              <a:rPr lang="en"/>
              <a:t>Spike in 1-5% of denatured PhiX to denatured and diluted library </a:t>
            </a:r>
            <a:endParaRPr/>
          </a:p>
        </p:txBody>
      </p:sp>
      <p:pic>
        <p:nvPicPr>
          <p:cNvPr id="556" name="Google Shape;556;p47"/>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557" name="Google Shape;557;p47"/>
          <p:cNvSpPr txBox="1">
            <a:spLocks noGrp="1"/>
          </p:cNvSpPr>
          <p:nvPr>
            <p:ph type="title" idx="4294967295"/>
          </p:nvPr>
        </p:nvSpPr>
        <p:spPr>
          <a:xfrm>
            <a:off x="1582738" y="252413"/>
            <a:ext cx="7561262" cy="573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prep - preparing to load the sequencer</a:t>
            </a:r>
            <a:endParaRPr/>
          </a:p>
        </p:txBody>
      </p:sp>
      <p:sp>
        <p:nvSpPr>
          <p:cNvPr id="558" name="Google Shape;558;p47"/>
          <p:cNvSpPr txBox="1"/>
          <p:nvPr/>
        </p:nvSpPr>
        <p:spPr>
          <a:xfrm>
            <a:off x="863000" y="4737250"/>
            <a:ext cx="5288100" cy="61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9" name="Google Shape;559;p47"/>
          <p:cNvSpPr txBox="1"/>
          <p:nvPr/>
        </p:nvSpPr>
        <p:spPr>
          <a:xfrm>
            <a:off x="1927950" y="4526700"/>
            <a:ext cx="5288100" cy="61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See slide decks for iSeq or MiSeq loading for more details!</a:t>
            </a:r>
            <a:endParaRPr/>
          </a:p>
        </p:txBody>
      </p:sp>
      <p:sp>
        <p:nvSpPr>
          <p:cNvPr id="2" name="Footer Placeholder 1">
            <a:extLst>
              <a:ext uri="{FF2B5EF4-FFF2-40B4-BE49-F238E27FC236}">
                <a16:creationId xmlns:a16="http://schemas.microsoft.com/office/drawing/2014/main" id="{1A09CA51-2406-AB28-DFDB-1A3E75D67012}"/>
              </a:ext>
            </a:extLst>
          </p:cNvPr>
          <p:cNvSpPr>
            <a:spLocks noGrp="1"/>
          </p:cNvSpPr>
          <p:nvPr>
            <p:ph type="ftr" sz="quarter" idx="11"/>
          </p:nvPr>
        </p:nvSpPr>
        <p:spPr>
          <a:xfrm>
            <a:off x="7965975" y="4869657"/>
            <a:ext cx="1178025" cy="273844"/>
          </a:xfrm>
        </p:spPr>
        <p:txBody>
          <a:bodyPr/>
          <a:lstStyle/>
          <a:p>
            <a:pPr defTabSz="685800">
              <a:buClrTx/>
            </a:pPr>
            <a:r>
              <a:rPr lang="en-US" kern="1200" dirty="0">
                <a:solidFill>
                  <a:prstClr val="black">
                    <a:tint val="82000"/>
                  </a:prstClr>
                </a:solidFill>
                <a:ea typeface="+mn-ea"/>
              </a:rPr>
              <a:t>Revised 01/12/2026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48"/>
          <p:cNvSpPr txBox="1"/>
          <p:nvPr/>
        </p:nvSpPr>
        <p:spPr>
          <a:xfrm>
            <a:off x="252225" y="1431200"/>
            <a:ext cx="8747700" cy="129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6100" b="1">
                <a:solidFill>
                  <a:srgbClr val="D9D9D9"/>
                </a:solidFill>
              </a:rPr>
              <a:t>Next step: </a:t>
            </a:r>
            <a:endParaRPr sz="6100" b="1">
              <a:solidFill>
                <a:srgbClr val="D9D9D9"/>
              </a:solidFill>
            </a:endParaRPr>
          </a:p>
          <a:p>
            <a:pPr marL="0" marR="0" lvl="0" indent="0" algn="ctr" rtl="0">
              <a:lnSpc>
                <a:spcPct val="100000"/>
              </a:lnSpc>
              <a:spcBef>
                <a:spcPts val="0"/>
              </a:spcBef>
              <a:spcAft>
                <a:spcPts val="0"/>
              </a:spcAft>
              <a:buNone/>
            </a:pPr>
            <a:r>
              <a:rPr lang="en" sz="6100" b="1">
                <a:solidFill>
                  <a:srgbClr val="D9D9D9"/>
                </a:solidFill>
              </a:rPr>
              <a:t>iSeq or MiSeq loading</a:t>
            </a:r>
            <a:endParaRPr sz="6100" b="1">
              <a:solidFill>
                <a:srgbClr val="D9D9D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F79471E9-4F1B-344D-9856-F809C63B85B4}" vid="{2FD73ADB-B93C-3142-8107-D94AE41C2BA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TotalTime>
  <Words>2956</Words>
  <Application>Microsoft Macintosh PowerPoint</Application>
  <PresentationFormat>On-screen Show (16:9)</PresentationFormat>
  <Paragraphs>562</Paragraphs>
  <Slides>36</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Aptos Display</vt:lpstr>
      <vt:lpstr>Calibri</vt:lpstr>
      <vt:lpstr>Aptos</vt:lpstr>
      <vt:lpstr>Roboto</vt:lpstr>
      <vt:lpstr>Office Theme</vt:lpstr>
      <vt:lpstr>RNA and DNA library prep for mNGS</vt:lpstr>
      <vt:lpstr>mNGS pipeline</vt:lpstr>
      <vt:lpstr>Library prep: RNA to sequencing library</vt:lpstr>
      <vt:lpstr>Steps in library preparation:</vt:lpstr>
      <vt:lpstr>Library prep</vt:lpstr>
      <vt:lpstr>Library prep</vt:lpstr>
      <vt:lpstr>Library prep</vt:lpstr>
      <vt:lpstr>RNA library prep </vt:lpstr>
      <vt:lpstr>RNA library prep</vt:lpstr>
      <vt:lpstr>RNA library prep</vt:lpstr>
      <vt:lpstr>RNA library prep</vt:lpstr>
      <vt:lpstr>RNA library prep</vt:lpstr>
      <vt:lpstr>RNA library prep</vt:lpstr>
      <vt:lpstr>RNA library prep</vt:lpstr>
      <vt:lpstr>RNA library prep</vt:lpstr>
      <vt:lpstr>RNA library prep</vt:lpstr>
      <vt:lpstr>RNA library prep</vt:lpstr>
      <vt:lpstr>PowerPoint Presentation</vt:lpstr>
      <vt:lpstr>RNA library prep (NEBnext Ultra II RNA)</vt:lpstr>
      <vt:lpstr>RNA library prep</vt:lpstr>
      <vt:lpstr>RNA library prep</vt:lpstr>
      <vt:lpstr>RNA library prep</vt:lpstr>
      <vt:lpstr>RNA library prep</vt:lpstr>
      <vt:lpstr>RNA library prep</vt:lpstr>
      <vt:lpstr>PowerPoint Presentation</vt:lpstr>
      <vt:lpstr>DNA library prep</vt:lpstr>
      <vt:lpstr>Library prep QC</vt:lpstr>
      <vt:lpstr>Library prep QC</vt:lpstr>
      <vt:lpstr>Library prep QC</vt:lpstr>
      <vt:lpstr>Library prep QC</vt:lpstr>
      <vt:lpstr>Library prep QC</vt:lpstr>
      <vt:lpstr>Library prep QC</vt:lpstr>
      <vt:lpstr>Library prep QC</vt:lpstr>
      <vt:lpstr>Library prep QC</vt:lpstr>
      <vt:lpstr>Library prep - preparing to load the sequencer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2</cp:revision>
  <dcterms:modified xsi:type="dcterms:W3CDTF">2026-01-20T22:50:59Z</dcterms:modified>
</cp:coreProperties>
</file>