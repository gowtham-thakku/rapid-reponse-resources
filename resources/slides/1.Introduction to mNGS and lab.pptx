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722"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73" r:id="rId11"/>
    <p:sldId id="265" r:id="rId12"/>
    <p:sldId id="274" r:id="rId13"/>
    <p:sldId id="266" r:id="rId14"/>
    <p:sldId id="267" r:id="rId15"/>
    <p:sldId id="268" r:id="rId16"/>
    <p:sldId id="269" r:id="rId17"/>
    <p:sldId id="270" r:id="rId18"/>
    <p:sldId id="271" r:id="rId19"/>
    <p:sldId id="272" r:id="rId20"/>
    <p:sldId id="276" r:id="rId21"/>
  </p:sldIdLst>
  <p:sldSz cx="9144000" cy="5143500" type="screen16x9"/>
  <p:notesSz cx="6858000" cy="9144000"/>
  <p:embeddedFontLst>
    <p:embeddedFont>
      <p:font typeface="Helvetica Neue" panose="02000503000000020004"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FBFFDB4-25C3-4913-B03E-B9CB2AB63F68}">
  <a:tblStyle styleId="{DFBFFDB4-25C3-4913-B03E-B9CB2AB63F6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34"/>
    <p:restoredTop sz="94658"/>
  </p:normalViewPr>
  <p:slideViewPr>
    <p:cSldViewPr snapToGrid="0" showGuides="1">
      <p:cViewPr varScale="1">
        <p:scale>
          <a:sx n="154" d="100"/>
          <a:sy n="154" d="100"/>
        </p:scale>
        <p:origin x="1176"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53eee17d77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26" name="Google Shape;326;g53eee17d77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8b1ec63dd7_1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We will begin by understanding the fundamental differences in pathogen nucleic acid and specimen collection that influence one’s ability to make a sequencing library. Then we will describe the different types of next generation sequencing that can applied to infectious disease questions. </a:t>
            </a:r>
          </a:p>
          <a:p>
            <a:pPr marL="0" lvl="0" indent="0" algn="l" rtl="0">
              <a:spcBef>
                <a:spcPts val="0"/>
              </a:spcBef>
              <a:spcAft>
                <a:spcPts val="0"/>
              </a:spcAft>
              <a:buNone/>
            </a:pPr>
            <a:endParaRPr dirty="0"/>
          </a:p>
        </p:txBody>
      </p:sp>
      <p:sp>
        <p:nvSpPr>
          <p:cNvPr id="331" name="Google Shape;331;g8b1ec63dd7_1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05518215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47" name="Google Shape;347;g105518215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In terms of pathogens, in the order of small to large, we have viruses, bacteria and then eukaryotic microbes. When trying to sequence any of these known or unknown pathogens, there are a few issues to keep in mind which will influence detection, identification, and surveillance. First, genome composition, while bacteria and eukaryotic microbes contain a DNA genome, some viruses only have RNA genomes. Therefore when using sequencing to identify unknown pathogens that could be viral, it is best to perform RNA sequencing rather than DNA sequencing. When performing RNA sequencing, we know that most of the RNA sequencing will be from ribosomal RNA (rRNA) rather than messenger RNA. One advantage is that rRNA can help type the bacteria (such as 16S seq methods) however if your sample has a lot of host background, you will mostly sequence host rRNA. </a:t>
            </a:r>
          </a:p>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a67d47e5ba_0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69" name="Google Shape;369;ga67d47e5ba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Different sample types have different RNA content host vs microbiome vs pathogen</a:t>
            </a: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1055182157f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01" name="Google Shape;401;g1055182157f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1055182157f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09" name="Google Shape;409;g1055182157f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1055182157f_0_4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17" name="Google Shape;417;g1055182157f_0_4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1055182157f_0_5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26" name="Google Shape;426;g1055182157f_0_5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1055182157f_0_5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33" name="Google Shape;433;g1055182157f_0_5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89f963b436_0_6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4" name="Google Shape;414;g89f963b436_0_6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1055182157f_0_5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40" name="Google Shape;440;g1055182157f_0_5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a68aa1e3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a68aa1e3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895bf12c9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81" name="Google Shape;481;g895bf12c9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8be4351e12_0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19" name="Google Shape;519;g8be4351e12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8bed1ee7d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25" name="Google Shape;525;g8bed1ee7d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If you cannot separate Pre and Post PCRs into two separate rooms, try to make “a room within a room” for the post-PCR. Alternatively, be strict with the assignment and use of PCR workstations/ cabinets</a:t>
            </a:r>
          </a:p>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8b2d3d770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2" name="Google Shape;532;g8b2d3d770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2100" algn="l" rtl="0">
              <a:lnSpc>
                <a:spcPct val="90000"/>
              </a:lnSpc>
              <a:spcBef>
                <a:spcPts val="800"/>
              </a:spcBef>
              <a:spcAft>
                <a:spcPts val="0"/>
              </a:spcAft>
              <a:buClr>
                <a:schemeClr val="dk1"/>
              </a:buClr>
              <a:buSzPts val="1000"/>
              <a:buChar char="•"/>
            </a:pPr>
            <a:r>
              <a:rPr lang="en-US" sz="1100" dirty="0">
                <a:solidFill>
                  <a:schemeClr val="dk1"/>
                </a:solidFill>
                <a:latin typeface="Calibri"/>
                <a:ea typeface="Calibri"/>
                <a:cs typeface="Calibri"/>
                <a:sym typeface="Calibri"/>
              </a:rPr>
              <a:t>Metagenomic sequencing of samples with low nucleic acid content (i.e.: CSF, serum, plasma) can be easily contaminated with nucleic acid in the lab environment. </a:t>
            </a:r>
          </a:p>
          <a:p>
            <a:pPr marL="457200" lvl="0" indent="-292100" algn="l" rtl="0">
              <a:lnSpc>
                <a:spcPct val="90000"/>
              </a:lnSpc>
              <a:spcBef>
                <a:spcPts val="0"/>
              </a:spcBef>
              <a:spcAft>
                <a:spcPts val="0"/>
              </a:spcAft>
              <a:buClr>
                <a:schemeClr val="dk1"/>
              </a:buClr>
              <a:buSzPts val="1000"/>
              <a:buChar char="•"/>
            </a:pPr>
            <a:r>
              <a:rPr lang="en-US" sz="1100" dirty="0">
                <a:solidFill>
                  <a:schemeClr val="dk1"/>
                </a:solidFill>
                <a:latin typeface="Calibri"/>
                <a:ea typeface="Calibri"/>
                <a:cs typeface="Calibri"/>
                <a:sym typeface="Calibri"/>
              </a:rPr>
              <a:t>PCR amplification produces high abundance of nucleic acid which can be a major source of contamination</a:t>
            </a:r>
          </a:p>
          <a:p>
            <a:pPr marL="457200" lvl="0" indent="-292100" algn="l" rtl="0">
              <a:lnSpc>
                <a:spcPct val="90000"/>
              </a:lnSpc>
              <a:spcBef>
                <a:spcPts val="0"/>
              </a:spcBef>
              <a:spcAft>
                <a:spcPts val="0"/>
              </a:spcAft>
              <a:buClr>
                <a:schemeClr val="dk1"/>
              </a:buClr>
              <a:buSzPts val="1000"/>
              <a:buChar char="•"/>
            </a:pPr>
            <a:r>
              <a:rPr lang="en-US" sz="1100" dirty="0">
                <a:solidFill>
                  <a:schemeClr val="dk1"/>
                </a:solidFill>
                <a:latin typeface="Calibri"/>
                <a:ea typeface="Calibri"/>
                <a:cs typeface="Calibri"/>
                <a:sym typeface="Calibri"/>
              </a:rPr>
              <a:t>To prevent this environmental contamination, we separate the physical locations of the lab procedures into 2 spaces: Pre-PCR and Post-PCR. Some institutions refer to them as Pre-amplification and Post-Amplification lab</a:t>
            </a:r>
            <a:endParaRPr lang="en-US" sz="300" dirty="0"/>
          </a:p>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8b1ec63dd7_1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47" name="Google Shape;547;g8b1ec63dd7_1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8b1ec63dd7_1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54" name="Google Shape;554;g8b1ec63dd7_1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a6c571e06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61" name="Google Shape;561;ga6c571e06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50 minutes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a68aa1e34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a68aa1e34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6E344-5CD1-52B1-9AF1-86D9FC96F0B4}"/>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7507B1A-61F7-BF2A-9A13-222FFF99D646}"/>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DC18518A-7E47-1CDB-52C4-87059A76D827}"/>
              </a:ext>
            </a:extLst>
          </p:cNvPr>
          <p:cNvSpPr>
            <a:spLocks noGrp="1"/>
          </p:cNvSpPr>
          <p:nvPr>
            <p:ph type="dt" sz="half" idx="10"/>
          </p:nvPr>
        </p:nvSpPr>
        <p:spPr/>
        <p:txBody>
          <a:bodyPr/>
          <a:lstStyle/>
          <a:p>
            <a:fld id="{60C45FC2-4C42-0848-A8C6-C3686FDDF5C8}" type="datetime1">
              <a:rPr lang="en-US" smtClean="0"/>
              <a:t>1/14/26</a:t>
            </a:fld>
            <a:endParaRPr lang="en-US"/>
          </a:p>
        </p:txBody>
      </p:sp>
    </p:spTree>
    <p:extLst>
      <p:ext uri="{BB962C8B-B14F-4D97-AF65-F5344CB8AC3E}">
        <p14:creationId xmlns:p14="http://schemas.microsoft.com/office/powerpoint/2010/main" val="9287825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62F3F-915B-47EC-F2C8-39CEBD518F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A27F3B-7404-E442-4CFF-563AD80B98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E29F79-3992-8BF2-6579-A0B7C066F7EC}"/>
              </a:ext>
            </a:extLst>
          </p:cNvPr>
          <p:cNvSpPr>
            <a:spLocks noGrp="1"/>
          </p:cNvSpPr>
          <p:nvPr>
            <p:ph type="dt" sz="half" idx="10"/>
          </p:nvPr>
        </p:nvSpPr>
        <p:spPr/>
        <p:txBody>
          <a:bodyPr/>
          <a:lstStyle/>
          <a:p>
            <a:fld id="{A964CB6D-8779-504E-A7AA-8770FF535E2B}" type="datetime1">
              <a:rPr lang="en-US" smtClean="0"/>
              <a:t>1/14/26</a:t>
            </a:fld>
            <a:endParaRPr lang="en-US"/>
          </a:p>
        </p:txBody>
      </p:sp>
      <p:sp>
        <p:nvSpPr>
          <p:cNvPr id="5" name="Footer Placeholder 4">
            <a:extLst>
              <a:ext uri="{FF2B5EF4-FFF2-40B4-BE49-F238E27FC236}">
                <a16:creationId xmlns:a16="http://schemas.microsoft.com/office/drawing/2014/main" id="{70D2300B-B95B-E3F8-3259-3F0604CFD7ED}"/>
              </a:ext>
            </a:extLst>
          </p:cNvPr>
          <p:cNvSpPr>
            <a:spLocks noGrp="1"/>
          </p:cNvSpPr>
          <p:nvPr>
            <p:ph type="ftr" sz="quarter" idx="11"/>
          </p:nvPr>
        </p:nvSpPr>
        <p:spPr/>
        <p:txBody>
          <a:bodyPr/>
          <a:lstStyle/>
          <a:p>
            <a:r>
              <a:rPr lang="en-US"/>
              <a:t>Revised 01/12/2026</a:t>
            </a:r>
          </a:p>
        </p:txBody>
      </p:sp>
      <p:sp>
        <p:nvSpPr>
          <p:cNvPr id="6" name="Slide Number Placeholder 5">
            <a:extLst>
              <a:ext uri="{FF2B5EF4-FFF2-40B4-BE49-F238E27FC236}">
                <a16:creationId xmlns:a16="http://schemas.microsoft.com/office/drawing/2014/main" id="{B076E737-C558-62E3-BFFD-1D0275E31F17}"/>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42280733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0EE0A-DFC9-CD3E-85F2-90E23A8B3D9A}"/>
              </a:ext>
            </a:extLst>
          </p:cNvPr>
          <p:cNvSpPr>
            <a:spLocks noGrp="1"/>
          </p:cNvSpPr>
          <p:nvPr>
            <p:ph type="title"/>
          </p:nvPr>
        </p:nvSpPr>
        <p:spPr>
          <a:xfrm>
            <a:off x="623887"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C18E46C0-C910-7F35-4342-0FBE5C02208B}"/>
              </a:ext>
            </a:extLst>
          </p:cNvPr>
          <p:cNvSpPr>
            <a:spLocks noGrp="1"/>
          </p:cNvSpPr>
          <p:nvPr>
            <p:ph type="body" idx="1"/>
          </p:nvPr>
        </p:nvSpPr>
        <p:spPr>
          <a:xfrm>
            <a:off x="623887"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35FB62-98E2-94E3-DD43-8AEB3AAD7381}"/>
              </a:ext>
            </a:extLst>
          </p:cNvPr>
          <p:cNvSpPr>
            <a:spLocks noGrp="1"/>
          </p:cNvSpPr>
          <p:nvPr>
            <p:ph type="dt" sz="half" idx="10"/>
          </p:nvPr>
        </p:nvSpPr>
        <p:spPr/>
        <p:txBody>
          <a:bodyPr/>
          <a:lstStyle/>
          <a:p>
            <a:fld id="{E26C5EA7-6865-014B-BFC0-F42BFC001A56}" type="datetime1">
              <a:rPr lang="en-US" smtClean="0"/>
              <a:t>1/14/26</a:t>
            </a:fld>
            <a:endParaRPr lang="en-US"/>
          </a:p>
        </p:txBody>
      </p:sp>
      <p:sp>
        <p:nvSpPr>
          <p:cNvPr id="5" name="Footer Placeholder 4">
            <a:extLst>
              <a:ext uri="{FF2B5EF4-FFF2-40B4-BE49-F238E27FC236}">
                <a16:creationId xmlns:a16="http://schemas.microsoft.com/office/drawing/2014/main" id="{D7A9DBC7-5B17-5B2E-18DC-5E4850841634}"/>
              </a:ext>
            </a:extLst>
          </p:cNvPr>
          <p:cNvSpPr>
            <a:spLocks noGrp="1"/>
          </p:cNvSpPr>
          <p:nvPr>
            <p:ph type="ftr" sz="quarter" idx="11"/>
          </p:nvPr>
        </p:nvSpPr>
        <p:spPr/>
        <p:txBody>
          <a:bodyPr/>
          <a:lstStyle/>
          <a:p>
            <a:r>
              <a:rPr lang="en-US"/>
              <a:t>Revised 01/12/2026</a:t>
            </a:r>
          </a:p>
        </p:txBody>
      </p:sp>
      <p:sp>
        <p:nvSpPr>
          <p:cNvPr id="6" name="Slide Number Placeholder 5">
            <a:extLst>
              <a:ext uri="{FF2B5EF4-FFF2-40B4-BE49-F238E27FC236}">
                <a16:creationId xmlns:a16="http://schemas.microsoft.com/office/drawing/2014/main" id="{F436B35B-049B-C1E7-21C2-1ED5E494684C}"/>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3568704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A3EF6-782C-CD76-79AB-CC149F734F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FBE93-D1D6-42ED-6C6C-9FB96DF1C796}"/>
              </a:ext>
            </a:extLst>
          </p:cNvPr>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730353-A8EC-FAE3-E8DA-E79065BBF98B}"/>
              </a:ext>
            </a:extLst>
          </p:cNvPr>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B5D51ED-2212-A11F-D4C2-CC4A73CD367F}"/>
              </a:ext>
            </a:extLst>
          </p:cNvPr>
          <p:cNvSpPr>
            <a:spLocks noGrp="1"/>
          </p:cNvSpPr>
          <p:nvPr>
            <p:ph type="dt" sz="half" idx="10"/>
          </p:nvPr>
        </p:nvSpPr>
        <p:spPr/>
        <p:txBody>
          <a:bodyPr/>
          <a:lstStyle/>
          <a:p>
            <a:fld id="{5B804A43-AA2A-794E-8F4E-DC095FBBA51C}" type="datetime1">
              <a:rPr lang="en-US" smtClean="0"/>
              <a:t>1/14/26</a:t>
            </a:fld>
            <a:endParaRPr lang="en-US"/>
          </a:p>
        </p:txBody>
      </p:sp>
      <p:sp>
        <p:nvSpPr>
          <p:cNvPr id="6" name="Footer Placeholder 5">
            <a:extLst>
              <a:ext uri="{FF2B5EF4-FFF2-40B4-BE49-F238E27FC236}">
                <a16:creationId xmlns:a16="http://schemas.microsoft.com/office/drawing/2014/main" id="{2D188AF9-16B7-F9AC-94E4-67618B025618}"/>
              </a:ext>
            </a:extLst>
          </p:cNvPr>
          <p:cNvSpPr>
            <a:spLocks noGrp="1"/>
          </p:cNvSpPr>
          <p:nvPr>
            <p:ph type="ftr" sz="quarter" idx="11"/>
          </p:nvPr>
        </p:nvSpPr>
        <p:spPr/>
        <p:txBody>
          <a:bodyPr/>
          <a:lstStyle/>
          <a:p>
            <a:r>
              <a:rPr lang="en-US"/>
              <a:t>Revised 01/12/2026</a:t>
            </a:r>
          </a:p>
        </p:txBody>
      </p:sp>
      <p:sp>
        <p:nvSpPr>
          <p:cNvPr id="7" name="Slide Number Placeholder 6">
            <a:extLst>
              <a:ext uri="{FF2B5EF4-FFF2-40B4-BE49-F238E27FC236}">
                <a16:creationId xmlns:a16="http://schemas.microsoft.com/office/drawing/2014/main" id="{3546C1CE-6DFE-F894-7087-0D65C516F1DC}"/>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132388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48AD-9F9D-E491-275D-8928F334A88D}"/>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D87CC1-75E5-A155-9109-06A84CD62320}"/>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A803473-8097-9CDA-EBB3-DA00A770C776}"/>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475FDC-3998-9801-1BFD-ACE6CE273F59}"/>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93300A8-6438-2F26-D8F8-15CCC4466D8A}"/>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ADC652-3801-F4E8-07A1-7EE07A0060ED}"/>
              </a:ext>
            </a:extLst>
          </p:cNvPr>
          <p:cNvSpPr>
            <a:spLocks noGrp="1"/>
          </p:cNvSpPr>
          <p:nvPr>
            <p:ph type="dt" sz="half" idx="10"/>
          </p:nvPr>
        </p:nvSpPr>
        <p:spPr/>
        <p:txBody>
          <a:bodyPr/>
          <a:lstStyle/>
          <a:p>
            <a:fld id="{BF654CE7-0630-1E4E-B48C-7DCF7055A9FE}" type="datetime1">
              <a:rPr lang="en-US" smtClean="0"/>
              <a:t>1/14/26</a:t>
            </a:fld>
            <a:endParaRPr lang="en-US"/>
          </a:p>
        </p:txBody>
      </p:sp>
      <p:sp>
        <p:nvSpPr>
          <p:cNvPr id="8" name="Footer Placeholder 7">
            <a:extLst>
              <a:ext uri="{FF2B5EF4-FFF2-40B4-BE49-F238E27FC236}">
                <a16:creationId xmlns:a16="http://schemas.microsoft.com/office/drawing/2014/main" id="{17E868BB-1354-66B0-27F3-E0DB4F34212D}"/>
              </a:ext>
            </a:extLst>
          </p:cNvPr>
          <p:cNvSpPr>
            <a:spLocks noGrp="1"/>
          </p:cNvSpPr>
          <p:nvPr>
            <p:ph type="ftr" sz="quarter" idx="11"/>
          </p:nvPr>
        </p:nvSpPr>
        <p:spPr/>
        <p:txBody>
          <a:bodyPr/>
          <a:lstStyle/>
          <a:p>
            <a:r>
              <a:rPr lang="en-US"/>
              <a:t>Revised 01/12/2026</a:t>
            </a:r>
          </a:p>
        </p:txBody>
      </p:sp>
      <p:sp>
        <p:nvSpPr>
          <p:cNvPr id="9" name="Slide Number Placeholder 8">
            <a:extLst>
              <a:ext uri="{FF2B5EF4-FFF2-40B4-BE49-F238E27FC236}">
                <a16:creationId xmlns:a16="http://schemas.microsoft.com/office/drawing/2014/main" id="{2033EC7B-E7AB-9386-4E1B-27C114E1ADCE}"/>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3988200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501D5-EE3C-96B9-321B-815693E360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E8C3E4A-A43D-E961-DB43-13ABB0315061}"/>
              </a:ext>
            </a:extLst>
          </p:cNvPr>
          <p:cNvSpPr>
            <a:spLocks noGrp="1"/>
          </p:cNvSpPr>
          <p:nvPr>
            <p:ph type="dt" sz="half" idx="10"/>
          </p:nvPr>
        </p:nvSpPr>
        <p:spPr/>
        <p:txBody>
          <a:bodyPr/>
          <a:lstStyle/>
          <a:p>
            <a:fld id="{E6E941C4-883C-5A47-B8DE-EFBBDE445E2B}" type="datetime1">
              <a:rPr lang="en-US" smtClean="0"/>
              <a:t>1/14/26</a:t>
            </a:fld>
            <a:endParaRPr lang="en-US"/>
          </a:p>
        </p:txBody>
      </p:sp>
      <p:sp>
        <p:nvSpPr>
          <p:cNvPr id="4" name="Footer Placeholder 3">
            <a:extLst>
              <a:ext uri="{FF2B5EF4-FFF2-40B4-BE49-F238E27FC236}">
                <a16:creationId xmlns:a16="http://schemas.microsoft.com/office/drawing/2014/main" id="{6AC3C401-9340-0985-AB9B-7D658D92E0B6}"/>
              </a:ext>
            </a:extLst>
          </p:cNvPr>
          <p:cNvSpPr>
            <a:spLocks noGrp="1"/>
          </p:cNvSpPr>
          <p:nvPr>
            <p:ph type="ftr" sz="quarter" idx="11"/>
          </p:nvPr>
        </p:nvSpPr>
        <p:spPr/>
        <p:txBody>
          <a:bodyPr/>
          <a:lstStyle/>
          <a:p>
            <a:r>
              <a:rPr lang="en-US"/>
              <a:t>Revised 01/12/2026</a:t>
            </a:r>
          </a:p>
        </p:txBody>
      </p:sp>
      <p:sp>
        <p:nvSpPr>
          <p:cNvPr id="5" name="Slide Number Placeholder 4">
            <a:extLst>
              <a:ext uri="{FF2B5EF4-FFF2-40B4-BE49-F238E27FC236}">
                <a16:creationId xmlns:a16="http://schemas.microsoft.com/office/drawing/2014/main" id="{5DA2D15A-65CE-D895-1665-1D679B1ACC66}"/>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3454305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D7BEC0-8C51-BDD5-A9E2-9E71B7F8C99B}"/>
              </a:ext>
            </a:extLst>
          </p:cNvPr>
          <p:cNvSpPr>
            <a:spLocks noGrp="1"/>
          </p:cNvSpPr>
          <p:nvPr>
            <p:ph type="dt" sz="half" idx="10"/>
          </p:nvPr>
        </p:nvSpPr>
        <p:spPr/>
        <p:txBody>
          <a:bodyPr/>
          <a:lstStyle/>
          <a:p>
            <a:fld id="{56BC83E8-E037-9E49-BBD0-E1F21A64CE2D}" type="datetime1">
              <a:rPr lang="en-US" smtClean="0"/>
              <a:t>1/14/26</a:t>
            </a:fld>
            <a:endParaRPr lang="en-US"/>
          </a:p>
        </p:txBody>
      </p:sp>
      <p:sp>
        <p:nvSpPr>
          <p:cNvPr id="3" name="Footer Placeholder 2">
            <a:extLst>
              <a:ext uri="{FF2B5EF4-FFF2-40B4-BE49-F238E27FC236}">
                <a16:creationId xmlns:a16="http://schemas.microsoft.com/office/drawing/2014/main" id="{8EDB83CC-97C7-7E29-DEC4-16DB3464B924}"/>
              </a:ext>
            </a:extLst>
          </p:cNvPr>
          <p:cNvSpPr>
            <a:spLocks noGrp="1"/>
          </p:cNvSpPr>
          <p:nvPr>
            <p:ph type="ftr" sz="quarter" idx="11"/>
          </p:nvPr>
        </p:nvSpPr>
        <p:spPr/>
        <p:txBody>
          <a:bodyPr/>
          <a:lstStyle/>
          <a:p>
            <a:r>
              <a:rPr lang="en-US"/>
              <a:t>Revised 01/12/2026</a:t>
            </a:r>
          </a:p>
        </p:txBody>
      </p:sp>
      <p:sp>
        <p:nvSpPr>
          <p:cNvPr id="4" name="Slide Number Placeholder 3">
            <a:extLst>
              <a:ext uri="{FF2B5EF4-FFF2-40B4-BE49-F238E27FC236}">
                <a16:creationId xmlns:a16="http://schemas.microsoft.com/office/drawing/2014/main" id="{3B79A276-D22B-85D1-768A-6448B46E7352}"/>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816025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323CF-2B47-9299-B095-BC6A1C8315B9}"/>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55C39F5-2FB5-CA4F-98A0-5F0A4D93B36B}"/>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77A983D-3ADA-891A-A9D2-7228EB36BB39}"/>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BE5EEA9-5D3C-1515-69BE-B43ADA8EA8C4}"/>
              </a:ext>
            </a:extLst>
          </p:cNvPr>
          <p:cNvSpPr>
            <a:spLocks noGrp="1"/>
          </p:cNvSpPr>
          <p:nvPr>
            <p:ph type="dt" sz="half" idx="10"/>
          </p:nvPr>
        </p:nvSpPr>
        <p:spPr/>
        <p:txBody>
          <a:bodyPr/>
          <a:lstStyle/>
          <a:p>
            <a:fld id="{DF5ACAE1-0F38-4643-B39B-7C5E8CEE6F11}" type="datetime1">
              <a:rPr lang="en-US" smtClean="0"/>
              <a:t>1/14/26</a:t>
            </a:fld>
            <a:endParaRPr lang="en-US"/>
          </a:p>
        </p:txBody>
      </p:sp>
      <p:sp>
        <p:nvSpPr>
          <p:cNvPr id="6" name="Footer Placeholder 5">
            <a:extLst>
              <a:ext uri="{FF2B5EF4-FFF2-40B4-BE49-F238E27FC236}">
                <a16:creationId xmlns:a16="http://schemas.microsoft.com/office/drawing/2014/main" id="{FB0D0C23-2506-D330-B35B-E99BF8411205}"/>
              </a:ext>
            </a:extLst>
          </p:cNvPr>
          <p:cNvSpPr>
            <a:spLocks noGrp="1"/>
          </p:cNvSpPr>
          <p:nvPr>
            <p:ph type="ftr" sz="quarter" idx="11"/>
          </p:nvPr>
        </p:nvSpPr>
        <p:spPr/>
        <p:txBody>
          <a:bodyPr/>
          <a:lstStyle/>
          <a:p>
            <a:r>
              <a:rPr lang="en-US"/>
              <a:t>Revised 01/12/2026</a:t>
            </a:r>
          </a:p>
        </p:txBody>
      </p:sp>
      <p:sp>
        <p:nvSpPr>
          <p:cNvPr id="7" name="Slide Number Placeholder 6">
            <a:extLst>
              <a:ext uri="{FF2B5EF4-FFF2-40B4-BE49-F238E27FC236}">
                <a16:creationId xmlns:a16="http://schemas.microsoft.com/office/drawing/2014/main" id="{FA193FD5-11EC-8C8F-6CC3-49F9CED23DB0}"/>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947671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0B516-9674-08A7-46C8-C219A1A8F355}"/>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68F8D2D-61CF-D69B-C1DB-9CF701A708A4}"/>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6CBE4159-B4E6-56B2-AEEE-931D2ACC72C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3358CE5-0D70-FC57-4E6B-315302FBFE3D}"/>
              </a:ext>
            </a:extLst>
          </p:cNvPr>
          <p:cNvSpPr>
            <a:spLocks noGrp="1"/>
          </p:cNvSpPr>
          <p:nvPr>
            <p:ph type="dt" sz="half" idx="10"/>
          </p:nvPr>
        </p:nvSpPr>
        <p:spPr/>
        <p:txBody>
          <a:bodyPr/>
          <a:lstStyle/>
          <a:p>
            <a:fld id="{3B6905D6-3303-FE44-AC77-563B81A62E26}" type="datetime1">
              <a:rPr lang="en-US" smtClean="0"/>
              <a:t>1/14/26</a:t>
            </a:fld>
            <a:endParaRPr lang="en-US"/>
          </a:p>
        </p:txBody>
      </p:sp>
      <p:sp>
        <p:nvSpPr>
          <p:cNvPr id="6" name="Footer Placeholder 5">
            <a:extLst>
              <a:ext uri="{FF2B5EF4-FFF2-40B4-BE49-F238E27FC236}">
                <a16:creationId xmlns:a16="http://schemas.microsoft.com/office/drawing/2014/main" id="{E0AA3B5D-3814-A833-D8B8-D76A2CBB7793}"/>
              </a:ext>
            </a:extLst>
          </p:cNvPr>
          <p:cNvSpPr>
            <a:spLocks noGrp="1"/>
          </p:cNvSpPr>
          <p:nvPr>
            <p:ph type="ftr" sz="quarter" idx="11"/>
          </p:nvPr>
        </p:nvSpPr>
        <p:spPr/>
        <p:txBody>
          <a:bodyPr/>
          <a:lstStyle/>
          <a:p>
            <a:r>
              <a:rPr lang="en-US"/>
              <a:t>Revised 01/12/2026</a:t>
            </a:r>
          </a:p>
        </p:txBody>
      </p:sp>
      <p:sp>
        <p:nvSpPr>
          <p:cNvPr id="7" name="Slide Number Placeholder 6">
            <a:extLst>
              <a:ext uri="{FF2B5EF4-FFF2-40B4-BE49-F238E27FC236}">
                <a16:creationId xmlns:a16="http://schemas.microsoft.com/office/drawing/2014/main" id="{6E1D15AE-59A8-53E4-124C-174234FC666F}"/>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1639788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98D83-2562-03E8-95AD-D265FD5539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F6F67B-F89D-86AB-0010-F1D36E30C5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05F117-A36C-B9C1-3021-192276F05E10}"/>
              </a:ext>
            </a:extLst>
          </p:cNvPr>
          <p:cNvSpPr>
            <a:spLocks noGrp="1"/>
          </p:cNvSpPr>
          <p:nvPr>
            <p:ph type="dt" sz="half" idx="10"/>
          </p:nvPr>
        </p:nvSpPr>
        <p:spPr/>
        <p:txBody>
          <a:bodyPr/>
          <a:lstStyle/>
          <a:p>
            <a:fld id="{15F695FC-7004-7843-9102-BF0B1F24629C}" type="datetime1">
              <a:rPr lang="en-US" smtClean="0"/>
              <a:t>1/14/26</a:t>
            </a:fld>
            <a:endParaRPr lang="en-US"/>
          </a:p>
        </p:txBody>
      </p:sp>
      <p:sp>
        <p:nvSpPr>
          <p:cNvPr id="5" name="Footer Placeholder 4">
            <a:extLst>
              <a:ext uri="{FF2B5EF4-FFF2-40B4-BE49-F238E27FC236}">
                <a16:creationId xmlns:a16="http://schemas.microsoft.com/office/drawing/2014/main" id="{EC265BB3-575B-05CB-8CCC-BF3573831E9E}"/>
              </a:ext>
            </a:extLst>
          </p:cNvPr>
          <p:cNvSpPr>
            <a:spLocks noGrp="1"/>
          </p:cNvSpPr>
          <p:nvPr>
            <p:ph type="ftr" sz="quarter" idx="11"/>
          </p:nvPr>
        </p:nvSpPr>
        <p:spPr/>
        <p:txBody>
          <a:bodyPr/>
          <a:lstStyle/>
          <a:p>
            <a:r>
              <a:rPr lang="en-US"/>
              <a:t>Revised 01/12/2026</a:t>
            </a:r>
          </a:p>
        </p:txBody>
      </p:sp>
      <p:sp>
        <p:nvSpPr>
          <p:cNvPr id="6" name="Slide Number Placeholder 5">
            <a:extLst>
              <a:ext uri="{FF2B5EF4-FFF2-40B4-BE49-F238E27FC236}">
                <a16:creationId xmlns:a16="http://schemas.microsoft.com/office/drawing/2014/main" id="{B79C3427-2B99-F5B8-BEDB-6C35A75A9C7F}"/>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1131142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B47353-E0B6-9CC5-47F8-F69782D630E4}"/>
              </a:ext>
            </a:extLst>
          </p:cNvPr>
          <p:cNvSpPr>
            <a:spLocks noGrp="1"/>
          </p:cNvSpPr>
          <p:nvPr>
            <p:ph type="title" orient="vert"/>
          </p:nvPr>
        </p:nvSpPr>
        <p:spPr>
          <a:xfrm>
            <a:off x="6543675" y="273843"/>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69AF06-27A6-1C37-337F-1779250B3081}"/>
              </a:ext>
            </a:extLst>
          </p:cNvPr>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E42D9E-6809-1A0C-3B83-5D8C8ABC019F}"/>
              </a:ext>
            </a:extLst>
          </p:cNvPr>
          <p:cNvSpPr>
            <a:spLocks noGrp="1"/>
          </p:cNvSpPr>
          <p:nvPr>
            <p:ph type="dt" sz="half" idx="10"/>
          </p:nvPr>
        </p:nvSpPr>
        <p:spPr/>
        <p:txBody>
          <a:bodyPr/>
          <a:lstStyle/>
          <a:p>
            <a:fld id="{088F63C3-7A20-4A47-B806-EA078A8BFA23}" type="datetime1">
              <a:rPr lang="en-US" smtClean="0"/>
              <a:t>1/14/26</a:t>
            </a:fld>
            <a:endParaRPr lang="en-US"/>
          </a:p>
        </p:txBody>
      </p:sp>
      <p:sp>
        <p:nvSpPr>
          <p:cNvPr id="5" name="Footer Placeholder 4">
            <a:extLst>
              <a:ext uri="{FF2B5EF4-FFF2-40B4-BE49-F238E27FC236}">
                <a16:creationId xmlns:a16="http://schemas.microsoft.com/office/drawing/2014/main" id="{6B56A586-784F-0EF1-6992-5C70855CBEB3}"/>
              </a:ext>
            </a:extLst>
          </p:cNvPr>
          <p:cNvSpPr>
            <a:spLocks noGrp="1"/>
          </p:cNvSpPr>
          <p:nvPr>
            <p:ph type="ftr" sz="quarter" idx="11"/>
          </p:nvPr>
        </p:nvSpPr>
        <p:spPr/>
        <p:txBody>
          <a:bodyPr/>
          <a:lstStyle/>
          <a:p>
            <a:r>
              <a:rPr lang="en-US"/>
              <a:t>Revised 01/12/2026</a:t>
            </a:r>
          </a:p>
        </p:txBody>
      </p:sp>
      <p:sp>
        <p:nvSpPr>
          <p:cNvPr id="6" name="Slide Number Placeholder 5">
            <a:extLst>
              <a:ext uri="{FF2B5EF4-FFF2-40B4-BE49-F238E27FC236}">
                <a16:creationId xmlns:a16="http://schemas.microsoft.com/office/drawing/2014/main" id="{FF6EE072-795C-41F2-481F-51D9561E8131}"/>
              </a:ext>
            </a:extLst>
          </p:cNvPr>
          <p:cNvSpPr>
            <a:spLocks noGrp="1"/>
          </p:cNvSpPr>
          <p:nvPr>
            <p:ph type="sldNum" sz="quarter" idx="12"/>
          </p:nvPr>
        </p:nvSpPr>
        <p:spPr>
          <a:xfrm>
            <a:off x="6457950" y="4767263"/>
            <a:ext cx="2057400" cy="273844"/>
          </a:xfrm>
          <a:prstGeom prst="rect">
            <a:avLst/>
          </a:prstGeom>
        </p:spPr>
        <p:txBody>
          <a:bodyPr/>
          <a:lstStyle/>
          <a:p>
            <a:fld id="{F384F357-E468-3F40-A4AB-0BD97BEF585F}" type="slidenum">
              <a:rPr lang="en-US" smtClean="0"/>
              <a:t>‹#›</a:t>
            </a:fld>
            <a:endParaRPr lang="en-US"/>
          </a:p>
        </p:txBody>
      </p:sp>
    </p:spTree>
    <p:extLst>
      <p:ext uri="{BB962C8B-B14F-4D97-AF65-F5344CB8AC3E}">
        <p14:creationId xmlns:p14="http://schemas.microsoft.com/office/powerpoint/2010/main" val="4212890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28"/>
        <p:cNvGrpSpPr/>
        <p:nvPr/>
      </p:nvGrpSpPr>
      <p:grpSpPr>
        <a:xfrm>
          <a:off x="0" y="0"/>
          <a:ext cx="0" cy="0"/>
          <a:chOff x="0" y="0"/>
          <a:chExt cx="0" cy="0"/>
        </a:xfrm>
      </p:grpSpPr>
      <p:sp>
        <p:nvSpPr>
          <p:cNvPr id="129" name="Google Shape;129;p29"/>
          <p:cNvSpPr txBox="1">
            <a:spLocks noGrp="1"/>
          </p:cNvSpPr>
          <p:nvPr>
            <p:ph type="title"/>
          </p:nvPr>
        </p:nvSpPr>
        <p:spPr>
          <a:xfrm>
            <a:off x="311700" y="445025"/>
            <a:ext cx="8520600" cy="572700"/>
          </a:xfrm>
          <a:prstGeom prst="rect">
            <a:avLst/>
          </a:prstGeom>
          <a:noFill/>
          <a:ln>
            <a:noFill/>
          </a:ln>
        </p:spPr>
        <p:txBody>
          <a:bodyPr spcFirstLastPara="1" wrap="square" lIns="68575" tIns="68575" rIns="68575" bIns="68575" anchor="t" anchorCtr="0">
            <a:noAutofit/>
          </a:bodyPr>
          <a:lstStyle>
            <a:lvl1pPr marR="0" lvl="0" algn="l" rtl="0">
              <a:lnSpc>
                <a:spcPct val="90000"/>
              </a:lnSpc>
              <a:spcBef>
                <a:spcPts val="0"/>
              </a:spcBef>
              <a:spcAft>
                <a:spcPts val="0"/>
              </a:spcAft>
              <a:buClr>
                <a:srgbClr val="000000"/>
              </a:buClr>
              <a:buSzPts val="3300"/>
              <a:buFont typeface="Calibri"/>
              <a:buNone/>
              <a:defRPr sz="3300" b="0" i="0" u="none" strike="noStrike" cap="none">
                <a:solidFill>
                  <a:srgbClr val="000000"/>
                </a:solidFill>
                <a:latin typeface="Calibri"/>
                <a:ea typeface="Calibri"/>
                <a:cs typeface="Calibri"/>
                <a:sym typeface="Calibri"/>
              </a:defRPr>
            </a:lvl1pPr>
            <a:lvl2pPr marR="0" lvl="1" algn="l" rtl="0">
              <a:lnSpc>
                <a:spcPct val="90000"/>
              </a:lnSpc>
              <a:spcBef>
                <a:spcPts val="0"/>
              </a:spcBef>
              <a:spcAft>
                <a:spcPts val="0"/>
              </a:spcAft>
              <a:buClr>
                <a:srgbClr val="000000"/>
              </a:buClr>
              <a:buSzPts val="3300"/>
              <a:buFont typeface="Calibri"/>
              <a:buNone/>
              <a:defRPr sz="3300" b="0" i="0" u="none" strike="noStrike" cap="none">
                <a:solidFill>
                  <a:srgbClr val="000000"/>
                </a:solidFill>
                <a:latin typeface="Calibri"/>
                <a:ea typeface="Calibri"/>
                <a:cs typeface="Calibri"/>
                <a:sym typeface="Calibri"/>
              </a:defRPr>
            </a:lvl2pPr>
            <a:lvl3pPr marR="0" lvl="2" algn="l" rtl="0">
              <a:lnSpc>
                <a:spcPct val="90000"/>
              </a:lnSpc>
              <a:spcBef>
                <a:spcPts val="0"/>
              </a:spcBef>
              <a:spcAft>
                <a:spcPts val="0"/>
              </a:spcAft>
              <a:buClr>
                <a:srgbClr val="000000"/>
              </a:buClr>
              <a:buSzPts val="3300"/>
              <a:buFont typeface="Calibri"/>
              <a:buNone/>
              <a:defRPr sz="3300" b="0" i="0" u="none" strike="noStrike" cap="none">
                <a:solidFill>
                  <a:srgbClr val="000000"/>
                </a:solidFill>
                <a:latin typeface="Calibri"/>
                <a:ea typeface="Calibri"/>
                <a:cs typeface="Calibri"/>
                <a:sym typeface="Calibri"/>
              </a:defRPr>
            </a:lvl3pPr>
            <a:lvl4pPr marR="0" lvl="3" algn="l" rtl="0">
              <a:lnSpc>
                <a:spcPct val="90000"/>
              </a:lnSpc>
              <a:spcBef>
                <a:spcPts val="0"/>
              </a:spcBef>
              <a:spcAft>
                <a:spcPts val="0"/>
              </a:spcAft>
              <a:buClr>
                <a:srgbClr val="000000"/>
              </a:buClr>
              <a:buSzPts val="3300"/>
              <a:buFont typeface="Calibri"/>
              <a:buNone/>
              <a:defRPr sz="3300" b="0" i="0" u="none" strike="noStrike" cap="none">
                <a:solidFill>
                  <a:srgbClr val="000000"/>
                </a:solidFill>
                <a:latin typeface="Calibri"/>
                <a:ea typeface="Calibri"/>
                <a:cs typeface="Calibri"/>
                <a:sym typeface="Calibri"/>
              </a:defRPr>
            </a:lvl4pPr>
            <a:lvl5pPr marR="0" lvl="4" algn="l" rtl="0">
              <a:lnSpc>
                <a:spcPct val="90000"/>
              </a:lnSpc>
              <a:spcBef>
                <a:spcPts val="0"/>
              </a:spcBef>
              <a:spcAft>
                <a:spcPts val="0"/>
              </a:spcAft>
              <a:buClr>
                <a:srgbClr val="000000"/>
              </a:buClr>
              <a:buSzPts val="3300"/>
              <a:buFont typeface="Calibri"/>
              <a:buNone/>
              <a:defRPr sz="3300" b="0" i="0" u="none" strike="noStrike" cap="none">
                <a:solidFill>
                  <a:srgbClr val="000000"/>
                </a:solidFill>
                <a:latin typeface="Calibri"/>
                <a:ea typeface="Calibri"/>
                <a:cs typeface="Calibri"/>
                <a:sym typeface="Calibri"/>
              </a:defRPr>
            </a:lvl5pPr>
            <a:lvl6pPr marR="0" lvl="5" algn="l" rtl="0">
              <a:lnSpc>
                <a:spcPct val="90000"/>
              </a:lnSpc>
              <a:spcBef>
                <a:spcPts val="0"/>
              </a:spcBef>
              <a:spcAft>
                <a:spcPts val="0"/>
              </a:spcAft>
              <a:buClr>
                <a:srgbClr val="000000"/>
              </a:buClr>
              <a:buSzPts val="3300"/>
              <a:buFont typeface="Calibri"/>
              <a:buNone/>
              <a:defRPr sz="3300" b="0" i="0" u="none" strike="noStrike" cap="none">
                <a:solidFill>
                  <a:srgbClr val="000000"/>
                </a:solidFill>
                <a:latin typeface="Calibri"/>
                <a:ea typeface="Calibri"/>
                <a:cs typeface="Calibri"/>
                <a:sym typeface="Calibri"/>
              </a:defRPr>
            </a:lvl6pPr>
            <a:lvl7pPr marR="0" lvl="6" algn="l" rtl="0">
              <a:lnSpc>
                <a:spcPct val="90000"/>
              </a:lnSpc>
              <a:spcBef>
                <a:spcPts val="0"/>
              </a:spcBef>
              <a:spcAft>
                <a:spcPts val="0"/>
              </a:spcAft>
              <a:buClr>
                <a:srgbClr val="000000"/>
              </a:buClr>
              <a:buSzPts val="3300"/>
              <a:buFont typeface="Calibri"/>
              <a:buNone/>
              <a:defRPr sz="3300" b="0" i="0" u="none" strike="noStrike" cap="none">
                <a:solidFill>
                  <a:srgbClr val="000000"/>
                </a:solidFill>
                <a:latin typeface="Calibri"/>
                <a:ea typeface="Calibri"/>
                <a:cs typeface="Calibri"/>
                <a:sym typeface="Calibri"/>
              </a:defRPr>
            </a:lvl7pPr>
            <a:lvl8pPr marR="0" lvl="7" algn="l" rtl="0">
              <a:lnSpc>
                <a:spcPct val="90000"/>
              </a:lnSpc>
              <a:spcBef>
                <a:spcPts val="0"/>
              </a:spcBef>
              <a:spcAft>
                <a:spcPts val="0"/>
              </a:spcAft>
              <a:buClr>
                <a:srgbClr val="000000"/>
              </a:buClr>
              <a:buSzPts val="3300"/>
              <a:buFont typeface="Calibri"/>
              <a:buNone/>
              <a:defRPr sz="3300" b="0" i="0" u="none" strike="noStrike" cap="none">
                <a:solidFill>
                  <a:srgbClr val="000000"/>
                </a:solidFill>
                <a:latin typeface="Calibri"/>
                <a:ea typeface="Calibri"/>
                <a:cs typeface="Calibri"/>
                <a:sym typeface="Calibri"/>
              </a:defRPr>
            </a:lvl8pPr>
            <a:lvl9pPr marR="0" lvl="8" algn="l" rtl="0">
              <a:lnSpc>
                <a:spcPct val="90000"/>
              </a:lnSpc>
              <a:spcBef>
                <a:spcPts val="0"/>
              </a:spcBef>
              <a:spcAft>
                <a:spcPts val="0"/>
              </a:spcAft>
              <a:buClr>
                <a:srgbClr val="000000"/>
              </a:buClr>
              <a:buSzPts val="3300"/>
              <a:buFont typeface="Calibri"/>
              <a:buNone/>
              <a:defRPr sz="3300" b="0" i="0" u="none" strike="noStrike" cap="none">
                <a:solidFill>
                  <a:srgbClr val="000000"/>
                </a:solidFill>
                <a:latin typeface="Calibri"/>
                <a:ea typeface="Calibri"/>
                <a:cs typeface="Calibri"/>
                <a:sym typeface="Calibri"/>
              </a:defRPr>
            </a:lvl9pPr>
          </a:lstStyle>
          <a:p>
            <a:endParaRPr/>
          </a:p>
        </p:txBody>
      </p:sp>
      <p:sp>
        <p:nvSpPr>
          <p:cNvPr id="130" name="Google Shape;130;p29"/>
          <p:cNvSpPr txBox="1">
            <a:spLocks noGrp="1"/>
          </p:cNvSpPr>
          <p:nvPr>
            <p:ph type="body" idx="1"/>
          </p:nvPr>
        </p:nvSpPr>
        <p:spPr>
          <a:xfrm>
            <a:off x="311700" y="1152475"/>
            <a:ext cx="8520600" cy="3416400"/>
          </a:xfrm>
          <a:prstGeom prst="rect">
            <a:avLst/>
          </a:prstGeom>
          <a:noFill/>
          <a:ln>
            <a:noFill/>
          </a:ln>
        </p:spPr>
        <p:txBody>
          <a:bodyPr spcFirstLastPara="1" wrap="square" lIns="68575" tIns="68575" rIns="68575" bIns="68575" anchor="t" anchorCtr="0">
            <a:noAutofit/>
          </a:bodyPr>
          <a:lstStyle>
            <a:lvl1pPr marL="457200" marR="0" lvl="0" indent="-361950" algn="l" rtl="0">
              <a:lnSpc>
                <a:spcPct val="90000"/>
              </a:lnSpc>
              <a:spcBef>
                <a:spcPts val="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1pPr>
            <a:lvl2pPr marL="914400" marR="0" lvl="1" indent="-361950" algn="l" rtl="0">
              <a:lnSpc>
                <a:spcPct val="90000"/>
              </a:lnSpc>
              <a:spcBef>
                <a:spcPts val="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2pPr>
            <a:lvl3pPr marL="1371600" marR="0" lvl="2" indent="-361950" algn="l" rtl="0">
              <a:lnSpc>
                <a:spcPct val="90000"/>
              </a:lnSpc>
              <a:spcBef>
                <a:spcPts val="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3pPr>
            <a:lvl4pPr marL="1828800" marR="0" lvl="3" indent="-361950" algn="l" rtl="0">
              <a:lnSpc>
                <a:spcPct val="90000"/>
              </a:lnSpc>
              <a:spcBef>
                <a:spcPts val="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4pPr>
            <a:lvl5pPr marL="2286000" marR="0" lvl="4" indent="-361950" algn="l" rtl="0">
              <a:lnSpc>
                <a:spcPct val="90000"/>
              </a:lnSpc>
              <a:spcBef>
                <a:spcPts val="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5pPr>
            <a:lvl6pPr marL="2743200" marR="0" lvl="5" indent="-361950" algn="l" rtl="0">
              <a:lnSpc>
                <a:spcPct val="90000"/>
              </a:lnSpc>
              <a:spcBef>
                <a:spcPts val="80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6pPr>
            <a:lvl7pPr marL="3200400" marR="0" lvl="6" indent="-361950" algn="l" rtl="0">
              <a:lnSpc>
                <a:spcPct val="90000"/>
              </a:lnSpc>
              <a:spcBef>
                <a:spcPts val="80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7pPr>
            <a:lvl8pPr marL="3657600" marR="0" lvl="7" indent="-361950" algn="l" rtl="0">
              <a:lnSpc>
                <a:spcPct val="90000"/>
              </a:lnSpc>
              <a:spcBef>
                <a:spcPts val="80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8pPr>
            <a:lvl9pPr marL="4114800" marR="0" lvl="8" indent="-361950" algn="l" rtl="0">
              <a:lnSpc>
                <a:spcPct val="90000"/>
              </a:lnSpc>
              <a:spcBef>
                <a:spcPts val="80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9pPr>
          </a:lstStyle>
          <a:p>
            <a:endParaRPr/>
          </a:p>
        </p:txBody>
      </p:sp>
      <p:sp>
        <p:nvSpPr>
          <p:cNvPr id="2" name="Footer Placeholder 4">
            <a:extLst>
              <a:ext uri="{FF2B5EF4-FFF2-40B4-BE49-F238E27FC236}">
                <a16:creationId xmlns:a16="http://schemas.microsoft.com/office/drawing/2014/main" id="{AA8EA56A-B79F-F123-D4F6-A8AFF0520A01}"/>
              </a:ext>
            </a:extLst>
          </p:cNvPr>
          <p:cNvSpPr>
            <a:spLocks noGrp="1"/>
          </p:cNvSpPr>
          <p:nvPr>
            <p:ph type="ftr" sz="quarter" idx="3"/>
          </p:nvPr>
        </p:nvSpPr>
        <p:spPr>
          <a:xfrm>
            <a:off x="8285787" y="4869657"/>
            <a:ext cx="858213" cy="273844"/>
          </a:xfrm>
          <a:prstGeom prst="rect">
            <a:avLst/>
          </a:prstGeom>
        </p:spPr>
        <p:txBody>
          <a:bodyPr vert="horz" lIns="91440" tIns="45720" rIns="91440" bIns="45720" rtlCol="0" anchor="ctr"/>
          <a:lstStyle>
            <a:lvl1pPr algn="ctr">
              <a:defRPr sz="600">
                <a:solidFill>
                  <a:schemeClr val="tx1">
                    <a:tint val="82000"/>
                  </a:schemeClr>
                </a:solidFill>
                <a:latin typeface="Arial" panose="020B0604020202020204" pitchFamily="34" charset="0"/>
                <a:cs typeface="Arial" panose="020B0604020202020204" pitchFamily="34" charset="0"/>
              </a:defRPr>
            </a:lvl1pPr>
          </a:lstStyle>
          <a:p>
            <a:r>
              <a:rPr lang="en-US" dirty="0"/>
              <a:t>Revised 01/12/2026</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675264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6">
  <p:cSld name="Title and body 6">
    <p:spTree>
      <p:nvGrpSpPr>
        <p:cNvPr id="1" name="Shape 261"/>
        <p:cNvGrpSpPr/>
        <p:nvPr/>
      </p:nvGrpSpPr>
      <p:grpSpPr>
        <a:xfrm>
          <a:off x="0" y="0"/>
          <a:ext cx="0" cy="0"/>
          <a:chOff x="0" y="0"/>
          <a:chExt cx="0" cy="0"/>
        </a:xfrm>
      </p:grpSpPr>
      <p:sp>
        <p:nvSpPr>
          <p:cNvPr id="262" name="Google Shape;262;p60"/>
          <p:cNvSpPr txBox="1">
            <a:spLocks noGrp="1"/>
          </p:cNvSpPr>
          <p:nvPr>
            <p:ph type="title"/>
          </p:nvPr>
        </p:nvSpPr>
        <p:spPr>
          <a:xfrm>
            <a:off x="311700" y="445025"/>
            <a:ext cx="8520600" cy="572700"/>
          </a:xfrm>
          <a:prstGeom prst="rect">
            <a:avLst/>
          </a:prstGeom>
        </p:spPr>
        <p:txBody>
          <a:bodyPr spcFirstLastPara="1" wrap="square" lIns="68575" tIns="68575" rIns="68575" bIns="68575" anchor="ctr"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63" name="Google Shape;263;p60"/>
          <p:cNvSpPr txBox="1">
            <a:spLocks noGrp="1"/>
          </p:cNvSpPr>
          <p:nvPr>
            <p:ph type="body" idx="1"/>
          </p:nvPr>
        </p:nvSpPr>
        <p:spPr>
          <a:xfrm>
            <a:off x="311700" y="1152475"/>
            <a:ext cx="8520600" cy="3416400"/>
          </a:xfrm>
          <a:prstGeom prst="rect">
            <a:avLst/>
          </a:prstGeom>
        </p:spPr>
        <p:txBody>
          <a:bodyPr spcFirstLastPara="1" wrap="square" lIns="68575" tIns="68575" rIns="68575" bIns="68575" anchor="t" anchorCtr="0">
            <a:noAutofit/>
          </a:bodyPr>
          <a:lstStyle>
            <a:lvl1pPr marL="457200" lvl="0" indent="-361950" rtl="0">
              <a:spcBef>
                <a:spcPts val="800"/>
              </a:spcBef>
              <a:spcAft>
                <a:spcPts val="0"/>
              </a:spcAft>
              <a:buSzPts val="2100"/>
              <a:buChar char="•"/>
              <a:defRPr/>
            </a:lvl1pPr>
            <a:lvl2pPr marL="914400" lvl="1" indent="-361950" rtl="0">
              <a:spcBef>
                <a:spcPts val="800"/>
              </a:spcBef>
              <a:spcAft>
                <a:spcPts val="0"/>
              </a:spcAft>
              <a:buSzPts val="2100"/>
              <a:buChar char="•"/>
              <a:defRPr/>
            </a:lvl2pPr>
            <a:lvl3pPr marL="1371600" lvl="2" indent="-361950" rtl="0">
              <a:spcBef>
                <a:spcPts val="800"/>
              </a:spcBef>
              <a:spcAft>
                <a:spcPts val="0"/>
              </a:spcAft>
              <a:buSzPts val="2100"/>
              <a:buChar char="•"/>
              <a:defRPr/>
            </a:lvl3pPr>
            <a:lvl4pPr marL="1828800" lvl="3" indent="-361950" rtl="0">
              <a:spcBef>
                <a:spcPts val="800"/>
              </a:spcBef>
              <a:spcAft>
                <a:spcPts val="0"/>
              </a:spcAft>
              <a:buSzPts val="2100"/>
              <a:buChar char="•"/>
              <a:defRPr/>
            </a:lvl4pPr>
            <a:lvl5pPr marL="2286000" lvl="4" indent="-361950" rtl="0">
              <a:spcBef>
                <a:spcPts val="800"/>
              </a:spcBef>
              <a:spcAft>
                <a:spcPts val="0"/>
              </a:spcAft>
              <a:buSzPts val="2100"/>
              <a:buChar char="•"/>
              <a:defRPr/>
            </a:lvl5pPr>
            <a:lvl6pPr marL="2743200" lvl="5" indent="-361950" rtl="0">
              <a:spcBef>
                <a:spcPts val="800"/>
              </a:spcBef>
              <a:spcAft>
                <a:spcPts val="0"/>
              </a:spcAft>
              <a:buSzPts val="2100"/>
              <a:buChar char="•"/>
              <a:defRPr/>
            </a:lvl6pPr>
            <a:lvl7pPr marL="3200400" lvl="6" indent="-361950" rtl="0">
              <a:spcBef>
                <a:spcPts val="800"/>
              </a:spcBef>
              <a:spcAft>
                <a:spcPts val="0"/>
              </a:spcAft>
              <a:buSzPts val="2100"/>
              <a:buChar char="•"/>
              <a:defRPr/>
            </a:lvl7pPr>
            <a:lvl8pPr marL="3657600" lvl="7" indent="-361950" rtl="0">
              <a:spcBef>
                <a:spcPts val="800"/>
              </a:spcBef>
              <a:spcAft>
                <a:spcPts val="0"/>
              </a:spcAft>
              <a:buSzPts val="2100"/>
              <a:buChar char="•"/>
              <a:defRPr/>
            </a:lvl8pPr>
            <a:lvl9pPr marL="4114800" lvl="8" indent="-361950" rtl="0">
              <a:spcBef>
                <a:spcPts val="800"/>
              </a:spcBef>
              <a:spcAft>
                <a:spcPts val="0"/>
              </a:spcAft>
              <a:buSzPts val="2100"/>
              <a:buChar char="•"/>
              <a:defRPr/>
            </a:lvl9pPr>
          </a:lstStyle>
          <a:p>
            <a:endParaRPr/>
          </a:p>
        </p:txBody>
      </p:sp>
      <p:sp>
        <p:nvSpPr>
          <p:cNvPr id="2" name="Footer Placeholder 4">
            <a:extLst>
              <a:ext uri="{FF2B5EF4-FFF2-40B4-BE49-F238E27FC236}">
                <a16:creationId xmlns:a16="http://schemas.microsoft.com/office/drawing/2014/main" id="{4E150640-E344-D10D-7C28-823DAFD62A7F}"/>
              </a:ext>
            </a:extLst>
          </p:cNvPr>
          <p:cNvSpPr>
            <a:spLocks noGrp="1"/>
          </p:cNvSpPr>
          <p:nvPr>
            <p:ph type="ftr" sz="quarter" idx="3"/>
          </p:nvPr>
        </p:nvSpPr>
        <p:spPr>
          <a:xfrm>
            <a:off x="8285787" y="4869657"/>
            <a:ext cx="858213" cy="273844"/>
          </a:xfrm>
          <a:prstGeom prst="rect">
            <a:avLst/>
          </a:prstGeom>
        </p:spPr>
        <p:txBody>
          <a:bodyPr vert="horz" lIns="91440" tIns="45720" rIns="91440" bIns="45720" rtlCol="0" anchor="ctr"/>
          <a:lstStyle>
            <a:lvl1pPr algn="ctr">
              <a:defRPr sz="600">
                <a:solidFill>
                  <a:schemeClr val="tx1">
                    <a:tint val="82000"/>
                  </a:schemeClr>
                </a:solidFill>
                <a:latin typeface="Arial" panose="020B0604020202020204" pitchFamily="34" charset="0"/>
                <a:cs typeface="Arial" panose="020B0604020202020204" pitchFamily="34" charset="0"/>
              </a:defRPr>
            </a:lvl1pPr>
          </a:lstStyle>
          <a:p>
            <a:r>
              <a:rPr lang="en-US" dirty="0"/>
              <a:t>Revised 01/12/2026</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89113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Layout">
  <p:cSld name="Blank Layout">
    <p:spTree>
      <p:nvGrpSpPr>
        <p:cNvPr id="1" name="Shape 108"/>
        <p:cNvGrpSpPr/>
        <p:nvPr/>
      </p:nvGrpSpPr>
      <p:grpSpPr>
        <a:xfrm>
          <a:off x="0" y="0"/>
          <a:ext cx="0" cy="0"/>
          <a:chOff x="0" y="0"/>
          <a:chExt cx="0" cy="0"/>
        </a:xfrm>
      </p:grpSpPr>
      <p:sp>
        <p:nvSpPr>
          <p:cNvPr id="2" name="Footer Placeholder 4">
            <a:extLst>
              <a:ext uri="{FF2B5EF4-FFF2-40B4-BE49-F238E27FC236}">
                <a16:creationId xmlns:a16="http://schemas.microsoft.com/office/drawing/2014/main" id="{F379C365-3393-6134-9041-AE3F6627A56F}"/>
              </a:ext>
            </a:extLst>
          </p:cNvPr>
          <p:cNvSpPr>
            <a:spLocks noGrp="1"/>
          </p:cNvSpPr>
          <p:nvPr>
            <p:ph type="ftr" sz="quarter" idx="3"/>
          </p:nvPr>
        </p:nvSpPr>
        <p:spPr>
          <a:xfrm>
            <a:off x="8183105" y="4869657"/>
            <a:ext cx="960895" cy="273844"/>
          </a:xfrm>
          <a:prstGeom prst="rect">
            <a:avLst/>
          </a:prstGeom>
        </p:spPr>
        <p:txBody>
          <a:bodyPr vert="horz" lIns="91440" tIns="45720" rIns="91440" bIns="45720" rtlCol="0" anchor="ctr"/>
          <a:lstStyle>
            <a:lvl1pPr algn="ctr">
              <a:defRPr sz="600">
                <a:solidFill>
                  <a:schemeClr val="tx1">
                    <a:tint val="82000"/>
                  </a:schemeClr>
                </a:solidFill>
                <a:latin typeface="Arial" panose="020B0604020202020204" pitchFamily="34" charset="0"/>
                <a:cs typeface="Arial" panose="020B0604020202020204" pitchFamily="34" charset="0"/>
              </a:defRPr>
            </a:lvl1pPr>
          </a:lstStyle>
          <a:p>
            <a:r>
              <a:rPr lang="en-US" dirty="0"/>
              <a:t>Revised 01/12/2026</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292263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0367E6-A6C6-0913-2721-7C3F35DCDF51}"/>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8BCB8E-4BF9-9058-F0A0-7FEE86BB0D59}"/>
              </a:ext>
            </a:extLst>
          </p:cNvPr>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78CC2F-31DF-E13D-CF26-825DE07E3623}"/>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230C8B86-7594-BE41-AAF2-5B81FFE7C325}" type="datetime1">
              <a:rPr lang="en-US" smtClean="0"/>
              <a:t>1/14/26</a:t>
            </a:fld>
            <a:endParaRPr lang="en-US"/>
          </a:p>
        </p:txBody>
      </p:sp>
      <p:sp>
        <p:nvSpPr>
          <p:cNvPr id="5" name="Footer Placeholder 4">
            <a:extLst>
              <a:ext uri="{FF2B5EF4-FFF2-40B4-BE49-F238E27FC236}">
                <a16:creationId xmlns:a16="http://schemas.microsoft.com/office/drawing/2014/main" id="{42284613-9838-C24F-79DF-8CD89F75281A}"/>
              </a:ext>
            </a:extLst>
          </p:cNvPr>
          <p:cNvSpPr>
            <a:spLocks noGrp="1"/>
          </p:cNvSpPr>
          <p:nvPr>
            <p:ph type="ftr" sz="quarter" idx="3"/>
          </p:nvPr>
        </p:nvSpPr>
        <p:spPr>
          <a:xfrm>
            <a:off x="7849892" y="4869657"/>
            <a:ext cx="1294109" cy="273844"/>
          </a:xfrm>
          <a:prstGeom prst="rect">
            <a:avLst/>
          </a:prstGeom>
        </p:spPr>
        <p:txBody>
          <a:bodyPr vert="horz" lIns="91440" tIns="45720" rIns="91440" bIns="45720" rtlCol="0" anchor="ctr"/>
          <a:lstStyle>
            <a:lvl1pPr algn="ctr">
              <a:defRPr sz="800">
                <a:solidFill>
                  <a:schemeClr val="tx1">
                    <a:tint val="82000"/>
                  </a:schemeClr>
                </a:solidFill>
                <a:latin typeface="Arial" panose="020B0604020202020204" pitchFamily="34" charset="0"/>
                <a:cs typeface="Arial" panose="020B0604020202020204" pitchFamily="34" charset="0"/>
              </a:defRPr>
            </a:lvl1pPr>
          </a:lstStyle>
          <a:p>
            <a:r>
              <a:rPr lang="en-US" dirty="0"/>
              <a:t>Revised 01/12/2026</a:t>
            </a:r>
            <a:endParaRPr lang="en-US" sz="800" dirty="0"/>
          </a:p>
        </p:txBody>
      </p:sp>
    </p:spTree>
    <p:extLst>
      <p:ext uri="{BB962C8B-B14F-4D97-AF65-F5344CB8AC3E}">
        <p14:creationId xmlns:p14="http://schemas.microsoft.com/office/powerpoint/2010/main" val="2843391126"/>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image" Target="../media/image6.png"/><Relationship Id="rId7"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3.jpg"/><Relationship Id="rId10" Type="http://schemas.openxmlformats.org/officeDocument/2006/relationships/image" Target="../media/image10.jpg"/><Relationship Id="rId4" Type="http://schemas.openxmlformats.org/officeDocument/2006/relationships/image" Target="../media/image7.jpg"/><Relationship Id="rId9" Type="http://schemas.openxmlformats.org/officeDocument/2006/relationships/image" Target="../media/image9.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17.jpg"/><Relationship Id="rId13"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8.jpg"/><Relationship Id="rId12"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jpg"/><Relationship Id="rId11" Type="http://schemas.openxmlformats.org/officeDocument/2006/relationships/image" Target="../media/image18.png"/><Relationship Id="rId5" Type="http://schemas.openxmlformats.org/officeDocument/2006/relationships/image" Target="../media/image3.jpg"/><Relationship Id="rId10" Type="http://schemas.openxmlformats.org/officeDocument/2006/relationships/image" Target="../media/image13.png"/><Relationship Id="rId4" Type="http://schemas.openxmlformats.org/officeDocument/2006/relationships/image" Target="../media/image7.jpg"/><Relationship Id="rId9" Type="http://schemas.openxmlformats.org/officeDocument/2006/relationships/image" Target="../media/image10.jp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3.jpg"/><Relationship Id="rId7"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6.jpg"/><Relationship Id="rId5" Type="http://schemas.openxmlformats.org/officeDocument/2006/relationships/image" Target="../media/image25.jpg"/><Relationship Id="rId4" Type="http://schemas.openxmlformats.org/officeDocument/2006/relationships/image" Target="../media/image24.jpg"/><Relationship Id="rId9" Type="http://schemas.openxmlformats.org/officeDocument/2006/relationships/image" Target="../media/image2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76"/>
          <p:cNvSpPr txBox="1">
            <a:spLocks noGrp="1"/>
          </p:cNvSpPr>
          <p:nvPr>
            <p:ph type="ctrTitle"/>
          </p:nvPr>
        </p:nvSpPr>
        <p:spPr>
          <a:xfrm>
            <a:off x="311708" y="1201775"/>
            <a:ext cx="8520600" cy="2052600"/>
          </a:xfrm>
          <a:prstGeom prst="rect">
            <a:avLst/>
          </a:prstGeom>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br>
              <a:rPr lang="en" sz="4000" b="1" dirty="0">
                <a:solidFill>
                  <a:schemeClr val="tx1"/>
                </a:solidFill>
              </a:rPr>
            </a:br>
            <a:r>
              <a:rPr lang="en" sz="4000" b="1" dirty="0">
                <a:solidFill>
                  <a:schemeClr val="tx1"/>
                </a:solidFill>
              </a:rPr>
              <a:t>Introduction to </a:t>
            </a:r>
            <a:r>
              <a:rPr lang="en" sz="4000" b="1" dirty="0" err="1">
                <a:solidFill>
                  <a:schemeClr val="tx1"/>
                </a:solidFill>
              </a:rPr>
              <a:t>mNGS</a:t>
            </a:r>
            <a:r>
              <a:rPr lang="en" sz="4000" b="1" dirty="0">
                <a:solidFill>
                  <a:schemeClr val="tx1"/>
                </a:solidFill>
              </a:rPr>
              <a:t>*&amp; lab setup</a:t>
            </a:r>
            <a:br>
              <a:rPr lang="en" sz="4000" b="1" dirty="0">
                <a:solidFill>
                  <a:schemeClr val="tx1"/>
                </a:solidFill>
              </a:rPr>
            </a:br>
            <a:r>
              <a:rPr lang="en" sz="2400" b="1" dirty="0">
                <a:solidFill>
                  <a:schemeClr val="tx1"/>
                </a:solidFill>
              </a:rPr>
              <a:t>*metagenomic Next-Generation Sequencing </a:t>
            </a:r>
            <a:endParaRPr sz="2400" b="1" dirty="0">
              <a:solidFill>
                <a:schemeClr val="tx1"/>
              </a:solidFill>
            </a:endParaRPr>
          </a:p>
        </p:txBody>
      </p:sp>
      <p:sp>
        <p:nvSpPr>
          <p:cNvPr id="3" name="Slide Number Placeholder 2">
            <a:extLst>
              <a:ext uri="{FF2B5EF4-FFF2-40B4-BE49-F238E27FC236}">
                <a16:creationId xmlns:a16="http://schemas.microsoft.com/office/drawing/2014/main" id="{FB92A9F1-D30E-FDE9-6D2C-7C775A76BAC3}"/>
              </a:ext>
            </a:extLst>
          </p:cNvPr>
          <p:cNvSpPr>
            <a:spLocks noGrp="1"/>
          </p:cNvSpPr>
          <p:nvPr>
            <p:ph type="sldNum" sz="quarter" idx="4294967295"/>
          </p:nvPr>
        </p:nvSpPr>
        <p:spPr>
          <a:xfrm>
            <a:off x="7155340" y="4749900"/>
            <a:ext cx="1988660" cy="393600"/>
          </a:xfrm>
          <a:prstGeom prst="rect">
            <a:avLst/>
          </a:prstGeom>
        </p:spPr>
        <p:txBody>
          <a:bodyPr/>
          <a:lstStyle/>
          <a:p>
            <a:pPr lvl="0"/>
            <a:r>
              <a:rPr lang="en-US" sz="800" dirty="0">
                <a:solidFill>
                  <a:schemeClr val="tx1">
                    <a:lumMod val="50000"/>
                    <a:lumOff val="50000"/>
                  </a:schemeClr>
                </a:solidFill>
              </a:rPr>
              <a:t>Rapid Response – Revised 01/12/2026</a:t>
            </a:r>
            <a:endParaRPr lang="en" sz="800" dirty="0">
              <a:solidFill>
                <a:schemeClr val="tx1">
                  <a:lumMod val="50000"/>
                  <a:lumOff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77"/>
          <p:cNvSpPr txBox="1"/>
          <p:nvPr/>
        </p:nvSpPr>
        <p:spPr>
          <a:xfrm>
            <a:off x="252225" y="593000"/>
            <a:ext cx="8747700" cy="369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800" b="1" dirty="0">
                <a:solidFill>
                  <a:schemeClr val="tx1"/>
                </a:solidFill>
              </a:rPr>
              <a:t>Introduction</a:t>
            </a:r>
            <a:endParaRPr sz="4800" b="1" dirty="0">
              <a:solidFill>
                <a:schemeClr val="tx1"/>
              </a:solidFill>
            </a:endParaRPr>
          </a:p>
        </p:txBody>
      </p:sp>
      <p:sp>
        <p:nvSpPr>
          <p:cNvPr id="334" name="Google Shape;334;p77"/>
          <p:cNvSpPr txBox="1"/>
          <p:nvPr/>
        </p:nvSpPr>
        <p:spPr>
          <a:xfrm>
            <a:off x="949725" y="3466800"/>
            <a:ext cx="2323500" cy="59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Pathogen landscape</a:t>
            </a:r>
            <a:endParaRPr/>
          </a:p>
        </p:txBody>
      </p:sp>
      <p:sp>
        <p:nvSpPr>
          <p:cNvPr id="335" name="Google Shape;335;p77"/>
          <p:cNvSpPr txBox="1"/>
          <p:nvPr/>
        </p:nvSpPr>
        <p:spPr>
          <a:xfrm>
            <a:off x="6323550" y="3466800"/>
            <a:ext cx="1885200" cy="59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NGS toolbox for infectious diseases</a:t>
            </a:r>
            <a:endParaRPr/>
          </a:p>
        </p:txBody>
      </p:sp>
      <p:pic>
        <p:nvPicPr>
          <p:cNvPr id="336" name="Google Shape;336;p77"/>
          <p:cNvPicPr preferRelativeResize="0"/>
          <p:nvPr/>
        </p:nvPicPr>
        <p:blipFill>
          <a:blip r:embed="rId3">
            <a:alphaModFix/>
          </a:blip>
          <a:stretch>
            <a:fillRect/>
          </a:stretch>
        </p:blipFill>
        <p:spPr>
          <a:xfrm>
            <a:off x="6372600" y="2008689"/>
            <a:ext cx="1787100" cy="1237223"/>
          </a:xfrm>
          <a:prstGeom prst="rect">
            <a:avLst/>
          </a:prstGeom>
          <a:noFill/>
          <a:ln>
            <a:noFill/>
          </a:ln>
        </p:spPr>
      </p:pic>
      <p:sp>
        <p:nvSpPr>
          <p:cNvPr id="337" name="Google Shape;337;p77"/>
          <p:cNvSpPr txBox="1"/>
          <p:nvPr/>
        </p:nvSpPr>
        <p:spPr>
          <a:xfrm>
            <a:off x="3459675" y="3466800"/>
            <a:ext cx="2323500" cy="59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Sample landscape</a:t>
            </a:r>
            <a:endParaRPr/>
          </a:p>
        </p:txBody>
      </p:sp>
      <p:pic>
        <p:nvPicPr>
          <p:cNvPr id="338" name="Google Shape;338;p77"/>
          <p:cNvPicPr preferRelativeResize="0"/>
          <p:nvPr/>
        </p:nvPicPr>
        <p:blipFill>
          <a:blip r:embed="rId4">
            <a:alphaModFix/>
          </a:blip>
          <a:stretch>
            <a:fillRect/>
          </a:stretch>
        </p:blipFill>
        <p:spPr>
          <a:xfrm>
            <a:off x="3525913" y="2008700"/>
            <a:ext cx="2313613" cy="1237225"/>
          </a:xfrm>
          <a:prstGeom prst="rect">
            <a:avLst/>
          </a:prstGeom>
          <a:noFill/>
          <a:ln>
            <a:noFill/>
          </a:ln>
        </p:spPr>
      </p:pic>
      <p:pic>
        <p:nvPicPr>
          <p:cNvPr id="339" name="Google Shape;339;p77"/>
          <p:cNvPicPr preferRelativeResize="0"/>
          <p:nvPr/>
        </p:nvPicPr>
        <p:blipFill>
          <a:blip r:embed="rId5">
            <a:alphaModFix/>
          </a:blip>
          <a:stretch>
            <a:fillRect/>
          </a:stretch>
        </p:blipFill>
        <p:spPr>
          <a:xfrm>
            <a:off x="1225700" y="2327250"/>
            <a:ext cx="528666" cy="489011"/>
          </a:xfrm>
          <a:prstGeom prst="rect">
            <a:avLst/>
          </a:prstGeom>
          <a:noFill/>
          <a:ln>
            <a:noFill/>
          </a:ln>
        </p:spPr>
      </p:pic>
      <p:pic>
        <p:nvPicPr>
          <p:cNvPr id="340" name="Google Shape;340;p77"/>
          <p:cNvPicPr preferRelativeResize="0"/>
          <p:nvPr/>
        </p:nvPicPr>
        <p:blipFill>
          <a:blip r:embed="rId6">
            <a:alphaModFix/>
          </a:blip>
          <a:stretch>
            <a:fillRect/>
          </a:stretch>
        </p:blipFill>
        <p:spPr>
          <a:xfrm>
            <a:off x="1949236" y="2034313"/>
            <a:ext cx="324491" cy="360177"/>
          </a:xfrm>
          <a:prstGeom prst="rect">
            <a:avLst/>
          </a:prstGeom>
          <a:noFill/>
          <a:ln>
            <a:noFill/>
          </a:ln>
        </p:spPr>
      </p:pic>
      <p:grpSp>
        <p:nvGrpSpPr>
          <p:cNvPr id="341" name="Google Shape;341;p77"/>
          <p:cNvGrpSpPr/>
          <p:nvPr/>
        </p:nvGrpSpPr>
        <p:grpSpPr>
          <a:xfrm>
            <a:off x="2173015" y="2639797"/>
            <a:ext cx="330293" cy="531899"/>
            <a:chOff x="7196219" y="1660430"/>
            <a:chExt cx="456900" cy="735785"/>
          </a:xfrm>
        </p:grpSpPr>
        <p:sp>
          <p:nvSpPr>
            <p:cNvPr id="342" name="Google Shape;342;p77"/>
            <p:cNvSpPr/>
            <p:nvPr/>
          </p:nvSpPr>
          <p:spPr>
            <a:xfrm rot="455152">
              <a:off x="7230368" y="1827598"/>
              <a:ext cx="388601" cy="545334"/>
            </a:xfrm>
            <a:prstGeom prst="ellipse">
              <a:avLst/>
            </a:prstGeom>
            <a:solidFill>
              <a:srgbClr val="A4C2F4"/>
            </a:solidFill>
            <a:ln>
              <a:noFill/>
            </a:ln>
            <a:effectLst>
              <a:outerShdw blurRad="57150" dist="19050" dir="5400000" algn="bl" rotWithShape="0">
                <a:srgbClr val="0000FF">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7"/>
            <p:cNvSpPr/>
            <p:nvPr/>
          </p:nvSpPr>
          <p:spPr>
            <a:xfrm>
              <a:off x="7362902" y="1660430"/>
              <a:ext cx="241200" cy="274500"/>
            </a:xfrm>
            <a:prstGeom prst="ellipse">
              <a:avLst/>
            </a:prstGeom>
            <a:solidFill>
              <a:srgbClr val="A4C2F4"/>
            </a:solidFill>
            <a:ln>
              <a:noFill/>
            </a:ln>
            <a:effectLst>
              <a:outerShdw blurRad="57150" dist="19050" dir="117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44" name="Google Shape;344;p77"/>
          <p:cNvPicPr preferRelativeResize="0"/>
          <p:nvPr/>
        </p:nvPicPr>
        <p:blipFill>
          <a:blip r:embed="rId7">
            <a:alphaModFix/>
          </a:blip>
          <a:stretch>
            <a:fillRect/>
          </a:stretch>
        </p:blipFill>
        <p:spPr>
          <a:xfrm rot="7972497" flipH="1">
            <a:off x="1394523" y="2643773"/>
            <a:ext cx="997162" cy="281807"/>
          </a:xfrm>
          <a:prstGeom prst="rect">
            <a:avLst/>
          </a:prstGeom>
          <a:noFill/>
          <a:ln>
            <a:noFill/>
          </a:ln>
        </p:spPr>
      </p:pic>
      <p:sp>
        <p:nvSpPr>
          <p:cNvPr id="2" name="Slide Number Placeholder 1">
            <a:extLst>
              <a:ext uri="{FF2B5EF4-FFF2-40B4-BE49-F238E27FC236}">
                <a16:creationId xmlns:a16="http://schemas.microsoft.com/office/drawing/2014/main" id="{5A2B9F65-F48A-09C5-CBE7-B5CB84BF944F}"/>
              </a:ext>
            </a:extLst>
          </p:cNvPr>
          <p:cNvSpPr>
            <a:spLocks noGrp="1"/>
          </p:cNvSpPr>
          <p:nvPr>
            <p:ph type="sldNum" sz="quarter" idx="4294967295"/>
          </p:nvPr>
        </p:nvSpPr>
        <p:spPr>
          <a:xfrm>
            <a:off x="7807568" y="4663217"/>
            <a:ext cx="1213589" cy="393600"/>
          </a:xfrm>
          <a:prstGeom prst="rect">
            <a:avLst/>
          </a:prstGeom>
        </p:spPr>
        <p:txBody>
          <a:bodyPr/>
          <a:lstStyle/>
          <a:p>
            <a:pPr lvl="0"/>
            <a:r>
              <a:rPr lang="en-US" sz="800" dirty="0">
                <a:solidFill>
                  <a:schemeClr val="tx1">
                    <a:lumMod val="50000"/>
                    <a:lumOff val="50000"/>
                  </a:schemeClr>
                </a:solidFill>
              </a:rPr>
              <a:t>Revised 01/12/2026</a:t>
            </a:r>
            <a:endParaRPr lang="en" sz="800" dirty="0">
              <a:solidFill>
                <a:schemeClr val="tx1">
                  <a:lumMod val="50000"/>
                  <a:lumOff val="5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pic>
        <p:nvPicPr>
          <p:cNvPr id="349" name="Google Shape;349;p78"/>
          <p:cNvPicPr preferRelativeResize="0"/>
          <p:nvPr/>
        </p:nvPicPr>
        <p:blipFill rotWithShape="1">
          <a:blip r:embed="rId3">
            <a:alphaModFix/>
          </a:blip>
          <a:srcRect b="23809"/>
          <a:stretch/>
        </p:blipFill>
        <p:spPr>
          <a:xfrm>
            <a:off x="54075" y="1609764"/>
            <a:ext cx="2396024" cy="3108810"/>
          </a:xfrm>
          <a:prstGeom prst="rect">
            <a:avLst/>
          </a:prstGeom>
          <a:noFill/>
          <a:ln>
            <a:noFill/>
          </a:ln>
        </p:spPr>
      </p:pic>
      <p:pic>
        <p:nvPicPr>
          <p:cNvPr id="350" name="Google Shape;350;p78"/>
          <p:cNvPicPr preferRelativeResize="0"/>
          <p:nvPr/>
        </p:nvPicPr>
        <p:blipFill rotWithShape="1">
          <a:blip r:embed="rId3">
            <a:alphaModFix/>
          </a:blip>
          <a:srcRect l="66546" t="80248"/>
          <a:stretch/>
        </p:blipFill>
        <p:spPr>
          <a:xfrm>
            <a:off x="182031" y="1526725"/>
            <a:ext cx="461380" cy="463872"/>
          </a:xfrm>
          <a:prstGeom prst="rect">
            <a:avLst/>
          </a:prstGeom>
          <a:noFill/>
          <a:ln>
            <a:noFill/>
          </a:ln>
        </p:spPr>
      </p:pic>
      <p:sp>
        <p:nvSpPr>
          <p:cNvPr id="351" name="Google Shape;351;p78"/>
          <p:cNvSpPr txBox="1">
            <a:spLocks noGrp="1"/>
          </p:cNvSpPr>
          <p:nvPr>
            <p:ph type="title"/>
          </p:nvPr>
        </p:nvSpPr>
        <p:spPr>
          <a:xfrm>
            <a:off x="74125" y="182850"/>
            <a:ext cx="9010500" cy="572700"/>
          </a:xfrm>
          <a:prstGeom prst="rect">
            <a:avLst/>
          </a:prstGeom>
          <a:noFill/>
          <a:ln>
            <a:noFill/>
          </a:ln>
        </p:spPr>
        <p:txBody>
          <a:bodyPr spcFirstLastPara="1" wrap="square" lIns="91425" tIns="91425" rIns="91425" bIns="91425" anchor="t" anchorCtr="0">
            <a:noAutofit/>
          </a:bodyPr>
          <a:lstStyle/>
          <a:p>
            <a:pPr lvl="0" algn="ctr">
              <a:lnSpc>
                <a:spcPct val="115000"/>
              </a:lnSpc>
              <a:buSzPts val="1100"/>
            </a:pPr>
            <a:r>
              <a:rPr lang="en" sz="2400" b="1" dirty="0">
                <a:latin typeface="Helvetica Neue"/>
                <a:ea typeface="Helvetica Neue"/>
                <a:cs typeface="Helvetica Neue"/>
                <a:sym typeface="Helvetica Neue"/>
              </a:rPr>
              <a:t>Pathogen landscape</a:t>
            </a:r>
            <a:br>
              <a:rPr lang="en" sz="2400" b="1" dirty="0">
                <a:latin typeface="Helvetica Neue"/>
                <a:ea typeface="Helvetica Neue"/>
                <a:cs typeface="Helvetica Neue"/>
                <a:sym typeface="Helvetica Neue"/>
              </a:rPr>
            </a:br>
            <a:r>
              <a:rPr lang="en" sz="1600" b="1" dirty="0">
                <a:latin typeface="Helvetica Neue"/>
                <a:ea typeface="Helvetica Neue"/>
                <a:cs typeface="Helvetica Neue"/>
                <a:sym typeface="Helvetica Neue"/>
              </a:rPr>
              <a:t>Organisms vary widely in their genetic makeup</a:t>
            </a:r>
            <a:endParaRPr sz="1600" b="1" dirty="0">
              <a:latin typeface="Helvetica Neue"/>
              <a:ea typeface="Helvetica Neue"/>
              <a:cs typeface="Helvetica Neue"/>
              <a:sym typeface="Helvetica Neue"/>
            </a:endParaRPr>
          </a:p>
        </p:txBody>
      </p:sp>
      <p:sp>
        <p:nvSpPr>
          <p:cNvPr id="6" name="Slide Number Placeholder 1">
            <a:extLst>
              <a:ext uri="{FF2B5EF4-FFF2-40B4-BE49-F238E27FC236}">
                <a16:creationId xmlns:a16="http://schemas.microsoft.com/office/drawing/2014/main" id="{580FA22C-BB72-8D0A-18F4-94C5A024D644}"/>
              </a:ext>
            </a:extLst>
          </p:cNvPr>
          <p:cNvSpPr>
            <a:spLocks noGrp="1"/>
          </p:cNvSpPr>
          <p:nvPr>
            <p:ph type="sldNum" idx="4294967295"/>
          </p:nvPr>
        </p:nvSpPr>
        <p:spPr>
          <a:xfrm>
            <a:off x="7929563" y="4662488"/>
            <a:ext cx="1214437" cy="393700"/>
          </a:xfrm>
          <a:prstGeom prst="rect">
            <a:avLst/>
          </a:prstGeom>
        </p:spPr>
        <p:txBody>
          <a:bodyPr/>
          <a:lstStyle/>
          <a:p>
            <a:pPr lvl="0"/>
            <a:r>
              <a:rPr lang="en-US" sz="800" dirty="0">
                <a:solidFill>
                  <a:schemeClr val="tx1">
                    <a:lumMod val="50000"/>
                    <a:lumOff val="50000"/>
                  </a:schemeClr>
                </a:solidFill>
              </a:rPr>
              <a:t>Revised 01/12/2026</a:t>
            </a:r>
            <a:endParaRPr lang="en" sz="800" dirty="0">
              <a:solidFill>
                <a:schemeClr val="tx1">
                  <a:lumMod val="50000"/>
                  <a:lumOff val="50000"/>
                </a:schemeClr>
              </a:solidFill>
            </a:endParaRPr>
          </a:p>
        </p:txBody>
      </p:sp>
      <p:sp>
        <p:nvSpPr>
          <p:cNvPr id="352" name="Google Shape;352;p78"/>
          <p:cNvSpPr txBox="1"/>
          <p:nvPr/>
        </p:nvSpPr>
        <p:spPr>
          <a:xfrm>
            <a:off x="1464981" y="1699296"/>
            <a:ext cx="1724700" cy="641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900"/>
              <a:t>DNA replication by DNA polymerases</a:t>
            </a:r>
            <a:endParaRPr sz="900"/>
          </a:p>
          <a:p>
            <a:pPr marL="0" lvl="0" indent="0" algn="l" rtl="0">
              <a:lnSpc>
                <a:spcPct val="115000"/>
              </a:lnSpc>
              <a:spcBef>
                <a:spcPts val="0"/>
              </a:spcBef>
              <a:spcAft>
                <a:spcPts val="0"/>
              </a:spcAft>
              <a:buNone/>
            </a:pPr>
            <a:r>
              <a:rPr lang="en" sz="900">
                <a:solidFill>
                  <a:srgbClr val="999999"/>
                </a:solidFill>
              </a:rPr>
              <a:t>DNA → DNA</a:t>
            </a:r>
            <a:endParaRPr sz="900">
              <a:solidFill>
                <a:srgbClr val="999999"/>
              </a:solidFill>
            </a:endParaRPr>
          </a:p>
        </p:txBody>
      </p:sp>
      <p:sp>
        <p:nvSpPr>
          <p:cNvPr id="353" name="Google Shape;353;p78"/>
          <p:cNvSpPr txBox="1"/>
          <p:nvPr/>
        </p:nvSpPr>
        <p:spPr>
          <a:xfrm>
            <a:off x="1337051" y="2887879"/>
            <a:ext cx="1604100" cy="641700"/>
          </a:xfrm>
          <a:prstGeom prst="rect">
            <a:avLst/>
          </a:prstGeom>
          <a:solidFill>
            <a:schemeClr val="lt1"/>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900"/>
              <a:t>Transcription by RNA polymerases</a:t>
            </a:r>
            <a:endParaRPr sz="900"/>
          </a:p>
          <a:p>
            <a:pPr marL="0" lvl="0" indent="0" algn="l" rtl="0">
              <a:lnSpc>
                <a:spcPct val="115000"/>
              </a:lnSpc>
              <a:spcBef>
                <a:spcPts val="0"/>
              </a:spcBef>
              <a:spcAft>
                <a:spcPts val="0"/>
              </a:spcAft>
              <a:buNone/>
            </a:pPr>
            <a:r>
              <a:rPr lang="en" sz="900">
                <a:solidFill>
                  <a:srgbClr val="999999"/>
                </a:solidFill>
              </a:rPr>
              <a:t>DNA → RNA</a:t>
            </a:r>
            <a:endParaRPr sz="900">
              <a:solidFill>
                <a:srgbClr val="999999"/>
              </a:solidFill>
            </a:endParaRPr>
          </a:p>
        </p:txBody>
      </p:sp>
      <p:sp>
        <p:nvSpPr>
          <p:cNvPr id="354" name="Google Shape;354;p78"/>
          <p:cNvSpPr txBox="1"/>
          <p:nvPr/>
        </p:nvSpPr>
        <p:spPr>
          <a:xfrm>
            <a:off x="1337051" y="3867061"/>
            <a:ext cx="1166100" cy="641700"/>
          </a:xfrm>
          <a:prstGeom prst="rect">
            <a:avLst/>
          </a:prstGeom>
          <a:solidFill>
            <a:schemeClr val="lt1"/>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900"/>
              <a:t>Translation by ribosomes</a:t>
            </a:r>
            <a:endParaRPr sz="900"/>
          </a:p>
          <a:p>
            <a:pPr marL="0" lvl="0" indent="0" algn="l" rtl="0">
              <a:lnSpc>
                <a:spcPct val="115000"/>
              </a:lnSpc>
              <a:spcBef>
                <a:spcPts val="0"/>
              </a:spcBef>
              <a:spcAft>
                <a:spcPts val="0"/>
              </a:spcAft>
              <a:buNone/>
            </a:pPr>
            <a:r>
              <a:rPr lang="en" sz="900">
                <a:solidFill>
                  <a:srgbClr val="999999"/>
                </a:solidFill>
              </a:rPr>
              <a:t>RNA → Protein</a:t>
            </a:r>
            <a:endParaRPr sz="900">
              <a:solidFill>
                <a:srgbClr val="999999"/>
              </a:solidFill>
            </a:endParaRPr>
          </a:p>
        </p:txBody>
      </p:sp>
      <p:sp>
        <p:nvSpPr>
          <p:cNvPr id="355" name="Google Shape;355;p78"/>
          <p:cNvSpPr txBox="1"/>
          <p:nvPr/>
        </p:nvSpPr>
        <p:spPr>
          <a:xfrm>
            <a:off x="206475" y="4766300"/>
            <a:ext cx="32238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t>Adapted from yourgenome.org</a:t>
            </a:r>
            <a:endParaRPr sz="800"/>
          </a:p>
        </p:txBody>
      </p:sp>
      <p:graphicFrame>
        <p:nvGraphicFramePr>
          <p:cNvPr id="356" name="Google Shape;356;p78"/>
          <p:cNvGraphicFramePr/>
          <p:nvPr/>
        </p:nvGraphicFramePr>
        <p:xfrm>
          <a:off x="3242538" y="2279380"/>
          <a:ext cx="4969000" cy="2290725"/>
        </p:xfrm>
        <a:graphic>
          <a:graphicData uri="http://schemas.openxmlformats.org/drawingml/2006/table">
            <a:tbl>
              <a:tblPr>
                <a:noFill/>
                <a:tableStyleId>{DFBFFDB4-25C3-4913-B03E-B9CB2AB63F68}</a:tableStyleId>
              </a:tblPr>
              <a:tblGrid>
                <a:gridCol w="947800">
                  <a:extLst>
                    <a:ext uri="{9D8B030D-6E8A-4147-A177-3AD203B41FA5}">
                      <a16:colId xmlns:a16="http://schemas.microsoft.com/office/drawing/2014/main" val="20000"/>
                    </a:ext>
                  </a:extLst>
                </a:gridCol>
                <a:gridCol w="1273200">
                  <a:extLst>
                    <a:ext uri="{9D8B030D-6E8A-4147-A177-3AD203B41FA5}">
                      <a16:colId xmlns:a16="http://schemas.microsoft.com/office/drawing/2014/main" val="20001"/>
                    </a:ext>
                  </a:extLst>
                </a:gridCol>
                <a:gridCol w="1374000">
                  <a:extLst>
                    <a:ext uri="{9D8B030D-6E8A-4147-A177-3AD203B41FA5}">
                      <a16:colId xmlns:a16="http://schemas.microsoft.com/office/drawing/2014/main" val="20002"/>
                    </a:ext>
                  </a:extLst>
                </a:gridCol>
                <a:gridCol w="1374000">
                  <a:extLst>
                    <a:ext uri="{9D8B030D-6E8A-4147-A177-3AD203B41FA5}">
                      <a16:colId xmlns:a16="http://schemas.microsoft.com/office/drawing/2014/main" val="20003"/>
                    </a:ext>
                  </a:extLst>
                </a:gridCol>
              </a:tblGrid>
              <a:tr h="389125">
                <a:tc>
                  <a:txBody>
                    <a:bodyPr/>
                    <a:lstStyle/>
                    <a:p>
                      <a:pPr marL="0" lvl="0" indent="0" algn="ctr" rtl="0">
                        <a:spcBef>
                          <a:spcPts val="0"/>
                        </a:spcBef>
                        <a:spcAft>
                          <a:spcPts val="0"/>
                        </a:spcAft>
                        <a:buNone/>
                      </a:pPr>
                      <a:endParaRPr sz="1000" b="1"/>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000" b="1">
                          <a:solidFill>
                            <a:schemeClr val="lt1"/>
                          </a:solidFill>
                        </a:rPr>
                        <a:t>Viruses</a:t>
                      </a:r>
                      <a:endParaRPr sz="1000" b="1">
                        <a:solidFill>
                          <a:schemeClr val="lt1"/>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6D9EEB"/>
                    </a:solidFill>
                  </a:tcPr>
                </a:tc>
                <a:tc>
                  <a:txBody>
                    <a:bodyPr/>
                    <a:lstStyle/>
                    <a:p>
                      <a:pPr marL="0" lvl="0" indent="0" algn="ctr" rtl="0">
                        <a:spcBef>
                          <a:spcPts val="0"/>
                        </a:spcBef>
                        <a:spcAft>
                          <a:spcPts val="0"/>
                        </a:spcAft>
                        <a:buNone/>
                      </a:pPr>
                      <a:r>
                        <a:rPr lang="en" sz="1000" b="1">
                          <a:solidFill>
                            <a:schemeClr val="lt1"/>
                          </a:solidFill>
                        </a:rPr>
                        <a:t>Bacteria</a:t>
                      </a:r>
                      <a:endParaRPr sz="1000" b="1">
                        <a:solidFill>
                          <a:schemeClr val="lt1"/>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6D9EEB"/>
                    </a:solidFill>
                  </a:tcPr>
                </a:tc>
                <a:tc>
                  <a:txBody>
                    <a:bodyPr/>
                    <a:lstStyle/>
                    <a:p>
                      <a:pPr marL="0" lvl="0" indent="0" algn="ctr" rtl="0">
                        <a:spcBef>
                          <a:spcPts val="0"/>
                        </a:spcBef>
                        <a:spcAft>
                          <a:spcPts val="0"/>
                        </a:spcAft>
                        <a:buNone/>
                      </a:pPr>
                      <a:r>
                        <a:rPr lang="en" sz="1000" b="1">
                          <a:solidFill>
                            <a:schemeClr val="lt1"/>
                          </a:solidFill>
                        </a:rPr>
                        <a:t>Eukaryotic microbes </a:t>
                      </a:r>
                      <a:endParaRPr sz="1000" b="1">
                        <a:solidFill>
                          <a:schemeClr val="lt1"/>
                        </a:solidFill>
                      </a:endParaRPr>
                    </a:p>
                    <a:p>
                      <a:pPr marL="0" lvl="0" indent="0" algn="ctr" rtl="0">
                        <a:spcBef>
                          <a:spcPts val="0"/>
                        </a:spcBef>
                        <a:spcAft>
                          <a:spcPts val="0"/>
                        </a:spcAft>
                        <a:buNone/>
                      </a:pPr>
                      <a:r>
                        <a:rPr lang="en" sz="1000" b="1">
                          <a:solidFill>
                            <a:schemeClr val="lt1"/>
                          </a:solidFill>
                        </a:rPr>
                        <a:t>(yeast, amoebas, worms, etc)</a:t>
                      </a:r>
                      <a:endParaRPr sz="1000" b="1">
                        <a:solidFill>
                          <a:schemeClr val="lt1"/>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6D9EEB"/>
                    </a:solidFill>
                  </a:tcPr>
                </a:tc>
                <a:extLst>
                  <a:ext uri="{0D108BD9-81ED-4DB2-BD59-A6C34878D82A}">
                    <a16:rowId xmlns:a16="http://schemas.microsoft.com/office/drawing/2014/main" val="10000"/>
                  </a:ext>
                </a:extLst>
              </a:tr>
              <a:tr h="522975">
                <a:tc>
                  <a:txBody>
                    <a:bodyPr/>
                    <a:lstStyle/>
                    <a:p>
                      <a:pPr marL="0" lvl="0" indent="0" algn="ctr" rtl="0">
                        <a:spcBef>
                          <a:spcPts val="0"/>
                        </a:spcBef>
                        <a:spcAft>
                          <a:spcPts val="0"/>
                        </a:spcAft>
                        <a:buNone/>
                      </a:pPr>
                      <a:r>
                        <a:rPr lang="en" sz="1000" b="1">
                          <a:solidFill>
                            <a:schemeClr val="lt1"/>
                          </a:solidFill>
                        </a:rPr>
                        <a:t>Genome composition</a:t>
                      </a:r>
                      <a:endParaRPr sz="1000" b="1">
                        <a:solidFill>
                          <a:schemeClr val="lt1"/>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6D9EEB"/>
                    </a:solidFill>
                  </a:tcPr>
                </a:tc>
                <a:tc>
                  <a:txBody>
                    <a:bodyPr/>
                    <a:lstStyle/>
                    <a:p>
                      <a:pPr marL="0" lvl="0" indent="0" algn="ctr" rtl="0">
                        <a:spcBef>
                          <a:spcPts val="0"/>
                        </a:spcBef>
                        <a:spcAft>
                          <a:spcPts val="0"/>
                        </a:spcAft>
                        <a:buNone/>
                      </a:pPr>
                      <a:r>
                        <a:rPr lang="en" sz="1000"/>
                        <a:t>ssRNA, ssDNA, dsDNA, or dsRNA</a:t>
                      </a:r>
                      <a:endParaRPr sz="1000"/>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000"/>
                        <a:t>dsDNA</a:t>
                      </a:r>
                      <a:endParaRPr sz="1000"/>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000"/>
                        <a:t>dsDNA</a:t>
                      </a:r>
                      <a:endParaRPr sz="1000"/>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255825">
                <a:tc>
                  <a:txBody>
                    <a:bodyPr/>
                    <a:lstStyle/>
                    <a:p>
                      <a:pPr marL="0" lvl="0" indent="0" algn="ctr" rtl="0">
                        <a:spcBef>
                          <a:spcPts val="0"/>
                        </a:spcBef>
                        <a:spcAft>
                          <a:spcPts val="0"/>
                        </a:spcAft>
                        <a:buNone/>
                      </a:pPr>
                      <a:r>
                        <a:rPr lang="en" sz="1000" b="1">
                          <a:solidFill>
                            <a:schemeClr val="lt1"/>
                          </a:solidFill>
                        </a:rPr>
                        <a:t>Ribosomal RNA</a:t>
                      </a:r>
                      <a:endParaRPr sz="1000" b="1">
                        <a:solidFill>
                          <a:schemeClr val="lt1"/>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6D9EEB"/>
                    </a:solidFill>
                  </a:tcPr>
                </a:tc>
                <a:tc>
                  <a:txBody>
                    <a:bodyPr/>
                    <a:lstStyle/>
                    <a:p>
                      <a:pPr marL="0" lvl="0" indent="0" algn="ctr" rtl="0">
                        <a:spcBef>
                          <a:spcPts val="0"/>
                        </a:spcBef>
                        <a:spcAft>
                          <a:spcPts val="0"/>
                        </a:spcAft>
                        <a:buNone/>
                      </a:pPr>
                      <a:r>
                        <a:rPr lang="en" sz="1000"/>
                        <a:t>None, uses host ribosomes</a:t>
                      </a:r>
                      <a:endParaRPr sz="1000"/>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000"/>
                        <a:t>16S rRNA</a:t>
                      </a:r>
                      <a:endParaRPr sz="1000"/>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000"/>
                        <a:t>18S rRNA</a:t>
                      </a:r>
                      <a:endParaRPr sz="1000"/>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extLst>
                  <a:ext uri="{0D108BD9-81ED-4DB2-BD59-A6C34878D82A}">
                    <a16:rowId xmlns:a16="http://schemas.microsoft.com/office/drawing/2014/main" val="10002"/>
                  </a:ext>
                </a:extLst>
              </a:tr>
              <a:tr h="255825">
                <a:tc>
                  <a:txBody>
                    <a:bodyPr/>
                    <a:lstStyle/>
                    <a:p>
                      <a:pPr marL="0" lvl="0" indent="0" algn="ctr" rtl="0">
                        <a:spcBef>
                          <a:spcPts val="0"/>
                        </a:spcBef>
                        <a:spcAft>
                          <a:spcPts val="0"/>
                        </a:spcAft>
                        <a:buNone/>
                      </a:pPr>
                      <a:r>
                        <a:rPr lang="en" sz="1000" b="1">
                          <a:solidFill>
                            <a:schemeClr val="lt1"/>
                          </a:solidFill>
                        </a:rPr>
                        <a:t>Genome size</a:t>
                      </a:r>
                      <a:endParaRPr sz="1000" b="1">
                        <a:solidFill>
                          <a:schemeClr val="lt1"/>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6D9EEB"/>
                    </a:solidFill>
                  </a:tcPr>
                </a:tc>
                <a:tc>
                  <a:txBody>
                    <a:bodyPr/>
                    <a:lstStyle/>
                    <a:p>
                      <a:pPr marL="0" lvl="0" indent="0" algn="ctr" rtl="0">
                        <a:spcBef>
                          <a:spcPts val="0"/>
                        </a:spcBef>
                        <a:spcAft>
                          <a:spcPts val="0"/>
                        </a:spcAft>
                        <a:buNone/>
                      </a:pPr>
                      <a:r>
                        <a:rPr lang="en" sz="1000"/>
                        <a:t>2 Kb - 1 Mb</a:t>
                      </a:r>
                      <a:endParaRPr sz="1000"/>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000"/>
                        <a:t>2 Mb - 8 Mb</a:t>
                      </a:r>
                      <a:endParaRPr sz="1000"/>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000"/>
                        <a:t>200 Kb - 100,000 Mb</a:t>
                      </a:r>
                      <a:endParaRPr sz="1000"/>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3"/>
                  </a:ext>
                </a:extLst>
              </a:tr>
            </a:tbl>
          </a:graphicData>
        </a:graphic>
      </p:graphicFrame>
      <p:pic>
        <p:nvPicPr>
          <p:cNvPr id="357" name="Google Shape;357;p78"/>
          <p:cNvPicPr preferRelativeResize="0"/>
          <p:nvPr/>
        </p:nvPicPr>
        <p:blipFill rotWithShape="1">
          <a:blip r:embed="rId4">
            <a:alphaModFix/>
          </a:blip>
          <a:srcRect l="3809" t="5168"/>
          <a:stretch/>
        </p:blipFill>
        <p:spPr>
          <a:xfrm>
            <a:off x="4734977" y="1577910"/>
            <a:ext cx="555923" cy="558440"/>
          </a:xfrm>
          <a:prstGeom prst="rect">
            <a:avLst/>
          </a:prstGeom>
          <a:noFill/>
          <a:ln>
            <a:noFill/>
          </a:ln>
        </p:spPr>
      </p:pic>
      <p:pic>
        <p:nvPicPr>
          <p:cNvPr id="358" name="Google Shape;358;p78"/>
          <p:cNvPicPr preferRelativeResize="0"/>
          <p:nvPr/>
        </p:nvPicPr>
        <p:blipFill>
          <a:blip r:embed="rId5">
            <a:alphaModFix/>
          </a:blip>
          <a:stretch>
            <a:fillRect/>
          </a:stretch>
        </p:blipFill>
        <p:spPr>
          <a:xfrm>
            <a:off x="4392700" y="1166550"/>
            <a:ext cx="528666" cy="489011"/>
          </a:xfrm>
          <a:prstGeom prst="rect">
            <a:avLst/>
          </a:prstGeom>
          <a:noFill/>
          <a:ln>
            <a:noFill/>
          </a:ln>
        </p:spPr>
      </p:pic>
      <p:pic>
        <p:nvPicPr>
          <p:cNvPr id="359" name="Google Shape;359;p78"/>
          <p:cNvPicPr preferRelativeResize="0"/>
          <p:nvPr/>
        </p:nvPicPr>
        <p:blipFill>
          <a:blip r:embed="rId6">
            <a:alphaModFix/>
          </a:blip>
          <a:stretch>
            <a:fillRect/>
          </a:stretch>
        </p:blipFill>
        <p:spPr>
          <a:xfrm rot="7972497" flipH="1">
            <a:off x="5820273" y="1677398"/>
            <a:ext cx="997162" cy="281807"/>
          </a:xfrm>
          <a:prstGeom prst="rect">
            <a:avLst/>
          </a:prstGeom>
          <a:noFill/>
          <a:ln>
            <a:noFill/>
          </a:ln>
        </p:spPr>
      </p:pic>
      <p:pic>
        <p:nvPicPr>
          <p:cNvPr id="360" name="Google Shape;360;p78"/>
          <p:cNvPicPr preferRelativeResize="0"/>
          <p:nvPr/>
        </p:nvPicPr>
        <p:blipFill>
          <a:blip r:embed="rId7">
            <a:alphaModFix/>
          </a:blip>
          <a:stretch>
            <a:fillRect/>
          </a:stretch>
        </p:blipFill>
        <p:spPr>
          <a:xfrm rot="-3687185">
            <a:off x="5576923" y="1582440"/>
            <a:ext cx="644677" cy="135112"/>
          </a:xfrm>
          <a:prstGeom prst="rect">
            <a:avLst/>
          </a:prstGeom>
          <a:noFill/>
          <a:ln>
            <a:noFill/>
          </a:ln>
        </p:spPr>
      </p:pic>
      <p:pic>
        <p:nvPicPr>
          <p:cNvPr id="361" name="Google Shape;361;p78"/>
          <p:cNvPicPr preferRelativeResize="0"/>
          <p:nvPr/>
        </p:nvPicPr>
        <p:blipFill>
          <a:blip r:embed="rId8">
            <a:alphaModFix/>
          </a:blip>
          <a:stretch>
            <a:fillRect/>
          </a:stretch>
        </p:blipFill>
        <p:spPr>
          <a:xfrm>
            <a:off x="6232811" y="1166550"/>
            <a:ext cx="324491" cy="360177"/>
          </a:xfrm>
          <a:prstGeom prst="rect">
            <a:avLst/>
          </a:prstGeom>
          <a:noFill/>
          <a:ln>
            <a:noFill/>
          </a:ln>
        </p:spPr>
      </p:pic>
      <p:grpSp>
        <p:nvGrpSpPr>
          <p:cNvPr id="362" name="Google Shape;362;p78"/>
          <p:cNvGrpSpPr/>
          <p:nvPr/>
        </p:nvGrpSpPr>
        <p:grpSpPr>
          <a:xfrm>
            <a:off x="7184715" y="1489572"/>
            <a:ext cx="330293" cy="531899"/>
            <a:chOff x="7196219" y="1660430"/>
            <a:chExt cx="456900" cy="735785"/>
          </a:xfrm>
        </p:grpSpPr>
        <p:sp>
          <p:nvSpPr>
            <p:cNvPr id="363" name="Google Shape;363;p78"/>
            <p:cNvSpPr/>
            <p:nvPr/>
          </p:nvSpPr>
          <p:spPr>
            <a:xfrm rot="455152">
              <a:off x="7230368" y="1827598"/>
              <a:ext cx="388601" cy="545334"/>
            </a:xfrm>
            <a:prstGeom prst="ellipse">
              <a:avLst/>
            </a:prstGeom>
            <a:solidFill>
              <a:srgbClr val="A4C2F4"/>
            </a:solidFill>
            <a:ln>
              <a:noFill/>
            </a:ln>
            <a:effectLst>
              <a:outerShdw blurRad="57150" dist="19050" dir="5400000" algn="bl" rotWithShape="0">
                <a:srgbClr val="0000FF">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8"/>
            <p:cNvSpPr/>
            <p:nvPr/>
          </p:nvSpPr>
          <p:spPr>
            <a:xfrm>
              <a:off x="7362902" y="1660430"/>
              <a:ext cx="241200" cy="274500"/>
            </a:xfrm>
            <a:prstGeom prst="ellipse">
              <a:avLst/>
            </a:prstGeom>
            <a:solidFill>
              <a:srgbClr val="A4C2F4"/>
            </a:solidFill>
            <a:ln>
              <a:noFill/>
            </a:ln>
            <a:effectLst>
              <a:outerShdw blurRad="57150" dist="19050" dir="117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65" name="Google Shape;365;p78"/>
          <p:cNvPicPr preferRelativeResize="0"/>
          <p:nvPr/>
        </p:nvPicPr>
        <p:blipFill>
          <a:blip r:embed="rId9">
            <a:alphaModFix/>
          </a:blip>
          <a:stretch>
            <a:fillRect/>
          </a:stretch>
        </p:blipFill>
        <p:spPr>
          <a:xfrm rot="8422322">
            <a:off x="7665006" y="1434475"/>
            <a:ext cx="285399" cy="525734"/>
          </a:xfrm>
          <a:prstGeom prst="rect">
            <a:avLst/>
          </a:prstGeom>
          <a:noFill/>
          <a:ln>
            <a:noFill/>
          </a:ln>
        </p:spPr>
      </p:pic>
      <p:pic>
        <p:nvPicPr>
          <p:cNvPr id="366" name="Google Shape;366;p78"/>
          <p:cNvPicPr preferRelativeResize="0"/>
          <p:nvPr/>
        </p:nvPicPr>
        <p:blipFill>
          <a:blip r:embed="rId10">
            <a:alphaModFix/>
          </a:blip>
          <a:stretch>
            <a:fillRect/>
          </a:stretch>
        </p:blipFill>
        <p:spPr>
          <a:xfrm>
            <a:off x="7173906" y="1211572"/>
            <a:ext cx="787434" cy="19838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6"/>
                                        </p:tgtEl>
                                        <p:attrNameLst>
                                          <p:attrName>style.visibility</p:attrName>
                                        </p:attrNameLst>
                                      </p:cBhvr>
                                      <p:to>
                                        <p:strVal val="visible"/>
                                      </p:to>
                                    </p:set>
                                    <p:animEffect transition="in" filter="fade">
                                      <p:cBhvr>
                                        <p:cTn id="7" dur="1000"/>
                                        <p:tgtEl>
                                          <p:spTgt spid="356"/>
                                        </p:tgtEl>
                                      </p:cBhvr>
                                    </p:animEffect>
                                  </p:childTnLst>
                                </p:cTn>
                              </p:par>
                              <p:par>
                                <p:cTn id="8" presetID="10" presetClass="entr" presetSubtype="0" fill="hold" nodeType="withEffect">
                                  <p:stCondLst>
                                    <p:cond delay="0"/>
                                  </p:stCondLst>
                                  <p:childTnLst>
                                    <p:set>
                                      <p:cBhvr>
                                        <p:cTn id="9" dur="1" fill="hold">
                                          <p:stCondLst>
                                            <p:cond delay="0"/>
                                          </p:stCondLst>
                                        </p:cTn>
                                        <p:tgtEl>
                                          <p:spTgt spid="357"/>
                                        </p:tgtEl>
                                        <p:attrNameLst>
                                          <p:attrName>style.visibility</p:attrName>
                                        </p:attrNameLst>
                                      </p:cBhvr>
                                      <p:to>
                                        <p:strVal val="visible"/>
                                      </p:to>
                                    </p:set>
                                    <p:animEffect transition="in" filter="fade">
                                      <p:cBhvr>
                                        <p:cTn id="10" dur="1000"/>
                                        <p:tgtEl>
                                          <p:spTgt spid="357"/>
                                        </p:tgtEl>
                                      </p:cBhvr>
                                    </p:animEffect>
                                  </p:childTnLst>
                                </p:cTn>
                              </p:par>
                              <p:par>
                                <p:cTn id="11" presetID="10" presetClass="entr" presetSubtype="0" fill="hold" nodeType="withEffect">
                                  <p:stCondLst>
                                    <p:cond delay="0"/>
                                  </p:stCondLst>
                                  <p:childTnLst>
                                    <p:set>
                                      <p:cBhvr>
                                        <p:cTn id="12" dur="1" fill="hold">
                                          <p:stCondLst>
                                            <p:cond delay="0"/>
                                          </p:stCondLst>
                                        </p:cTn>
                                        <p:tgtEl>
                                          <p:spTgt spid="358"/>
                                        </p:tgtEl>
                                        <p:attrNameLst>
                                          <p:attrName>style.visibility</p:attrName>
                                        </p:attrNameLst>
                                      </p:cBhvr>
                                      <p:to>
                                        <p:strVal val="visible"/>
                                      </p:to>
                                    </p:set>
                                    <p:animEffect transition="in" filter="fade">
                                      <p:cBhvr>
                                        <p:cTn id="13" dur="1000"/>
                                        <p:tgtEl>
                                          <p:spTgt spid="358"/>
                                        </p:tgtEl>
                                      </p:cBhvr>
                                    </p:animEffect>
                                  </p:childTnLst>
                                </p:cTn>
                              </p:par>
                              <p:par>
                                <p:cTn id="14" presetID="10" presetClass="entr" presetSubtype="0" fill="hold" nodeType="withEffect">
                                  <p:stCondLst>
                                    <p:cond delay="0"/>
                                  </p:stCondLst>
                                  <p:childTnLst>
                                    <p:set>
                                      <p:cBhvr>
                                        <p:cTn id="15" dur="1" fill="hold">
                                          <p:stCondLst>
                                            <p:cond delay="0"/>
                                          </p:stCondLst>
                                        </p:cTn>
                                        <p:tgtEl>
                                          <p:spTgt spid="359"/>
                                        </p:tgtEl>
                                        <p:attrNameLst>
                                          <p:attrName>style.visibility</p:attrName>
                                        </p:attrNameLst>
                                      </p:cBhvr>
                                      <p:to>
                                        <p:strVal val="visible"/>
                                      </p:to>
                                    </p:set>
                                    <p:animEffect transition="in" filter="fade">
                                      <p:cBhvr>
                                        <p:cTn id="16" dur="1000"/>
                                        <p:tgtEl>
                                          <p:spTgt spid="359"/>
                                        </p:tgtEl>
                                      </p:cBhvr>
                                    </p:animEffect>
                                  </p:childTnLst>
                                </p:cTn>
                              </p:par>
                              <p:par>
                                <p:cTn id="17" presetID="10" presetClass="entr" presetSubtype="0" fill="hold" nodeType="withEffect">
                                  <p:stCondLst>
                                    <p:cond delay="0"/>
                                  </p:stCondLst>
                                  <p:childTnLst>
                                    <p:set>
                                      <p:cBhvr>
                                        <p:cTn id="18" dur="1" fill="hold">
                                          <p:stCondLst>
                                            <p:cond delay="0"/>
                                          </p:stCondLst>
                                        </p:cTn>
                                        <p:tgtEl>
                                          <p:spTgt spid="360"/>
                                        </p:tgtEl>
                                        <p:attrNameLst>
                                          <p:attrName>style.visibility</p:attrName>
                                        </p:attrNameLst>
                                      </p:cBhvr>
                                      <p:to>
                                        <p:strVal val="visible"/>
                                      </p:to>
                                    </p:set>
                                    <p:animEffect transition="in" filter="fade">
                                      <p:cBhvr>
                                        <p:cTn id="19" dur="1000"/>
                                        <p:tgtEl>
                                          <p:spTgt spid="360"/>
                                        </p:tgtEl>
                                      </p:cBhvr>
                                    </p:animEffect>
                                  </p:childTnLst>
                                </p:cTn>
                              </p:par>
                              <p:par>
                                <p:cTn id="20" presetID="10" presetClass="entr" presetSubtype="0" fill="hold" nodeType="withEffect">
                                  <p:stCondLst>
                                    <p:cond delay="0"/>
                                  </p:stCondLst>
                                  <p:childTnLst>
                                    <p:set>
                                      <p:cBhvr>
                                        <p:cTn id="21" dur="1" fill="hold">
                                          <p:stCondLst>
                                            <p:cond delay="0"/>
                                          </p:stCondLst>
                                        </p:cTn>
                                        <p:tgtEl>
                                          <p:spTgt spid="361"/>
                                        </p:tgtEl>
                                        <p:attrNameLst>
                                          <p:attrName>style.visibility</p:attrName>
                                        </p:attrNameLst>
                                      </p:cBhvr>
                                      <p:to>
                                        <p:strVal val="visible"/>
                                      </p:to>
                                    </p:set>
                                    <p:animEffect transition="in" filter="fade">
                                      <p:cBhvr>
                                        <p:cTn id="22" dur="1000"/>
                                        <p:tgtEl>
                                          <p:spTgt spid="361"/>
                                        </p:tgtEl>
                                      </p:cBhvr>
                                    </p:animEffect>
                                  </p:childTnLst>
                                </p:cTn>
                              </p:par>
                              <p:par>
                                <p:cTn id="23" presetID="10" presetClass="entr" presetSubtype="0" fill="hold" nodeType="withEffect">
                                  <p:stCondLst>
                                    <p:cond delay="0"/>
                                  </p:stCondLst>
                                  <p:childTnLst>
                                    <p:set>
                                      <p:cBhvr>
                                        <p:cTn id="24" dur="1" fill="hold">
                                          <p:stCondLst>
                                            <p:cond delay="0"/>
                                          </p:stCondLst>
                                        </p:cTn>
                                        <p:tgtEl>
                                          <p:spTgt spid="362"/>
                                        </p:tgtEl>
                                        <p:attrNameLst>
                                          <p:attrName>style.visibility</p:attrName>
                                        </p:attrNameLst>
                                      </p:cBhvr>
                                      <p:to>
                                        <p:strVal val="visible"/>
                                      </p:to>
                                    </p:set>
                                    <p:animEffect transition="in" filter="fade">
                                      <p:cBhvr>
                                        <p:cTn id="25" dur="1000"/>
                                        <p:tgtEl>
                                          <p:spTgt spid="362"/>
                                        </p:tgtEl>
                                      </p:cBhvr>
                                    </p:animEffect>
                                  </p:childTnLst>
                                </p:cTn>
                              </p:par>
                              <p:par>
                                <p:cTn id="26" presetID="10" presetClass="entr" presetSubtype="0" fill="hold" nodeType="withEffect">
                                  <p:stCondLst>
                                    <p:cond delay="0"/>
                                  </p:stCondLst>
                                  <p:childTnLst>
                                    <p:set>
                                      <p:cBhvr>
                                        <p:cTn id="27" dur="1" fill="hold">
                                          <p:stCondLst>
                                            <p:cond delay="0"/>
                                          </p:stCondLst>
                                        </p:cTn>
                                        <p:tgtEl>
                                          <p:spTgt spid="365"/>
                                        </p:tgtEl>
                                        <p:attrNameLst>
                                          <p:attrName>style.visibility</p:attrName>
                                        </p:attrNameLst>
                                      </p:cBhvr>
                                      <p:to>
                                        <p:strVal val="visible"/>
                                      </p:to>
                                    </p:set>
                                    <p:animEffect transition="in" filter="fade">
                                      <p:cBhvr>
                                        <p:cTn id="28" dur="1000"/>
                                        <p:tgtEl>
                                          <p:spTgt spid="365"/>
                                        </p:tgtEl>
                                      </p:cBhvr>
                                    </p:animEffect>
                                  </p:childTnLst>
                                </p:cTn>
                              </p:par>
                              <p:par>
                                <p:cTn id="29" presetID="10" presetClass="entr" presetSubtype="0" fill="hold" nodeType="withEffect">
                                  <p:stCondLst>
                                    <p:cond delay="0"/>
                                  </p:stCondLst>
                                  <p:childTnLst>
                                    <p:set>
                                      <p:cBhvr>
                                        <p:cTn id="30" dur="1" fill="hold">
                                          <p:stCondLst>
                                            <p:cond delay="0"/>
                                          </p:stCondLst>
                                        </p:cTn>
                                        <p:tgtEl>
                                          <p:spTgt spid="366"/>
                                        </p:tgtEl>
                                        <p:attrNameLst>
                                          <p:attrName>style.visibility</p:attrName>
                                        </p:attrNameLst>
                                      </p:cBhvr>
                                      <p:to>
                                        <p:strVal val="visible"/>
                                      </p:to>
                                    </p:set>
                                    <p:animEffect transition="in" filter="fade">
                                      <p:cBhvr>
                                        <p:cTn id="31" dur="1000"/>
                                        <p:tgtEl>
                                          <p:spTgt spid="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pic>
        <p:nvPicPr>
          <p:cNvPr id="371" name="Google Shape;371;p79"/>
          <p:cNvPicPr preferRelativeResize="0"/>
          <p:nvPr/>
        </p:nvPicPr>
        <p:blipFill>
          <a:blip r:embed="rId3">
            <a:alphaModFix/>
          </a:blip>
          <a:stretch>
            <a:fillRect/>
          </a:stretch>
        </p:blipFill>
        <p:spPr>
          <a:xfrm>
            <a:off x="3009900" y="1147725"/>
            <a:ext cx="2671698" cy="3820975"/>
          </a:xfrm>
          <a:prstGeom prst="rect">
            <a:avLst/>
          </a:prstGeom>
          <a:noFill/>
          <a:ln>
            <a:noFill/>
          </a:ln>
        </p:spPr>
      </p:pic>
      <p:sp>
        <p:nvSpPr>
          <p:cNvPr id="372" name="Google Shape;372;p79"/>
          <p:cNvSpPr/>
          <p:nvPr/>
        </p:nvSpPr>
        <p:spPr>
          <a:xfrm rot="-7571297">
            <a:off x="5464019" y="2091986"/>
            <a:ext cx="549759" cy="1128677"/>
          </a:xfrm>
          <a:prstGeom prst="triangle">
            <a:avLst>
              <a:gd name="adj" fmla="val 5119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79"/>
          <p:cNvSpPr/>
          <p:nvPr/>
        </p:nvSpPr>
        <p:spPr>
          <a:xfrm>
            <a:off x="5995150" y="1580025"/>
            <a:ext cx="1098300" cy="1098300"/>
          </a:xfrm>
          <a:prstGeom prst="ellipse">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79"/>
          <p:cNvSpPr/>
          <p:nvPr/>
        </p:nvSpPr>
        <p:spPr>
          <a:xfrm rot="-3832108">
            <a:off x="7131669" y="1871534"/>
            <a:ext cx="549686" cy="1128755"/>
          </a:xfrm>
          <a:prstGeom prst="triangle">
            <a:avLst>
              <a:gd name="adj" fmla="val 5119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79"/>
          <p:cNvSpPr/>
          <p:nvPr/>
        </p:nvSpPr>
        <p:spPr>
          <a:xfrm rot="6212151">
            <a:off x="3274597" y="1641565"/>
            <a:ext cx="549873" cy="1128638"/>
          </a:xfrm>
          <a:prstGeom prst="triangle">
            <a:avLst>
              <a:gd name="adj" fmla="val 5119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79"/>
          <p:cNvSpPr/>
          <p:nvPr/>
        </p:nvSpPr>
        <p:spPr>
          <a:xfrm rot="-7816828">
            <a:off x="2077640" y="1383121"/>
            <a:ext cx="1098325" cy="1098325"/>
          </a:xfrm>
          <a:prstGeom prst="ellipse">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79"/>
          <p:cNvSpPr txBox="1"/>
          <p:nvPr/>
        </p:nvSpPr>
        <p:spPr>
          <a:xfrm>
            <a:off x="0" y="1107975"/>
            <a:ext cx="2460900" cy="75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Cerebral Spinal Fluid </a:t>
            </a:r>
            <a:endParaRPr sz="1300"/>
          </a:p>
          <a:p>
            <a:pPr marL="0" lvl="0" indent="0" algn="l" rtl="0">
              <a:spcBef>
                <a:spcPts val="0"/>
              </a:spcBef>
              <a:spcAft>
                <a:spcPts val="0"/>
              </a:spcAft>
              <a:buNone/>
            </a:pPr>
            <a:r>
              <a:rPr lang="en" sz="1300"/>
              <a:t>No infection: 0% microbial</a:t>
            </a:r>
            <a:endParaRPr sz="1300"/>
          </a:p>
          <a:p>
            <a:pPr marL="0" lvl="0" indent="0" algn="l" rtl="0">
              <a:spcBef>
                <a:spcPts val="0"/>
              </a:spcBef>
              <a:spcAft>
                <a:spcPts val="0"/>
              </a:spcAft>
              <a:buNone/>
            </a:pPr>
            <a:r>
              <a:rPr lang="en" sz="1300"/>
              <a:t>With infection: &lt;1% - 5%</a:t>
            </a:r>
            <a:endParaRPr sz="1300"/>
          </a:p>
        </p:txBody>
      </p:sp>
      <p:sp>
        <p:nvSpPr>
          <p:cNvPr id="378" name="Google Shape;378;p79"/>
          <p:cNvSpPr/>
          <p:nvPr/>
        </p:nvSpPr>
        <p:spPr>
          <a:xfrm rot="-4720300">
            <a:off x="4924134" y="3189805"/>
            <a:ext cx="549812" cy="1128688"/>
          </a:xfrm>
          <a:prstGeom prst="triangle">
            <a:avLst>
              <a:gd name="adj" fmla="val 5119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79"/>
          <p:cNvSpPr/>
          <p:nvPr/>
        </p:nvSpPr>
        <p:spPr>
          <a:xfrm rot="2851450">
            <a:off x="5582555" y="3442972"/>
            <a:ext cx="1098212" cy="1098212"/>
          </a:xfrm>
          <a:prstGeom prst="ellipse">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79"/>
          <p:cNvSpPr txBox="1"/>
          <p:nvPr/>
        </p:nvSpPr>
        <p:spPr>
          <a:xfrm>
            <a:off x="6448775" y="4134400"/>
            <a:ext cx="1692000" cy="75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Rectal or Vaginal swabs or stool</a:t>
            </a:r>
            <a:endParaRPr sz="1300"/>
          </a:p>
          <a:p>
            <a:pPr marL="0" lvl="0" indent="0" algn="ctr" rtl="0">
              <a:spcBef>
                <a:spcPts val="0"/>
              </a:spcBef>
              <a:spcAft>
                <a:spcPts val="0"/>
              </a:spcAft>
              <a:buNone/>
            </a:pPr>
            <a:r>
              <a:rPr lang="en" sz="1300"/>
              <a:t>50% microbial (mostly bacteria)</a:t>
            </a:r>
            <a:endParaRPr sz="1300"/>
          </a:p>
        </p:txBody>
      </p:sp>
      <p:sp>
        <p:nvSpPr>
          <p:cNvPr id="381" name="Google Shape;381;p79"/>
          <p:cNvSpPr/>
          <p:nvPr/>
        </p:nvSpPr>
        <p:spPr>
          <a:xfrm rot="-7571297">
            <a:off x="4640319" y="741486"/>
            <a:ext cx="549759" cy="1128677"/>
          </a:xfrm>
          <a:prstGeom prst="triangle">
            <a:avLst>
              <a:gd name="adj" fmla="val 5119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79"/>
          <p:cNvSpPr txBox="1"/>
          <p:nvPr/>
        </p:nvSpPr>
        <p:spPr>
          <a:xfrm>
            <a:off x="6002300" y="208575"/>
            <a:ext cx="3112200" cy="75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Nasal or oral swab</a:t>
            </a:r>
            <a:endParaRPr sz="1300"/>
          </a:p>
          <a:p>
            <a:pPr marL="0" lvl="0" indent="0" algn="ctr" rtl="0">
              <a:spcBef>
                <a:spcPts val="0"/>
              </a:spcBef>
              <a:spcAft>
                <a:spcPts val="0"/>
              </a:spcAft>
              <a:buNone/>
            </a:pPr>
            <a:r>
              <a:rPr lang="en" sz="1300"/>
              <a:t>50% microbial (mostly bacteria)</a:t>
            </a:r>
            <a:endParaRPr sz="1300"/>
          </a:p>
          <a:p>
            <a:pPr marL="0" lvl="0" indent="0" algn="ctr" rtl="0">
              <a:spcBef>
                <a:spcPts val="0"/>
              </a:spcBef>
              <a:spcAft>
                <a:spcPts val="0"/>
              </a:spcAft>
              <a:buNone/>
            </a:pPr>
            <a:endParaRPr sz="1300"/>
          </a:p>
        </p:txBody>
      </p:sp>
      <p:sp>
        <p:nvSpPr>
          <p:cNvPr id="383" name="Google Shape;383;p79"/>
          <p:cNvSpPr/>
          <p:nvPr/>
        </p:nvSpPr>
        <p:spPr>
          <a:xfrm rot="3593663">
            <a:off x="3349653" y="2479438"/>
            <a:ext cx="549646" cy="1128617"/>
          </a:xfrm>
          <a:prstGeom prst="triangle">
            <a:avLst>
              <a:gd name="adj" fmla="val 5119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79"/>
          <p:cNvSpPr/>
          <p:nvPr/>
        </p:nvSpPr>
        <p:spPr>
          <a:xfrm>
            <a:off x="324975" y="4347875"/>
            <a:ext cx="694800" cy="6948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79"/>
          <p:cNvSpPr txBox="1"/>
          <p:nvPr/>
        </p:nvSpPr>
        <p:spPr>
          <a:xfrm>
            <a:off x="405775" y="4014875"/>
            <a:ext cx="1064700" cy="75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Host</a:t>
            </a:r>
            <a:endParaRPr sz="1300"/>
          </a:p>
        </p:txBody>
      </p:sp>
      <p:sp>
        <p:nvSpPr>
          <p:cNvPr id="386" name="Google Shape;386;p79"/>
          <p:cNvSpPr/>
          <p:nvPr/>
        </p:nvSpPr>
        <p:spPr>
          <a:xfrm>
            <a:off x="1090725" y="4347875"/>
            <a:ext cx="694800" cy="6948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79"/>
          <p:cNvSpPr txBox="1"/>
          <p:nvPr/>
        </p:nvSpPr>
        <p:spPr>
          <a:xfrm>
            <a:off x="1019775" y="4014875"/>
            <a:ext cx="1064700" cy="75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Microbial</a:t>
            </a:r>
            <a:endParaRPr sz="1300"/>
          </a:p>
        </p:txBody>
      </p:sp>
      <p:sp>
        <p:nvSpPr>
          <p:cNvPr id="388" name="Google Shape;388;p79"/>
          <p:cNvSpPr/>
          <p:nvPr/>
        </p:nvSpPr>
        <p:spPr>
          <a:xfrm>
            <a:off x="5171450" y="229525"/>
            <a:ext cx="1098300" cy="1098300"/>
          </a:xfrm>
          <a:prstGeom prst="ellipse">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79"/>
          <p:cNvSpPr/>
          <p:nvPr/>
        </p:nvSpPr>
        <p:spPr>
          <a:xfrm>
            <a:off x="5188250" y="208575"/>
            <a:ext cx="1064700" cy="1041900"/>
          </a:xfrm>
          <a:prstGeom prst="arc">
            <a:avLst>
              <a:gd name="adj1" fmla="val 10870514"/>
              <a:gd name="adj2" fmla="val 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79"/>
          <p:cNvSpPr/>
          <p:nvPr/>
        </p:nvSpPr>
        <p:spPr>
          <a:xfrm>
            <a:off x="5582563" y="3387913"/>
            <a:ext cx="1098300" cy="1208400"/>
          </a:xfrm>
          <a:prstGeom prst="arc">
            <a:avLst>
              <a:gd name="adj1" fmla="val 10870514"/>
              <a:gd name="adj2" fmla="val 21473896"/>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79"/>
          <p:cNvSpPr/>
          <p:nvPr/>
        </p:nvSpPr>
        <p:spPr>
          <a:xfrm rot="3738905">
            <a:off x="7698426" y="2355087"/>
            <a:ext cx="1098343" cy="1098343"/>
          </a:xfrm>
          <a:prstGeom prst="ellipse">
            <a:avLst/>
          </a:prstGeom>
          <a:solidFill>
            <a:srgbClr val="E0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79"/>
          <p:cNvSpPr txBox="1"/>
          <p:nvPr/>
        </p:nvSpPr>
        <p:spPr>
          <a:xfrm>
            <a:off x="6626350" y="1017725"/>
            <a:ext cx="2589000" cy="75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Whole Blood: lot of background</a:t>
            </a:r>
            <a:endParaRPr sz="1200"/>
          </a:p>
          <a:p>
            <a:pPr marL="0" lvl="0" indent="0" algn="ctr" rtl="0">
              <a:spcBef>
                <a:spcPts val="0"/>
              </a:spcBef>
              <a:spcAft>
                <a:spcPts val="0"/>
              </a:spcAft>
              <a:buNone/>
            </a:pPr>
            <a:r>
              <a:rPr lang="en" sz="1200"/>
              <a:t>No infection:</a:t>
            </a:r>
            <a:endParaRPr sz="1200"/>
          </a:p>
          <a:p>
            <a:pPr marL="0" lvl="0" indent="0" algn="ctr" rtl="0">
              <a:spcBef>
                <a:spcPts val="0"/>
              </a:spcBef>
              <a:spcAft>
                <a:spcPts val="0"/>
              </a:spcAft>
              <a:buNone/>
            </a:pPr>
            <a:r>
              <a:rPr lang="en" sz="1200"/>
              <a:t>During infection: &lt;&lt;&lt;0% microbial</a:t>
            </a:r>
            <a:endParaRPr sz="1200"/>
          </a:p>
          <a:p>
            <a:pPr marL="0" lvl="0" indent="0" algn="ctr" rtl="0">
              <a:spcBef>
                <a:spcPts val="0"/>
              </a:spcBef>
              <a:spcAft>
                <a:spcPts val="0"/>
              </a:spcAft>
              <a:buNone/>
            </a:pPr>
            <a:endParaRPr sz="1200"/>
          </a:p>
        </p:txBody>
      </p:sp>
      <p:sp>
        <p:nvSpPr>
          <p:cNvPr id="393" name="Google Shape;393;p79"/>
          <p:cNvSpPr txBox="1"/>
          <p:nvPr/>
        </p:nvSpPr>
        <p:spPr>
          <a:xfrm>
            <a:off x="7423000" y="3367525"/>
            <a:ext cx="1692000" cy="75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Serum or Plasma</a:t>
            </a:r>
            <a:endParaRPr sz="1300"/>
          </a:p>
          <a:p>
            <a:pPr marL="0" lvl="0" indent="0" algn="ctr" rtl="0">
              <a:spcBef>
                <a:spcPts val="0"/>
              </a:spcBef>
              <a:spcAft>
                <a:spcPts val="0"/>
              </a:spcAft>
              <a:buNone/>
            </a:pPr>
            <a:r>
              <a:rPr lang="en" sz="1300"/>
              <a:t>10-100x less host material </a:t>
            </a:r>
            <a:endParaRPr sz="1300"/>
          </a:p>
        </p:txBody>
      </p:sp>
      <p:sp>
        <p:nvSpPr>
          <p:cNvPr id="394" name="Google Shape;394;p79"/>
          <p:cNvSpPr txBox="1"/>
          <p:nvPr/>
        </p:nvSpPr>
        <p:spPr>
          <a:xfrm>
            <a:off x="0" y="2974275"/>
            <a:ext cx="2559300" cy="75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Tracheal Aspirate</a:t>
            </a:r>
            <a:endParaRPr sz="1300"/>
          </a:p>
          <a:p>
            <a:pPr marL="0" lvl="0" indent="0" algn="l" rtl="0">
              <a:spcBef>
                <a:spcPts val="0"/>
              </a:spcBef>
              <a:spcAft>
                <a:spcPts val="0"/>
              </a:spcAft>
              <a:buNone/>
            </a:pPr>
            <a:r>
              <a:rPr lang="en" sz="1300"/>
              <a:t>5% microbial, 95% human</a:t>
            </a:r>
            <a:endParaRPr sz="1300"/>
          </a:p>
        </p:txBody>
      </p:sp>
      <p:sp>
        <p:nvSpPr>
          <p:cNvPr id="395" name="Google Shape;395;p79"/>
          <p:cNvSpPr/>
          <p:nvPr/>
        </p:nvSpPr>
        <p:spPr>
          <a:xfrm rot="-10435871">
            <a:off x="2218816" y="2933861"/>
            <a:ext cx="1098154" cy="1098154"/>
          </a:xfrm>
          <a:prstGeom prst="ellipse">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79"/>
          <p:cNvSpPr/>
          <p:nvPr/>
        </p:nvSpPr>
        <p:spPr>
          <a:xfrm rot="-555012">
            <a:off x="2381573" y="2944466"/>
            <a:ext cx="772648" cy="1260176"/>
          </a:xfrm>
          <a:prstGeom prst="arc">
            <a:avLst>
              <a:gd name="adj1" fmla="val 16231257"/>
              <a:gd name="adj2" fmla="val 16823809"/>
            </a:avLst>
          </a:prstGeom>
          <a:solidFill>
            <a:srgbClr val="0070C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79"/>
          <p:cNvSpPr txBox="1"/>
          <p:nvPr/>
        </p:nvSpPr>
        <p:spPr>
          <a:xfrm>
            <a:off x="0" y="838075"/>
            <a:ext cx="6250200" cy="7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t>Different sample types have different RNA contents!</a:t>
            </a:r>
            <a:endParaRPr b="1"/>
          </a:p>
        </p:txBody>
      </p:sp>
      <p:sp>
        <p:nvSpPr>
          <p:cNvPr id="5" name="TextBox 4">
            <a:extLst>
              <a:ext uri="{FF2B5EF4-FFF2-40B4-BE49-F238E27FC236}">
                <a16:creationId xmlns:a16="http://schemas.microsoft.com/office/drawing/2014/main" id="{B68AB6E4-A23B-6A37-50F3-D36E880E641F}"/>
              </a:ext>
            </a:extLst>
          </p:cNvPr>
          <p:cNvSpPr txBox="1"/>
          <p:nvPr/>
        </p:nvSpPr>
        <p:spPr>
          <a:xfrm>
            <a:off x="29500" y="132689"/>
            <a:ext cx="4617720" cy="461665"/>
          </a:xfrm>
          <a:prstGeom prst="rect">
            <a:avLst/>
          </a:prstGeom>
          <a:noFill/>
        </p:spPr>
        <p:txBody>
          <a:bodyPr wrap="square">
            <a:spAutoFit/>
          </a:bodyPr>
          <a:lstStyle/>
          <a:p>
            <a:r>
              <a:rPr lang="en" sz="2400" b="1" dirty="0">
                <a:latin typeface="Helvetica Neue"/>
                <a:ea typeface="Helvetica Neue"/>
                <a:cs typeface="Helvetica Neue"/>
                <a:sym typeface="Helvetica Neue"/>
              </a:rPr>
              <a:t>Sample type landscape</a:t>
            </a:r>
            <a:endParaRPr lang="en-US" sz="2400" dirty="0"/>
          </a:p>
        </p:txBody>
      </p:sp>
      <p:sp>
        <p:nvSpPr>
          <p:cNvPr id="10" name="Slide Number Placeholder 1">
            <a:extLst>
              <a:ext uri="{FF2B5EF4-FFF2-40B4-BE49-F238E27FC236}">
                <a16:creationId xmlns:a16="http://schemas.microsoft.com/office/drawing/2014/main" id="{E38C4770-D2DC-2849-FE8D-D748A888F60B}"/>
              </a:ext>
            </a:extLst>
          </p:cNvPr>
          <p:cNvSpPr>
            <a:spLocks noGrp="1"/>
          </p:cNvSpPr>
          <p:nvPr>
            <p:ph type="sldNum" idx="4294967295"/>
          </p:nvPr>
        </p:nvSpPr>
        <p:spPr>
          <a:xfrm>
            <a:off x="7929563" y="4662488"/>
            <a:ext cx="1214437" cy="393700"/>
          </a:xfrm>
          <a:prstGeom prst="rect">
            <a:avLst/>
          </a:prstGeom>
        </p:spPr>
        <p:txBody>
          <a:bodyPr/>
          <a:lstStyle/>
          <a:p>
            <a:pPr lvl="0"/>
            <a:r>
              <a:rPr lang="en-US" sz="800" dirty="0">
                <a:solidFill>
                  <a:schemeClr val="tx1">
                    <a:lumMod val="50000"/>
                    <a:lumOff val="50000"/>
                  </a:schemeClr>
                </a:solidFill>
              </a:rPr>
              <a:t>Revised 01/12/2026</a:t>
            </a:r>
            <a:endParaRPr lang="en" sz="800" dirty="0">
              <a:solidFill>
                <a:schemeClr val="tx1">
                  <a:lumMod val="50000"/>
                  <a:lumOff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3"/>
                                        </p:tgtEl>
                                        <p:attrNameLst>
                                          <p:attrName>style.visibility</p:attrName>
                                        </p:attrNameLst>
                                      </p:cBhvr>
                                      <p:to>
                                        <p:strVal val="visible"/>
                                      </p:to>
                                    </p:set>
                                    <p:animEffect transition="in" filter="fade">
                                      <p:cBhvr>
                                        <p:cTn id="7" dur="1000"/>
                                        <p:tgtEl>
                                          <p:spTgt spid="373"/>
                                        </p:tgtEl>
                                      </p:cBhvr>
                                    </p:animEffect>
                                  </p:childTnLst>
                                </p:cTn>
                              </p:par>
                              <p:par>
                                <p:cTn id="8" presetID="10" presetClass="entr" presetSubtype="0" fill="hold" nodeType="withEffect">
                                  <p:stCondLst>
                                    <p:cond delay="0"/>
                                  </p:stCondLst>
                                  <p:childTnLst>
                                    <p:set>
                                      <p:cBhvr>
                                        <p:cTn id="9" dur="1" fill="hold">
                                          <p:stCondLst>
                                            <p:cond delay="0"/>
                                          </p:stCondLst>
                                        </p:cTn>
                                        <p:tgtEl>
                                          <p:spTgt spid="392"/>
                                        </p:tgtEl>
                                        <p:attrNameLst>
                                          <p:attrName>style.visibility</p:attrName>
                                        </p:attrNameLst>
                                      </p:cBhvr>
                                      <p:to>
                                        <p:strVal val="visible"/>
                                      </p:to>
                                    </p:set>
                                    <p:animEffect transition="in" filter="fade">
                                      <p:cBhvr>
                                        <p:cTn id="10" dur="1000"/>
                                        <p:tgtEl>
                                          <p:spTgt spid="392"/>
                                        </p:tgtEl>
                                      </p:cBhvr>
                                    </p:animEffect>
                                  </p:childTnLst>
                                </p:cTn>
                              </p:par>
                              <p:par>
                                <p:cTn id="11" presetID="10" presetClass="entr" presetSubtype="0" fill="hold" nodeType="withEffect">
                                  <p:stCondLst>
                                    <p:cond delay="0"/>
                                  </p:stCondLst>
                                  <p:childTnLst>
                                    <p:set>
                                      <p:cBhvr>
                                        <p:cTn id="12" dur="1" fill="hold">
                                          <p:stCondLst>
                                            <p:cond delay="0"/>
                                          </p:stCondLst>
                                        </p:cTn>
                                        <p:tgtEl>
                                          <p:spTgt spid="372"/>
                                        </p:tgtEl>
                                        <p:attrNameLst>
                                          <p:attrName>style.visibility</p:attrName>
                                        </p:attrNameLst>
                                      </p:cBhvr>
                                      <p:to>
                                        <p:strVal val="visible"/>
                                      </p:to>
                                    </p:set>
                                    <p:animEffect transition="in" filter="fade">
                                      <p:cBhvr>
                                        <p:cTn id="13" dur="1000"/>
                                        <p:tgtEl>
                                          <p:spTgt spid="37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74"/>
                                        </p:tgtEl>
                                        <p:attrNameLst>
                                          <p:attrName>style.visibility</p:attrName>
                                        </p:attrNameLst>
                                      </p:cBhvr>
                                      <p:to>
                                        <p:strVal val="visible"/>
                                      </p:to>
                                    </p:set>
                                    <p:animEffect transition="in" filter="fade">
                                      <p:cBhvr>
                                        <p:cTn id="18" dur="1000"/>
                                        <p:tgtEl>
                                          <p:spTgt spid="374"/>
                                        </p:tgtEl>
                                      </p:cBhvr>
                                    </p:animEffect>
                                  </p:childTnLst>
                                </p:cTn>
                              </p:par>
                              <p:par>
                                <p:cTn id="19" presetID="10" presetClass="entr" presetSubtype="0" fill="hold" nodeType="withEffect">
                                  <p:stCondLst>
                                    <p:cond delay="0"/>
                                  </p:stCondLst>
                                  <p:childTnLst>
                                    <p:set>
                                      <p:cBhvr>
                                        <p:cTn id="20" dur="1" fill="hold">
                                          <p:stCondLst>
                                            <p:cond delay="0"/>
                                          </p:stCondLst>
                                        </p:cTn>
                                        <p:tgtEl>
                                          <p:spTgt spid="391"/>
                                        </p:tgtEl>
                                        <p:attrNameLst>
                                          <p:attrName>style.visibility</p:attrName>
                                        </p:attrNameLst>
                                      </p:cBhvr>
                                      <p:to>
                                        <p:strVal val="visible"/>
                                      </p:to>
                                    </p:set>
                                    <p:animEffect transition="in" filter="fade">
                                      <p:cBhvr>
                                        <p:cTn id="21" dur="1000"/>
                                        <p:tgtEl>
                                          <p:spTgt spid="391"/>
                                        </p:tgtEl>
                                      </p:cBhvr>
                                    </p:animEffect>
                                  </p:childTnLst>
                                </p:cTn>
                              </p:par>
                              <p:par>
                                <p:cTn id="22" presetID="10" presetClass="entr" presetSubtype="0" fill="hold" nodeType="withEffect">
                                  <p:stCondLst>
                                    <p:cond delay="0"/>
                                  </p:stCondLst>
                                  <p:childTnLst>
                                    <p:set>
                                      <p:cBhvr>
                                        <p:cTn id="23" dur="1" fill="hold">
                                          <p:stCondLst>
                                            <p:cond delay="0"/>
                                          </p:stCondLst>
                                        </p:cTn>
                                        <p:tgtEl>
                                          <p:spTgt spid="393"/>
                                        </p:tgtEl>
                                        <p:attrNameLst>
                                          <p:attrName>style.visibility</p:attrName>
                                        </p:attrNameLst>
                                      </p:cBhvr>
                                      <p:to>
                                        <p:strVal val="visible"/>
                                      </p:to>
                                    </p:set>
                                    <p:animEffect transition="in" filter="fade">
                                      <p:cBhvr>
                                        <p:cTn id="24" dur="1000"/>
                                        <p:tgtEl>
                                          <p:spTgt spid="39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75"/>
                                        </p:tgtEl>
                                        <p:attrNameLst>
                                          <p:attrName>style.visibility</p:attrName>
                                        </p:attrNameLst>
                                      </p:cBhvr>
                                      <p:to>
                                        <p:strVal val="visible"/>
                                      </p:to>
                                    </p:set>
                                    <p:animEffect transition="in" filter="fade">
                                      <p:cBhvr>
                                        <p:cTn id="29" dur="1000"/>
                                        <p:tgtEl>
                                          <p:spTgt spid="375"/>
                                        </p:tgtEl>
                                      </p:cBhvr>
                                    </p:animEffect>
                                  </p:childTnLst>
                                </p:cTn>
                              </p:par>
                              <p:par>
                                <p:cTn id="30" presetID="10" presetClass="entr" presetSubtype="0" fill="hold" nodeType="withEffect">
                                  <p:stCondLst>
                                    <p:cond delay="0"/>
                                  </p:stCondLst>
                                  <p:childTnLst>
                                    <p:set>
                                      <p:cBhvr>
                                        <p:cTn id="31" dur="1" fill="hold">
                                          <p:stCondLst>
                                            <p:cond delay="0"/>
                                          </p:stCondLst>
                                        </p:cTn>
                                        <p:tgtEl>
                                          <p:spTgt spid="376"/>
                                        </p:tgtEl>
                                        <p:attrNameLst>
                                          <p:attrName>style.visibility</p:attrName>
                                        </p:attrNameLst>
                                      </p:cBhvr>
                                      <p:to>
                                        <p:strVal val="visible"/>
                                      </p:to>
                                    </p:set>
                                    <p:animEffect transition="in" filter="fade">
                                      <p:cBhvr>
                                        <p:cTn id="32" dur="1000"/>
                                        <p:tgtEl>
                                          <p:spTgt spid="376"/>
                                        </p:tgtEl>
                                      </p:cBhvr>
                                    </p:animEffect>
                                  </p:childTnLst>
                                </p:cTn>
                              </p:par>
                              <p:par>
                                <p:cTn id="33" presetID="10" presetClass="entr" presetSubtype="0" fill="hold" nodeType="withEffect">
                                  <p:stCondLst>
                                    <p:cond delay="0"/>
                                  </p:stCondLst>
                                  <p:childTnLst>
                                    <p:set>
                                      <p:cBhvr>
                                        <p:cTn id="34" dur="1" fill="hold">
                                          <p:stCondLst>
                                            <p:cond delay="0"/>
                                          </p:stCondLst>
                                        </p:cTn>
                                        <p:tgtEl>
                                          <p:spTgt spid="377"/>
                                        </p:tgtEl>
                                        <p:attrNameLst>
                                          <p:attrName>style.visibility</p:attrName>
                                        </p:attrNameLst>
                                      </p:cBhvr>
                                      <p:to>
                                        <p:strVal val="visible"/>
                                      </p:to>
                                    </p:set>
                                    <p:animEffect transition="in" filter="fade">
                                      <p:cBhvr>
                                        <p:cTn id="35" dur="1000"/>
                                        <p:tgtEl>
                                          <p:spTgt spid="37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83"/>
                                        </p:tgtEl>
                                        <p:attrNameLst>
                                          <p:attrName>style.visibility</p:attrName>
                                        </p:attrNameLst>
                                      </p:cBhvr>
                                      <p:to>
                                        <p:strVal val="visible"/>
                                      </p:to>
                                    </p:set>
                                    <p:animEffect transition="in" filter="fade">
                                      <p:cBhvr>
                                        <p:cTn id="40" dur="1000"/>
                                        <p:tgtEl>
                                          <p:spTgt spid="383"/>
                                        </p:tgtEl>
                                      </p:cBhvr>
                                    </p:animEffect>
                                  </p:childTnLst>
                                </p:cTn>
                              </p:par>
                              <p:par>
                                <p:cTn id="41" presetID="10" presetClass="entr" presetSubtype="0" fill="hold" nodeType="withEffect">
                                  <p:stCondLst>
                                    <p:cond delay="0"/>
                                  </p:stCondLst>
                                  <p:childTnLst>
                                    <p:set>
                                      <p:cBhvr>
                                        <p:cTn id="42" dur="1" fill="hold">
                                          <p:stCondLst>
                                            <p:cond delay="0"/>
                                          </p:stCondLst>
                                        </p:cTn>
                                        <p:tgtEl>
                                          <p:spTgt spid="395"/>
                                        </p:tgtEl>
                                        <p:attrNameLst>
                                          <p:attrName>style.visibility</p:attrName>
                                        </p:attrNameLst>
                                      </p:cBhvr>
                                      <p:to>
                                        <p:strVal val="visible"/>
                                      </p:to>
                                    </p:set>
                                    <p:animEffect transition="in" filter="fade">
                                      <p:cBhvr>
                                        <p:cTn id="43" dur="1000"/>
                                        <p:tgtEl>
                                          <p:spTgt spid="395"/>
                                        </p:tgtEl>
                                      </p:cBhvr>
                                    </p:animEffect>
                                  </p:childTnLst>
                                </p:cTn>
                              </p:par>
                              <p:par>
                                <p:cTn id="44" presetID="10" presetClass="entr" presetSubtype="0" fill="hold" nodeType="withEffect">
                                  <p:stCondLst>
                                    <p:cond delay="0"/>
                                  </p:stCondLst>
                                  <p:childTnLst>
                                    <p:set>
                                      <p:cBhvr>
                                        <p:cTn id="45" dur="1" fill="hold">
                                          <p:stCondLst>
                                            <p:cond delay="0"/>
                                          </p:stCondLst>
                                        </p:cTn>
                                        <p:tgtEl>
                                          <p:spTgt spid="396"/>
                                        </p:tgtEl>
                                        <p:attrNameLst>
                                          <p:attrName>style.visibility</p:attrName>
                                        </p:attrNameLst>
                                      </p:cBhvr>
                                      <p:to>
                                        <p:strVal val="visible"/>
                                      </p:to>
                                    </p:set>
                                    <p:animEffect transition="in" filter="fade">
                                      <p:cBhvr>
                                        <p:cTn id="46" dur="1000"/>
                                        <p:tgtEl>
                                          <p:spTgt spid="396"/>
                                        </p:tgtEl>
                                      </p:cBhvr>
                                    </p:animEffect>
                                  </p:childTnLst>
                                </p:cTn>
                              </p:par>
                              <p:par>
                                <p:cTn id="47" presetID="10" presetClass="entr" presetSubtype="0" fill="hold" nodeType="withEffect">
                                  <p:stCondLst>
                                    <p:cond delay="0"/>
                                  </p:stCondLst>
                                  <p:childTnLst>
                                    <p:set>
                                      <p:cBhvr>
                                        <p:cTn id="48" dur="1" fill="hold">
                                          <p:stCondLst>
                                            <p:cond delay="0"/>
                                          </p:stCondLst>
                                        </p:cTn>
                                        <p:tgtEl>
                                          <p:spTgt spid="394"/>
                                        </p:tgtEl>
                                        <p:attrNameLst>
                                          <p:attrName>style.visibility</p:attrName>
                                        </p:attrNameLst>
                                      </p:cBhvr>
                                      <p:to>
                                        <p:strVal val="visible"/>
                                      </p:to>
                                    </p:set>
                                    <p:animEffect transition="in" filter="fade">
                                      <p:cBhvr>
                                        <p:cTn id="49" dur="1000"/>
                                        <p:tgtEl>
                                          <p:spTgt spid="39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81"/>
                                        </p:tgtEl>
                                        <p:attrNameLst>
                                          <p:attrName>style.visibility</p:attrName>
                                        </p:attrNameLst>
                                      </p:cBhvr>
                                      <p:to>
                                        <p:strVal val="visible"/>
                                      </p:to>
                                    </p:set>
                                    <p:animEffect transition="in" filter="fade">
                                      <p:cBhvr>
                                        <p:cTn id="54" dur="1000"/>
                                        <p:tgtEl>
                                          <p:spTgt spid="381"/>
                                        </p:tgtEl>
                                      </p:cBhvr>
                                    </p:animEffect>
                                  </p:childTnLst>
                                </p:cTn>
                              </p:par>
                              <p:par>
                                <p:cTn id="55" presetID="10" presetClass="entr" presetSubtype="0" fill="hold" nodeType="withEffect">
                                  <p:stCondLst>
                                    <p:cond delay="0"/>
                                  </p:stCondLst>
                                  <p:childTnLst>
                                    <p:set>
                                      <p:cBhvr>
                                        <p:cTn id="56" dur="1" fill="hold">
                                          <p:stCondLst>
                                            <p:cond delay="0"/>
                                          </p:stCondLst>
                                        </p:cTn>
                                        <p:tgtEl>
                                          <p:spTgt spid="388"/>
                                        </p:tgtEl>
                                        <p:attrNameLst>
                                          <p:attrName>style.visibility</p:attrName>
                                        </p:attrNameLst>
                                      </p:cBhvr>
                                      <p:to>
                                        <p:strVal val="visible"/>
                                      </p:to>
                                    </p:set>
                                    <p:animEffect transition="in" filter="fade">
                                      <p:cBhvr>
                                        <p:cTn id="57" dur="1000"/>
                                        <p:tgtEl>
                                          <p:spTgt spid="388"/>
                                        </p:tgtEl>
                                      </p:cBhvr>
                                    </p:animEffect>
                                  </p:childTnLst>
                                </p:cTn>
                              </p:par>
                              <p:par>
                                <p:cTn id="58" presetID="10" presetClass="entr" presetSubtype="0" fill="hold" nodeType="withEffect">
                                  <p:stCondLst>
                                    <p:cond delay="0"/>
                                  </p:stCondLst>
                                  <p:childTnLst>
                                    <p:set>
                                      <p:cBhvr>
                                        <p:cTn id="59" dur="1" fill="hold">
                                          <p:stCondLst>
                                            <p:cond delay="0"/>
                                          </p:stCondLst>
                                        </p:cTn>
                                        <p:tgtEl>
                                          <p:spTgt spid="389"/>
                                        </p:tgtEl>
                                        <p:attrNameLst>
                                          <p:attrName>style.visibility</p:attrName>
                                        </p:attrNameLst>
                                      </p:cBhvr>
                                      <p:to>
                                        <p:strVal val="visible"/>
                                      </p:to>
                                    </p:set>
                                    <p:animEffect transition="in" filter="fade">
                                      <p:cBhvr>
                                        <p:cTn id="60" dur="1000"/>
                                        <p:tgtEl>
                                          <p:spTgt spid="389"/>
                                        </p:tgtEl>
                                      </p:cBhvr>
                                    </p:animEffect>
                                  </p:childTnLst>
                                </p:cTn>
                              </p:par>
                              <p:par>
                                <p:cTn id="61" presetID="10" presetClass="entr" presetSubtype="0" fill="hold" nodeType="withEffect">
                                  <p:stCondLst>
                                    <p:cond delay="0"/>
                                  </p:stCondLst>
                                  <p:childTnLst>
                                    <p:set>
                                      <p:cBhvr>
                                        <p:cTn id="62" dur="1" fill="hold">
                                          <p:stCondLst>
                                            <p:cond delay="0"/>
                                          </p:stCondLst>
                                        </p:cTn>
                                        <p:tgtEl>
                                          <p:spTgt spid="382"/>
                                        </p:tgtEl>
                                        <p:attrNameLst>
                                          <p:attrName>style.visibility</p:attrName>
                                        </p:attrNameLst>
                                      </p:cBhvr>
                                      <p:to>
                                        <p:strVal val="visible"/>
                                      </p:to>
                                    </p:set>
                                    <p:animEffect transition="in" filter="fade">
                                      <p:cBhvr>
                                        <p:cTn id="63" dur="1000"/>
                                        <p:tgtEl>
                                          <p:spTgt spid="382"/>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378"/>
                                        </p:tgtEl>
                                        <p:attrNameLst>
                                          <p:attrName>style.visibility</p:attrName>
                                        </p:attrNameLst>
                                      </p:cBhvr>
                                      <p:to>
                                        <p:strVal val="visible"/>
                                      </p:to>
                                    </p:set>
                                    <p:animEffect transition="in" filter="fade">
                                      <p:cBhvr>
                                        <p:cTn id="68" dur="1000"/>
                                        <p:tgtEl>
                                          <p:spTgt spid="378"/>
                                        </p:tgtEl>
                                      </p:cBhvr>
                                    </p:animEffect>
                                  </p:childTnLst>
                                </p:cTn>
                              </p:par>
                              <p:par>
                                <p:cTn id="69" presetID="10" presetClass="entr" presetSubtype="0" fill="hold" nodeType="withEffect">
                                  <p:stCondLst>
                                    <p:cond delay="0"/>
                                  </p:stCondLst>
                                  <p:childTnLst>
                                    <p:set>
                                      <p:cBhvr>
                                        <p:cTn id="70" dur="1" fill="hold">
                                          <p:stCondLst>
                                            <p:cond delay="0"/>
                                          </p:stCondLst>
                                        </p:cTn>
                                        <p:tgtEl>
                                          <p:spTgt spid="379"/>
                                        </p:tgtEl>
                                        <p:attrNameLst>
                                          <p:attrName>style.visibility</p:attrName>
                                        </p:attrNameLst>
                                      </p:cBhvr>
                                      <p:to>
                                        <p:strVal val="visible"/>
                                      </p:to>
                                    </p:set>
                                    <p:animEffect transition="in" filter="fade">
                                      <p:cBhvr>
                                        <p:cTn id="71" dur="1000"/>
                                        <p:tgtEl>
                                          <p:spTgt spid="379"/>
                                        </p:tgtEl>
                                      </p:cBhvr>
                                    </p:animEffect>
                                  </p:childTnLst>
                                </p:cTn>
                              </p:par>
                              <p:par>
                                <p:cTn id="72" presetID="10" presetClass="entr" presetSubtype="0" fill="hold" nodeType="withEffect">
                                  <p:stCondLst>
                                    <p:cond delay="0"/>
                                  </p:stCondLst>
                                  <p:childTnLst>
                                    <p:set>
                                      <p:cBhvr>
                                        <p:cTn id="73" dur="1" fill="hold">
                                          <p:stCondLst>
                                            <p:cond delay="0"/>
                                          </p:stCondLst>
                                        </p:cTn>
                                        <p:tgtEl>
                                          <p:spTgt spid="390"/>
                                        </p:tgtEl>
                                        <p:attrNameLst>
                                          <p:attrName>style.visibility</p:attrName>
                                        </p:attrNameLst>
                                      </p:cBhvr>
                                      <p:to>
                                        <p:strVal val="visible"/>
                                      </p:to>
                                    </p:set>
                                    <p:animEffect transition="in" filter="fade">
                                      <p:cBhvr>
                                        <p:cTn id="74" dur="1000"/>
                                        <p:tgtEl>
                                          <p:spTgt spid="390"/>
                                        </p:tgtEl>
                                      </p:cBhvr>
                                    </p:animEffect>
                                  </p:childTnLst>
                                </p:cTn>
                              </p:par>
                              <p:par>
                                <p:cTn id="75" presetID="10" presetClass="entr" presetSubtype="0" fill="hold" nodeType="withEffect">
                                  <p:stCondLst>
                                    <p:cond delay="0"/>
                                  </p:stCondLst>
                                  <p:childTnLst>
                                    <p:set>
                                      <p:cBhvr>
                                        <p:cTn id="76" dur="1" fill="hold">
                                          <p:stCondLst>
                                            <p:cond delay="0"/>
                                          </p:stCondLst>
                                        </p:cTn>
                                        <p:tgtEl>
                                          <p:spTgt spid="380"/>
                                        </p:tgtEl>
                                        <p:attrNameLst>
                                          <p:attrName>style.visibility</p:attrName>
                                        </p:attrNameLst>
                                      </p:cBhvr>
                                      <p:to>
                                        <p:strVal val="visible"/>
                                      </p:to>
                                    </p:set>
                                    <p:animEffect transition="in" filter="fade">
                                      <p:cBhvr>
                                        <p:cTn id="77" dur="1000"/>
                                        <p:tgtEl>
                                          <p:spTgt spid="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graphicFrame>
        <p:nvGraphicFramePr>
          <p:cNvPr id="403" name="Google Shape;403;p80"/>
          <p:cNvGraphicFramePr/>
          <p:nvPr/>
        </p:nvGraphicFramePr>
        <p:xfrm>
          <a:off x="161525" y="949650"/>
          <a:ext cx="8848900" cy="3474570"/>
        </p:xfrm>
        <a:graphic>
          <a:graphicData uri="http://schemas.openxmlformats.org/drawingml/2006/table">
            <a:tbl>
              <a:tblPr>
                <a:noFill/>
                <a:tableStyleId>{DFBFFDB4-25C3-4913-B03E-B9CB2AB63F68}</a:tableStyleId>
              </a:tblPr>
              <a:tblGrid>
                <a:gridCol w="1829200">
                  <a:extLst>
                    <a:ext uri="{9D8B030D-6E8A-4147-A177-3AD203B41FA5}">
                      <a16:colId xmlns:a16="http://schemas.microsoft.com/office/drawing/2014/main" val="20000"/>
                    </a:ext>
                  </a:extLst>
                </a:gridCol>
                <a:gridCol w="1754925">
                  <a:extLst>
                    <a:ext uri="{9D8B030D-6E8A-4147-A177-3AD203B41FA5}">
                      <a16:colId xmlns:a16="http://schemas.microsoft.com/office/drawing/2014/main" val="20001"/>
                    </a:ext>
                  </a:extLst>
                </a:gridCol>
                <a:gridCol w="1754925">
                  <a:extLst>
                    <a:ext uri="{9D8B030D-6E8A-4147-A177-3AD203B41FA5}">
                      <a16:colId xmlns:a16="http://schemas.microsoft.com/office/drawing/2014/main" val="20002"/>
                    </a:ext>
                  </a:extLst>
                </a:gridCol>
                <a:gridCol w="1754925">
                  <a:extLst>
                    <a:ext uri="{9D8B030D-6E8A-4147-A177-3AD203B41FA5}">
                      <a16:colId xmlns:a16="http://schemas.microsoft.com/office/drawing/2014/main" val="20003"/>
                    </a:ext>
                  </a:extLst>
                </a:gridCol>
                <a:gridCol w="1754925">
                  <a:extLst>
                    <a:ext uri="{9D8B030D-6E8A-4147-A177-3AD203B41FA5}">
                      <a16:colId xmlns:a16="http://schemas.microsoft.com/office/drawing/2014/main" val="20004"/>
                    </a:ext>
                  </a:extLst>
                </a:gridCol>
              </a:tblGrid>
              <a:tr h="381000">
                <a:tc>
                  <a:txBody>
                    <a:bodyPr/>
                    <a:lstStyle/>
                    <a:p>
                      <a:pPr marL="0" lvl="0" indent="0" algn="l" rtl="0">
                        <a:spcBef>
                          <a:spcPts val="0"/>
                        </a:spcBef>
                        <a:spcAft>
                          <a:spcPts val="0"/>
                        </a:spcAft>
                        <a:buNone/>
                      </a:pPr>
                      <a:endParaRPr sz="1200">
                        <a:solidFill>
                          <a:srgbClr val="FFFFFF"/>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b="1">
                          <a:solidFill>
                            <a:srgbClr val="FFFFFF"/>
                          </a:solidFill>
                        </a:rPr>
                        <a:t>Whole genome &amp; transcriptome sequencing</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b="1">
                          <a:solidFill>
                            <a:srgbClr val="FFFFFF"/>
                          </a:solidFill>
                        </a:rPr>
                        <a:t>Amplicon sequencing</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solidFill>
                      <a:srgbClr val="4A86E8"/>
                    </a:solidFill>
                  </a:tcPr>
                </a:tc>
                <a:tc>
                  <a:txBody>
                    <a:bodyPr/>
                    <a:lstStyle/>
                    <a:p>
                      <a:pPr marL="0" lvl="0" indent="0" algn="ctr" rtl="0">
                        <a:spcBef>
                          <a:spcPts val="0"/>
                        </a:spcBef>
                        <a:spcAft>
                          <a:spcPts val="0"/>
                        </a:spcAft>
                        <a:buNone/>
                      </a:pPr>
                      <a:r>
                        <a:rPr lang="en" sz="1200" b="1">
                          <a:solidFill>
                            <a:srgbClr val="FFFFFF"/>
                          </a:solidFill>
                        </a:rPr>
                        <a:t>16S &amp; 18S rRNA sequencing</a:t>
                      </a:r>
                      <a:endParaRPr sz="1200" b="1">
                        <a:solidFill>
                          <a:srgbClr val="FFFFFF"/>
                        </a:solidFill>
                      </a:endParaRPr>
                    </a:p>
                  </a:txBody>
                  <a:tcPr marL="91425" marR="91425" marT="91425" marB="91425" anchor="ctr">
                    <a:solidFill>
                      <a:srgbClr val="4A86E8"/>
                    </a:solidFill>
                  </a:tcPr>
                </a:tc>
                <a:tc>
                  <a:txBody>
                    <a:bodyPr/>
                    <a:lstStyle/>
                    <a:p>
                      <a:pPr marL="0" lvl="0" indent="0" algn="ctr" rtl="0">
                        <a:spcBef>
                          <a:spcPts val="0"/>
                        </a:spcBef>
                        <a:spcAft>
                          <a:spcPts val="0"/>
                        </a:spcAft>
                        <a:buNone/>
                      </a:pPr>
                      <a:r>
                        <a:rPr lang="en" sz="1200" b="1">
                          <a:solidFill>
                            <a:srgbClr val="FFFFFF"/>
                          </a:solidFill>
                        </a:rPr>
                        <a:t>Metagenomic (shotgun) sequencing</a:t>
                      </a:r>
                      <a:endParaRPr sz="1200" b="1">
                        <a:solidFill>
                          <a:srgbClr val="FFFFFF"/>
                        </a:solidFill>
                      </a:endParaRPr>
                    </a:p>
                  </a:txBody>
                  <a:tcPr marL="91425" marR="91425" marT="91425" marB="91425" anchor="ctr">
                    <a:solidFill>
                      <a:srgbClr val="4A86E8"/>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200" b="1">
                          <a:solidFill>
                            <a:srgbClr val="FFFFFF"/>
                          </a:solidFill>
                        </a:rPr>
                        <a:t>Starting material</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DNA/RNA from (cultured) isolate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DNA/RNA from a sample</a:t>
                      </a:r>
                      <a:endParaRPr sz="1200"/>
                    </a:p>
                  </a:txBody>
                  <a:tcPr marL="91425" marR="91425" marT="91425" marB="91425" anchor="ctr">
                    <a:lnL w="9525" cap="flat" cmpd="sng">
                      <a:solidFill>
                        <a:srgbClr val="9E9E9E">
                          <a:alpha val="0"/>
                        </a:srgbClr>
                      </a:solidFill>
                      <a:prstDash val="solid"/>
                      <a:round/>
                      <a:headEnd type="none" w="sm" len="sm"/>
                      <a:tailEnd type="none" w="sm" len="sm"/>
                    </a:lnL>
                    <a:lnB w="9525" cap="flat" cmpd="sng">
                      <a:solidFill>
                        <a:srgbClr val="9E9E9E"/>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DNA/RNA from a sample</a:t>
                      </a:r>
                      <a:endParaRPr sz="1200"/>
                    </a:p>
                  </a:txBody>
                  <a:tcPr marL="91425" marR="91425" marT="91425" marB="91425" anchor="ctr">
                    <a:lnB w="9525" cap="flat" cmpd="sng">
                      <a:solidFill>
                        <a:srgbClr val="9E9E9E"/>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DNA/RNA from a sample</a:t>
                      </a:r>
                      <a:endParaRPr sz="1200"/>
                    </a:p>
                  </a:txBody>
                  <a:tcPr marL="91425" marR="91425" marT="91425" marB="91425" anchor="ctr">
                    <a:lnB w="9525" cap="flat" cmpd="sng">
                      <a:solidFill>
                        <a:srgbClr val="9E9E9E"/>
                      </a:solidFill>
                      <a:prstDash val="solid"/>
                      <a:round/>
                      <a:headEnd type="none" w="sm" len="sm"/>
                      <a:tailEnd type="none" w="sm" len="sm"/>
                    </a:lnB>
                    <a:no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200" b="1">
                          <a:solidFill>
                            <a:srgbClr val="FFFFFF"/>
                          </a:solidFill>
                        </a:rPr>
                        <a:t>Primers used to amplify sequences</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Random primers</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Organism-specific primers</a:t>
                      </a:r>
                      <a:endParaRPr sz="1200">
                        <a:solidFill>
                          <a:schemeClr val="dk1"/>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16S/18S-specific primers</a:t>
                      </a:r>
                      <a:endParaRPr sz="12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Random primers</a:t>
                      </a:r>
                      <a:endParaRPr sz="12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0FBFF">
                        <a:alpha val="16760"/>
                      </a:srgbClr>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200" b="1">
                          <a:solidFill>
                            <a:srgbClr val="FFFFFF"/>
                          </a:solidFill>
                        </a:rPr>
                        <a:t>What is sequenced?</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Organism of interest </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O</a:t>
                      </a:r>
                      <a:endParaRPr sz="1200">
                        <a:solidFill>
                          <a:schemeClr val="dk1"/>
                        </a:solidFill>
                      </a:endParaRPr>
                    </a:p>
                    <a:p>
                      <a:pPr marL="0" lvl="0" indent="0" algn="ctr" rtl="0">
                        <a:spcBef>
                          <a:spcPts val="0"/>
                        </a:spcBef>
                        <a:spcAft>
                          <a:spcPts val="0"/>
                        </a:spcAft>
                        <a:buNone/>
                      </a:pPr>
                      <a:endParaRPr sz="1200">
                        <a:solidFill>
                          <a:schemeClr val="dk1"/>
                        </a:solidFill>
                      </a:endParaRPr>
                    </a:p>
                    <a:p>
                      <a:pPr marL="0" lvl="0" indent="0" algn="ctr" rtl="0">
                        <a:spcBef>
                          <a:spcPts val="0"/>
                        </a:spcBef>
                        <a:spcAft>
                          <a:spcPts val="0"/>
                        </a:spcAft>
                        <a:buNone/>
                      </a:pPr>
                      <a:endParaRPr sz="1200">
                        <a:solidFill>
                          <a:schemeClr val="dk1"/>
                        </a:solidFill>
                      </a:endParaRPr>
                    </a:p>
                    <a:p>
                      <a:pPr marL="0" lvl="0" indent="0" algn="ctr" rtl="0">
                        <a:spcBef>
                          <a:spcPts val="0"/>
                        </a:spcBef>
                        <a:spcAft>
                          <a:spcPts val="0"/>
                        </a:spcAft>
                        <a:buNone/>
                      </a:pPr>
                      <a:r>
                        <a:rPr lang="en" sz="1200">
                          <a:solidFill>
                            <a:schemeClr val="dk1"/>
                          </a:solidFill>
                        </a:rPr>
                        <a:t>rganism of interest</a:t>
                      </a:r>
                      <a:endParaRPr sz="1200"/>
                    </a:p>
                  </a:txBody>
                  <a:tcPr marL="91425" marR="91425" marT="91425" marB="91425" anchor="ctr">
                    <a:lnL w="9525" cap="flat" cmpd="sng">
                      <a:solidFill>
                        <a:srgbClr val="9E9E9E">
                          <a:alpha val="0"/>
                        </a:srgbClr>
                      </a:solidFill>
                      <a:prstDash val="solid"/>
                      <a:round/>
                      <a:headEnd type="none" w="sm" len="sm"/>
                      <a:tailEnd type="none" w="sm" len="sm"/>
                    </a:lnL>
                    <a:lnT w="9525" cap="flat" cmpd="sng">
                      <a:solidFill>
                        <a:srgbClr val="9E9E9E"/>
                      </a:solidFill>
                      <a:prstDash val="solid"/>
                      <a:round/>
                      <a:headEnd type="none" w="sm" len="sm"/>
                      <a:tailEnd type="none" w="sm" len="sm"/>
                    </a:lnT>
                    <a:noFill/>
                  </a:tcPr>
                </a:tc>
                <a:tc>
                  <a:txBody>
                    <a:bodyPr/>
                    <a:lstStyle/>
                    <a:p>
                      <a:pPr marL="0" lvl="0" indent="0" algn="ctr" rtl="0">
                        <a:spcBef>
                          <a:spcPts val="0"/>
                        </a:spcBef>
                        <a:spcAft>
                          <a:spcPts val="0"/>
                        </a:spcAft>
                        <a:buNone/>
                      </a:pPr>
                      <a:r>
                        <a:rPr lang="en" sz="1200"/>
                        <a:t>rRNA from all bacteria, fungi and eukaryotic pathogens in sample</a:t>
                      </a:r>
                      <a:endParaRPr sz="1200"/>
                    </a:p>
                  </a:txBody>
                  <a:tcPr marL="91425" marR="91425" marT="91425" marB="91425" anchor="ctr">
                    <a:lnT w="9525" cap="flat" cmpd="sng">
                      <a:solidFill>
                        <a:srgbClr val="9E9E9E"/>
                      </a:solidFill>
                      <a:prstDash val="solid"/>
                      <a:round/>
                      <a:headEnd type="none" w="sm" len="sm"/>
                      <a:tailEnd type="none" w="sm" len="sm"/>
                    </a:lnT>
                    <a:noFill/>
                  </a:tcPr>
                </a:tc>
                <a:tc>
                  <a:txBody>
                    <a:bodyPr/>
                    <a:lstStyle/>
                    <a:p>
                      <a:pPr marL="0" lvl="0" indent="0" algn="ctr" rtl="0">
                        <a:spcBef>
                          <a:spcPts val="0"/>
                        </a:spcBef>
                        <a:spcAft>
                          <a:spcPts val="0"/>
                        </a:spcAft>
                        <a:buNone/>
                      </a:pPr>
                      <a:r>
                        <a:rPr lang="en" sz="1200"/>
                        <a:t>All DNA/RNA from all organisms in sample</a:t>
                      </a:r>
                      <a:endParaRPr sz="1200"/>
                    </a:p>
                  </a:txBody>
                  <a:tcPr marL="91425" marR="91425" marT="91425" marB="91425" anchor="ctr">
                    <a:lnT w="9525" cap="flat" cmpd="sng">
                      <a:solidFill>
                        <a:srgbClr val="9E9E9E"/>
                      </a:solidFill>
                      <a:prstDash val="solid"/>
                      <a:round/>
                      <a:headEnd type="none" w="sm" len="sm"/>
                      <a:tailEnd type="none" w="sm" len="sm"/>
                    </a:lnT>
                    <a:no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200" b="1">
                          <a:solidFill>
                            <a:srgbClr val="FFFFFF"/>
                          </a:solidFill>
                        </a:rPr>
                        <a:t>Resulting data</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DNA sequence or gene expression of target organism</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RNA/DNA sequence of targeted organism</a:t>
                      </a:r>
                      <a:endParaRPr sz="1200"/>
                    </a:p>
                  </a:txBody>
                  <a:tcPr marL="91425" marR="91425" marT="91425" marB="91425" anchor="ctr">
                    <a:lnL w="9525" cap="flat" cmpd="sng">
                      <a:solidFill>
                        <a:srgbClr val="9E9E9E">
                          <a:alpha val="0"/>
                        </a:srgbClr>
                      </a:solidFill>
                      <a:prstDash val="solid"/>
                      <a:round/>
                      <a:headEnd type="none" w="sm" len="sm"/>
                      <a:tailEnd type="none" w="sm" len="sm"/>
                    </a:lnL>
                    <a:solidFill>
                      <a:srgbClr val="00FBFF">
                        <a:alpha val="16760"/>
                      </a:srgbClr>
                    </a:solidFill>
                  </a:tcPr>
                </a:tc>
                <a:tc>
                  <a:txBody>
                    <a:bodyPr/>
                    <a:lstStyle/>
                    <a:p>
                      <a:pPr marL="0" lvl="0" indent="0" algn="ctr" rtl="0">
                        <a:spcBef>
                          <a:spcPts val="0"/>
                        </a:spcBef>
                        <a:spcAft>
                          <a:spcPts val="0"/>
                        </a:spcAft>
                        <a:buNone/>
                      </a:pPr>
                      <a:r>
                        <a:rPr lang="en" sz="1200"/>
                        <a:t>rRNA sequences of all bacteria, fungi and eukaryotic pathogens</a:t>
                      </a:r>
                      <a:endParaRPr sz="1200"/>
                    </a:p>
                  </a:txBody>
                  <a:tcPr marL="91425" marR="91425" marT="91425" marB="91425" anchor="ctr">
                    <a:solidFill>
                      <a:srgbClr val="00FBFF">
                        <a:alpha val="16760"/>
                      </a:srgbClr>
                    </a:solidFill>
                  </a:tcPr>
                </a:tc>
                <a:tc>
                  <a:txBody>
                    <a:bodyPr/>
                    <a:lstStyle/>
                    <a:p>
                      <a:pPr marL="0" lvl="0" indent="0" algn="ctr" rtl="0">
                        <a:spcBef>
                          <a:spcPts val="0"/>
                        </a:spcBef>
                        <a:spcAft>
                          <a:spcPts val="0"/>
                        </a:spcAft>
                        <a:buNone/>
                      </a:pPr>
                      <a:r>
                        <a:rPr lang="en" sz="1200"/>
                        <a:t>All DNA/sequences from all organisms in sample</a:t>
                      </a:r>
                      <a:endParaRPr sz="1200"/>
                    </a:p>
                  </a:txBody>
                  <a:tcPr marL="91425" marR="91425" marT="91425" marB="91425" anchor="ctr">
                    <a:solidFill>
                      <a:srgbClr val="00FBFF">
                        <a:alpha val="16760"/>
                      </a:srgbClr>
                    </a:solidFill>
                  </a:tcPr>
                </a:tc>
                <a:extLst>
                  <a:ext uri="{0D108BD9-81ED-4DB2-BD59-A6C34878D82A}">
                    <a16:rowId xmlns:a16="http://schemas.microsoft.com/office/drawing/2014/main" val="10004"/>
                  </a:ext>
                </a:extLst>
              </a:tr>
            </a:tbl>
          </a:graphicData>
        </a:graphic>
      </p:graphicFrame>
      <p:sp>
        <p:nvSpPr>
          <p:cNvPr id="404" name="Google Shape;404;p80"/>
          <p:cNvSpPr/>
          <p:nvPr/>
        </p:nvSpPr>
        <p:spPr>
          <a:xfrm>
            <a:off x="3752850" y="917125"/>
            <a:ext cx="5320800" cy="3565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5" name="Google Shape;405;p80"/>
          <p:cNvPicPr preferRelativeResize="0"/>
          <p:nvPr/>
        </p:nvPicPr>
        <p:blipFill>
          <a:blip r:embed="rId3">
            <a:alphaModFix/>
          </a:blip>
          <a:stretch>
            <a:fillRect/>
          </a:stretch>
        </p:blipFill>
        <p:spPr>
          <a:xfrm>
            <a:off x="456675" y="182854"/>
            <a:ext cx="904201" cy="625996"/>
          </a:xfrm>
          <a:prstGeom prst="rect">
            <a:avLst/>
          </a:prstGeom>
          <a:noFill/>
          <a:ln>
            <a:noFill/>
          </a:ln>
        </p:spPr>
      </p:pic>
      <p:sp>
        <p:nvSpPr>
          <p:cNvPr id="406" name="Google Shape;406;p80"/>
          <p:cNvSpPr txBox="1">
            <a:spLocks noGrp="1"/>
          </p:cNvSpPr>
          <p:nvPr>
            <p:ph type="title"/>
          </p:nvPr>
        </p:nvSpPr>
        <p:spPr>
          <a:xfrm>
            <a:off x="1248950" y="182850"/>
            <a:ext cx="6887100" cy="5727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 sz="2400" b="1">
                <a:latin typeface="Helvetica Neue"/>
                <a:ea typeface="Helvetica Neue"/>
                <a:cs typeface="Helvetica Neue"/>
                <a:sym typeface="Helvetica Neue"/>
              </a:rPr>
              <a:t>NGS toolbox for infectious diseases</a:t>
            </a:r>
            <a:endParaRPr sz="2400" b="1">
              <a:latin typeface="Helvetica Neue"/>
              <a:ea typeface="Helvetica Neue"/>
              <a:cs typeface="Helvetica Neue"/>
              <a:sym typeface="Helvetica Neue"/>
            </a:endParaRPr>
          </a:p>
        </p:txBody>
      </p:sp>
      <p:sp>
        <p:nvSpPr>
          <p:cNvPr id="4" name="Slide Number Placeholder 1">
            <a:extLst>
              <a:ext uri="{FF2B5EF4-FFF2-40B4-BE49-F238E27FC236}">
                <a16:creationId xmlns:a16="http://schemas.microsoft.com/office/drawing/2014/main" id="{7E1A0200-E6D2-4CEE-462B-DBD67263E6DE}"/>
              </a:ext>
            </a:extLst>
          </p:cNvPr>
          <p:cNvSpPr>
            <a:spLocks noGrp="1"/>
          </p:cNvSpPr>
          <p:nvPr>
            <p:ph type="sldNum" idx="4294967295"/>
          </p:nvPr>
        </p:nvSpPr>
        <p:spPr>
          <a:xfrm>
            <a:off x="8035925" y="4662488"/>
            <a:ext cx="1108075" cy="393700"/>
          </a:xfrm>
          <a:prstGeom prst="rect">
            <a:avLst/>
          </a:prstGeom>
        </p:spPr>
        <p:txBody>
          <a:bodyPr/>
          <a:lstStyle/>
          <a:p>
            <a:pPr lvl="0"/>
            <a:r>
              <a:rPr lang="en-US" sz="800" dirty="0">
                <a:solidFill>
                  <a:schemeClr val="tx1">
                    <a:lumMod val="50000"/>
                    <a:lumOff val="50000"/>
                  </a:schemeClr>
                </a:solidFill>
              </a:rPr>
              <a:t>Revised 01/12/2026</a:t>
            </a:r>
            <a:endParaRPr lang="en" sz="800" dirty="0">
              <a:solidFill>
                <a:schemeClr val="tx1">
                  <a:lumMod val="50000"/>
                  <a:lumOff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graphicFrame>
        <p:nvGraphicFramePr>
          <p:cNvPr id="411" name="Google Shape;411;p81"/>
          <p:cNvGraphicFramePr/>
          <p:nvPr/>
        </p:nvGraphicFramePr>
        <p:xfrm>
          <a:off x="161525" y="949650"/>
          <a:ext cx="8848900" cy="3474570"/>
        </p:xfrm>
        <a:graphic>
          <a:graphicData uri="http://schemas.openxmlformats.org/drawingml/2006/table">
            <a:tbl>
              <a:tblPr>
                <a:noFill/>
                <a:tableStyleId>{DFBFFDB4-25C3-4913-B03E-B9CB2AB63F68}</a:tableStyleId>
              </a:tblPr>
              <a:tblGrid>
                <a:gridCol w="1829200">
                  <a:extLst>
                    <a:ext uri="{9D8B030D-6E8A-4147-A177-3AD203B41FA5}">
                      <a16:colId xmlns:a16="http://schemas.microsoft.com/office/drawing/2014/main" val="20000"/>
                    </a:ext>
                  </a:extLst>
                </a:gridCol>
                <a:gridCol w="1754925">
                  <a:extLst>
                    <a:ext uri="{9D8B030D-6E8A-4147-A177-3AD203B41FA5}">
                      <a16:colId xmlns:a16="http://schemas.microsoft.com/office/drawing/2014/main" val="20001"/>
                    </a:ext>
                  </a:extLst>
                </a:gridCol>
                <a:gridCol w="1754925">
                  <a:extLst>
                    <a:ext uri="{9D8B030D-6E8A-4147-A177-3AD203B41FA5}">
                      <a16:colId xmlns:a16="http://schemas.microsoft.com/office/drawing/2014/main" val="20002"/>
                    </a:ext>
                  </a:extLst>
                </a:gridCol>
                <a:gridCol w="1754925">
                  <a:extLst>
                    <a:ext uri="{9D8B030D-6E8A-4147-A177-3AD203B41FA5}">
                      <a16:colId xmlns:a16="http://schemas.microsoft.com/office/drawing/2014/main" val="20003"/>
                    </a:ext>
                  </a:extLst>
                </a:gridCol>
                <a:gridCol w="1754925">
                  <a:extLst>
                    <a:ext uri="{9D8B030D-6E8A-4147-A177-3AD203B41FA5}">
                      <a16:colId xmlns:a16="http://schemas.microsoft.com/office/drawing/2014/main" val="20004"/>
                    </a:ext>
                  </a:extLst>
                </a:gridCol>
              </a:tblGrid>
              <a:tr h="381000">
                <a:tc>
                  <a:txBody>
                    <a:bodyPr/>
                    <a:lstStyle/>
                    <a:p>
                      <a:pPr marL="0" lvl="0" indent="0" algn="l" rtl="0">
                        <a:spcBef>
                          <a:spcPts val="0"/>
                        </a:spcBef>
                        <a:spcAft>
                          <a:spcPts val="0"/>
                        </a:spcAft>
                        <a:buNone/>
                      </a:pPr>
                      <a:endParaRPr sz="1200">
                        <a:solidFill>
                          <a:srgbClr val="FFFFFF"/>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b="1">
                          <a:solidFill>
                            <a:srgbClr val="FFFFFF"/>
                          </a:solidFill>
                        </a:rPr>
                        <a:t>Whole genome &amp; transcriptome sequencing</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b="1">
                          <a:solidFill>
                            <a:srgbClr val="FFFFFF"/>
                          </a:solidFill>
                        </a:rPr>
                        <a:t>Amplicon sequencing</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b="1">
                          <a:solidFill>
                            <a:srgbClr val="FFFFFF"/>
                          </a:solidFill>
                        </a:rPr>
                        <a:t>16S &amp; 18S rRNA sequencing</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solidFill>
                      <a:srgbClr val="4A86E8"/>
                    </a:solidFill>
                  </a:tcPr>
                </a:tc>
                <a:tc>
                  <a:txBody>
                    <a:bodyPr/>
                    <a:lstStyle/>
                    <a:p>
                      <a:pPr marL="0" lvl="0" indent="0" algn="ctr" rtl="0">
                        <a:spcBef>
                          <a:spcPts val="0"/>
                        </a:spcBef>
                        <a:spcAft>
                          <a:spcPts val="0"/>
                        </a:spcAft>
                        <a:buNone/>
                      </a:pPr>
                      <a:r>
                        <a:rPr lang="en" sz="1200" b="1">
                          <a:solidFill>
                            <a:srgbClr val="FFFFFF"/>
                          </a:solidFill>
                        </a:rPr>
                        <a:t>Metagenomic (shotgun) sequencing</a:t>
                      </a:r>
                      <a:endParaRPr sz="1200" b="1">
                        <a:solidFill>
                          <a:srgbClr val="FFFFFF"/>
                        </a:solidFill>
                      </a:endParaRPr>
                    </a:p>
                  </a:txBody>
                  <a:tcPr marL="91425" marR="91425" marT="91425" marB="91425" anchor="ctr">
                    <a:solidFill>
                      <a:srgbClr val="4A86E8"/>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200" b="1">
                          <a:solidFill>
                            <a:srgbClr val="FFFFFF"/>
                          </a:solidFill>
                        </a:rPr>
                        <a:t>Starting material</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DNA/RNA from (cultured) isolate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DNA/RNA from a sample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DNA/RNA from a sample</a:t>
                      </a:r>
                      <a:endParaRPr sz="1200"/>
                    </a:p>
                  </a:txBody>
                  <a:tcPr marL="91425" marR="91425" marT="91425" marB="91425" anchor="ctr">
                    <a:lnL w="9525" cap="flat" cmpd="sng">
                      <a:solidFill>
                        <a:srgbClr val="9E9E9E">
                          <a:alpha val="0"/>
                        </a:srgbClr>
                      </a:solidFill>
                      <a:prstDash val="solid"/>
                      <a:round/>
                      <a:headEnd type="none" w="sm" len="sm"/>
                      <a:tailEnd type="none" w="sm" len="sm"/>
                    </a:lnL>
                    <a:lnB w="9525" cap="flat" cmpd="sng">
                      <a:solidFill>
                        <a:srgbClr val="9E9E9E"/>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DNA/RNA from a sample</a:t>
                      </a:r>
                      <a:endParaRPr sz="1200"/>
                    </a:p>
                  </a:txBody>
                  <a:tcPr marL="91425" marR="91425" marT="91425" marB="91425" anchor="ctr">
                    <a:lnB w="9525" cap="flat" cmpd="sng">
                      <a:solidFill>
                        <a:srgbClr val="9E9E9E"/>
                      </a:solidFill>
                      <a:prstDash val="solid"/>
                      <a:round/>
                      <a:headEnd type="none" w="sm" len="sm"/>
                      <a:tailEnd type="none" w="sm" len="sm"/>
                    </a:lnB>
                    <a:no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200" b="1">
                          <a:solidFill>
                            <a:srgbClr val="FFFFFF"/>
                          </a:solidFill>
                        </a:rPr>
                        <a:t>Primers used to amplify sequences</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Random primers</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Organism-specific primers</a:t>
                      </a:r>
                      <a:endParaRPr sz="1200">
                        <a:solidFill>
                          <a:schemeClr val="dk1"/>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16S/18S-specific primers</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Random primers</a:t>
                      </a:r>
                      <a:endParaRPr sz="12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0FBFF">
                        <a:alpha val="16760"/>
                      </a:srgbClr>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200" b="1">
                          <a:solidFill>
                            <a:srgbClr val="FFFFFF"/>
                          </a:solidFill>
                        </a:rPr>
                        <a:t>What is sequenced?</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Organism of interest </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Organism of interest</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endParaRPr sz="1200"/>
                    </a:p>
                    <a:p>
                      <a:pPr marL="0" lvl="0" indent="0" algn="ctr" rtl="0">
                        <a:spcBef>
                          <a:spcPts val="0"/>
                        </a:spcBef>
                        <a:spcAft>
                          <a:spcPts val="0"/>
                        </a:spcAft>
                        <a:buNone/>
                      </a:pPr>
                      <a:r>
                        <a:rPr lang="en" sz="1200"/>
                        <a:t>rRNA from all bacteria, fungi and eukaryotic pathogens in sample</a:t>
                      </a:r>
                      <a:endParaRPr sz="1200"/>
                    </a:p>
                  </a:txBody>
                  <a:tcPr marL="91425" marR="91425" marT="91425" marB="91425" anchor="ctr">
                    <a:lnL w="9525" cap="flat" cmpd="sng">
                      <a:solidFill>
                        <a:srgbClr val="9E9E9E">
                          <a:alpha val="0"/>
                        </a:srgbClr>
                      </a:solidFill>
                      <a:prstDash val="solid"/>
                      <a:round/>
                      <a:headEnd type="none" w="sm" len="sm"/>
                      <a:tailEnd type="none" w="sm" len="sm"/>
                    </a:lnL>
                    <a:lnT w="9525" cap="flat" cmpd="sng">
                      <a:solidFill>
                        <a:srgbClr val="9E9E9E"/>
                      </a:solidFill>
                      <a:prstDash val="solid"/>
                      <a:round/>
                      <a:headEnd type="none" w="sm" len="sm"/>
                      <a:tailEnd type="none" w="sm" len="sm"/>
                    </a:lnT>
                    <a:noFill/>
                  </a:tcPr>
                </a:tc>
                <a:tc>
                  <a:txBody>
                    <a:bodyPr/>
                    <a:lstStyle/>
                    <a:p>
                      <a:pPr marL="0" lvl="0" indent="0" algn="ctr" rtl="0">
                        <a:spcBef>
                          <a:spcPts val="0"/>
                        </a:spcBef>
                        <a:spcAft>
                          <a:spcPts val="0"/>
                        </a:spcAft>
                        <a:buNone/>
                      </a:pPr>
                      <a:r>
                        <a:rPr lang="en" sz="1200"/>
                        <a:t>All DNA/RNA from all organisms in sample</a:t>
                      </a:r>
                      <a:endParaRPr sz="1200"/>
                    </a:p>
                  </a:txBody>
                  <a:tcPr marL="91425" marR="91425" marT="91425" marB="91425" anchor="ctr">
                    <a:lnT w="9525" cap="flat" cmpd="sng">
                      <a:solidFill>
                        <a:srgbClr val="9E9E9E"/>
                      </a:solidFill>
                      <a:prstDash val="solid"/>
                      <a:round/>
                      <a:headEnd type="none" w="sm" len="sm"/>
                      <a:tailEnd type="none" w="sm" len="sm"/>
                    </a:lnT>
                    <a:no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200" b="1">
                          <a:solidFill>
                            <a:srgbClr val="FFFFFF"/>
                          </a:solidFill>
                        </a:rPr>
                        <a:t>Resulting data</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rPr>
                        <a:t>DNA sequence or gene expression of target organism</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RNA/DNA sequence of targeted organism</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rRNA sequences of all bacteria, fungi and eukaryotic pathogens</a:t>
                      </a:r>
                      <a:endParaRPr sz="1200"/>
                    </a:p>
                  </a:txBody>
                  <a:tcPr marL="91425" marR="91425" marT="91425" marB="91425" anchor="ctr">
                    <a:lnL w="9525" cap="flat" cmpd="sng">
                      <a:solidFill>
                        <a:srgbClr val="9E9E9E">
                          <a:alpha val="0"/>
                        </a:srgbClr>
                      </a:solidFill>
                      <a:prstDash val="solid"/>
                      <a:round/>
                      <a:headEnd type="none" w="sm" len="sm"/>
                      <a:tailEnd type="none" w="sm" len="sm"/>
                    </a:lnL>
                    <a:solidFill>
                      <a:srgbClr val="00FBFF">
                        <a:alpha val="16760"/>
                      </a:srgbClr>
                    </a:solidFill>
                  </a:tcPr>
                </a:tc>
                <a:tc>
                  <a:txBody>
                    <a:bodyPr/>
                    <a:lstStyle/>
                    <a:p>
                      <a:pPr marL="0" lvl="0" indent="0" algn="ctr" rtl="0">
                        <a:spcBef>
                          <a:spcPts val="0"/>
                        </a:spcBef>
                        <a:spcAft>
                          <a:spcPts val="0"/>
                        </a:spcAft>
                        <a:buNone/>
                      </a:pPr>
                      <a:r>
                        <a:rPr lang="en" sz="1200"/>
                        <a:t>All DNA/sequences from all organisms in sample</a:t>
                      </a:r>
                      <a:endParaRPr sz="1200"/>
                    </a:p>
                  </a:txBody>
                  <a:tcPr marL="91425" marR="91425" marT="91425" marB="91425" anchor="ctr">
                    <a:solidFill>
                      <a:srgbClr val="00FBFF">
                        <a:alpha val="16760"/>
                      </a:srgbClr>
                    </a:solidFill>
                  </a:tcPr>
                </a:tc>
                <a:extLst>
                  <a:ext uri="{0D108BD9-81ED-4DB2-BD59-A6C34878D82A}">
                    <a16:rowId xmlns:a16="http://schemas.microsoft.com/office/drawing/2014/main" val="10004"/>
                  </a:ext>
                </a:extLst>
              </a:tr>
            </a:tbl>
          </a:graphicData>
        </a:graphic>
      </p:graphicFrame>
      <p:sp>
        <p:nvSpPr>
          <p:cNvPr id="412" name="Google Shape;412;p81"/>
          <p:cNvSpPr/>
          <p:nvPr/>
        </p:nvSpPr>
        <p:spPr>
          <a:xfrm>
            <a:off x="5507500" y="917125"/>
            <a:ext cx="3585900" cy="3565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3" name="Google Shape;413;p81"/>
          <p:cNvPicPr preferRelativeResize="0"/>
          <p:nvPr/>
        </p:nvPicPr>
        <p:blipFill>
          <a:blip r:embed="rId3">
            <a:alphaModFix/>
          </a:blip>
          <a:stretch>
            <a:fillRect/>
          </a:stretch>
        </p:blipFill>
        <p:spPr>
          <a:xfrm>
            <a:off x="456675" y="182854"/>
            <a:ext cx="904201" cy="625996"/>
          </a:xfrm>
          <a:prstGeom prst="rect">
            <a:avLst/>
          </a:prstGeom>
          <a:noFill/>
          <a:ln>
            <a:noFill/>
          </a:ln>
        </p:spPr>
      </p:pic>
      <p:sp>
        <p:nvSpPr>
          <p:cNvPr id="414" name="Google Shape;414;p81"/>
          <p:cNvSpPr txBox="1">
            <a:spLocks noGrp="1"/>
          </p:cNvSpPr>
          <p:nvPr>
            <p:ph type="title"/>
          </p:nvPr>
        </p:nvSpPr>
        <p:spPr>
          <a:xfrm>
            <a:off x="1248950" y="182850"/>
            <a:ext cx="6887100" cy="5727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 sz="2400" b="1">
                <a:latin typeface="Helvetica Neue"/>
                <a:ea typeface="Helvetica Neue"/>
                <a:cs typeface="Helvetica Neue"/>
                <a:sym typeface="Helvetica Neue"/>
              </a:rPr>
              <a:t>NGS toolbox for infectious diseases</a:t>
            </a:r>
            <a:endParaRPr sz="2400" b="1">
              <a:latin typeface="Helvetica Neue"/>
              <a:ea typeface="Helvetica Neue"/>
              <a:cs typeface="Helvetica Neue"/>
              <a:sym typeface="Helvetica Neue"/>
            </a:endParaRPr>
          </a:p>
        </p:txBody>
      </p:sp>
      <p:sp>
        <p:nvSpPr>
          <p:cNvPr id="4" name="Slide Number Placeholder 1">
            <a:extLst>
              <a:ext uri="{FF2B5EF4-FFF2-40B4-BE49-F238E27FC236}">
                <a16:creationId xmlns:a16="http://schemas.microsoft.com/office/drawing/2014/main" id="{F35D88DA-78A4-A31F-AC8D-055B3B34D2B3}"/>
              </a:ext>
            </a:extLst>
          </p:cNvPr>
          <p:cNvSpPr>
            <a:spLocks noGrp="1"/>
          </p:cNvSpPr>
          <p:nvPr>
            <p:ph type="sldNum" idx="4294967295"/>
          </p:nvPr>
        </p:nvSpPr>
        <p:spPr>
          <a:xfrm>
            <a:off x="8035925" y="4662488"/>
            <a:ext cx="1108075" cy="393700"/>
          </a:xfrm>
          <a:prstGeom prst="rect">
            <a:avLst/>
          </a:prstGeom>
        </p:spPr>
        <p:txBody>
          <a:bodyPr/>
          <a:lstStyle/>
          <a:p>
            <a:pPr lvl="0"/>
            <a:r>
              <a:rPr lang="en-US" sz="800" dirty="0">
                <a:solidFill>
                  <a:schemeClr val="tx1">
                    <a:lumMod val="50000"/>
                    <a:lumOff val="50000"/>
                  </a:schemeClr>
                </a:solidFill>
              </a:rPr>
              <a:t>Revised 01/12/2026</a:t>
            </a:r>
            <a:endParaRPr lang="en" sz="800" dirty="0">
              <a:solidFill>
                <a:schemeClr val="tx1">
                  <a:lumMod val="50000"/>
                  <a:lumOff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82"/>
          <p:cNvSpPr/>
          <p:nvPr/>
        </p:nvSpPr>
        <p:spPr>
          <a:xfrm>
            <a:off x="7262825" y="993325"/>
            <a:ext cx="1830600" cy="3565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20" name="Google Shape;420;p82"/>
          <p:cNvPicPr preferRelativeResize="0"/>
          <p:nvPr/>
        </p:nvPicPr>
        <p:blipFill>
          <a:blip r:embed="rId3">
            <a:alphaModFix/>
          </a:blip>
          <a:stretch>
            <a:fillRect/>
          </a:stretch>
        </p:blipFill>
        <p:spPr>
          <a:xfrm>
            <a:off x="456675" y="182854"/>
            <a:ext cx="904201" cy="625996"/>
          </a:xfrm>
          <a:prstGeom prst="rect">
            <a:avLst/>
          </a:prstGeom>
          <a:noFill/>
          <a:ln>
            <a:noFill/>
          </a:ln>
        </p:spPr>
      </p:pic>
      <p:sp>
        <p:nvSpPr>
          <p:cNvPr id="421" name="Google Shape;421;p82"/>
          <p:cNvSpPr txBox="1">
            <a:spLocks noGrp="1"/>
          </p:cNvSpPr>
          <p:nvPr>
            <p:ph type="title"/>
          </p:nvPr>
        </p:nvSpPr>
        <p:spPr>
          <a:xfrm>
            <a:off x="1248950" y="182850"/>
            <a:ext cx="6887100" cy="5727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 sz="2400" b="1">
                <a:latin typeface="Helvetica Neue"/>
                <a:ea typeface="Helvetica Neue"/>
                <a:cs typeface="Helvetica Neue"/>
                <a:sym typeface="Helvetica Neue"/>
              </a:rPr>
              <a:t>NGS toolbox for infectious diseases</a:t>
            </a:r>
            <a:endParaRPr sz="2400" b="1">
              <a:latin typeface="Helvetica Neue"/>
              <a:ea typeface="Helvetica Neue"/>
              <a:cs typeface="Helvetica Neue"/>
              <a:sym typeface="Helvetica Neue"/>
            </a:endParaRPr>
          </a:p>
        </p:txBody>
      </p:sp>
      <p:sp>
        <p:nvSpPr>
          <p:cNvPr id="4" name="Slide Number Placeholder 1">
            <a:extLst>
              <a:ext uri="{FF2B5EF4-FFF2-40B4-BE49-F238E27FC236}">
                <a16:creationId xmlns:a16="http://schemas.microsoft.com/office/drawing/2014/main" id="{7FD90122-888D-FB9C-C3CD-E71E745D50B1}"/>
              </a:ext>
            </a:extLst>
          </p:cNvPr>
          <p:cNvSpPr>
            <a:spLocks noGrp="1"/>
          </p:cNvSpPr>
          <p:nvPr>
            <p:ph type="sldNum" idx="4294967295"/>
          </p:nvPr>
        </p:nvSpPr>
        <p:spPr>
          <a:xfrm>
            <a:off x="8035925" y="4662488"/>
            <a:ext cx="1108075" cy="393700"/>
          </a:xfrm>
          <a:prstGeom prst="rect">
            <a:avLst/>
          </a:prstGeom>
        </p:spPr>
        <p:txBody>
          <a:bodyPr/>
          <a:lstStyle/>
          <a:p>
            <a:pPr lvl="0"/>
            <a:r>
              <a:rPr lang="en-US" sz="800" dirty="0">
                <a:solidFill>
                  <a:schemeClr val="tx1">
                    <a:lumMod val="50000"/>
                    <a:lumOff val="50000"/>
                  </a:schemeClr>
                </a:solidFill>
              </a:rPr>
              <a:t>Revised 01/12/2026</a:t>
            </a:r>
            <a:endParaRPr lang="en" sz="800" dirty="0">
              <a:solidFill>
                <a:schemeClr val="tx1">
                  <a:lumMod val="50000"/>
                  <a:lumOff val="50000"/>
                </a:schemeClr>
              </a:solidFill>
            </a:endParaRPr>
          </a:p>
        </p:txBody>
      </p:sp>
      <p:graphicFrame>
        <p:nvGraphicFramePr>
          <p:cNvPr id="422" name="Google Shape;422;p82"/>
          <p:cNvGraphicFramePr/>
          <p:nvPr/>
        </p:nvGraphicFramePr>
        <p:xfrm>
          <a:off x="161525" y="949650"/>
          <a:ext cx="8848900" cy="3474570"/>
        </p:xfrm>
        <a:graphic>
          <a:graphicData uri="http://schemas.openxmlformats.org/drawingml/2006/table">
            <a:tbl>
              <a:tblPr>
                <a:noFill/>
                <a:tableStyleId>{DFBFFDB4-25C3-4913-B03E-B9CB2AB63F68}</a:tableStyleId>
              </a:tblPr>
              <a:tblGrid>
                <a:gridCol w="1829200">
                  <a:extLst>
                    <a:ext uri="{9D8B030D-6E8A-4147-A177-3AD203B41FA5}">
                      <a16:colId xmlns:a16="http://schemas.microsoft.com/office/drawing/2014/main" val="20000"/>
                    </a:ext>
                  </a:extLst>
                </a:gridCol>
                <a:gridCol w="1754925">
                  <a:extLst>
                    <a:ext uri="{9D8B030D-6E8A-4147-A177-3AD203B41FA5}">
                      <a16:colId xmlns:a16="http://schemas.microsoft.com/office/drawing/2014/main" val="20001"/>
                    </a:ext>
                  </a:extLst>
                </a:gridCol>
                <a:gridCol w="1754925">
                  <a:extLst>
                    <a:ext uri="{9D8B030D-6E8A-4147-A177-3AD203B41FA5}">
                      <a16:colId xmlns:a16="http://schemas.microsoft.com/office/drawing/2014/main" val="20002"/>
                    </a:ext>
                  </a:extLst>
                </a:gridCol>
                <a:gridCol w="1754925">
                  <a:extLst>
                    <a:ext uri="{9D8B030D-6E8A-4147-A177-3AD203B41FA5}">
                      <a16:colId xmlns:a16="http://schemas.microsoft.com/office/drawing/2014/main" val="20003"/>
                    </a:ext>
                  </a:extLst>
                </a:gridCol>
                <a:gridCol w="1754925">
                  <a:extLst>
                    <a:ext uri="{9D8B030D-6E8A-4147-A177-3AD203B41FA5}">
                      <a16:colId xmlns:a16="http://schemas.microsoft.com/office/drawing/2014/main" val="20004"/>
                    </a:ext>
                  </a:extLst>
                </a:gridCol>
              </a:tblGrid>
              <a:tr h="381000">
                <a:tc>
                  <a:txBody>
                    <a:bodyPr/>
                    <a:lstStyle/>
                    <a:p>
                      <a:pPr marL="0" lvl="0" indent="0" algn="l" rtl="0">
                        <a:spcBef>
                          <a:spcPts val="0"/>
                        </a:spcBef>
                        <a:spcAft>
                          <a:spcPts val="0"/>
                        </a:spcAft>
                        <a:buNone/>
                      </a:pPr>
                      <a:endParaRPr sz="1200">
                        <a:solidFill>
                          <a:srgbClr val="FFFFFF"/>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b="1">
                          <a:solidFill>
                            <a:srgbClr val="FFFFFF"/>
                          </a:solidFill>
                        </a:rPr>
                        <a:t>Whole genome &amp; transcriptome sequencing</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b="1">
                          <a:solidFill>
                            <a:srgbClr val="FFFFFF"/>
                          </a:solidFill>
                        </a:rPr>
                        <a:t>Amplicon sequencing</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b="1">
                          <a:solidFill>
                            <a:srgbClr val="FFFFFF"/>
                          </a:solidFill>
                        </a:rPr>
                        <a:t>16S &amp; 18S rRNA sequencing</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b="1">
                          <a:solidFill>
                            <a:srgbClr val="FFFFFF"/>
                          </a:solidFill>
                        </a:rPr>
                        <a:t>Metagenomic (shotgun) sequencing</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200" b="1">
                          <a:solidFill>
                            <a:srgbClr val="FFFFFF"/>
                          </a:solidFill>
                        </a:rPr>
                        <a:t>Starting material</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DNA/RNA from (cultured) isolate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DNA/RNA from a sample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DNA/RNA from a sample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DNA/RNA from a sample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200" b="1">
                          <a:solidFill>
                            <a:srgbClr val="FFFFFF"/>
                          </a:solidFill>
                        </a:rPr>
                        <a:t>Primers used to amplify sequences</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Random primers</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Organism-specific primers</a:t>
                      </a:r>
                      <a:endParaRPr sz="1200">
                        <a:solidFill>
                          <a:schemeClr val="dk1"/>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16S/18S-specific primers</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Random primers</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200" b="1">
                          <a:solidFill>
                            <a:srgbClr val="FFFFFF"/>
                          </a:solidFill>
                        </a:rPr>
                        <a:t>What is sequenced?</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Organism of interest </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Organism of interest</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t>Only rRNA from bacteria, fungi and eukaryotic pathogens in sample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t>All DNA/RNA from all organisms in sample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200" b="1">
                          <a:solidFill>
                            <a:srgbClr val="FFFFFF"/>
                          </a:solidFill>
                        </a:rPr>
                        <a:t>Resulting data</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DNA sequence or gene expression of target organism</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RNA/DNA sequence of targeted organism</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Only rRNA sequences of bacteria, fungi and eukaryotic pathogens</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All DNA/sequences from all organisms in sample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extLst>
                  <a:ext uri="{0D108BD9-81ED-4DB2-BD59-A6C34878D82A}">
                    <a16:rowId xmlns:a16="http://schemas.microsoft.com/office/drawing/2014/main" val="10004"/>
                  </a:ext>
                </a:extLst>
              </a:tr>
            </a:tbl>
          </a:graphicData>
        </a:graphic>
      </p:graphicFrame>
      <p:sp>
        <p:nvSpPr>
          <p:cNvPr id="423" name="Google Shape;423;p82"/>
          <p:cNvSpPr/>
          <p:nvPr/>
        </p:nvSpPr>
        <p:spPr>
          <a:xfrm>
            <a:off x="7291225" y="898175"/>
            <a:ext cx="1802100" cy="36603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pic>
        <p:nvPicPr>
          <p:cNvPr id="428" name="Google Shape;428;p83"/>
          <p:cNvPicPr preferRelativeResize="0"/>
          <p:nvPr/>
        </p:nvPicPr>
        <p:blipFill>
          <a:blip r:embed="rId3">
            <a:alphaModFix/>
          </a:blip>
          <a:stretch>
            <a:fillRect/>
          </a:stretch>
        </p:blipFill>
        <p:spPr>
          <a:xfrm>
            <a:off x="456675" y="182854"/>
            <a:ext cx="904201" cy="625996"/>
          </a:xfrm>
          <a:prstGeom prst="rect">
            <a:avLst/>
          </a:prstGeom>
          <a:noFill/>
          <a:ln>
            <a:noFill/>
          </a:ln>
        </p:spPr>
      </p:pic>
      <p:sp>
        <p:nvSpPr>
          <p:cNvPr id="429" name="Google Shape;429;p83"/>
          <p:cNvSpPr txBox="1">
            <a:spLocks noGrp="1"/>
          </p:cNvSpPr>
          <p:nvPr>
            <p:ph type="title"/>
          </p:nvPr>
        </p:nvSpPr>
        <p:spPr>
          <a:xfrm>
            <a:off x="1248950" y="182850"/>
            <a:ext cx="6887100" cy="5727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 sz="2400" b="1">
                <a:latin typeface="Helvetica Neue"/>
                <a:ea typeface="Helvetica Neue"/>
                <a:cs typeface="Helvetica Neue"/>
                <a:sym typeface="Helvetica Neue"/>
              </a:rPr>
              <a:t>NGS toolbox for infectious diseases</a:t>
            </a:r>
            <a:endParaRPr sz="2400" b="1">
              <a:latin typeface="Helvetica Neue"/>
              <a:ea typeface="Helvetica Neue"/>
              <a:cs typeface="Helvetica Neue"/>
              <a:sym typeface="Helvetica Neue"/>
            </a:endParaRPr>
          </a:p>
        </p:txBody>
      </p:sp>
      <p:sp>
        <p:nvSpPr>
          <p:cNvPr id="4" name="Slide Number Placeholder 1">
            <a:extLst>
              <a:ext uri="{FF2B5EF4-FFF2-40B4-BE49-F238E27FC236}">
                <a16:creationId xmlns:a16="http://schemas.microsoft.com/office/drawing/2014/main" id="{1D6AF046-B6AC-CA10-352E-8DC755578786}"/>
              </a:ext>
            </a:extLst>
          </p:cNvPr>
          <p:cNvSpPr>
            <a:spLocks noGrp="1"/>
          </p:cNvSpPr>
          <p:nvPr>
            <p:ph type="sldNum" idx="4294967295"/>
          </p:nvPr>
        </p:nvSpPr>
        <p:spPr>
          <a:xfrm>
            <a:off x="8035925" y="4662488"/>
            <a:ext cx="1108075" cy="393700"/>
          </a:xfrm>
          <a:prstGeom prst="rect">
            <a:avLst/>
          </a:prstGeom>
        </p:spPr>
        <p:txBody>
          <a:bodyPr/>
          <a:lstStyle/>
          <a:p>
            <a:pPr lvl="0"/>
            <a:r>
              <a:rPr lang="en-US" sz="800" dirty="0">
                <a:solidFill>
                  <a:schemeClr val="tx1">
                    <a:lumMod val="50000"/>
                    <a:lumOff val="50000"/>
                  </a:schemeClr>
                </a:solidFill>
              </a:rPr>
              <a:t>Revised 01/12/2026</a:t>
            </a:r>
            <a:endParaRPr lang="en" sz="800" dirty="0">
              <a:solidFill>
                <a:schemeClr val="tx1">
                  <a:lumMod val="50000"/>
                  <a:lumOff val="50000"/>
                </a:schemeClr>
              </a:solidFill>
            </a:endParaRPr>
          </a:p>
        </p:txBody>
      </p:sp>
      <p:graphicFrame>
        <p:nvGraphicFramePr>
          <p:cNvPr id="430" name="Google Shape;430;p83"/>
          <p:cNvGraphicFramePr/>
          <p:nvPr/>
        </p:nvGraphicFramePr>
        <p:xfrm>
          <a:off x="161525" y="949650"/>
          <a:ext cx="8848900" cy="3474570"/>
        </p:xfrm>
        <a:graphic>
          <a:graphicData uri="http://schemas.openxmlformats.org/drawingml/2006/table">
            <a:tbl>
              <a:tblPr>
                <a:noFill/>
                <a:tableStyleId>{DFBFFDB4-25C3-4913-B03E-B9CB2AB63F68}</a:tableStyleId>
              </a:tblPr>
              <a:tblGrid>
                <a:gridCol w="1829200">
                  <a:extLst>
                    <a:ext uri="{9D8B030D-6E8A-4147-A177-3AD203B41FA5}">
                      <a16:colId xmlns:a16="http://schemas.microsoft.com/office/drawing/2014/main" val="20000"/>
                    </a:ext>
                  </a:extLst>
                </a:gridCol>
                <a:gridCol w="1754925">
                  <a:extLst>
                    <a:ext uri="{9D8B030D-6E8A-4147-A177-3AD203B41FA5}">
                      <a16:colId xmlns:a16="http://schemas.microsoft.com/office/drawing/2014/main" val="20001"/>
                    </a:ext>
                  </a:extLst>
                </a:gridCol>
                <a:gridCol w="1754925">
                  <a:extLst>
                    <a:ext uri="{9D8B030D-6E8A-4147-A177-3AD203B41FA5}">
                      <a16:colId xmlns:a16="http://schemas.microsoft.com/office/drawing/2014/main" val="20002"/>
                    </a:ext>
                  </a:extLst>
                </a:gridCol>
                <a:gridCol w="1754925">
                  <a:extLst>
                    <a:ext uri="{9D8B030D-6E8A-4147-A177-3AD203B41FA5}">
                      <a16:colId xmlns:a16="http://schemas.microsoft.com/office/drawing/2014/main" val="20003"/>
                    </a:ext>
                  </a:extLst>
                </a:gridCol>
                <a:gridCol w="1754925">
                  <a:extLst>
                    <a:ext uri="{9D8B030D-6E8A-4147-A177-3AD203B41FA5}">
                      <a16:colId xmlns:a16="http://schemas.microsoft.com/office/drawing/2014/main" val="20004"/>
                    </a:ext>
                  </a:extLst>
                </a:gridCol>
              </a:tblGrid>
              <a:tr h="381000">
                <a:tc>
                  <a:txBody>
                    <a:bodyPr/>
                    <a:lstStyle/>
                    <a:p>
                      <a:pPr marL="0" lvl="0" indent="0" algn="l" rtl="0">
                        <a:spcBef>
                          <a:spcPts val="0"/>
                        </a:spcBef>
                        <a:spcAft>
                          <a:spcPts val="0"/>
                        </a:spcAft>
                        <a:buNone/>
                      </a:pPr>
                      <a:endParaRPr sz="1200">
                        <a:solidFill>
                          <a:srgbClr val="FFFFFF"/>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b="1">
                          <a:solidFill>
                            <a:srgbClr val="FFFFFF"/>
                          </a:solidFill>
                        </a:rPr>
                        <a:t>Whole genome &amp; transcriptome sequencing</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b="1">
                          <a:solidFill>
                            <a:srgbClr val="FFFFFF"/>
                          </a:solidFill>
                        </a:rPr>
                        <a:t>Amplicon sequencing</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b="1">
                          <a:solidFill>
                            <a:srgbClr val="FFFFFF"/>
                          </a:solidFill>
                        </a:rPr>
                        <a:t>16S &amp; 18S rRNA sequencing</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b="1">
                          <a:solidFill>
                            <a:srgbClr val="FFFFFF"/>
                          </a:solidFill>
                        </a:rPr>
                        <a:t>Metagenomic (shotgun) sequencing</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200" b="1">
                          <a:solidFill>
                            <a:srgbClr val="FFFFFF"/>
                          </a:solidFill>
                        </a:rPr>
                        <a:t>Starting material</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DNA/RNA from (cultured) isolate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DNA/RNA from a sample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DNA/RNA from a sample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DNA/RNA from a sample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200" b="1">
                          <a:solidFill>
                            <a:srgbClr val="FFFFFF"/>
                          </a:solidFill>
                        </a:rPr>
                        <a:t>Primers used to amplify sequences</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Random primers</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Organism-specific primers</a:t>
                      </a:r>
                      <a:endParaRPr sz="1200">
                        <a:solidFill>
                          <a:schemeClr val="dk1"/>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16S/18S-specific primers</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Random primers</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200" b="1">
                          <a:solidFill>
                            <a:srgbClr val="FFFFFF"/>
                          </a:solidFill>
                        </a:rPr>
                        <a:t>What is sequenced?</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Organism of interest </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Organism of interest</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t>Only rRNA from bacteria, fungi and eukaryotic pathogens in sample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t>DNA/RNA from all organisms in sample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200" b="1">
                          <a:solidFill>
                            <a:srgbClr val="FFFFFF"/>
                          </a:solidFill>
                        </a:rPr>
                        <a:t>Resulting data</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DNA sequence or gene expression of target organism</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rPr>
                        <a:t>RNA/DNA sequence of targeted organism</a:t>
                      </a:r>
                      <a:endParaRPr sz="1200">
                        <a:solidFill>
                          <a:schemeClr val="dk1"/>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Only rRNA sequences of bacteria, fungi and eukaryotic pathogens</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DNA/RNA sequences from all organisms in sample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extLst>
                  <a:ext uri="{0D108BD9-81ED-4DB2-BD59-A6C34878D82A}">
                    <a16:rowId xmlns:a16="http://schemas.microsoft.com/office/drawing/2014/main" val="10004"/>
                  </a:ext>
                </a:extLst>
              </a:tr>
            </a:tbl>
          </a:graphicData>
        </a:graphic>
      </p:graphicFrame>
      <p:sp>
        <p:nvSpPr>
          <p:cNvPr id="5" name="Rounded Rectangle 4">
            <a:extLst>
              <a:ext uri="{FF2B5EF4-FFF2-40B4-BE49-F238E27FC236}">
                <a16:creationId xmlns:a16="http://schemas.microsoft.com/office/drawing/2014/main" id="{007AE8EA-4CC6-C540-5C6D-4B6449C9EBE0}"/>
              </a:ext>
            </a:extLst>
          </p:cNvPr>
          <p:cNvSpPr/>
          <p:nvPr/>
        </p:nvSpPr>
        <p:spPr>
          <a:xfrm>
            <a:off x="7258929" y="949650"/>
            <a:ext cx="1723546" cy="3530910"/>
          </a:xfrm>
          <a:prstGeom prst="round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grpSp>
        <p:nvGrpSpPr>
          <p:cNvPr id="5" name="Group 4">
            <a:extLst>
              <a:ext uri="{FF2B5EF4-FFF2-40B4-BE49-F238E27FC236}">
                <a16:creationId xmlns:a16="http://schemas.microsoft.com/office/drawing/2014/main" id="{7C2C0E8F-8552-12E5-DB72-C4D2ACEF1FAE}"/>
              </a:ext>
            </a:extLst>
          </p:cNvPr>
          <p:cNvGrpSpPr/>
          <p:nvPr/>
        </p:nvGrpSpPr>
        <p:grpSpPr>
          <a:xfrm>
            <a:off x="147550" y="769575"/>
            <a:ext cx="8848900" cy="4206061"/>
            <a:chOff x="161525" y="949649"/>
            <a:chExt cx="8848900" cy="4206061"/>
          </a:xfrm>
        </p:grpSpPr>
        <p:graphicFrame>
          <p:nvGraphicFramePr>
            <p:cNvPr id="437" name="Google Shape;437;p84"/>
            <p:cNvGraphicFramePr/>
            <p:nvPr/>
          </p:nvGraphicFramePr>
          <p:xfrm>
            <a:off x="161525" y="949650"/>
            <a:ext cx="8848900" cy="4206060"/>
          </p:xfrm>
          <a:graphic>
            <a:graphicData uri="http://schemas.openxmlformats.org/drawingml/2006/table">
              <a:tbl>
                <a:tblPr>
                  <a:noFill/>
                  <a:tableStyleId>{DFBFFDB4-25C3-4913-B03E-B9CB2AB63F68}</a:tableStyleId>
                </a:tblPr>
                <a:tblGrid>
                  <a:gridCol w="1829200">
                    <a:extLst>
                      <a:ext uri="{9D8B030D-6E8A-4147-A177-3AD203B41FA5}">
                        <a16:colId xmlns:a16="http://schemas.microsoft.com/office/drawing/2014/main" val="20000"/>
                      </a:ext>
                    </a:extLst>
                  </a:gridCol>
                  <a:gridCol w="1754925">
                    <a:extLst>
                      <a:ext uri="{9D8B030D-6E8A-4147-A177-3AD203B41FA5}">
                        <a16:colId xmlns:a16="http://schemas.microsoft.com/office/drawing/2014/main" val="20001"/>
                      </a:ext>
                    </a:extLst>
                  </a:gridCol>
                  <a:gridCol w="1754925">
                    <a:extLst>
                      <a:ext uri="{9D8B030D-6E8A-4147-A177-3AD203B41FA5}">
                        <a16:colId xmlns:a16="http://schemas.microsoft.com/office/drawing/2014/main" val="20002"/>
                      </a:ext>
                    </a:extLst>
                  </a:gridCol>
                  <a:gridCol w="1754925">
                    <a:extLst>
                      <a:ext uri="{9D8B030D-6E8A-4147-A177-3AD203B41FA5}">
                        <a16:colId xmlns:a16="http://schemas.microsoft.com/office/drawing/2014/main" val="20003"/>
                      </a:ext>
                    </a:extLst>
                  </a:gridCol>
                  <a:gridCol w="1754925">
                    <a:extLst>
                      <a:ext uri="{9D8B030D-6E8A-4147-A177-3AD203B41FA5}">
                        <a16:colId xmlns:a16="http://schemas.microsoft.com/office/drawing/2014/main" val="20004"/>
                      </a:ext>
                    </a:extLst>
                  </a:gridCol>
                </a:tblGrid>
                <a:tr h="381000">
                  <a:tc>
                    <a:txBody>
                      <a:bodyPr/>
                      <a:lstStyle/>
                      <a:p>
                        <a:pPr marL="0" lvl="0" indent="0" algn="l" rtl="0">
                          <a:spcBef>
                            <a:spcPts val="0"/>
                          </a:spcBef>
                          <a:spcAft>
                            <a:spcPts val="0"/>
                          </a:spcAft>
                          <a:buNone/>
                        </a:pPr>
                        <a:endParaRPr sz="1200" dirty="0">
                          <a:solidFill>
                            <a:srgbClr val="FFFFFF"/>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b="1">
                            <a:solidFill>
                              <a:srgbClr val="FFFFFF"/>
                            </a:solidFill>
                          </a:rPr>
                          <a:t>Whole genome &amp; transcriptome sequencing</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b="1">
                            <a:solidFill>
                              <a:srgbClr val="FFFFFF"/>
                            </a:solidFill>
                          </a:rPr>
                          <a:t>Amplicon sequencing</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b="1">
                            <a:solidFill>
                              <a:srgbClr val="FFFFFF"/>
                            </a:solidFill>
                          </a:rPr>
                          <a:t>16S &amp; 18S rRNA sequencing</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b="1" dirty="0">
                            <a:solidFill>
                              <a:srgbClr val="FFFFFF"/>
                            </a:solidFill>
                          </a:rPr>
                          <a:t>Metagenomic (shotgun) sequencing</a:t>
                        </a:r>
                        <a:endParaRPr sz="1200" b="1" dirty="0">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200" b="1" dirty="0">
                            <a:solidFill>
                              <a:srgbClr val="FFFFFF"/>
                            </a:solidFill>
                          </a:rPr>
                          <a:t>Starting material</a:t>
                        </a:r>
                        <a:endParaRPr sz="1200" b="1" dirty="0">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DNA/RNA from (cultured) isolate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DNA/RNA from a sample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DNA/RNA from a sample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DNA/RNA from a sample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200" b="1">
                            <a:solidFill>
                              <a:srgbClr val="FFFFFF"/>
                            </a:solidFill>
                          </a:rPr>
                          <a:t>Primers used to amplify sequences</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Random primers</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Organism-specific primers</a:t>
                        </a:r>
                        <a:endParaRPr sz="1200">
                          <a:solidFill>
                            <a:schemeClr val="dk1"/>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16S/18S-specific primers</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Random primers</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200" b="1">
                            <a:solidFill>
                              <a:srgbClr val="FFFFFF"/>
                            </a:solidFill>
                          </a:rPr>
                          <a:t>What is sequenced?</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Organism of interest </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solidFill>
                              <a:schemeClr val="dk1"/>
                            </a:solidFill>
                          </a:rPr>
                          <a:t>Organism of interest</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t>Only rRNA from bacteria, fungi and eukaryotic pathogens in sample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t>DNA/RNA from all organisms in sample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200" b="1">
                            <a:solidFill>
                              <a:srgbClr val="FFFFFF"/>
                            </a:solidFill>
                          </a:rPr>
                          <a:t>Resulting data</a:t>
                        </a:r>
                        <a:endParaRPr sz="1200" b="1">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DNA sequence or gene expression of target organism</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solidFill>
                              <a:schemeClr val="dk1"/>
                            </a:solidFill>
                          </a:rPr>
                          <a:t>RNA/DNA sequence of targeted organism</a:t>
                        </a:r>
                        <a:endParaRPr sz="1200">
                          <a:solidFill>
                            <a:schemeClr val="dk1"/>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Only rRNA sequences of bacteria, fungi and eukaryotic pathogens</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tc>
                    <a:txBody>
                      <a:bodyPr/>
                      <a:lstStyle/>
                      <a:p>
                        <a:pPr marL="0" lvl="0" indent="0" algn="ctr" rtl="0">
                          <a:spcBef>
                            <a:spcPts val="0"/>
                          </a:spcBef>
                          <a:spcAft>
                            <a:spcPts val="0"/>
                          </a:spcAft>
                          <a:buNone/>
                        </a:pPr>
                        <a:r>
                          <a:rPr lang="en" sz="1200"/>
                          <a:t>DNA/RNA sequences from all organisms in sample</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BFF">
                          <a:alpha val="16760"/>
                        </a:srgbClr>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sz="1200" b="1" dirty="0">
                            <a:solidFill>
                              <a:srgbClr val="FFFFFF"/>
                            </a:solidFill>
                          </a:rPr>
                          <a:t>Use cases</a:t>
                        </a:r>
                        <a:endParaRPr sz="1200" b="1" dirty="0">
                          <a:solidFill>
                            <a:srgbClr val="FFFFFF"/>
                          </a:solidFil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t>Fundamental research on cultured organisms</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Full genomes from clinical samples for genomic epidemiology</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Exploratory studies on environmental samples</a:t>
                        </a:r>
                        <a:endParaRPr sz="12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dirty="0"/>
                          <a:t>Outbreak research, co-infections, ...</a:t>
                        </a:r>
                        <a:endParaRPr sz="1200" dirty="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4" name="Rounded Rectangle 3">
              <a:extLst>
                <a:ext uri="{FF2B5EF4-FFF2-40B4-BE49-F238E27FC236}">
                  <a16:creationId xmlns:a16="http://schemas.microsoft.com/office/drawing/2014/main" id="{E2544DCB-F8E0-9F41-A92D-EDAC595634CF}"/>
                </a:ext>
              </a:extLst>
            </p:cNvPr>
            <p:cNvSpPr/>
            <p:nvPr/>
          </p:nvSpPr>
          <p:spPr>
            <a:xfrm>
              <a:off x="7258929" y="949649"/>
              <a:ext cx="1723546" cy="4107167"/>
            </a:xfrm>
            <a:prstGeom prst="round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35" name="Google Shape;435;p84"/>
          <p:cNvPicPr preferRelativeResize="0"/>
          <p:nvPr/>
        </p:nvPicPr>
        <p:blipFill>
          <a:blip r:embed="rId3">
            <a:alphaModFix/>
          </a:blip>
          <a:stretch>
            <a:fillRect/>
          </a:stretch>
        </p:blipFill>
        <p:spPr>
          <a:xfrm>
            <a:off x="456675" y="182854"/>
            <a:ext cx="904201" cy="625996"/>
          </a:xfrm>
          <a:prstGeom prst="rect">
            <a:avLst/>
          </a:prstGeom>
          <a:noFill/>
          <a:ln>
            <a:noFill/>
          </a:ln>
        </p:spPr>
      </p:pic>
      <p:sp>
        <p:nvSpPr>
          <p:cNvPr id="436" name="Google Shape;436;p84"/>
          <p:cNvSpPr txBox="1">
            <a:spLocks noGrp="1"/>
          </p:cNvSpPr>
          <p:nvPr>
            <p:ph type="title"/>
          </p:nvPr>
        </p:nvSpPr>
        <p:spPr>
          <a:xfrm>
            <a:off x="1248950" y="182850"/>
            <a:ext cx="6887100" cy="5727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 sz="2400" b="1">
                <a:latin typeface="Helvetica Neue"/>
                <a:ea typeface="Helvetica Neue"/>
                <a:cs typeface="Helvetica Neue"/>
                <a:sym typeface="Helvetica Neue"/>
              </a:rPr>
              <a:t>NGS toolbox for infectious diseases</a:t>
            </a:r>
            <a:endParaRPr sz="2400" b="1">
              <a:latin typeface="Helvetica Neue"/>
              <a:ea typeface="Helvetica Neue"/>
              <a:cs typeface="Helvetica Neue"/>
              <a:sym typeface="Helvetica Neue"/>
            </a:endParaRPr>
          </a:p>
        </p:txBody>
      </p:sp>
      <p:sp>
        <p:nvSpPr>
          <p:cNvPr id="6" name="Slide Number Placeholder 1">
            <a:extLst>
              <a:ext uri="{FF2B5EF4-FFF2-40B4-BE49-F238E27FC236}">
                <a16:creationId xmlns:a16="http://schemas.microsoft.com/office/drawing/2014/main" id="{9BBC0436-05F1-75D2-91E6-B0F5F31DF57A}"/>
              </a:ext>
            </a:extLst>
          </p:cNvPr>
          <p:cNvSpPr>
            <a:spLocks noGrp="1"/>
          </p:cNvSpPr>
          <p:nvPr>
            <p:ph type="sldNum" idx="4294967295"/>
          </p:nvPr>
        </p:nvSpPr>
        <p:spPr>
          <a:xfrm>
            <a:off x="8035925" y="4876800"/>
            <a:ext cx="1108075" cy="393700"/>
          </a:xfrm>
          <a:prstGeom prst="rect">
            <a:avLst/>
          </a:prstGeom>
        </p:spPr>
        <p:txBody>
          <a:bodyPr/>
          <a:lstStyle/>
          <a:p>
            <a:pPr lvl="0"/>
            <a:r>
              <a:rPr lang="en-US" sz="800" dirty="0">
                <a:solidFill>
                  <a:schemeClr val="tx1">
                    <a:lumMod val="50000"/>
                    <a:lumOff val="50000"/>
                  </a:schemeClr>
                </a:solidFill>
              </a:rPr>
              <a:t>Revised 01/12/2026</a:t>
            </a:r>
            <a:endParaRPr lang="en" sz="800" dirty="0">
              <a:solidFill>
                <a:schemeClr val="tx1">
                  <a:lumMod val="50000"/>
                  <a:lumOff val="5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pic>
        <p:nvPicPr>
          <p:cNvPr id="416" name="Google Shape;416;p71" descr="A screenshot of a cell phone&#10;&#10;Description automatically generated"/>
          <p:cNvPicPr preferRelativeResize="0"/>
          <p:nvPr/>
        </p:nvPicPr>
        <p:blipFill rotWithShape="1">
          <a:blip r:embed="rId3">
            <a:alphaModFix/>
          </a:blip>
          <a:srcRect t="54323"/>
          <a:stretch/>
        </p:blipFill>
        <p:spPr>
          <a:xfrm>
            <a:off x="2824601" y="1427350"/>
            <a:ext cx="6013949" cy="1922849"/>
          </a:xfrm>
          <a:prstGeom prst="rect">
            <a:avLst/>
          </a:prstGeom>
          <a:noFill/>
          <a:ln>
            <a:noFill/>
          </a:ln>
        </p:spPr>
      </p:pic>
      <p:sp>
        <p:nvSpPr>
          <p:cNvPr id="417" name="Google Shape;417;p71"/>
          <p:cNvSpPr/>
          <p:nvPr/>
        </p:nvSpPr>
        <p:spPr>
          <a:xfrm>
            <a:off x="5837093" y="4232559"/>
            <a:ext cx="2517300" cy="4467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418" name="Google Shape;418;p71"/>
          <p:cNvSpPr txBox="1"/>
          <p:nvPr/>
        </p:nvSpPr>
        <p:spPr>
          <a:xfrm>
            <a:off x="153525" y="3445350"/>
            <a:ext cx="8876400" cy="715500"/>
          </a:xfrm>
          <a:prstGeom prst="rect">
            <a:avLst/>
          </a:prstGeom>
          <a:noFill/>
          <a:ln>
            <a:noFill/>
          </a:ln>
        </p:spPr>
        <p:txBody>
          <a:bodyPr spcFirstLastPara="1" wrap="square" lIns="68575" tIns="34275" rIns="68575" bIns="34275" anchor="t" anchorCtr="0">
            <a:noAutofit/>
          </a:bodyPr>
          <a:lstStyle/>
          <a:p>
            <a:pPr marL="0" marR="0" lvl="0" indent="0" algn="ctr" rtl="0">
              <a:lnSpc>
                <a:spcPct val="115000"/>
              </a:lnSpc>
              <a:spcBef>
                <a:spcPts val="0"/>
              </a:spcBef>
              <a:spcAft>
                <a:spcPts val="0"/>
              </a:spcAft>
              <a:buNone/>
            </a:pPr>
            <a:r>
              <a:rPr lang="en" sz="2000">
                <a:solidFill>
                  <a:schemeClr val="dk1"/>
                </a:solidFill>
              </a:rPr>
              <a:t>Metagenomic next generation sequencing </a:t>
            </a:r>
            <a:endParaRPr sz="2000">
              <a:solidFill>
                <a:schemeClr val="dk1"/>
              </a:solidFill>
            </a:endParaRPr>
          </a:p>
          <a:p>
            <a:pPr marL="0" marR="0" lvl="0" indent="0" algn="ctr" rtl="0">
              <a:lnSpc>
                <a:spcPct val="115000"/>
              </a:lnSpc>
              <a:spcBef>
                <a:spcPts val="0"/>
              </a:spcBef>
              <a:spcAft>
                <a:spcPts val="0"/>
              </a:spcAft>
              <a:buNone/>
            </a:pPr>
            <a:r>
              <a:rPr lang="en" sz="2000">
                <a:solidFill>
                  <a:schemeClr val="dk1"/>
                </a:solidFill>
              </a:rPr>
              <a:t>Comprehensive analysis of </a:t>
            </a:r>
            <a:r>
              <a:rPr lang="en" sz="2000" u="sng">
                <a:solidFill>
                  <a:schemeClr val="dk1"/>
                </a:solidFill>
              </a:rPr>
              <a:t>all of the genetic material</a:t>
            </a:r>
            <a:r>
              <a:rPr lang="en" sz="2000">
                <a:solidFill>
                  <a:schemeClr val="dk1"/>
                </a:solidFill>
              </a:rPr>
              <a:t> present in a sample</a:t>
            </a:r>
            <a:endParaRPr sz="2000">
              <a:solidFill>
                <a:schemeClr val="dk1"/>
              </a:solidFill>
            </a:endParaRPr>
          </a:p>
          <a:p>
            <a:pPr marL="0" marR="0" lvl="0" indent="0" algn="ctr" rtl="0">
              <a:lnSpc>
                <a:spcPct val="115000"/>
              </a:lnSpc>
              <a:spcBef>
                <a:spcPts val="0"/>
              </a:spcBef>
              <a:spcAft>
                <a:spcPts val="0"/>
              </a:spcAft>
              <a:buNone/>
            </a:pPr>
            <a:endParaRPr sz="1700">
              <a:solidFill>
                <a:schemeClr val="dk1"/>
              </a:solidFill>
            </a:endParaRPr>
          </a:p>
          <a:p>
            <a:pPr marL="0" marR="0" lvl="0" indent="0" algn="ctr" rtl="0">
              <a:lnSpc>
                <a:spcPct val="115000"/>
              </a:lnSpc>
              <a:spcBef>
                <a:spcPts val="0"/>
              </a:spcBef>
              <a:spcAft>
                <a:spcPts val="0"/>
              </a:spcAft>
              <a:buNone/>
            </a:pPr>
            <a:r>
              <a:rPr lang="en" sz="1600">
                <a:solidFill>
                  <a:schemeClr val="dk1"/>
                </a:solidFill>
              </a:rPr>
              <a:t>RNA or DNA mNGS? That depends on your pathogen(s) of interest...</a:t>
            </a:r>
            <a:endParaRPr sz="1600">
              <a:solidFill>
                <a:schemeClr val="dk1"/>
              </a:solidFill>
            </a:endParaRPr>
          </a:p>
        </p:txBody>
      </p:sp>
      <p:pic>
        <p:nvPicPr>
          <p:cNvPr id="419" name="Google Shape;419;p71" descr="A screenshot of a cell phone&#10;&#10;Description automatically generated"/>
          <p:cNvPicPr preferRelativeResize="0"/>
          <p:nvPr/>
        </p:nvPicPr>
        <p:blipFill rotWithShape="1">
          <a:blip r:embed="rId3">
            <a:alphaModFix/>
          </a:blip>
          <a:srcRect l="5318" t="24052" r="45156" b="46064"/>
          <a:stretch/>
        </p:blipFill>
        <p:spPr>
          <a:xfrm>
            <a:off x="107975" y="1773541"/>
            <a:ext cx="2978546" cy="1258031"/>
          </a:xfrm>
          <a:prstGeom prst="rect">
            <a:avLst/>
          </a:prstGeom>
          <a:noFill/>
          <a:ln>
            <a:noFill/>
          </a:ln>
        </p:spPr>
      </p:pic>
      <p:pic>
        <p:nvPicPr>
          <p:cNvPr id="420" name="Google Shape;420;p71" descr="Bats"/>
          <p:cNvPicPr preferRelativeResize="0"/>
          <p:nvPr/>
        </p:nvPicPr>
        <p:blipFill rotWithShape="1">
          <a:blip r:embed="rId4">
            <a:alphaModFix/>
          </a:blip>
          <a:srcRect/>
          <a:stretch/>
        </p:blipFill>
        <p:spPr>
          <a:xfrm>
            <a:off x="937256" y="1298246"/>
            <a:ext cx="569431" cy="569432"/>
          </a:xfrm>
          <a:prstGeom prst="rect">
            <a:avLst/>
          </a:prstGeom>
          <a:noFill/>
          <a:ln>
            <a:noFill/>
          </a:ln>
        </p:spPr>
      </p:pic>
      <p:pic>
        <p:nvPicPr>
          <p:cNvPr id="421" name="Google Shape;421;p71" descr="Lungs"/>
          <p:cNvPicPr preferRelativeResize="0"/>
          <p:nvPr/>
        </p:nvPicPr>
        <p:blipFill rotWithShape="1">
          <a:blip r:embed="rId5">
            <a:alphaModFix/>
          </a:blip>
          <a:srcRect/>
          <a:stretch/>
        </p:blipFill>
        <p:spPr>
          <a:xfrm>
            <a:off x="257325" y="1298250"/>
            <a:ext cx="569431" cy="569432"/>
          </a:xfrm>
          <a:prstGeom prst="rect">
            <a:avLst/>
          </a:prstGeom>
          <a:noFill/>
          <a:ln>
            <a:noFill/>
          </a:ln>
        </p:spPr>
      </p:pic>
      <p:pic>
        <p:nvPicPr>
          <p:cNvPr id="422" name="Google Shape;422;p71" descr="Hill scene"/>
          <p:cNvPicPr preferRelativeResize="0"/>
          <p:nvPr/>
        </p:nvPicPr>
        <p:blipFill rotWithShape="1">
          <a:blip r:embed="rId6">
            <a:alphaModFix/>
          </a:blip>
          <a:srcRect/>
          <a:stretch/>
        </p:blipFill>
        <p:spPr>
          <a:xfrm>
            <a:off x="1617169" y="1298243"/>
            <a:ext cx="569431" cy="569432"/>
          </a:xfrm>
          <a:prstGeom prst="rect">
            <a:avLst/>
          </a:prstGeom>
          <a:noFill/>
          <a:ln>
            <a:noFill/>
          </a:ln>
        </p:spPr>
      </p:pic>
      <p:sp>
        <p:nvSpPr>
          <p:cNvPr id="423" name="Google Shape;423;p71"/>
          <p:cNvSpPr/>
          <p:nvPr/>
        </p:nvSpPr>
        <p:spPr>
          <a:xfrm>
            <a:off x="4026275" y="1427350"/>
            <a:ext cx="492300" cy="3798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24" name="Google Shape;424;p71" descr="A screenshot of a cell phone&#10;&#10;Description automatically generated"/>
          <p:cNvPicPr preferRelativeResize="0"/>
          <p:nvPr/>
        </p:nvPicPr>
        <p:blipFill rotWithShape="1">
          <a:blip r:embed="rId3">
            <a:alphaModFix/>
          </a:blip>
          <a:srcRect l="40194" t="71688" r="54425" b="19289"/>
          <a:stretch/>
        </p:blipFill>
        <p:spPr>
          <a:xfrm>
            <a:off x="3115350" y="2163025"/>
            <a:ext cx="323550" cy="379801"/>
          </a:xfrm>
          <a:prstGeom prst="rect">
            <a:avLst/>
          </a:prstGeom>
          <a:noFill/>
          <a:ln>
            <a:noFill/>
          </a:ln>
        </p:spPr>
      </p:pic>
      <p:sp>
        <p:nvSpPr>
          <p:cNvPr id="425" name="Google Shape;425;p71"/>
          <p:cNvSpPr/>
          <p:nvPr/>
        </p:nvSpPr>
        <p:spPr>
          <a:xfrm>
            <a:off x="6998050" y="3103900"/>
            <a:ext cx="1885200" cy="2463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71"/>
          <p:cNvSpPr txBox="1"/>
          <p:nvPr/>
        </p:nvSpPr>
        <p:spPr>
          <a:xfrm>
            <a:off x="252225" y="288200"/>
            <a:ext cx="8747700" cy="369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000" b="1" dirty="0" err="1">
                <a:solidFill>
                  <a:schemeClr val="tx1"/>
                </a:solidFill>
              </a:rPr>
              <a:t>mNGS</a:t>
            </a:r>
            <a:endParaRPr sz="4000" b="1" dirty="0">
              <a:solidFill>
                <a:schemeClr val="tx1"/>
              </a:solidFill>
            </a:endParaRPr>
          </a:p>
        </p:txBody>
      </p:sp>
      <p:sp>
        <p:nvSpPr>
          <p:cNvPr id="4" name="Slide Number Placeholder 1">
            <a:extLst>
              <a:ext uri="{FF2B5EF4-FFF2-40B4-BE49-F238E27FC236}">
                <a16:creationId xmlns:a16="http://schemas.microsoft.com/office/drawing/2014/main" id="{EFF4F87E-BFE5-01E3-E428-5D1EB32F13A5}"/>
              </a:ext>
            </a:extLst>
          </p:cNvPr>
          <p:cNvSpPr txBox="1">
            <a:spLocks/>
          </p:cNvSpPr>
          <p:nvPr/>
        </p:nvSpPr>
        <p:spPr>
          <a:xfrm>
            <a:off x="8035925" y="4876800"/>
            <a:ext cx="1108075" cy="393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800">
                <a:solidFill>
                  <a:schemeClr val="tx1">
                    <a:lumMod val="50000"/>
                    <a:lumOff val="50000"/>
                  </a:schemeClr>
                </a:solidFill>
              </a:rPr>
              <a:t>Revised 01/12/2026</a:t>
            </a:r>
            <a:endParaRPr lang="en" sz="800" dirty="0">
              <a:solidFill>
                <a:schemeClr val="tx1">
                  <a:lumMod val="50000"/>
                  <a:lumOff val="5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85"/>
          <p:cNvSpPr/>
          <p:nvPr/>
        </p:nvSpPr>
        <p:spPr>
          <a:xfrm>
            <a:off x="336550" y="1026400"/>
            <a:ext cx="4127700" cy="1806900"/>
          </a:xfrm>
          <a:prstGeom prst="flowChartAlternateProcess">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pic>
        <p:nvPicPr>
          <p:cNvPr id="443" name="Google Shape;443;p85"/>
          <p:cNvPicPr preferRelativeResize="0"/>
          <p:nvPr/>
        </p:nvPicPr>
        <p:blipFill rotWithShape="1">
          <a:blip r:embed="rId3">
            <a:alphaModFix/>
          </a:blip>
          <a:srcRect l="65423" t="56413" b="13406"/>
          <a:stretch/>
        </p:blipFill>
        <p:spPr>
          <a:xfrm>
            <a:off x="1675675" y="1452450"/>
            <a:ext cx="1476724" cy="1288975"/>
          </a:xfrm>
          <a:prstGeom prst="rect">
            <a:avLst/>
          </a:prstGeom>
          <a:noFill/>
          <a:ln>
            <a:noFill/>
          </a:ln>
        </p:spPr>
      </p:pic>
      <p:sp>
        <p:nvSpPr>
          <p:cNvPr id="444" name="Google Shape;444;p85"/>
          <p:cNvSpPr/>
          <p:nvPr/>
        </p:nvSpPr>
        <p:spPr>
          <a:xfrm>
            <a:off x="4736160" y="1026400"/>
            <a:ext cx="4127700" cy="1822200"/>
          </a:xfrm>
          <a:prstGeom prst="flowChartAlternateProcess">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445" name="Google Shape;445;p85"/>
          <p:cNvSpPr/>
          <p:nvPr/>
        </p:nvSpPr>
        <p:spPr>
          <a:xfrm>
            <a:off x="336550" y="3045506"/>
            <a:ext cx="4127700" cy="1806900"/>
          </a:xfrm>
          <a:prstGeom prst="flowChartAlternateProcess">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446" name="Google Shape;446;p85"/>
          <p:cNvSpPr/>
          <p:nvPr/>
        </p:nvSpPr>
        <p:spPr>
          <a:xfrm>
            <a:off x="4736160" y="3033931"/>
            <a:ext cx="4127700" cy="1806900"/>
          </a:xfrm>
          <a:prstGeom prst="flowChartAlternateProcess">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2" name="Slide Number Placeholder 1">
            <a:extLst>
              <a:ext uri="{FF2B5EF4-FFF2-40B4-BE49-F238E27FC236}">
                <a16:creationId xmlns:a16="http://schemas.microsoft.com/office/drawing/2014/main" id="{FED99757-ACD2-6B04-36DD-2D55B83C576F}"/>
              </a:ext>
            </a:extLst>
          </p:cNvPr>
          <p:cNvSpPr>
            <a:spLocks noGrp="1"/>
          </p:cNvSpPr>
          <p:nvPr>
            <p:ph type="sldNum" sz="quarter" idx="12"/>
          </p:nvPr>
        </p:nvSpPr>
        <p:spPr>
          <a:xfrm>
            <a:off x="8005806" y="4846324"/>
            <a:ext cx="1108080" cy="393600"/>
          </a:xfrm>
        </p:spPr>
        <p:txBody>
          <a:bodyPr/>
          <a:lstStyle/>
          <a:p>
            <a:pPr lvl="0"/>
            <a:r>
              <a:rPr lang="en-US" sz="800" dirty="0">
                <a:solidFill>
                  <a:schemeClr val="tx1">
                    <a:lumMod val="50000"/>
                    <a:lumOff val="50000"/>
                  </a:schemeClr>
                </a:solidFill>
              </a:rPr>
              <a:t>Revised 01/12/2026</a:t>
            </a:r>
            <a:endParaRPr lang="en" sz="800" dirty="0">
              <a:solidFill>
                <a:schemeClr val="tx1">
                  <a:lumMod val="50000"/>
                  <a:lumOff val="50000"/>
                </a:schemeClr>
              </a:solidFill>
            </a:endParaRPr>
          </a:p>
        </p:txBody>
      </p:sp>
      <p:sp>
        <p:nvSpPr>
          <p:cNvPr id="447" name="Google Shape;447;p85"/>
          <p:cNvSpPr txBox="1">
            <a:spLocks noGrp="1"/>
          </p:cNvSpPr>
          <p:nvPr>
            <p:ph type="title" idx="4294967295"/>
          </p:nvPr>
        </p:nvSpPr>
        <p:spPr>
          <a:xfrm>
            <a:off x="0" y="269875"/>
            <a:ext cx="8416925" cy="5715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 sz="2400" b="1">
                <a:latin typeface="Helvetica Neue"/>
                <a:ea typeface="Helvetica Neue"/>
                <a:cs typeface="Helvetica Neue"/>
                <a:sym typeface="Helvetica Neue"/>
              </a:rPr>
              <a:t>Use cases for mNGS</a:t>
            </a:r>
            <a:endParaRPr sz="2400" b="1">
              <a:latin typeface="Helvetica Neue"/>
              <a:ea typeface="Helvetica Neue"/>
              <a:cs typeface="Helvetica Neue"/>
              <a:sym typeface="Helvetica Neue"/>
            </a:endParaRPr>
          </a:p>
        </p:txBody>
      </p:sp>
      <p:sp>
        <p:nvSpPr>
          <p:cNvPr id="448" name="Google Shape;448;p85"/>
          <p:cNvSpPr txBox="1"/>
          <p:nvPr/>
        </p:nvSpPr>
        <p:spPr>
          <a:xfrm>
            <a:off x="814763" y="1159838"/>
            <a:ext cx="3171300" cy="414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449" name="Google Shape;449;p85"/>
          <p:cNvSpPr txBox="1"/>
          <p:nvPr/>
        </p:nvSpPr>
        <p:spPr>
          <a:xfrm>
            <a:off x="4747735" y="1112542"/>
            <a:ext cx="4127700" cy="414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Helvetica Neue"/>
                <a:ea typeface="Helvetica Neue"/>
                <a:cs typeface="Helvetica Neue"/>
                <a:sym typeface="Helvetica Neue"/>
              </a:rPr>
              <a:t>Outbreak detection and prevention</a:t>
            </a:r>
            <a:endParaRPr sz="1800" b="0" i="0" u="none" strike="noStrike" cap="none">
              <a:solidFill>
                <a:srgbClr val="000000"/>
              </a:solidFill>
              <a:latin typeface="Helvetica Neue"/>
              <a:ea typeface="Helvetica Neue"/>
              <a:cs typeface="Helvetica Neue"/>
              <a:sym typeface="Helvetica Neue"/>
            </a:endParaRPr>
          </a:p>
        </p:txBody>
      </p:sp>
      <p:sp>
        <p:nvSpPr>
          <p:cNvPr id="450" name="Google Shape;450;p85"/>
          <p:cNvSpPr txBox="1"/>
          <p:nvPr/>
        </p:nvSpPr>
        <p:spPr>
          <a:xfrm>
            <a:off x="814763" y="3171742"/>
            <a:ext cx="3171300" cy="414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451" name="Google Shape;451;p85"/>
          <p:cNvSpPr txBox="1"/>
          <p:nvPr/>
        </p:nvSpPr>
        <p:spPr>
          <a:xfrm>
            <a:off x="336550" y="1110175"/>
            <a:ext cx="4127700" cy="414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Helvetica Neue"/>
                <a:ea typeface="Helvetica Neue"/>
                <a:cs typeface="Helvetica Neue"/>
                <a:sym typeface="Helvetica Neue"/>
              </a:rPr>
              <a:t>Identify a novel pathogen</a:t>
            </a:r>
            <a:endParaRPr sz="1800" b="0" i="0" u="none" strike="noStrike" cap="none">
              <a:solidFill>
                <a:srgbClr val="000000"/>
              </a:solidFill>
              <a:latin typeface="Helvetica Neue"/>
              <a:ea typeface="Helvetica Neue"/>
              <a:cs typeface="Helvetica Neue"/>
              <a:sym typeface="Helvetica Neue"/>
            </a:endParaRPr>
          </a:p>
        </p:txBody>
      </p:sp>
      <p:sp>
        <p:nvSpPr>
          <p:cNvPr id="452" name="Google Shape;452;p85"/>
          <p:cNvSpPr txBox="1"/>
          <p:nvPr/>
        </p:nvSpPr>
        <p:spPr>
          <a:xfrm>
            <a:off x="814763" y="3171742"/>
            <a:ext cx="3171300" cy="414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453" name="Google Shape;453;p85"/>
          <p:cNvSpPr txBox="1"/>
          <p:nvPr/>
        </p:nvSpPr>
        <p:spPr>
          <a:xfrm>
            <a:off x="336538" y="3110480"/>
            <a:ext cx="4127700" cy="414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Helvetica Neue"/>
                <a:ea typeface="Helvetica Neue"/>
                <a:cs typeface="Helvetica Neue"/>
                <a:sym typeface="Helvetica Neue"/>
              </a:rPr>
              <a:t>Identify coinfections</a:t>
            </a:r>
            <a:endParaRPr sz="1800" b="0" i="0" u="none" strike="noStrike" cap="none">
              <a:solidFill>
                <a:srgbClr val="000000"/>
              </a:solidFill>
              <a:latin typeface="Helvetica Neue"/>
              <a:ea typeface="Helvetica Neue"/>
              <a:cs typeface="Helvetica Neue"/>
              <a:sym typeface="Helvetica Neue"/>
            </a:endParaRPr>
          </a:p>
        </p:txBody>
      </p:sp>
      <p:sp>
        <p:nvSpPr>
          <p:cNvPr id="454" name="Google Shape;454;p85"/>
          <p:cNvSpPr txBox="1"/>
          <p:nvPr/>
        </p:nvSpPr>
        <p:spPr>
          <a:xfrm>
            <a:off x="5225913" y="3171742"/>
            <a:ext cx="3171300" cy="414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455" name="Google Shape;455;p85"/>
          <p:cNvSpPr txBox="1"/>
          <p:nvPr/>
        </p:nvSpPr>
        <p:spPr>
          <a:xfrm>
            <a:off x="4736149" y="3104308"/>
            <a:ext cx="4127700" cy="414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Helvetica Neue"/>
                <a:ea typeface="Helvetica Neue"/>
                <a:cs typeface="Helvetica Neue"/>
                <a:sym typeface="Helvetica Neue"/>
              </a:rPr>
              <a:t>Characterize the microbial landscape</a:t>
            </a:r>
            <a:endParaRPr sz="1800" b="0" i="0" u="none" strike="noStrike" cap="none">
              <a:solidFill>
                <a:srgbClr val="000000"/>
              </a:solidFill>
              <a:latin typeface="Helvetica Neue"/>
              <a:ea typeface="Helvetica Neue"/>
              <a:cs typeface="Helvetica Neue"/>
              <a:sym typeface="Helvetica Neue"/>
            </a:endParaRPr>
          </a:p>
        </p:txBody>
      </p:sp>
      <p:pic>
        <p:nvPicPr>
          <p:cNvPr id="457" name="Google Shape;457;p85"/>
          <p:cNvPicPr preferRelativeResize="0"/>
          <p:nvPr/>
        </p:nvPicPr>
        <p:blipFill rotWithShape="1">
          <a:blip r:embed="rId4">
            <a:alphaModFix/>
          </a:blip>
          <a:srcRect l="3809" t="5168"/>
          <a:stretch/>
        </p:blipFill>
        <p:spPr>
          <a:xfrm>
            <a:off x="5167452" y="3579696"/>
            <a:ext cx="391898" cy="393675"/>
          </a:xfrm>
          <a:prstGeom prst="rect">
            <a:avLst/>
          </a:prstGeom>
          <a:noFill/>
          <a:ln>
            <a:noFill/>
          </a:ln>
        </p:spPr>
      </p:pic>
      <p:pic>
        <p:nvPicPr>
          <p:cNvPr id="458" name="Google Shape;458;p85"/>
          <p:cNvPicPr preferRelativeResize="0"/>
          <p:nvPr/>
        </p:nvPicPr>
        <p:blipFill>
          <a:blip r:embed="rId5">
            <a:alphaModFix/>
          </a:blip>
          <a:stretch>
            <a:fillRect/>
          </a:stretch>
        </p:blipFill>
        <p:spPr>
          <a:xfrm>
            <a:off x="6397057" y="4347356"/>
            <a:ext cx="372683" cy="344731"/>
          </a:xfrm>
          <a:prstGeom prst="rect">
            <a:avLst/>
          </a:prstGeom>
          <a:noFill/>
          <a:ln>
            <a:noFill/>
          </a:ln>
        </p:spPr>
      </p:pic>
      <p:pic>
        <p:nvPicPr>
          <p:cNvPr id="459" name="Google Shape;459;p85"/>
          <p:cNvPicPr preferRelativeResize="0"/>
          <p:nvPr/>
        </p:nvPicPr>
        <p:blipFill>
          <a:blip r:embed="rId6">
            <a:alphaModFix/>
          </a:blip>
          <a:stretch>
            <a:fillRect/>
          </a:stretch>
        </p:blipFill>
        <p:spPr>
          <a:xfrm>
            <a:off x="5788127" y="3774605"/>
            <a:ext cx="228750" cy="253909"/>
          </a:xfrm>
          <a:prstGeom prst="rect">
            <a:avLst/>
          </a:prstGeom>
          <a:noFill/>
          <a:ln>
            <a:noFill/>
          </a:ln>
        </p:spPr>
      </p:pic>
      <p:pic>
        <p:nvPicPr>
          <p:cNvPr id="460" name="Google Shape;460;p85"/>
          <p:cNvPicPr preferRelativeResize="0"/>
          <p:nvPr/>
        </p:nvPicPr>
        <p:blipFill>
          <a:blip r:embed="rId7">
            <a:alphaModFix/>
          </a:blip>
          <a:stretch>
            <a:fillRect/>
          </a:stretch>
        </p:blipFill>
        <p:spPr>
          <a:xfrm rot="3995643">
            <a:off x="5788095" y="4343848"/>
            <a:ext cx="454467" cy="95247"/>
          </a:xfrm>
          <a:prstGeom prst="rect">
            <a:avLst/>
          </a:prstGeom>
          <a:noFill/>
          <a:ln>
            <a:noFill/>
          </a:ln>
        </p:spPr>
      </p:pic>
      <p:sp>
        <p:nvSpPr>
          <p:cNvPr id="461" name="Google Shape;461;p85"/>
          <p:cNvSpPr/>
          <p:nvPr/>
        </p:nvSpPr>
        <p:spPr>
          <a:xfrm rot="9167033">
            <a:off x="5466154" y="4434097"/>
            <a:ext cx="141686" cy="147053"/>
          </a:xfrm>
          <a:prstGeom prst="ellipse">
            <a:avLst/>
          </a:prstGeom>
          <a:solidFill>
            <a:srgbClr val="A4C2F4"/>
          </a:solidFill>
          <a:ln>
            <a:noFill/>
          </a:ln>
          <a:effectLst>
            <a:outerShdw blurRad="57150" dist="19050" dir="117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2" name="Google Shape;462;p85"/>
          <p:cNvPicPr preferRelativeResize="0"/>
          <p:nvPr/>
        </p:nvPicPr>
        <p:blipFill>
          <a:blip r:embed="rId8">
            <a:alphaModFix/>
          </a:blip>
          <a:stretch>
            <a:fillRect/>
          </a:stretch>
        </p:blipFill>
        <p:spPr>
          <a:xfrm rot="4124068">
            <a:off x="6148707" y="3775047"/>
            <a:ext cx="556585" cy="200831"/>
          </a:xfrm>
          <a:prstGeom prst="rect">
            <a:avLst/>
          </a:prstGeom>
          <a:noFill/>
          <a:ln>
            <a:noFill/>
          </a:ln>
        </p:spPr>
      </p:pic>
      <p:pic>
        <p:nvPicPr>
          <p:cNvPr id="463" name="Google Shape;463;p85"/>
          <p:cNvPicPr preferRelativeResize="0"/>
          <p:nvPr/>
        </p:nvPicPr>
        <p:blipFill rotWithShape="1">
          <a:blip r:embed="rId4">
            <a:alphaModFix/>
          </a:blip>
          <a:srcRect l="3809" t="5168"/>
          <a:stretch/>
        </p:blipFill>
        <p:spPr>
          <a:xfrm>
            <a:off x="7053265" y="3579696"/>
            <a:ext cx="391898" cy="393675"/>
          </a:xfrm>
          <a:prstGeom prst="rect">
            <a:avLst/>
          </a:prstGeom>
          <a:noFill/>
          <a:ln>
            <a:noFill/>
          </a:ln>
        </p:spPr>
      </p:pic>
      <p:pic>
        <p:nvPicPr>
          <p:cNvPr id="464" name="Google Shape;464;p85"/>
          <p:cNvPicPr preferRelativeResize="0"/>
          <p:nvPr/>
        </p:nvPicPr>
        <p:blipFill>
          <a:blip r:embed="rId5">
            <a:alphaModFix/>
          </a:blip>
          <a:stretch>
            <a:fillRect/>
          </a:stretch>
        </p:blipFill>
        <p:spPr>
          <a:xfrm>
            <a:off x="8024544" y="4264331"/>
            <a:ext cx="372684" cy="344731"/>
          </a:xfrm>
          <a:prstGeom prst="rect">
            <a:avLst/>
          </a:prstGeom>
          <a:noFill/>
          <a:ln>
            <a:noFill/>
          </a:ln>
        </p:spPr>
      </p:pic>
      <p:pic>
        <p:nvPicPr>
          <p:cNvPr id="465" name="Google Shape;465;p85"/>
          <p:cNvPicPr preferRelativeResize="0"/>
          <p:nvPr/>
        </p:nvPicPr>
        <p:blipFill>
          <a:blip r:embed="rId6">
            <a:alphaModFix/>
          </a:blip>
          <a:stretch>
            <a:fillRect/>
          </a:stretch>
        </p:blipFill>
        <p:spPr>
          <a:xfrm>
            <a:off x="6837089" y="4010405"/>
            <a:ext cx="228750" cy="253909"/>
          </a:xfrm>
          <a:prstGeom prst="rect">
            <a:avLst/>
          </a:prstGeom>
          <a:noFill/>
          <a:ln>
            <a:noFill/>
          </a:ln>
        </p:spPr>
      </p:pic>
      <p:pic>
        <p:nvPicPr>
          <p:cNvPr id="466" name="Google Shape;466;p85"/>
          <p:cNvPicPr preferRelativeResize="0"/>
          <p:nvPr/>
        </p:nvPicPr>
        <p:blipFill>
          <a:blip r:embed="rId7">
            <a:alphaModFix/>
          </a:blip>
          <a:stretch>
            <a:fillRect/>
          </a:stretch>
        </p:blipFill>
        <p:spPr>
          <a:xfrm rot="6274924">
            <a:off x="7762132" y="3821373"/>
            <a:ext cx="454467" cy="95247"/>
          </a:xfrm>
          <a:prstGeom prst="rect">
            <a:avLst/>
          </a:prstGeom>
          <a:noFill/>
          <a:ln>
            <a:noFill/>
          </a:ln>
        </p:spPr>
      </p:pic>
      <p:sp>
        <p:nvSpPr>
          <p:cNvPr id="467" name="Google Shape;467;p85"/>
          <p:cNvSpPr/>
          <p:nvPr/>
        </p:nvSpPr>
        <p:spPr>
          <a:xfrm rot="9167033">
            <a:off x="7071817" y="4547897"/>
            <a:ext cx="141686" cy="147053"/>
          </a:xfrm>
          <a:prstGeom prst="ellipse">
            <a:avLst/>
          </a:prstGeom>
          <a:solidFill>
            <a:srgbClr val="A4C2F4"/>
          </a:solidFill>
          <a:ln>
            <a:noFill/>
          </a:ln>
          <a:effectLst>
            <a:outerShdw blurRad="57150" dist="19050" dir="117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8" name="Google Shape;468;p85"/>
          <p:cNvPicPr preferRelativeResize="0"/>
          <p:nvPr/>
        </p:nvPicPr>
        <p:blipFill>
          <a:blip r:embed="rId8">
            <a:alphaModFix/>
          </a:blip>
          <a:stretch>
            <a:fillRect/>
          </a:stretch>
        </p:blipFill>
        <p:spPr>
          <a:xfrm rot="10547009">
            <a:off x="7322857" y="4239284"/>
            <a:ext cx="556585" cy="200831"/>
          </a:xfrm>
          <a:prstGeom prst="rect">
            <a:avLst/>
          </a:prstGeom>
          <a:noFill/>
          <a:ln>
            <a:noFill/>
          </a:ln>
        </p:spPr>
      </p:pic>
      <p:pic>
        <p:nvPicPr>
          <p:cNvPr id="469" name="Google Shape;469;p85"/>
          <p:cNvPicPr preferRelativeResize="0"/>
          <p:nvPr/>
        </p:nvPicPr>
        <p:blipFill>
          <a:blip r:embed="rId5">
            <a:alphaModFix/>
          </a:blip>
          <a:stretch>
            <a:fillRect/>
          </a:stretch>
        </p:blipFill>
        <p:spPr>
          <a:xfrm>
            <a:off x="1370867" y="3713292"/>
            <a:ext cx="828913" cy="766750"/>
          </a:xfrm>
          <a:prstGeom prst="rect">
            <a:avLst/>
          </a:prstGeom>
          <a:noFill/>
          <a:ln>
            <a:noFill/>
          </a:ln>
        </p:spPr>
      </p:pic>
      <p:pic>
        <p:nvPicPr>
          <p:cNvPr id="470" name="Google Shape;470;p85"/>
          <p:cNvPicPr preferRelativeResize="0"/>
          <p:nvPr/>
        </p:nvPicPr>
        <p:blipFill>
          <a:blip r:embed="rId9">
            <a:alphaModFix/>
          </a:blip>
          <a:stretch>
            <a:fillRect/>
          </a:stretch>
        </p:blipFill>
        <p:spPr>
          <a:xfrm rot="-2210331">
            <a:off x="2244573" y="3952882"/>
            <a:ext cx="1464564" cy="368971"/>
          </a:xfrm>
          <a:prstGeom prst="rect">
            <a:avLst/>
          </a:prstGeom>
          <a:noFill/>
          <a:ln>
            <a:noFill/>
          </a:ln>
        </p:spPr>
      </p:pic>
      <p:pic>
        <p:nvPicPr>
          <p:cNvPr id="471" name="Google Shape;471;p85" descr="Bats"/>
          <p:cNvPicPr preferRelativeResize="0"/>
          <p:nvPr/>
        </p:nvPicPr>
        <p:blipFill rotWithShape="1">
          <a:blip r:embed="rId10">
            <a:alphaModFix/>
          </a:blip>
          <a:srcRect/>
          <a:stretch/>
        </p:blipFill>
        <p:spPr>
          <a:xfrm>
            <a:off x="4805938" y="1881838"/>
            <a:ext cx="657725" cy="657725"/>
          </a:xfrm>
          <a:prstGeom prst="rect">
            <a:avLst/>
          </a:prstGeom>
          <a:noFill/>
          <a:ln>
            <a:noFill/>
          </a:ln>
        </p:spPr>
      </p:pic>
      <p:pic>
        <p:nvPicPr>
          <p:cNvPr id="472" name="Google Shape;472;p85"/>
          <p:cNvPicPr preferRelativeResize="0"/>
          <p:nvPr/>
        </p:nvPicPr>
        <p:blipFill>
          <a:blip r:embed="rId11">
            <a:alphaModFix/>
          </a:blip>
          <a:stretch>
            <a:fillRect/>
          </a:stretch>
        </p:blipFill>
        <p:spPr>
          <a:xfrm>
            <a:off x="7115154" y="1778324"/>
            <a:ext cx="1660973" cy="934576"/>
          </a:xfrm>
          <a:prstGeom prst="rect">
            <a:avLst/>
          </a:prstGeom>
          <a:noFill/>
          <a:ln>
            <a:noFill/>
          </a:ln>
        </p:spPr>
      </p:pic>
      <p:pic>
        <p:nvPicPr>
          <p:cNvPr id="473" name="Google Shape;473;p85"/>
          <p:cNvPicPr preferRelativeResize="0"/>
          <p:nvPr/>
        </p:nvPicPr>
        <p:blipFill rotWithShape="1">
          <a:blip r:embed="rId12">
            <a:alphaModFix/>
          </a:blip>
          <a:srcRect l="12978" r="23957" b="23224"/>
          <a:stretch/>
        </p:blipFill>
        <p:spPr>
          <a:xfrm>
            <a:off x="5960562" y="1778313"/>
            <a:ext cx="657725" cy="864751"/>
          </a:xfrm>
          <a:prstGeom prst="rect">
            <a:avLst/>
          </a:prstGeom>
          <a:noFill/>
          <a:ln>
            <a:noFill/>
          </a:ln>
        </p:spPr>
      </p:pic>
      <p:cxnSp>
        <p:nvCxnSpPr>
          <p:cNvPr id="474" name="Google Shape;474;p85"/>
          <p:cNvCxnSpPr/>
          <p:nvPr/>
        </p:nvCxnSpPr>
        <p:spPr>
          <a:xfrm>
            <a:off x="6673663" y="2243913"/>
            <a:ext cx="386100" cy="0"/>
          </a:xfrm>
          <a:prstGeom prst="straightConnector1">
            <a:avLst/>
          </a:prstGeom>
          <a:noFill/>
          <a:ln w="38100" cap="flat" cmpd="sng">
            <a:solidFill>
              <a:schemeClr val="dk2"/>
            </a:solidFill>
            <a:prstDash val="solid"/>
            <a:round/>
            <a:headEnd type="none" w="med" len="med"/>
            <a:tailEnd type="triangle" w="med" len="med"/>
          </a:ln>
        </p:spPr>
      </p:cxnSp>
      <p:cxnSp>
        <p:nvCxnSpPr>
          <p:cNvPr id="475" name="Google Shape;475;p85"/>
          <p:cNvCxnSpPr/>
          <p:nvPr/>
        </p:nvCxnSpPr>
        <p:spPr>
          <a:xfrm>
            <a:off x="5539863" y="2236600"/>
            <a:ext cx="386100" cy="0"/>
          </a:xfrm>
          <a:prstGeom prst="straightConnector1">
            <a:avLst/>
          </a:prstGeom>
          <a:noFill/>
          <a:ln w="38100" cap="flat" cmpd="sng">
            <a:solidFill>
              <a:schemeClr val="dk2"/>
            </a:solidFill>
            <a:prstDash val="solid"/>
            <a:round/>
            <a:headEnd type="none" w="med" len="med"/>
            <a:tailEnd type="triangle" w="med" len="med"/>
          </a:ln>
        </p:spPr>
      </p:cxnSp>
      <p:pic>
        <p:nvPicPr>
          <p:cNvPr id="476" name="Google Shape;476;p85"/>
          <p:cNvPicPr preferRelativeResize="0"/>
          <p:nvPr/>
        </p:nvPicPr>
        <p:blipFill rotWithShape="1">
          <a:blip r:embed="rId13">
            <a:alphaModFix/>
          </a:blip>
          <a:srcRect l="9478" t="5348" r="9438" b="12624"/>
          <a:stretch/>
        </p:blipFill>
        <p:spPr>
          <a:xfrm>
            <a:off x="5516169" y="1670222"/>
            <a:ext cx="391900" cy="426966"/>
          </a:xfrm>
          <a:prstGeom prst="rect">
            <a:avLst/>
          </a:prstGeom>
          <a:noFill/>
          <a:ln>
            <a:noFill/>
          </a:ln>
        </p:spPr>
      </p:pic>
      <p:sp>
        <p:nvSpPr>
          <p:cNvPr id="477" name="Google Shape;477;p85"/>
          <p:cNvSpPr txBox="1"/>
          <p:nvPr/>
        </p:nvSpPr>
        <p:spPr>
          <a:xfrm>
            <a:off x="2227738" y="3802250"/>
            <a:ext cx="3726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a:t>+</a:t>
            </a:r>
            <a:endParaRPr sz="2500"/>
          </a:p>
        </p:txBody>
      </p:sp>
      <p:pic>
        <p:nvPicPr>
          <p:cNvPr id="478" name="Google Shape;478;p85"/>
          <p:cNvPicPr preferRelativeResize="0"/>
          <p:nvPr/>
        </p:nvPicPr>
        <p:blipFill rotWithShape="1">
          <a:blip r:embed="rId13">
            <a:alphaModFix/>
          </a:blip>
          <a:srcRect l="9478" t="5348" r="9438" b="12624"/>
          <a:stretch/>
        </p:blipFill>
        <p:spPr>
          <a:xfrm>
            <a:off x="6670769" y="1672047"/>
            <a:ext cx="391900" cy="426966"/>
          </a:xfrm>
          <a:prstGeom prst="rect">
            <a:avLst/>
          </a:prstGeom>
          <a:noFill/>
          <a:ln>
            <a:noFill/>
          </a:ln>
        </p:spPr>
      </p:pic>
      <p:sp>
        <p:nvSpPr>
          <p:cNvPr id="4" name="TextBox 3">
            <a:extLst>
              <a:ext uri="{FF2B5EF4-FFF2-40B4-BE49-F238E27FC236}">
                <a16:creationId xmlns:a16="http://schemas.microsoft.com/office/drawing/2014/main" id="{4CD3446C-21A5-EFAF-34CE-D3601DFC5807}"/>
              </a:ext>
            </a:extLst>
          </p:cNvPr>
          <p:cNvSpPr txBox="1"/>
          <p:nvPr/>
        </p:nvSpPr>
        <p:spPr>
          <a:xfrm>
            <a:off x="2298309" y="2459186"/>
            <a:ext cx="4596618" cy="307777"/>
          </a:xfrm>
          <a:prstGeom prst="rect">
            <a:avLst/>
          </a:prstGeom>
          <a:noFill/>
        </p:spPr>
        <p:txBody>
          <a:bodyPr wrap="square">
            <a:spAutoFit/>
          </a:bodyPr>
          <a:lstStyle/>
          <a:p>
            <a:r>
              <a:rPr lang="en-US" b="0" dirty="0">
                <a:effectLst/>
              </a:rPr>
              <a:t>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73"/>
          <p:cNvSpPr/>
          <p:nvPr/>
        </p:nvSpPr>
        <p:spPr>
          <a:xfrm>
            <a:off x="5614475" y="1586088"/>
            <a:ext cx="2130900" cy="72900"/>
          </a:xfrm>
          <a:prstGeom prst="rect">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73"/>
          <p:cNvSpPr/>
          <p:nvPr/>
        </p:nvSpPr>
        <p:spPr>
          <a:xfrm>
            <a:off x="7754725" y="1586088"/>
            <a:ext cx="424800" cy="729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73"/>
          <p:cNvSpPr/>
          <p:nvPr/>
        </p:nvSpPr>
        <p:spPr>
          <a:xfrm>
            <a:off x="3820425" y="1586088"/>
            <a:ext cx="1784700" cy="72900"/>
          </a:xfrm>
          <a:prstGeom prst="rect">
            <a:avLst/>
          </a:pr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73"/>
          <p:cNvSpPr/>
          <p:nvPr/>
        </p:nvSpPr>
        <p:spPr>
          <a:xfrm>
            <a:off x="1251525" y="1586088"/>
            <a:ext cx="2540700" cy="729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9" name="Google Shape;469;p73"/>
          <p:cNvPicPr preferRelativeResize="0"/>
          <p:nvPr/>
        </p:nvPicPr>
        <p:blipFill>
          <a:blip r:embed="rId3">
            <a:alphaModFix/>
          </a:blip>
          <a:stretch>
            <a:fillRect/>
          </a:stretch>
        </p:blipFill>
        <p:spPr>
          <a:xfrm>
            <a:off x="1756475" y="1437625"/>
            <a:ext cx="211381" cy="408574"/>
          </a:xfrm>
          <a:prstGeom prst="rect">
            <a:avLst/>
          </a:prstGeom>
          <a:noFill/>
          <a:ln>
            <a:noFill/>
          </a:ln>
        </p:spPr>
      </p:pic>
      <p:pic>
        <p:nvPicPr>
          <p:cNvPr id="470" name="Google Shape;470;p73"/>
          <p:cNvPicPr preferRelativeResize="0"/>
          <p:nvPr/>
        </p:nvPicPr>
        <p:blipFill>
          <a:blip r:embed="rId3">
            <a:alphaModFix/>
          </a:blip>
          <a:stretch>
            <a:fillRect/>
          </a:stretch>
        </p:blipFill>
        <p:spPr>
          <a:xfrm>
            <a:off x="2033812" y="1437625"/>
            <a:ext cx="211381" cy="408574"/>
          </a:xfrm>
          <a:prstGeom prst="rect">
            <a:avLst/>
          </a:prstGeom>
          <a:noFill/>
          <a:ln>
            <a:noFill/>
          </a:ln>
        </p:spPr>
      </p:pic>
      <p:pic>
        <p:nvPicPr>
          <p:cNvPr id="471" name="Google Shape;471;p73"/>
          <p:cNvPicPr preferRelativeResize="0"/>
          <p:nvPr/>
        </p:nvPicPr>
        <p:blipFill>
          <a:blip r:embed="rId3">
            <a:alphaModFix/>
          </a:blip>
          <a:stretch>
            <a:fillRect/>
          </a:stretch>
        </p:blipFill>
        <p:spPr>
          <a:xfrm>
            <a:off x="2311148" y="1437625"/>
            <a:ext cx="211381" cy="408574"/>
          </a:xfrm>
          <a:prstGeom prst="rect">
            <a:avLst/>
          </a:prstGeom>
          <a:noFill/>
          <a:ln>
            <a:noFill/>
          </a:ln>
        </p:spPr>
      </p:pic>
      <p:pic>
        <p:nvPicPr>
          <p:cNvPr id="472" name="Google Shape;472;p73"/>
          <p:cNvPicPr preferRelativeResize="0"/>
          <p:nvPr/>
        </p:nvPicPr>
        <p:blipFill>
          <a:blip r:embed="rId3">
            <a:alphaModFix/>
          </a:blip>
          <a:stretch>
            <a:fillRect/>
          </a:stretch>
        </p:blipFill>
        <p:spPr>
          <a:xfrm>
            <a:off x="2588485" y="1437625"/>
            <a:ext cx="211381" cy="408574"/>
          </a:xfrm>
          <a:prstGeom prst="rect">
            <a:avLst/>
          </a:prstGeom>
          <a:noFill/>
          <a:ln>
            <a:noFill/>
          </a:ln>
        </p:spPr>
      </p:pic>
      <p:pic>
        <p:nvPicPr>
          <p:cNvPr id="473" name="Google Shape;473;p73"/>
          <p:cNvPicPr preferRelativeResize="0"/>
          <p:nvPr/>
        </p:nvPicPr>
        <p:blipFill>
          <a:blip r:embed="rId3">
            <a:alphaModFix/>
          </a:blip>
          <a:stretch>
            <a:fillRect/>
          </a:stretch>
        </p:blipFill>
        <p:spPr>
          <a:xfrm>
            <a:off x="2854398" y="1437625"/>
            <a:ext cx="211381" cy="408574"/>
          </a:xfrm>
          <a:prstGeom prst="rect">
            <a:avLst/>
          </a:prstGeom>
          <a:noFill/>
          <a:ln>
            <a:noFill/>
          </a:ln>
        </p:spPr>
      </p:pic>
      <p:pic>
        <p:nvPicPr>
          <p:cNvPr id="474" name="Google Shape;474;p73"/>
          <p:cNvPicPr preferRelativeResize="0"/>
          <p:nvPr/>
        </p:nvPicPr>
        <p:blipFill>
          <a:blip r:embed="rId3">
            <a:alphaModFix/>
          </a:blip>
          <a:stretch>
            <a:fillRect/>
          </a:stretch>
        </p:blipFill>
        <p:spPr>
          <a:xfrm>
            <a:off x="4153093" y="1437625"/>
            <a:ext cx="211381" cy="408574"/>
          </a:xfrm>
          <a:prstGeom prst="rect">
            <a:avLst/>
          </a:prstGeom>
          <a:noFill/>
          <a:ln>
            <a:noFill/>
          </a:ln>
        </p:spPr>
      </p:pic>
      <p:pic>
        <p:nvPicPr>
          <p:cNvPr id="475" name="Google Shape;475;p73"/>
          <p:cNvPicPr preferRelativeResize="0"/>
          <p:nvPr/>
        </p:nvPicPr>
        <p:blipFill>
          <a:blip r:embed="rId3">
            <a:alphaModFix/>
          </a:blip>
          <a:stretch>
            <a:fillRect/>
          </a:stretch>
        </p:blipFill>
        <p:spPr>
          <a:xfrm>
            <a:off x="6012370" y="1437625"/>
            <a:ext cx="211381" cy="408574"/>
          </a:xfrm>
          <a:prstGeom prst="rect">
            <a:avLst/>
          </a:prstGeom>
          <a:noFill/>
          <a:ln>
            <a:noFill/>
          </a:ln>
        </p:spPr>
      </p:pic>
      <p:pic>
        <p:nvPicPr>
          <p:cNvPr id="476" name="Google Shape;476;p73"/>
          <p:cNvPicPr preferRelativeResize="0"/>
          <p:nvPr/>
        </p:nvPicPr>
        <p:blipFill>
          <a:blip r:embed="rId3">
            <a:alphaModFix/>
          </a:blip>
          <a:stretch>
            <a:fillRect/>
          </a:stretch>
        </p:blipFill>
        <p:spPr>
          <a:xfrm>
            <a:off x="6289707" y="1437625"/>
            <a:ext cx="211381" cy="408574"/>
          </a:xfrm>
          <a:prstGeom prst="rect">
            <a:avLst/>
          </a:prstGeom>
          <a:noFill/>
          <a:ln>
            <a:noFill/>
          </a:ln>
        </p:spPr>
      </p:pic>
      <p:pic>
        <p:nvPicPr>
          <p:cNvPr id="477" name="Google Shape;477;p73"/>
          <p:cNvPicPr preferRelativeResize="0"/>
          <p:nvPr/>
        </p:nvPicPr>
        <p:blipFill>
          <a:blip r:embed="rId3">
            <a:alphaModFix/>
          </a:blip>
          <a:stretch>
            <a:fillRect/>
          </a:stretch>
        </p:blipFill>
        <p:spPr>
          <a:xfrm>
            <a:off x="6567044" y="1437625"/>
            <a:ext cx="211381" cy="408574"/>
          </a:xfrm>
          <a:prstGeom prst="rect">
            <a:avLst/>
          </a:prstGeom>
          <a:noFill/>
          <a:ln>
            <a:noFill/>
          </a:ln>
        </p:spPr>
      </p:pic>
      <p:pic>
        <p:nvPicPr>
          <p:cNvPr id="478" name="Google Shape;478;p73"/>
          <p:cNvPicPr preferRelativeResize="0"/>
          <p:nvPr/>
        </p:nvPicPr>
        <p:blipFill>
          <a:blip r:embed="rId3">
            <a:alphaModFix/>
          </a:blip>
          <a:stretch>
            <a:fillRect/>
          </a:stretch>
        </p:blipFill>
        <p:spPr>
          <a:xfrm>
            <a:off x="6844380" y="1437625"/>
            <a:ext cx="211381" cy="408574"/>
          </a:xfrm>
          <a:prstGeom prst="rect">
            <a:avLst/>
          </a:prstGeom>
          <a:noFill/>
          <a:ln>
            <a:noFill/>
          </a:ln>
        </p:spPr>
      </p:pic>
      <p:pic>
        <p:nvPicPr>
          <p:cNvPr id="479" name="Google Shape;479;p73"/>
          <p:cNvPicPr preferRelativeResize="0"/>
          <p:nvPr/>
        </p:nvPicPr>
        <p:blipFill>
          <a:blip r:embed="rId3">
            <a:alphaModFix/>
          </a:blip>
          <a:stretch>
            <a:fillRect/>
          </a:stretch>
        </p:blipFill>
        <p:spPr>
          <a:xfrm>
            <a:off x="7121717" y="1437625"/>
            <a:ext cx="211381" cy="408574"/>
          </a:xfrm>
          <a:prstGeom prst="rect">
            <a:avLst/>
          </a:prstGeom>
          <a:noFill/>
          <a:ln>
            <a:noFill/>
          </a:ln>
        </p:spPr>
      </p:pic>
      <p:pic>
        <p:nvPicPr>
          <p:cNvPr id="480" name="Google Shape;480;p73"/>
          <p:cNvPicPr preferRelativeResize="0"/>
          <p:nvPr/>
        </p:nvPicPr>
        <p:blipFill>
          <a:blip r:embed="rId3">
            <a:alphaModFix/>
          </a:blip>
          <a:stretch>
            <a:fillRect/>
          </a:stretch>
        </p:blipFill>
        <p:spPr>
          <a:xfrm>
            <a:off x="4707744" y="1437625"/>
            <a:ext cx="211381" cy="408574"/>
          </a:xfrm>
          <a:prstGeom prst="rect">
            <a:avLst/>
          </a:prstGeom>
          <a:noFill/>
          <a:ln>
            <a:noFill/>
          </a:ln>
        </p:spPr>
      </p:pic>
      <p:pic>
        <p:nvPicPr>
          <p:cNvPr id="481" name="Google Shape;481;p73"/>
          <p:cNvPicPr preferRelativeResize="0"/>
          <p:nvPr/>
        </p:nvPicPr>
        <p:blipFill>
          <a:blip r:embed="rId3">
            <a:alphaModFix/>
          </a:blip>
          <a:stretch>
            <a:fillRect/>
          </a:stretch>
        </p:blipFill>
        <p:spPr>
          <a:xfrm>
            <a:off x="4985081" y="1437625"/>
            <a:ext cx="211381" cy="408574"/>
          </a:xfrm>
          <a:prstGeom prst="rect">
            <a:avLst/>
          </a:prstGeom>
          <a:noFill/>
          <a:ln>
            <a:noFill/>
          </a:ln>
        </p:spPr>
      </p:pic>
      <p:pic>
        <p:nvPicPr>
          <p:cNvPr id="482" name="Google Shape;482;p73"/>
          <p:cNvPicPr preferRelativeResize="0"/>
          <p:nvPr/>
        </p:nvPicPr>
        <p:blipFill>
          <a:blip r:embed="rId3">
            <a:alphaModFix/>
          </a:blip>
          <a:stretch>
            <a:fillRect/>
          </a:stretch>
        </p:blipFill>
        <p:spPr>
          <a:xfrm>
            <a:off x="4430419" y="1437625"/>
            <a:ext cx="211381" cy="408574"/>
          </a:xfrm>
          <a:prstGeom prst="rect">
            <a:avLst/>
          </a:prstGeom>
          <a:noFill/>
          <a:ln>
            <a:noFill/>
          </a:ln>
        </p:spPr>
      </p:pic>
      <p:sp>
        <p:nvSpPr>
          <p:cNvPr id="483" name="Google Shape;483;p73"/>
          <p:cNvSpPr txBox="1"/>
          <p:nvPr/>
        </p:nvSpPr>
        <p:spPr>
          <a:xfrm>
            <a:off x="1688700" y="1112125"/>
            <a:ext cx="14124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CC0000"/>
                </a:solidFill>
                <a:latin typeface="Calibri"/>
                <a:ea typeface="Calibri"/>
                <a:cs typeface="Calibri"/>
                <a:sym typeface="Calibri"/>
              </a:rPr>
              <a:t>Known Positives</a:t>
            </a:r>
            <a:endParaRPr sz="1200">
              <a:solidFill>
                <a:srgbClr val="CC0000"/>
              </a:solidFill>
              <a:latin typeface="Calibri"/>
              <a:ea typeface="Calibri"/>
              <a:cs typeface="Calibri"/>
              <a:sym typeface="Calibri"/>
            </a:endParaRPr>
          </a:p>
        </p:txBody>
      </p:sp>
      <p:sp>
        <p:nvSpPr>
          <p:cNvPr id="484" name="Google Shape;484;p73"/>
          <p:cNvSpPr txBox="1"/>
          <p:nvPr/>
        </p:nvSpPr>
        <p:spPr>
          <a:xfrm>
            <a:off x="5939206"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0B5394"/>
                </a:solidFill>
                <a:latin typeface="Calibri"/>
                <a:ea typeface="Calibri"/>
                <a:cs typeface="Calibri"/>
                <a:sym typeface="Calibri"/>
              </a:rPr>
              <a:t>Known Negatives</a:t>
            </a:r>
            <a:endParaRPr sz="1200">
              <a:solidFill>
                <a:srgbClr val="0B5394"/>
              </a:solidFill>
              <a:latin typeface="Calibri"/>
              <a:ea typeface="Calibri"/>
              <a:cs typeface="Calibri"/>
              <a:sym typeface="Calibri"/>
            </a:endParaRPr>
          </a:p>
        </p:txBody>
      </p:sp>
      <p:sp>
        <p:nvSpPr>
          <p:cNvPr id="485" name="Google Shape;485;p73"/>
          <p:cNvSpPr txBox="1"/>
          <p:nvPr/>
        </p:nvSpPr>
        <p:spPr>
          <a:xfrm>
            <a:off x="3923297"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B45F06"/>
                </a:solidFill>
                <a:latin typeface="Calibri"/>
                <a:ea typeface="Calibri"/>
                <a:cs typeface="Calibri"/>
                <a:sym typeface="Calibri"/>
              </a:rPr>
              <a:t>Unknown</a:t>
            </a:r>
            <a:endParaRPr sz="1200">
              <a:solidFill>
                <a:srgbClr val="B45F06"/>
              </a:solidFill>
              <a:latin typeface="Calibri"/>
              <a:ea typeface="Calibri"/>
              <a:cs typeface="Calibri"/>
              <a:sym typeface="Calibri"/>
            </a:endParaRPr>
          </a:p>
        </p:txBody>
      </p:sp>
      <p:pic>
        <p:nvPicPr>
          <p:cNvPr id="486" name="Google Shape;486;p73"/>
          <p:cNvPicPr preferRelativeResize="0"/>
          <p:nvPr/>
        </p:nvPicPr>
        <p:blipFill>
          <a:blip r:embed="rId3">
            <a:alphaModFix/>
          </a:blip>
          <a:stretch>
            <a:fillRect/>
          </a:stretch>
        </p:blipFill>
        <p:spPr>
          <a:xfrm>
            <a:off x="7766924" y="1437625"/>
            <a:ext cx="211381" cy="408574"/>
          </a:xfrm>
          <a:prstGeom prst="rect">
            <a:avLst/>
          </a:prstGeom>
          <a:noFill/>
          <a:ln>
            <a:noFill/>
          </a:ln>
        </p:spPr>
      </p:pic>
      <p:pic>
        <p:nvPicPr>
          <p:cNvPr id="487" name="Google Shape;487;p73"/>
          <p:cNvPicPr preferRelativeResize="0"/>
          <p:nvPr/>
        </p:nvPicPr>
        <p:blipFill>
          <a:blip r:embed="rId3">
            <a:alphaModFix/>
          </a:blip>
          <a:stretch>
            <a:fillRect/>
          </a:stretch>
        </p:blipFill>
        <p:spPr>
          <a:xfrm>
            <a:off x="8044260" y="1437625"/>
            <a:ext cx="211381" cy="408574"/>
          </a:xfrm>
          <a:prstGeom prst="rect">
            <a:avLst/>
          </a:prstGeom>
          <a:noFill/>
          <a:ln>
            <a:noFill/>
          </a:ln>
        </p:spPr>
      </p:pic>
      <p:sp>
        <p:nvSpPr>
          <p:cNvPr id="488" name="Google Shape;488;p73"/>
          <p:cNvSpPr txBox="1"/>
          <p:nvPr/>
        </p:nvSpPr>
        <p:spPr>
          <a:xfrm>
            <a:off x="7292050"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alibri"/>
                <a:ea typeface="Calibri"/>
                <a:cs typeface="Calibri"/>
                <a:sym typeface="Calibri"/>
              </a:rPr>
              <a:t>Water Controls</a:t>
            </a:r>
            <a:endParaRPr sz="1200">
              <a:latin typeface="Calibri"/>
              <a:ea typeface="Calibri"/>
              <a:cs typeface="Calibri"/>
              <a:sym typeface="Calibri"/>
            </a:endParaRPr>
          </a:p>
        </p:txBody>
      </p:sp>
      <p:sp>
        <p:nvSpPr>
          <p:cNvPr id="489" name="Google Shape;489;p73"/>
          <p:cNvSpPr txBox="1"/>
          <p:nvPr/>
        </p:nvSpPr>
        <p:spPr>
          <a:xfrm>
            <a:off x="1787974" y="1759300"/>
            <a:ext cx="12384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Microbial Culture, PCR, Serology</a:t>
            </a:r>
            <a:endParaRPr sz="1000">
              <a:solidFill>
                <a:srgbClr val="666666"/>
              </a:solidFill>
              <a:latin typeface="Calibri"/>
              <a:ea typeface="Calibri"/>
              <a:cs typeface="Calibri"/>
              <a:sym typeface="Calibri"/>
            </a:endParaRPr>
          </a:p>
        </p:txBody>
      </p:sp>
      <p:sp>
        <p:nvSpPr>
          <p:cNvPr id="490" name="Google Shape;490;p73"/>
          <p:cNvSpPr txBox="1"/>
          <p:nvPr/>
        </p:nvSpPr>
        <p:spPr>
          <a:xfrm>
            <a:off x="3997150" y="1764650"/>
            <a:ext cx="14124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No pathogen identified by standard testing</a:t>
            </a:r>
            <a:endParaRPr sz="1000">
              <a:solidFill>
                <a:srgbClr val="666666"/>
              </a:solidFill>
              <a:latin typeface="Calibri"/>
              <a:ea typeface="Calibri"/>
              <a:cs typeface="Calibri"/>
              <a:sym typeface="Calibri"/>
            </a:endParaRPr>
          </a:p>
        </p:txBody>
      </p:sp>
      <p:sp>
        <p:nvSpPr>
          <p:cNvPr id="491" name="Google Shape;491;p73"/>
          <p:cNvSpPr txBox="1"/>
          <p:nvPr/>
        </p:nvSpPr>
        <p:spPr>
          <a:xfrm>
            <a:off x="5825075" y="1770000"/>
            <a:ext cx="17133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No pathogen identified; symptoms resolved quickly</a:t>
            </a:r>
            <a:endParaRPr sz="1000">
              <a:solidFill>
                <a:srgbClr val="666666"/>
              </a:solidFill>
              <a:latin typeface="Calibri"/>
              <a:ea typeface="Calibri"/>
              <a:cs typeface="Calibri"/>
              <a:sym typeface="Calibri"/>
            </a:endParaRPr>
          </a:p>
        </p:txBody>
      </p:sp>
      <p:pic>
        <p:nvPicPr>
          <p:cNvPr id="492" name="Google Shape;492;p73"/>
          <p:cNvPicPr preferRelativeResize="0"/>
          <p:nvPr/>
        </p:nvPicPr>
        <p:blipFill>
          <a:blip r:embed="rId4">
            <a:alphaModFix/>
          </a:blip>
          <a:stretch>
            <a:fillRect/>
          </a:stretch>
        </p:blipFill>
        <p:spPr>
          <a:xfrm>
            <a:off x="27375" y="2183100"/>
            <a:ext cx="8227753" cy="2850051"/>
          </a:xfrm>
          <a:prstGeom prst="rect">
            <a:avLst/>
          </a:prstGeom>
          <a:noFill/>
          <a:ln>
            <a:noFill/>
          </a:ln>
        </p:spPr>
      </p:pic>
      <p:sp>
        <p:nvSpPr>
          <p:cNvPr id="493" name="Google Shape;493;p73"/>
          <p:cNvSpPr txBox="1"/>
          <p:nvPr/>
        </p:nvSpPr>
        <p:spPr>
          <a:xfrm>
            <a:off x="59650" y="1344125"/>
            <a:ext cx="11952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alibri"/>
                <a:ea typeface="Calibri"/>
                <a:cs typeface="Calibri"/>
                <a:sym typeface="Calibri"/>
              </a:rPr>
              <a:t>Collect Patient CSF Samples</a:t>
            </a:r>
            <a:endParaRPr sz="1200">
              <a:latin typeface="Calibri"/>
              <a:ea typeface="Calibri"/>
              <a:cs typeface="Calibri"/>
              <a:sym typeface="Calibri"/>
            </a:endParaRPr>
          </a:p>
        </p:txBody>
      </p:sp>
      <p:sp>
        <p:nvSpPr>
          <p:cNvPr id="495" name="Google Shape;495;p73"/>
          <p:cNvSpPr txBox="1">
            <a:spLocks noGrp="1"/>
          </p:cNvSpPr>
          <p:nvPr>
            <p:ph type="ctrTitle"/>
          </p:nvPr>
        </p:nvSpPr>
        <p:spPr>
          <a:xfrm>
            <a:off x="126850" y="115475"/>
            <a:ext cx="8744400" cy="715200"/>
          </a:xfrm>
          <a:prstGeom prst="rect">
            <a:avLst/>
          </a:prstGeom>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3500">
                <a:solidFill>
                  <a:srgbClr val="000000"/>
                </a:solidFill>
              </a:rPr>
              <a:t>Use case: Saha et al., mBio, 2019</a:t>
            </a:r>
            <a:endParaRPr sz="3500">
              <a:solidFill>
                <a:srgbClr val="000000"/>
              </a:solidFill>
            </a:endParaRPr>
          </a:p>
        </p:txBody>
      </p:sp>
      <p:sp>
        <p:nvSpPr>
          <p:cNvPr id="494" name="Google Shape;494;p73"/>
          <p:cNvSpPr txBox="1">
            <a:spLocks noGrp="1"/>
          </p:cNvSpPr>
          <p:nvPr>
            <p:ph type="subTitle" idx="1"/>
          </p:nvPr>
        </p:nvSpPr>
        <p:spPr>
          <a:xfrm>
            <a:off x="412275" y="648875"/>
            <a:ext cx="8340600" cy="48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000"/>
              <a:t>mNGS to identify etiologies of pediatric meningitis in Bangladesh</a:t>
            </a:r>
            <a:endParaRPr sz="2000"/>
          </a:p>
        </p:txBody>
      </p:sp>
      <p:sp>
        <p:nvSpPr>
          <p:cNvPr id="3" name="Slide Number Placeholder 1">
            <a:extLst>
              <a:ext uri="{FF2B5EF4-FFF2-40B4-BE49-F238E27FC236}">
                <a16:creationId xmlns:a16="http://schemas.microsoft.com/office/drawing/2014/main" id="{FA0E1387-3F90-26B4-4C88-4D3399000003}"/>
              </a:ext>
            </a:extLst>
          </p:cNvPr>
          <p:cNvSpPr txBox="1">
            <a:spLocks/>
          </p:cNvSpPr>
          <p:nvPr/>
        </p:nvSpPr>
        <p:spPr>
          <a:xfrm>
            <a:off x="8035925" y="4876800"/>
            <a:ext cx="1108075" cy="393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800">
                <a:solidFill>
                  <a:schemeClr val="tx1">
                    <a:lumMod val="50000"/>
                    <a:lumOff val="50000"/>
                  </a:schemeClr>
                </a:solidFill>
              </a:rPr>
              <a:t>Revised 01/12/2026</a:t>
            </a:r>
            <a:endParaRPr lang="en" sz="800" dirty="0">
              <a:solidFill>
                <a:schemeClr val="tx1">
                  <a:lumMod val="50000"/>
                  <a:lumOff val="50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86"/>
          <p:cNvSpPr/>
          <p:nvPr/>
        </p:nvSpPr>
        <p:spPr>
          <a:xfrm>
            <a:off x="337700" y="251875"/>
            <a:ext cx="8594700" cy="959100"/>
          </a:xfrm>
          <a:prstGeom prst="stripedRightArrow">
            <a:avLst>
              <a:gd name="adj1" fmla="val 67480"/>
              <a:gd name="adj2" fmla="val 147356"/>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86"/>
          <p:cNvSpPr txBox="1">
            <a:spLocks noGrp="1"/>
          </p:cNvSpPr>
          <p:nvPr>
            <p:ph type="title"/>
          </p:nvPr>
        </p:nvSpPr>
        <p:spPr>
          <a:xfrm>
            <a:off x="3066052" y="359900"/>
            <a:ext cx="3011897" cy="88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b="1" dirty="0" err="1">
                <a:solidFill>
                  <a:schemeClr val="tx1"/>
                </a:solidFill>
              </a:rPr>
              <a:t>mNGS</a:t>
            </a:r>
            <a:r>
              <a:rPr lang="en" sz="3600" b="1" dirty="0">
                <a:solidFill>
                  <a:schemeClr val="tx1"/>
                </a:solidFill>
              </a:rPr>
              <a:t> pipeline</a:t>
            </a:r>
            <a:endParaRPr sz="3600" b="1" dirty="0">
              <a:solidFill>
                <a:schemeClr val="tx1"/>
              </a:solidFill>
            </a:endParaRPr>
          </a:p>
        </p:txBody>
      </p:sp>
      <p:sp>
        <p:nvSpPr>
          <p:cNvPr id="485" name="Google Shape;485;p86"/>
          <p:cNvSpPr txBox="1"/>
          <p:nvPr/>
        </p:nvSpPr>
        <p:spPr>
          <a:xfrm>
            <a:off x="250750" y="1158900"/>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Study design</a:t>
            </a:r>
            <a:endParaRPr/>
          </a:p>
        </p:txBody>
      </p:sp>
      <p:sp>
        <p:nvSpPr>
          <p:cNvPr id="486" name="Google Shape;486;p86"/>
          <p:cNvSpPr txBox="1"/>
          <p:nvPr/>
        </p:nvSpPr>
        <p:spPr>
          <a:xfrm>
            <a:off x="1640775" y="1158900"/>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t>xNA extraction</a:t>
            </a:r>
            <a:endParaRPr dirty="0"/>
          </a:p>
        </p:txBody>
      </p:sp>
      <p:sp>
        <p:nvSpPr>
          <p:cNvPr id="487" name="Google Shape;487;p86"/>
          <p:cNvSpPr txBox="1"/>
          <p:nvPr/>
        </p:nvSpPr>
        <p:spPr>
          <a:xfrm>
            <a:off x="2950075" y="1235100"/>
            <a:ext cx="1213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Library prep</a:t>
            </a:r>
            <a:endParaRPr/>
          </a:p>
        </p:txBody>
      </p:sp>
      <p:sp>
        <p:nvSpPr>
          <p:cNvPr id="488" name="Google Shape;488;p86"/>
          <p:cNvSpPr txBox="1"/>
          <p:nvPr/>
        </p:nvSpPr>
        <p:spPr>
          <a:xfrm>
            <a:off x="4592180" y="1235100"/>
            <a:ext cx="1213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Sequencing</a:t>
            </a:r>
            <a:endParaRPr/>
          </a:p>
        </p:txBody>
      </p:sp>
      <p:sp>
        <p:nvSpPr>
          <p:cNvPr id="489" name="Google Shape;489;p86"/>
          <p:cNvSpPr txBox="1"/>
          <p:nvPr/>
        </p:nvSpPr>
        <p:spPr>
          <a:xfrm>
            <a:off x="6132613" y="1235100"/>
            <a:ext cx="13446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Data analysis</a:t>
            </a:r>
            <a:endParaRPr/>
          </a:p>
        </p:txBody>
      </p:sp>
      <p:sp>
        <p:nvSpPr>
          <p:cNvPr id="490" name="Google Shape;490;p86"/>
          <p:cNvSpPr txBox="1"/>
          <p:nvPr/>
        </p:nvSpPr>
        <p:spPr>
          <a:xfrm>
            <a:off x="-500" y="3033150"/>
            <a:ext cx="1503900" cy="4326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Type(s)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Controls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Storage</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Lab setup</a:t>
            </a:r>
            <a:endParaRPr sz="1200">
              <a:solidFill>
                <a:schemeClr val="dk2"/>
              </a:solidFill>
            </a:endParaRPr>
          </a:p>
        </p:txBody>
      </p:sp>
      <p:sp>
        <p:nvSpPr>
          <p:cNvPr id="491" name="Google Shape;491;p86"/>
          <p:cNvSpPr txBox="1"/>
          <p:nvPr/>
        </p:nvSpPr>
        <p:spPr>
          <a:xfrm>
            <a:off x="1340475" y="3033150"/>
            <a:ext cx="1344600" cy="4326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Type(s)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Controls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QC</a:t>
            </a:r>
            <a:endParaRPr sz="1200">
              <a:solidFill>
                <a:schemeClr val="dk2"/>
              </a:solidFill>
            </a:endParaRPr>
          </a:p>
        </p:txBody>
      </p:sp>
      <p:sp>
        <p:nvSpPr>
          <p:cNvPr id="492" name="Google Shape;492;p86"/>
          <p:cNvSpPr txBox="1"/>
          <p:nvPr/>
        </p:nvSpPr>
        <p:spPr>
          <a:xfrm>
            <a:off x="2546425" y="3033150"/>
            <a:ext cx="2173200" cy="21120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Host removal</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Fragmentation</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dsDNA generation</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End-repair</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Adapter ligation</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Barcoding &amp; PCR</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Clean-up</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Pooling</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QC</a:t>
            </a:r>
            <a:endParaRPr sz="1200">
              <a:solidFill>
                <a:schemeClr val="dk2"/>
              </a:solidFill>
            </a:endParaRPr>
          </a:p>
        </p:txBody>
      </p:sp>
      <p:sp>
        <p:nvSpPr>
          <p:cNvPr id="493" name="Google Shape;493;p86"/>
          <p:cNvSpPr txBox="1"/>
          <p:nvPr/>
        </p:nvSpPr>
        <p:spPr>
          <a:xfrm>
            <a:off x="5846725" y="3033150"/>
            <a:ext cx="2173200" cy="9591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QC data</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Host removal</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Alignment</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Blast</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Ranking of hits</a:t>
            </a:r>
            <a:endParaRPr sz="1200">
              <a:solidFill>
                <a:schemeClr val="dk2"/>
              </a:solidFill>
            </a:endParaRPr>
          </a:p>
        </p:txBody>
      </p:sp>
      <p:pic>
        <p:nvPicPr>
          <p:cNvPr id="494" name="Google Shape;494;p86"/>
          <p:cNvPicPr preferRelativeResize="0"/>
          <p:nvPr/>
        </p:nvPicPr>
        <p:blipFill rotWithShape="1">
          <a:blip r:embed="rId3">
            <a:alphaModFix/>
          </a:blip>
          <a:srcRect l="14551" r="17610" b="13941"/>
          <a:stretch/>
        </p:blipFill>
        <p:spPr>
          <a:xfrm>
            <a:off x="4679550" y="1896300"/>
            <a:ext cx="1126125" cy="959049"/>
          </a:xfrm>
          <a:prstGeom prst="rect">
            <a:avLst/>
          </a:prstGeom>
          <a:noFill/>
          <a:ln>
            <a:noFill/>
          </a:ln>
        </p:spPr>
      </p:pic>
      <p:pic>
        <p:nvPicPr>
          <p:cNvPr id="500" name="Google Shape;500;p86"/>
          <p:cNvPicPr preferRelativeResize="0"/>
          <p:nvPr/>
        </p:nvPicPr>
        <p:blipFill rotWithShape="1">
          <a:blip r:embed="rId4">
            <a:alphaModFix/>
          </a:blip>
          <a:srcRect l="13069" t="15507" r="15081" b="13226"/>
          <a:stretch/>
        </p:blipFill>
        <p:spPr>
          <a:xfrm>
            <a:off x="379113" y="1914700"/>
            <a:ext cx="871875" cy="1028700"/>
          </a:xfrm>
          <a:prstGeom prst="rect">
            <a:avLst/>
          </a:prstGeom>
          <a:noFill/>
          <a:ln>
            <a:noFill/>
          </a:ln>
        </p:spPr>
      </p:pic>
      <p:sp>
        <p:nvSpPr>
          <p:cNvPr id="501" name="Google Shape;501;p86"/>
          <p:cNvSpPr txBox="1"/>
          <p:nvPr/>
        </p:nvSpPr>
        <p:spPr>
          <a:xfrm>
            <a:off x="4315963" y="3033150"/>
            <a:ext cx="2245200" cy="8565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Machine</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Read length</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Loading conc.</a:t>
            </a:r>
            <a:endParaRPr sz="1200">
              <a:solidFill>
                <a:schemeClr val="dk2"/>
              </a:solidFill>
            </a:endParaRPr>
          </a:p>
        </p:txBody>
      </p:sp>
      <p:pic>
        <p:nvPicPr>
          <p:cNvPr id="502" name="Google Shape;502;p86"/>
          <p:cNvPicPr preferRelativeResize="0"/>
          <p:nvPr/>
        </p:nvPicPr>
        <p:blipFill>
          <a:blip r:embed="rId5">
            <a:alphaModFix/>
          </a:blip>
          <a:stretch>
            <a:fillRect/>
          </a:stretch>
        </p:blipFill>
        <p:spPr>
          <a:xfrm rot="1149689">
            <a:off x="1852263" y="2113663"/>
            <a:ext cx="607525" cy="727926"/>
          </a:xfrm>
          <a:prstGeom prst="rect">
            <a:avLst/>
          </a:prstGeom>
          <a:noFill/>
          <a:ln>
            <a:noFill/>
          </a:ln>
        </p:spPr>
      </p:pic>
      <p:pic>
        <p:nvPicPr>
          <p:cNvPr id="503" name="Google Shape;503;p86"/>
          <p:cNvPicPr preferRelativeResize="0"/>
          <p:nvPr/>
        </p:nvPicPr>
        <p:blipFill rotWithShape="1">
          <a:blip r:embed="rId6">
            <a:alphaModFix/>
          </a:blip>
          <a:srcRect b="50614"/>
          <a:stretch/>
        </p:blipFill>
        <p:spPr>
          <a:xfrm>
            <a:off x="2884550" y="2066066"/>
            <a:ext cx="1344551" cy="725959"/>
          </a:xfrm>
          <a:prstGeom prst="rect">
            <a:avLst/>
          </a:prstGeom>
          <a:noFill/>
          <a:ln>
            <a:noFill/>
          </a:ln>
        </p:spPr>
      </p:pic>
      <p:cxnSp>
        <p:nvCxnSpPr>
          <p:cNvPr id="504" name="Google Shape;504;p86"/>
          <p:cNvCxnSpPr/>
          <p:nvPr/>
        </p:nvCxnSpPr>
        <p:spPr>
          <a:xfrm rot="10800000" flipH="1">
            <a:off x="7638150" y="2419325"/>
            <a:ext cx="309300" cy="1500"/>
          </a:xfrm>
          <a:prstGeom prst="straightConnector1">
            <a:avLst/>
          </a:prstGeom>
          <a:noFill/>
          <a:ln w="19050" cap="flat" cmpd="sng">
            <a:solidFill>
              <a:srgbClr val="FF0000"/>
            </a:solidFill>
            <a:prstDash val="solid"/>
            <a:round/>
            <a:headEnd type="none" w="med" len="med"/>
            <a:tailEnd type="none" w="med" len="med"/>
          </a:ln>
        </p:spPr>
      </p:cxnSp>
      <p:grpSp>
        <p:nvGrpSpPr>
          <p:cNvPr id="505" name="Google Shape;505;p86"/>
          <p:cNvGrpSpPr/>
          <p:nvPr/>
        </p:nvGrpSpPr>
        <p:grpSpPr>
          <a:xfrm>
            <a:off x="7765375" y="1751825"/>
            <a:ext cx="1252725" cy="1357550"/>
            <a:chOff x="7841575" y="1370825"/>
            <a:chExt cx="1252725" cy="1357550"/>
          </a:xfrm>
        </p:grpSpPr>
        <p:sp>
          <p:nvSpPr>
            <p:cNvPr id="506" name="Google Shape;506;p86"/>
            <p:cNvSpPr/>
            <p:nvPr/>
          </p:nvSpPr>
          <p:spPr>
            <a:xfrm>
              <a:off x="7841575" y="1486750"/>
              <a:ext cx="1122600" cy="1122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7" name="Google Shape;507;p86"/>
            <p:cNvPicPr preferRelativeResize="0"/>
            <p:nvPr/>
          </p:nvPicPr>
          <p:blipFill>
            <a:blip r:embed="rId7">
              <a:alphaModFix/>
            </a:blip>
            <a:stretch>
              <a:fillRect/>
            </a:stretch>
          </p:blipFill>
          <p:spPr>
            <a:xfrm>
              <a:off x="8147262" y="1685076"/>
              <a:ext cx="502137" cy="725949"/>
            </a:xfrm>
            <a:prstGeom prst="rect">
              <a:avLst/>
            </a:prstGeom>
            <a:noFill/>
            <a:ln>
              <a:noFill/>
            </a:ln>
          </p:spPr>
        </p:pic>
        <p:sp>
          <p:nvSpPr>
            <p:cNvPr id="508" name="Google Shape;508;p86"/>
            <p:cNvSpPr/>
            <p:nvPr/>
          </p:nvSpPr>
          <p:spPr>
            <a:xfrm>
              <a:off x="7887625" y="1532800"/>
              <a:ext cx="1030500" cy="10305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09" name="Google Shape;509;p86"/>
            <p:cNvCxnSpPr/>
            <p:nvPr/>
          </p:nvCxnSpPr>
          <p:spPr>
            <a:xfrm>
              <a:off x="8395325" y="2446075"/>
              <a:ext cx="3000" cy="282300"/>
            </a:xfrm>
            <a:prstGeom prst="straightConnector1">
              <a:avLst/>
            </a:prstGeom>
            <a:noFill/>
            <a:ln w="19050" cap="flat" cmpd="sng">
              <a:solidFill>
                <a:srgbClr val="FF0000"/>
              </a:solidFill>
              <a:prstDash val="solid"/>
              <a:round/>
              <a:headEnd type="none" w="med" len="med"/>
              <a:tailEnd type="none" w="med" len="med"/>
            </a:ln>
          </p:spPr>
        </p:cxnSp>
        <p:cxnSp>
          <p:nvCxnSpPr>
            <p:cNvPr id="510" name="Google Shape;510;p86"/>
            <p:cNvCxnSpPr/>
            <p:nvPr/>
          </p:nvCxnSpPr>
          <p:spPr>
            <a:xfrm>
              <a:off x="8401375" y="1370825"/>
              <a:ext cx="3000" cy="282300"/>
            </a:xfrm>
            <a:prstGeom prst="straightConnector1">
              <a:avLst/>
            </a:prstGeom>
            <a:noFill/>
            <a:ln w="19050" cap="flat" cmpd="sng">
              <a:solidFill>
                <a:srgbClr val="FF0000"/>
              </a:solidFill>
              <a:prstDash val="solid"/>
              <a:round/>
              <a:headEnd type="none" w="med" len="med"/>
              <a:tailEnd type="none" w="med" len="med"/>
            </a:ln>
          </p:spPr>
        </p:cxnSp>
        <p:cxnSp>
          <p:nvCxnSpPr>
            <p:cNvPr id="511" name="Google Shape;511;p86"/>
            <p:cNvCxnSpPr/>
            <p:nvPr/>
          </p:nvCxnSpPr>
          <p:spPr>
            <a:xfrm rot="10800000" flipH="1">
              <a:off x="8785000" y="2038325"/>
              <a:ext cx="309300" cy="1500"/>
            </a:xfrm>
            <a:prstGeom prst="straightConnector1">
              <a:avLst/>
            </a:prstGeom>
            <a:noFill/>
            <a:ln w="19050" cap="flat" cmpd="sng">
              <a:solidFill>
                <a:srgbClr val="FF0000"/>
              </a:solidFill>
              <a:prstDash val="solid"/>
              <a:round/>
              <a:headEnd type="none" w="med" len="med"/>
              <a:tailEnd type="none" w="med" len="med"/>
            </a:ln>
          </p:spPr>
        </p:cxnSp>
      </p:grpSp>
      <p:sp>
        <p:nvSpPr>
          <p:cNvPr id="512" name="Google Shape;512;p86"/>
          <p:cNvSpPr txBox="1"/>
          <p:nvPr/>
        </p:nvSpPr>
        <p:spPr>
          <a:xfrm>
            <a:off x="7650363" y="1235100"/>
            <a:ext cx="13446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Pathogen ID</a:t>
            </a:r>
            <a:endParaRPr/>
          </a:p>
        </p:txBody>
      </p:sp>
      <p:sp>
        <p:nvSpPr>
          <p:cNvPr id="513" name="Google Shape;513;p86"/>
          <p:cNvSpPr txBox="1"/>
          <p:nvPr/>
        </p:nvSpPr>
        <p:spPr>
          <a:xfrm>
            <a:off x="3157475" y="1524275"/>
            <a:ext cx="8718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t>(1-2 days)</a:t>
            </a:r>
            <a:endParaRPr sz="1100"/>
          </a:p>
        </p:txBody>
      </p:sp>
      <p:sp>
        <p:nvSpPr>
          <p:cNvPr id="514" name="Google Shape;514;p86"/>
          <p:cNvSpPr txBox="1"/>
          <p:nvPr/>
        </p:nvSpPr>
        <p:spPr>
          <a:xfrm>
            <a:off x="1612775" y="1600475"/>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t>(1-2 hrs)</a:t>
            </a:r>
            <a:endParaRPr sz="1100"/>
          </a:p>
        </p:txBody>
      </p:sp>
      <p:sp>
        <p:nvSpPr>
          <p:cNvPr id="515" name="Google Shape;515;p86"/>
          <p:cNvSpPr txBox="1"/>
          <p:nvPr/>
        </p:nvSpPr>
        <p:spPr>
          <a:xfrm>
            <a:off x="4687463" y="1524275"/>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t>(0.5-3 days)</a:t>
            </a:r>
            <a:endParaRPr sz="1100"/>
          </a:p>
        </p:txBody>
      </p:sp>
      <p:sp>
        <p:nvSpPr>
          <p:cNvPr id="516" name="Google Shape;516;p86"/>
          <p:cNvSpPr txBox="1"/>
          <p:nvPr/>
        </p:nvSpPr>
        <p:spPr>
          <a:xfrm>
            <a:off x="6292363" y="1524275"/>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t>(0.5-4 hrs)</a:t>
            </a:r>
            <a:endParaRPr sz="1100"/>
          </a:p>
        </p:txBody>
      </p:sp>
      <p:grpSp>
        <p:nvGrpSpPr>
          <p:cNvPr id="7" name="Group 6">
            <a:extLst>
              <a:ext uri="{FF2B5EF4-FFF2-40B4-BE49-F238E27FC236}">
                <a16:creationId xmlns:a16="http://schemas.microsoft.com/office/drawing/2014/main" id="{E8A4EE14-E80F-3719-F6E1-FE6E7A8000D1}"/>
              </a:ext>
            </a:extLst>
          </p:cNvPr>
          <p:cNvGrpSpPr/>
          <p:nvPr/>
        </p:nvGrpSpPr>
        <p:grpSpPr>
          <a:xfrm>
            <a:off x="6241847" y="1990187"/>
            <a:ext cx="1126132" cy="877745"/>
            <a:chOff x="6241847" y="1990187"/>
            <a:chExt cx="1126132" cy="877745"/>
          </a:xfrm>
        </p:grpSpPr>
        <p:pic>
          <p:nvPicPr>
            <p:cNvPr id="496" name="Google Shape;496;p86" descr="A screenshot of a cell phone&#10;&#10;Description automatically generated"/>
            <p:cNvPicPr preferRelativeResize="0"/>
            <p:nvPr/>
          </p:nvPicPr>
          <p:blipFill rotWithShape="1">
            <a:blip r:embed="rId8">
              <a:alphaModFix/>
            </a:blip>
            <a:srcRect l="47032" t="64642" r="26637" b="6039"/>
            <a:stretch/>
          </p:blipFill>
          <p:spPr>
            <a:xfrm>
              <a:off x="6241847" y="1990187"/>
              <a:ext cx="1126132" cy="877745"/>
            </a:xfrm>
            <a:prstGeom prst="rect">
              <a:avLst/>
            </a:prstGeom>
            <a:noFill/>
            <a:ln>
              <a:noFill/>
            </a:ln>
          </p:spPr>
        </p:pic>
        <p:pic>
          <p:nvPicPr>
            <p:cNvPr id="6" name="Picture 5" descr="A white text on a black background&#10;&#10;AI-generated content may be incorrect.">
              <a:extLst>
                <a:ext uri="{FF2B5EF4-FFF2-40B4-BE49-F238E27FC236}">
                  <a16:creationId xmlns:a16="http://schemas.microsoft.com/office/drawing/2014/main" id="{723EE9B6-B9D5-84D2-47CF-C66D1E05948F}"/>
                </a:ext>
              </a:extLst>
            </p:cNvPr>
            <p:cNvPicPr>
              <a:picLocks noChangeAspect="1"/>
            </p:cNvPicPr>
            <p:nvPr/>
          </p:nvPicPr>
          <p:blipFill>
            <a:blip r:embed="rId9"/>
            <a:stretch>
              <a:fillRect/>
            </a:stretch>
          </p:blipFill>
          <p:spPr>
            <a:xfrm>
              <a:off x="6256124" y="2085341"/>
              <a:ext cx="1054100" cy="469900"/>
            </a:xfrm>
            <a:prstGeom prst="rect">
              <a:avLst/>
            </a:prstGeom>
          </p:spPr>
        </p:pic>
      </p:grpSp>
      <p:sp>
        <p:nvSpPr>
          <p:cNvPr id="2" name="Slide Number Placeholder 1">
            <a:extLst>
              <a:ext uri="{FF2B5EF4-FFF2-40B4-BE49-F238E27FC236}">
                <a16:creationId xmlns:a16="http://schemas.microsoft.com/office/drawing/2014/main" id="{17E906B4-CB40-BD7F-9C49-B3A1E34AF79C}"/>
              </a:ext>
            </a:extLst>
          </p:cNvPr>
          <p:cNvSpPr txBox="1">
            <a:spLocks/>
          </p:cNvSpPr>
          <p:nvPr/>
        </p:nvSpPr>
        <p:spPr>
          <a:xfrm>
            <a:off x="8035925" y="4876800"/>
            <a:ext cx="1108075" cy="393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800">
                <a:solidFill>
                  <a:schemeClr val="tx1">
                    <a:lumMod val="50000"/>
                    <a:lumOff val="50000"/>
                  </a:schemeClr>
                </a:solidFill>
              </a:rPr>
              <a:t>Revised 01/12/2026</a:t>
            </a:r>
            <a:endParaRPr lang="en" sz="800" dirty="0">
              <a:solidFill>
                <a:schemeClr val="tx1">
                  <a:lumMod val="50000"/>
                  <a:lumOff val="5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87"/>
          <p:cNvSpPr txBox="1"/>
          <p:nvPr/>
        </p:nvSpPr>
        <p:spPr>
          <a:xfrm>
            <a:off x="198150" y="296513"/>
            <a:ext cx="8747700" cy="369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000" b="1" dirty="0">
                <a:solidFill>
                  <a:schemeClr val="tx1"/>
                </a:solidFill>
              </a:rPr>
              <a:t>Lab setup</a:t>
            </a:r>
            <a:endParaRPr sz="4000" b="1" dirty="0">
              <a:solidFill>
                <a:schemeClr val="tx1"/>
              </a:solidFill>
            </a:endParaRPr>
          </a:p>
        </p:txBody>
      </p:sp>
      <p:sp>
        <p:nvSpPr>
          <p:cNvPr id="2" name="Google Shape;263;p38">
            <a:extLst>
              <a:ext uri="{FF2B5EF4-FFF2-40B4-BE49-F238E27FC236}">
                <a16:creationId xmlns:a16="http://schemas.microsoft.com/office/drawing/2014/main" id="{6CB291E8-A204-E352-D8E6-34A9CBDF15B3}"/>
              </a:ext>
            </a:extLst>
          </p:cNvPr>
          <p:cNvSpPr/>
          <p:nvPr/>
        </p:nvSpPr>
        <p:spPr>
          <a:xfrm>
            <a:off x="2233200" y="1475250"/>
            <a:ext cx="2243100" cy="2193000"/>
          </a:xfrm>
          <a:prstGeom prst="rect">
            <a:avLst/>
          </a:prstGeom>
          <a:solidFill>
            <a:srgbClr val="FFFFFF">
              <a:alpha val="8571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264;p38">
            <a:extLst>
              <a:ext uri="{FF2B5EF4-FFF2-40B4-BE49-F238E27FC236}">
                <a16:creationId xmlns:a16="http://schemas.microsoft.com/office/drawing/2014/main" id="{E34EF0D0-AC70-D132-FD6F-15F3DED6A8D1}"/>
              </a:ext>
            </a:extLst>
          </p:cNvPr>
          <p:cNvSpPr/>
          <p:nvPr/>
        </p:nvSpPr>
        <p:spPr>
          <a:xfrm>
            <a:off x="4476300" y="1475250"/>
            <a:ext cx="2243100" cy="2193000"/>
          </a:xfrm>
          <a:prstGeom prst="rect">
            <a:avLst/>
          </a:prstGeom>
          <a:solidFill>
            <a:srgbClr val="FFFFFF">
              <a:alpha val="8571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 name="Google Shape;265;p38">
            <a:extLst>
              <a:ext uri="{FF2B5EF4-FFF2-40B4-BE49-F238E27FC236}">
                <a16:creationId xmlns:a16="http://schemas.microsoft.com/office/drawing/2014/main" id="{CFBCC62A-5801-470C-B7F8-0F36C3802199}"/>
              </a:ext>
            </a:extLst>
          </p:cNvPr>
          <p:cNvCxnSpPr/>
          <p:nvPr/>
        </p:nvCxnSpPr>
        <p:spPr>
          <a:xfrm>
            <a:off x="4476425" y="1468675"/>
            <a:ext cx="0" cy="2223000"/>
          </a:xfrm>
          <a:prstGeom prst="straightConnector1">
            <a:avLst/>
          </a:prstGeom>
          <a:noFill/>
          <a:ln w="76200" cap="flat" cmpd="sng">
            <a:solidFill>
              <a:schemeClr val="dk2"/>
            </a:solidFill>
            <a:prstDash val="solid"/>
            <a:round/>
            <a:headEnd type="none" w="med" len="med"/>
            <a:tailEnd type="none" w="med" len="med"/>
          </a:ln>
        </p:spPr>
      </p:cxnSp>
      <p:sp>
        <p:nvSpPr>
          <p:cNvPr id="6" name="Google Shape;266;p38">
            <a:extLst>
              <a:ext uri="{FF2B5EF4-FFF2-40B4-BE49-F238E27FC236}">
                <a16:creationId xmlns:a16="http://schemas.microsoft.com/office/drawing/2014/main" id="{6D36EDB4-9B3E-91A7-394B-587E2CC1F625}"/>
              </a:ext>
            </a:extLst>
          </p:cNvPr>
          <p:cNvSpPr txBox="1"/>
          <p:nvPr/>
        </p:nvSpPr>
        <p:spPr>
          <a:xfrm>
            <a:off x="2736150" y="2380075"/>
            <a:ext cx="1358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Calibri"/>
                <a:ea typeface="Calibri"/>
                <a:cs typeface="Calibri"/>
                <a:sym typeface="Calibri"/>
              </a:rPr>
              <a:t>Pre-PCR lab</a:t>
            </a:r>
            <a:endParaRPr>
              <a:latin typeface="Calibri"/>
              <a:ea typeface="Calibri"/>
              <a:cs typeface="Calibri"/>
              <a:sym typeface="Calibri"/>
            </a:endParaRPr>
          </a:p>
        </p:txBody>
      </p:sp>
      <p:sp>
        <p:nvSpPr>
          <p:cNvPr id="7" name="Google Shape;267;p38">
            <a:extLst>
              <a:ext uri="{FF2B5EF4-FFF2-40B4-BE49-F238E27FC236}">
                <a16:creationId xmlns:a16="http://schemas.microsoft.com/office/drawing/2014/main" id="{BAEED648-570B-710B-0DED-DB82B1077ADB}"/>
              </a:ext>
            </a:extLst>
          </p:cNvPr>
          <p:cNvSpPr txBox="1"/>
          <p:nvPr/>
        </p:nvSpPr>
        <p:spPr>
          <a:xfrm>
            <a:off x="5001025" y="2380075"/>
            <a:ext cx="1358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Calibri"/>
                <a:ea typeface="Calibri"/>
                <a:cs typeface="Calibri"/>
                <a:sym typeface="Calibri"/>
              </a:rPr>
              <a:t>Post-PCR lab</a:t>
            </a:r>
            <a:endParaRPr>
              <a:latin typeface="Calibri"/>
              <a:ea typeface="Calibri"/>
              <a:cs typeface="Calibri"/>
              <a:sym typeface="Calibri"/>
            </a:endParaRPr>
          </a:p>
        </p:txBody>
      </p:sp>
      <p:sp>
        <p:nvSpPr>
          <p:cNvPr id="8" name="Google Shape;268;p38">
            <a:extLst>
              <a:ext uri="{FF2B5EF4-FFF2-40B4-BE49-F238E27FC236}">
                <a16:creationId xmlns:a16="http://schemas.microsoft.com/office/drawing/2014/main" id="{2EB71E82-A548-59E8-4635-B8FD00C409DB}"/>
              </a:ext>
            </a:extLst>
          </p:cNvPr>
          <p:cNvSpPr txBox="1"/>
          <p:nvPr/>
        </p:nvSpPr>
        <p:spPr>
          <a:xfrm>
            <a:off x="524600" y="4141975"/>
            <a:ext cx="79857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i="1" dirty="0">
                <a:latin typeface="Calibri"/>
                <a:ea typeface="Calibri"/>
                <a:cs typeface="Calibri"/>
                <a:sym typeface="Calibri"/>
              </a:rPr>
              <a:t>It is </a:t>
            </a:r>
            <a:r>
              <a:rPr lang="en" sz="2200" b="1" i="1" u="sng" dirty="0">
                <a:latin typeface="Calibri"/>
                <a:ea typeface="Calibri"/>
                <a:cs typeface="Calibri"/>
                <a:sym typeface="Calibri"/>
              </a:rPr>
              <a:t>critical</a:t>
            </a:r>
            <a:r>
              <a:rPr lang="en" sz="2200" i="1" dirty="0">
                <a:latin typeface="Calibri"/>
                <a:ea typeface="Calibri"/>
                <a:cs typeface="Calibri"/>
                <a:sym typeface="Calibri"/>
              </a:rPr>
              <a:t> to have separate pre- and post-PCR lab spaces!</a:t>
            </a:r>
            <a:endParaRPr sz="2200" i="1" dirty="0">
              <a:latin typeface="Calibri"/>
              <a:ea typeface="Calibri"/>
              <a:cs typeface="Calibri"/>
              <a:sym typeface="Calibri"/>
            </a:endParaRPr>
          </a:p>
        </p:txBody>
      </p:sp>
      <p:sp>
        <p:nvSpPr>
          <p:cNvPr id="9" name="Slide Number Placeholder 1">
            <a:extLst>
              <a:ext uri="{FF2B5EF4-FFF2-40B4-BE49-F238E27FC236}">
                <a16:creationId xmlns:a16="http://schemas.microsoft.com/office/drawing/2014/main" id="{7A7D6D4B-48D8-E3CA-70E4-C1BC8CBA3A49}"/>
              </a:ext>
            </a:extLst>
          </p:cNvPr>
          <p:cNvSpPr txBox="1">
            <a:spLocks/>
          </p:cNvSpPr>
          <p:nvPr/>
        </p:nvSpPr>
        <p:spPr>
          <a:xfrm>
            <a:off x="8035925" y="4876800"/>
            <a:ext cx="1108075" cy="393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800">
                <a:solidFill>
                  <a:schemeClr val="tx1">
                    <a:lumMod val="50000"/>
                    <a:lumOff val="50000"/>
                  </a:schemeClr>
                </a:solidFill>
              </a:rPr>
              <a:t>Revised 01/12/2026</a:t>
            </a:r>
            <a:endParaRPr lang="en" sz="800" dirty="0">
              <a:solidFill>
                <a:schemeClr val="tx1">
                  <a:lumMod val="50000"/>
                  <a:lumOff val="5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88"/>
          <p:cNvSpPr txBox="1">
            <a:spLocks noGrp="1"/>
          </p:cNvSpPr>
          <p:nvPr>
            <p:ph type="title" idx="4294967295"/>
          </p:nvPr>
        </p:nvSpPr>
        <p:spPr>
          <a:xfrm>
            <a:off x="0" y="252413"/>
            <a:ext cx="3279775" cy="57308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800"/>
              <a:t>Lab setup</a:t>
            </a:r>
            <a:endParaRPr sz="2800"/>
          </a:p>
        </p:txBody>
      </p:sp>
      <p:pic>
        <p:nvPicPr>
          <p:cNvPr id="528" name="Google Shape;528;p88"/>
          <p:cNvPicPr preferRelativeResize="0"/>
          <p:nvPr/>
        </p:nvPicPr>
        <p:blipFill rotWithShape="1">
          <a:blip r:embed="rId3">
            <a:alphaModFix/>
          </a:blip>
          <a:srcRect t="9156"/>
          <a:stretch/>
        </p:blipFill>
        <p:spPr>
          <a:xfrm>
            <a:off x="62125" y="391624"/>
            <a:ext cx="930352" cy="294900"/>
          </a:xfrm>
          <a:prstGeom prst="rect">
            <a:avLst/>
          </a:prstGeom>
          <a:noFill/>
          <a:ln>
            <a:noFill/>
          </a:ln>
        </p:spPr>
      </p:pic>
      <p:sp>
        <p:nvSpPr>
          <p:cNvPr id="529" name="Google Shape;529;p88"/>
          <p:cNvSpPr txBox="1"/>
          <p:nvPr/>
        </p:nvSpPr>
        <p:spPr>
          <a:xfrm>
            <a:off x="113075" y="968100"/>
            <a:ext cx="8568000" cy="37332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endParaRPr sz="1700" b="1">
              <a:solidFill>
                <a:schemeClr val="dk1"/>
              </a:solidFill>
            </a:endParaRPr>
          </a:p>
          <a:p>
            <a:pPr marL="342900" marR="0" lvl="0" indent="-260350" algn="l" rtl="0">
              <a:lnSpc>
                <a:spcPct val="150000"/>
              </a:lnSpc>
              <a:spcBef>
                <a:spcPts val="0"/>
              </a:spcBef>
              <a:spcAft>
                <a:spcPts val="0"/>
              </a:spcAft>
              <a:buClr>
                <a:schemeClr val="dk1"/>
              </a:buClr>
              <a:buSzPts val="1500"/>
              <a:buChar char="●"/>
            </a:pPr>
            <a:r>
              <a:rPr lang="en" sz="1500">
                <a:solidFill>
                  <a:schemeClr val="dk1"/>
                </a:solidFill>
              </a:rPr>
              <a:t>Follow institutional guidelines for biosafety containment</a:t>
            </a:r>
            <a:endParaRPr sz="1500">
              <a:solidFill>
                <a:schemeClr val="dk1"/>
              </a:solidFill>
            </a:endParaRPr>
          </a:p>
          <a:p>
            <a:pPr marL="685800" marR="0" lvl="1" indent="-260350" algn="l" rtl="0">
              <a:lnSpc>
                <a:spcPct val="150000"/>
              </a:lnSpc>
              <a:spcBef>
                <a:spcPts val="0"/>
              </a:spcBef>
              <a:spcAft>
                <a:spcPts val="0"/>
              </a:spcAft>
              <a:buClr>
                <a:schemeClr val="dk1"/>
              </a:buClr>
              <a:buSzPts val="1500"/>
              <a:buChar char="○"/>
            </a:pPr>
            <a:r>
              <a:rPr lang="en" sz="1500">
                <a:solidFill>
                  <a:schemeClr val="dk1"/>
                </a:solidFill>
              </a:rPr>
              <a:t>Biosafety level 1 - 2 - … (BSL-1, BSL-2, …)</a:t>
            </a:r>
            <a:endParaRPr sz="1500">
              <a:solidFill>
                <a:schemeClr val="dk1"/>
              </a:solidFill>
            </a:endParaRPr>
          </a:p>
          <a:p>
            <a:pPr marL="685800" marR="0" lvl="1" indent="-260350" algn="l" rtl="0">
              <a:lnSpc>
                <a:spcPct val="150000"/>
              </a:lnSpc>
              <a:spcBef>
                <a:spcPts val="0"/>
              </a:spcBef>
              <a:spcAft>
                <a:spcPts val="0"/>
              </a:spcAft>
              <a:buClr>
                <a:schemeClr val="dk1"/>
              </a:buClr>
              <a:buSzPts val="1500"/>
              <a:buChar char="○"/>
            </a:pPr>
            <a:r>
              <a:rPr lang="en" sz="1500">
                <a:solidFill>
                  <a:schemeClr val="dk1"/>
                </a:solidFill>
              </a:rPr>
              <a:t>Note: Shield inactivates dangerous pathogens -&gt; Biosafety level 1</a:t>
            </a:r>
            <a:endParaRPr sz="1500">
              <a:solidFill>
                <a:schemeClr val="dk1"/>
              </a:solidFill>
            </a:endParaRPr>
          </a:p>
          <a:p>
            <a:pPr marL="685800" marR="0" lvl="0" indent="0" algn="l" rtl="0">
              <a:lnSpc>
                <a:spcPct val="150000"/>
              </a:lnSpc>
              <a:spcBef>
                <a:spcPts val="0"/>
              </a:spcBef>
              <a:spcAft>
                <a:spcPts val="0"/>
              </a:spcAft>
              <a:buNone/>
            </a:pPr>
            <a:endParaRPr sz="1500">
              <a:solidFill>
                <a:schemeClr val="dk1"/>
              </a:solidFill>
            </a:endParaRPr>
          </a:p>
          <a:p>
            <a:pPr marL="342900" marR="0" lvl="0" indent="-260350" algn="l" rtl="0">
              <a:lnSpc>
                <a:spcPct val="150000"/>
              </a:lnSpc>
              <a:spcBef>
                <a:spcPts val="0"/>
              </a:spcBef>
              <a:spcAft>
                <a:spcPts val="0"/>
              </a:spcAft>
              <a:buClr>
                <a:schemeClr val="dk1"/>
              </a:buClr>
              <a:buSzPts val="1500"/>
              <a:buChar char="●"/>
            </a:pPr>
            <a:r>
              <a:rPr lang="en" sz="1500">
                <a:solidFill>
                  <a:schemeClr val="dk1"/>
                </a:solidFill>
              </a:rPr>
              <a:t>Avoid dust and high humidity levels</a:t>
            </a:r>
            <a:endParaRPr sz="1500">
              <a:solidFill>
                <a:schemeClr val="dk1"/>
              </a:solidFill>
            </a:endParaRPr>
          </a:p>
          <a:p>
            <a:pPr marL="342900" marR="0" lvl="0" indent="0" algn="l" rtl="0">
              <a:lnSpc>
                <a:spcPct val="150000"/>
              </a:lnSpc>
              <a:spcBef>
                <a:spcPts val="0"/>
              </a:spcBef>
              <a:spcAft>
                <a:spcPts val="0"/>
              </a:spcAft>
              <a:buNone/>
            </a:pPr>
            <a:endParaRPr sz="1500">
              <a:solidFill>
                <a:schemeClr val="dk1"/>
              </a:solidFill>
            </a:endParaRPr>
          </a:p>
          <a:p>
            <a:pPr marL="342900" marR="0" lvl="0" indent="-260350" algn="l" rtl="0">
              <a:lnSpc>
                <a:spcPct val="150000"/>
              </a:lnSpc>
              <a:spcBef>
                <a:spcPts val="0"/>
              </a:spcBef>
              <a:spcAft>
                <a:spcPts val="0"/>
              </a:spcAft>
              <a:buClr>
                <a:schemeClr val="dk1"/>
              </a:buClr>
              <a:buSzPts val="1500"/>
              <a:buChar char="●"/>
            </a:pPr>
            <a:r>
              <a:rPr lang="en" sz="1500">
                <a:solidFill>
                  <a:schemeClr val="dk1"/>
                </a:solidFill>
              </a:rPr>
              <a:t>Preventative measures to </a:t>
            </a:r>
            <a:r>
              <a:rPr lang="en" sz="1500" b="1">
                <a:solidFill>
                  <a:srgbClr val="C00000"/>
                </a:solidFill>
              </a:rPr>
              <a:t>avoid PCR amplicon contamination at all cost</a:t>
            </a:r>
            <a:endParaRPr sz="1500" b="1">
              <a:solidFill>
                <a:srgbClr val="C00000"/>
              </a:solidFill>
            </a:endParaRPr>
          </a:p>
          <a:p>
            <a:pPr marL="914400" marR="0" lvl="1" indent="-323850" algn="l" rtl="0">
              <a:lnSpc>
                <a:spcPct val="150000"/>
              </a:lnSpc>
              <a:spcBef>
                <a:spcPts val="0"/>
              </a:spcBef>
              <a:spcAft>
                <a:spcPts val="0"/>
              </a:spcAft>
              <a:buClr>
                <a:schemeClr val="dk1"/>
              </a:buClr>
              <a:buSzPts val="1500"/>
              <a:buChar char="○"/>
            </a:pPr>
            <a:r>
              <a:rPr lang="en" sz="1500" b="1">
                <a:solidFill>
                  <a:schemeClr val="dk1"/>
                </a:solidFill>
              </a:rPr>
              <a:t>Physical separation of Pre-PCR and Post-PCR</a:t>
            </a:r>
            <a:endParaRPr sz="1500" b="1">
              <a:solidFill>
                <a:schemeClr val="dk1"/>
              </a:solidFill>
            </a:endParaRPr>
          </a:p>
          <a:p>
            <a:pPr marL="914400" marR="0" lvl="1" indent="-323850" algn="l" rtl="0">
              <a:lnSpc>
                <a:spcPct val="150000"/>
              </a:lnSpc>
              <a:spcBef>
                <a:spcPts val="0"/>
              </a:spcBef>
              <a:spcAft>
                <a:spcPts val="0"/>
              </a:spcAft>
              <a:buClr>
                <a:schemeClr val="dk1"/>
              </a:buClr>
              <a:buSzPts val="1500"/>
              <a:buChar char="○"/>
            </a:pPr>
            <a:r>
              <a:rPr lang="en" sz="1500">
                <a:solidFill>
                  <a:schemeClr val="dk1"/>
                </a:solidFill>
              </a:rPr>
              <a:t>Extra lab precautions (see next slides)</a:t>
            </a:r>
            <a:endParaRPr sz="1500">
              <a:solidFill>
                <a:schemeClr val="dk1"/>
              </a:solidFill>
            </a:endParaRPr>
          </a:p>
          <a:p>
            <a:pPr marL="685800" marR="0" lvl="0" indent="0" algn="l" rtl="0">
              <a:lnSpc>
                <a:spcPct val="125000"/>
              </a:lnSpc>
              <a:spcBef>
                <a:spcPts val="0"/>
              </a:spcBef>
              <a:spcAft>
                <a:spcPts val="0"/>
              </a:spcAft>
              <a:buNone/>
            </a:pPr>
            <a:endParaRPr sz="1500">
              <a:solidFill>
                <a:schemeClr val="dk1"/>
              </a:solidFill>
            </a:endParaRPr>
          </a:p>
        </p:txBody>
      </p:sp>
      <p:sp>
        <p:nvSpPr>
          <p:cNvPr id="2" name="Slide Number Placeholder 1">
            <a:extLst>
              <a:ext uri="{FF2B5EF4-FFF2-40B4-BE49-F238E27FC236}">
                <a16:creationId xmlns:a16="http://schemas.microsoft.com/office/drawing/2014/main" id="{6B2595D5-779C-BA3A-ED90-9CE353E44B62}"/>
              </a:ext>
            </a:extLst>
          </p:cNvPr>
          <p:cNvSpPr txBox="1">
            <a:spLocks/>
          </p:cNvSpPr>
          <p:nvPr/>
        </p:nvSpPr>
        <p:spPr>
          <a:xfrm>
            <a:off x="8035925" y="4876800"/>
            <a:ext cx="1108075" cy="393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800">
                <a:solidFill>
                  <a:schemeClr val="tx1">
                    <a:lumMod val="50000"/>
                    <a:lumOff val="50000"/>
                  </a:schemeClr>
                </a:solidFill>
              </a:rPr>
              <a:t>Revised 01/12/2026</a:t>
            </a:r>
            <a:endParaRPr lang="en" sz="800" dirty="0">
              <a:solidFill>
                <a:schemeClr val="tx1">
                  <a:lumMod val="50000"/>
                  <a:lumOff val="50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89"/>
          <p:cNvSpPr txBox="1"/>
          <p:nvPr/>
        </p:nvSpPr>
        <p:spPr>
          <a:xfrm>
            <a:off x="2539650" y="4050150"/>
            <a:ext cx="3177900" cy="449400"/>
          </a:xfrm>
          <a:prstGeom prst="rect">
            <a:avLst/>
          </a:prstGeom>
          <a:noFill/>
          <a:ln>
            <a:noFill/>
          </a:ln>
        </p:spPr>
        <p:txBody>
          <a:bodyPr spcFirstLastPara="1" wrap="square" lIns="91425" tIns="91425" rIns="91425" bIns="91425" anchor="t" anchorCtr="0">
            <a:noAutofit/>
          </a:bodyPr>
          <a:lstStyle/>
          <a:p>
            <a:pPr marL="342900" lvl="0" indent="-174625" algn="l" rtl="0">
              <a:lnSpc>
                <a:spcPct val="115000"/>
              </a:lnSpc>
              <a:spcBef>
                <a:spcPts val="0"/>
              </a:spcBef>
              <a:spcAft>
                <a:spcPts val="0"/>
              </a:spcAft>
              <a:buSzPts val="1400"/>
              <a:buChar char="●"/>
            </a:pPr>
            <a:r>
              <a:rPr lang="en" b="1" dirty="0"/>
              <a:t>No PCR allowed</a:t>
            </a:r>
            <a:endParaRPr b="1" dirty="0"/>
          </a:p>
          <a:p>
            <a:pPr marL="342900" lvl="0" indent="-174625" algn="l" rtl="0">
              <a:lnSpc>
                <a:spcPct val="115000"/>
              </a:lnSpc>
              <a:spcBef>
                <a:spcPts val="0"/>
              </a:spcBef>
              <a:spcAft>
                <a:spcPts val="0"/>
              </a:spcAft>
              <a:buSzPts val="1400"/>
              <a:buChar char="●"/>
            </a:pPr>
            <a:r>
              <a:rPr lang="en" dirty="0"/>
              <a:t>xNA extractions</a:t>
            </a:r>
            <a:endParaRPr dirty="0"/>
          </a:p>
          <a:p>
            <a:pPr marL="342900" lvl="0" indent="-174625" algn="l" rtl="0">
              <a:lnSpc>
                <a:spcPct val="115000"/>
              </a:lnSpc>
              <a:spcBef>
                <a:spcPts val="0"/>
              </a:spcBef>
              <a:spcAft>
                <a:spcPts val="0"/>
              </a:spcAft>
              <a:buSzPts val="1400"/>
              <a:buChar char="●"/>
            </a:pPr>
            <a:r>
              <a:rPr lang="en" dirty="0"/>
              <a:t>Lib prep up to setting up the Q5 mastermix (no PCR)</a:t>
            </a:r>
            <a:endParaRPr dirty="0"/>
          </a:p>
        </p:txBody>
      </p:sp>
      <p:sp>
        <p:nvSpPr>
          <p:cNvPr id="535" name="Google Shape;535;p89"/>
          <p:cNvSpPr txBox="1">
            <a:spLocks noGrp="1"/>
          </p:cNvSpPr>
          <p:nvPr>
            <p:ph type="title" idx="4294967295"/>
          </p:nvPr>
        </p:nvSpPr>
        <p:spPr>
          <a:xfrm>
            <a:off x="0" y="252413"/>
            <a:ext cx="3279775" cy="57308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800"/>
              <a:t>Lab setup</a:t>
            </a:r>
            <a:endParaRPr sz="2800"/>
          </a:p>
        </p:txBody>
      </p:sp>
      <p:sp>
        <p:nvSpPr>
          <p:cNvPr id="536" name="Google Shape;536;p89"/>
          <p:cNvSpPr txBox="1"/>
          <p:nvPr/>
        </p:nvSpPr>
        <p:spPr>
          <a:xfrm>
            <a:off x="152400" y="4050150"/>
            <a:ext cx="2106000" cy="449400"/>
          </a:xfrm>
          <a:prstGeom prst="rect">
            <a:avLst/>
          </a:prstGeom>
          <a:noFill/>
          <a:ln>
            <a:noFill/>
          </a:ln>
        </p:spPr>
        <p:txBody>
          <a:bodyPr spcFirstLastPara="1" wrap="square" lIns="91425" tIns="91425" rIns="91425" bIns="91425" anchor="t" anchorCtr="0">
            <a:noAutofit/>
          </a:bodyPr>
          <a:lstStyle/>
          <a:p>
            <a:pPr marL="342900" lvl="0" indent="-174625" algn="l" rtl="0">
              <a:lnSpc>
                <a:spcPct val="115000"/>
              </a:lnSpc>
              <a:spcBef>
                <a:spcPts val="0"/>
              </a:spcBef>
              <a:spcAft>
                <a:spcPts val="0"/>
              </a:spcAft>
              <a:buSzPts val="1400"/>
              <a:buChar char="●"/>
            </a:pPr>
            <a:r>
              <a:rPr lang="en" b="1" dirty="0"/>
              <a:t>No PCR allowed</a:t>
            </a:r>
            <a:endParaRPr b="1" dirty="0"/>
          </a:p>
          <a:p>
            <a:pPr marL="342900" lvl="0" indent="-174625" algn="l" rtl="0">
              <a:lnSpc>
                <a:spcPct val="115000"/>
              </a:lnSpc>
              <a:spcBef>
                <a:spcPts val="0"/>
              </a:spcBef>
              <a:spcAft>
                <a:spcPts val="0"/>
              </a:spcAft>
              <a:buSzPts val="1400"/>
              <a:buChar char="●"/>
            </a:pPr>
            <a:r>
              <a:rPr lang="en" dirty="0"/>
              <a:t>xNA extractions of infectious samples</a:t>
            </a:r>
            <a:endParaRPr dirty="0"/>
          </a:p>
        </p:txBody>
      </p:sp>
      <p:sp>
        <p:nvSpPr>
          <p:cNvPr id="537" name="Google Shape;537;p89"/>
          <p:cNvSpPr txBox="1"/>
          <p:nvPr/>
        </p:nvSpPr>
        <p:spPr>
          <a:xfrm>
            <a:off x="195800" y="3689175"/>
            <a:ext cx="2062500" cy="405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700" b="1"/>
              <a:t>BSL-2 Pre-PCR</a:t>
            </a:r>
            <a:endParaRPr sz="1700" b="1"/>
          </a:p>
        </p:txBody>
      </p:sp>
      <p:sp>
        <p:nvSpPr>
          <p:cNvPr id="538" name="Google Shape;538;p89"/>
          <p:cNvSpPr txBox="1"/>
          <p:nvPr/>
        </p:nvSpPr>
        <p:spPr>
          <a:xfrm>
            <a:off x="3106300" y="3689175"/>
            <a:ext cx="1875900" cy="405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700" b="1"/>
              <a:t>BSL-1 Pre-PCR</a:t>
            </a:r>
            <a:endParaRPr sz="1700" b="1"/>
          </a:p>
        </p:txBody>
      </p:sp>
      <p:sp>
        <p:nvSpPr>
          <p:cNvPr id="539" name="Google Shape;539;p89"/>
          <p:cNvSpPr txBox="1"/>
          <p:nvPr/>
        </p:nvSpPr>
        <p:spPr>
          <a:xfrm>
            <a:off x="6382425" y="3689163"/>
            <a:ext cx="1875900" cy="405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700" b="1"/>
              <a:t>BSL-1 Post-PCR</a:t>
            </a:r>
            <a:endParaRPr sz="1700" b="1"/>
          </a:p>
        </p:txBody>
      </p:sp>
      <p:cxnSp>
        <p:nvCxnSpPr>
          <p:cNvPr id="540" name="Google Shape;540;p89"/>
          <p:cNvCxnSpPr/>
          <p:nvPr/>
        </p:nvCxnSpPr>
        <p:spPr>
          <a:xfrm>
            <a:off x="2373000" y="3709000"/>
            <a:ext cx="0" cy="1362900"/>
          </a:xfrm>
          <a:prstGeom prst="straightConnector1">
            <a:avLst/>
          </a:prstGeom>
          <a:noFill/>
          <a:ln w="9525" cap="flat" cmpd="sng">
            <a:solidFill>
              <a:schemeClr val="dk2"/>
            </a:solidFill>
            <a:prstDash val="dash"/>
            <a:round/>
            <a:headEnd type="none" w="med" len="med"/>
            <a:tailEnd type="none" w="med" len="med"/>
          </a:ln>
        </p:spPr>
      </p:cxnSp>
      <p:cxnSp>
        <p:nvCxnSpPr>
          <p:cNvPr id="541" name="Google Shape;541;p89"/>
          <p:cNvCxnSpPr/>
          <p:nvPr/>
        </p:nvCxnSpPr>
        <p:spPr>
          <a:xfrm>
            <a:off x="5710775" y="3709000"/>
            <a:ext cx="0" cy="1362900"/>
          </a:xfrm>
          <a:prstGeom prst="straightConnector1">
            <a:avLst/>
          </a:prstGeom>
          <a:noFill/>
          <a:ln w="9525" cap="flat" cmpd="sng">
            <a:solidFill>
              <a:schemeClr val="dk2"/>
            </a:solidFill>
            <a:prstDash val="dash"/>
            <a:round/>
            <a:headEnd type="none" w="med" len="med"/>
            <a:tailEnd type="none" w="med" len="med"/>
          </a:ln>
        </p:spPr>
      </p:cxnSp>
      <p:sp>
        <p:nvSpPr>
          <p:cNvPr id="542" name="Google Shape;542;p89"/>
          <p:cNvSpPr txBox="1"/>
          <p:nvPr/>
        </p:nvSpPr>
        <p:spPr>
          <a:xfrm>
            <a:off x="5877424" y="4050150"/>
            <a:ext cx="3177900" cy="449400"/>
          </a:xfrm>
          <a:prstGeom prst="rect">
            <a:avLst/>
          </a:prstGeom>
          <a:noFill/>
          <a:ln>
            <a:noFill/>
          </a:ln>
        </p:spPr>
        <p:txBody>
          <a:bodyPr spcFirstLastPara="1" wrap="square" lIns="91425" tIns="91425" rIns="91425" bIns="91425" anchor="t" anchorCtr="0">
            <a:noAutofit/>
          </a:bodyPr>
          <a:lstStyle/>
          <a:p>
            <a:pPr marL="342900" lvl="0" indent="-174625" algn="l" rtl="0">
              <a:lnSpc>
                <a:spcPct val="115000"/>
              </a:lnSpc>
              <a:spcBef>
                <a:spcPts val="0"/>
              </a:spcBef>
              <a:spcAft>
                <a:spcPts val="0"/>
              </a:spcAft>
              <a:buSzPts val="1400"/>
              <a:buChar char="●"/>
            </a:pPr>
            <a:r>
              <a:rPr lang="en" b="1" dirty="0"/>
              <a:t>Lib prep from barcoding PCR</a:t>
            </a:r>
            <a:endParaRPr b="1" dirty="0"/>
          </a:p>
          <a:p>
            <a:pPr marL="342900" lvl="0" indent="-174625" algn="l" rtl="0">
              <a:lnSpc>
                <a:spcPct val="115000"/>
              </a:lnSpc>
              <a:spcBef>
                <a:spcPts val="0"/>
              </a:spcBef>
              <a:spcAft>
                <a:spcPts val="0"/>
              </a:spcAft>
              <a:buSzPts val="1400"/>
              <a:buChar char="●"/>
            </a:pPr>
            <a:r>
              <a:rPr lang="en" dirty="0"/>
              <a:t>Lib QC</a:t>
            </a:r>
            <a:endParaRPr dirty="0"/>
          </a:p>
          <a:p>
            <a:pPr marL="342900" lvl="0" indent="-174625" algn="l" rtl="0">
              <a:lnSpc>
                <a:spcPct val="115000"/>
              </a:lnSpc>
              <a:spcBef>
                <a:spcPts val="0"/>
              </a:spcBef>
              <a:spcAft>
                <a:spcPts val="0"/>
              </a:spcAft>
              <a:buSzPts val="1400"/>
              <a:buChar char="●"/>
            </a:pPr>
            <a:r>
              <a:rPr lang="en" dirty="0"/>
              <a:t>Lib amplification if needed</a:t>
            </a:r>
            <a:endParaRPr dirty="0"/>
          </a:p>
          <a:p>
            <a:pPr marL="342900" lvl="0" indent="-174625" algn="l" rtl="0">
              <a:lnSpc>
                <a:spcPct val="115000"/>
              </a:lnSpc>
              <a:spcBef>
                <a:spcPts val="0"/>
              </a:spcBef>
              <a:spcAft>
                <a:spcPts val="0"/>
              </a:spcAft>
              <a:buSzPts val="1400"/>
              <a:buChar char="●"/>
            </a:pPr>
            <a:r>
              <a:rPr lang="en" dirty="0"/>
              <a:t>Sequencing</a:t>
            </a:r>
            <a:endParaRPr dirty="0"/>
          </a:p>
        </p:txBody>
      </p:sp>
      <p:pic>
        <p:nvPicPr>
          <p:cNvPr id="543" name="Google Shape;543;p89"/>
          <p:cNvPicPr preferRelativeResize="0"/>
          <p:nvPr/>
        </p:nvPicPr>
        <p:blipFill rotWithShape="1">
          <a:blip r:embed="rId3">
            <a:alphaModFix/>
          </a:blip>
          <a:srcRect t="9156"/>
          <a:stretch/>
        </p:blipFill>
        <p:spPr>
          <a:xfrm>
            <a:off x="62125" y="391624"/>
            <a:ext cx="930352" cy="294900"/>
          </a:xfrm>
          <a:prstGeom prst="rect">
            <a:avLst/>
          </a:prstGeom>
          <a:noFill/>
          <a:ln>
            <a:noFill/>
          </a:ln>
        </p:spPr>
      </p:pic>
      <p:pic>
        <p:nvPicPr>
          <p:cNvPr id="544" name="Google Shape;544;p89"/>
          <p:cNvPicPr preferRelativeResize="0"/>
          <p:nvPr/>
        </p:nvPicPr>
        <p:blipFill rotWithShape="1">
          <a:blip r:embed="rId4">
            <a:alphaModFix/>
          </a:blip>
          <a:srcRect t="9099"/>
          <a:stretch/>
        </p:blipFill>
        <p:spPr>
          <a:xfrm>
            <a:off x="152400" y="862900"/>
            <a:ext cx="8861652" cy="2811000"/>
          </a:xfrm>
          <a:prstGeom prst="rect">
            <a:avLst/>
          </a:prstGeom>
          <a:noFill/>
          <a:ln>
            <a:noFill/>
          </a:ln>
        </p:spPr>
      </p:pic>
      <p:sp>
        <p:nvSpPr>
          <p:cNvPr id="2" name="Slide Number Placeholder 1">
            <a:extLst>
              <a:ext uri="{FF2B5EF4-FFF2-40B4-BE49-F238E27FC236}">
                <a16:creationId xmlns:a16="http://schemas.microsoft.com/office/drawing/2014/main" id="{826DCD8B-3309-4697-9A25-BB72CDED2133}"/>
              </a:ext>
            </a:extLst>
          </p:cNvPr>
          <p:cNvSpPr txBox="1">
            <a:spLocks/>
          </p:cNvSpPr>
          <p:nvPr/>
        </p:nvSpPr>
        <p:spPr>
          <a:xfrm>
            <a:off x="8035925" y="4876800"/>
            <a:ext cx="1108075" cy="393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800">
                <a:solidFill>
                  <a:schemeClr val="tx1">
                    <a:lumMod val="50000"/>
                    <a:lumOff val="50000"/>
                  </a:schemeClr>
                </a:solidFill>
              </a:rPr>
              <a:t>Revised 01/12/2026</a:t>
            </a:r>
            <a:endParaRPr lang="en" sz="800" dirty="0">
              <a:solidFill>
                <a:schemeClr val="tx1">
                  <a:lumMod val="50000"/>
                  <a:lumOff val="50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90"/>
          <p:cNvSpPr txBox="1">
            <a:spLocks noGrp="1"/>
          </p:cNvSpPr>
          <p:nvPr>
            <p:ph type="body" idx="4294967295"/>
          </p:nvPr>
        </p:nvSpPr>
        <p:spPr>
          <a:xfrm>
            <a:off x="0" y="963613"/>
            <a:ext cx="8855075" cy="346551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t>Extra lab precautions:</a:t>
            </a:r>
            <a:endParaRPr sz="1700" b="1"/>
          </a:p>
          <a:p>
            <a:pPr marL="114300" lvl="0" indent="0" algn="l" rtl="0">
              <a:spcBef>
                <a:spcPts val="0"/>
              </a:spcBef>
              <a:spcAft>
                <a:spcPts val="0"/>
              </a:spcAft>
              <a:buNone/>
            </a:pPr>
            <a:endParaRPr sz="1500"/>
          </a:p>
          <a:p>
            <a:pPr marL="457200" lvl="0" indent="-323850" algn="l" rtl="0">
              <a:lnSpc>
                <a:spcPct val="150000"/>
              </a:lnSpc>
              <a:spcBef>
                <a:spcPts val="0"/>
              </a:spcBef>
              <a:spcAft>
                <a:spcPts val="0"/>
              </a:spcAft>
              <a:buSzPts val="1500"/>
              <a:buChar char="●"/>
            </a:pPr>
            <a:r>
              <a:rPr lang="en" sz="1500"/>
              <a:t>Sticky floor pads at the entrance of Pre-PCR rooms, changed weekly</a:t>
            </a:r>
            <a:endParaRPr sz="1500"/>
          </a:p>
          <a:p>
            <a:pPr marL="457200" lvl="0" indent="-323850" algn="l" rtl="0">
              <a:lnSpc>
                <a:spcPct val="150000"/>
              </a:lnSpc>
              <a:spcBef>
                <a:spcPts val="0"/>
              </a:spcBef>
              <a:spcAft>
                <a:spcPts val="0"/>
              </a:spcAft>
              <a:buSzPts val="1500"/>
              <a:buChar char="●"/>
            </a:pPr>
            <a:r>
              <a:rPr lang="en" sz="1500"/>
              <a:t>Ice buckets color coded to the lab spaces - either Pre-PCR or Post-PCR only - no mixing</a:t>
            </a:r>
            <a:endParaRPr sz="1500"/>
          </a:p>
          <a:p>
            <a:pPr marL="457200" lvl="0" indent="-323850" algn="l" rtl="0">
              <a:lnSpc>
                <a:spcPct val="150000"/>
              </a:lnSpc>
              <a:spcBef>
                <a:spcPts val="0"/>
              </a:spcBef>
              <a:spcAft>
                <a:spcPts val="0"/>
              </a:spcAft>
              <a:buSzPts val="1500"/>
              <a:buChar char="●"/>
            </a:pPr>
            <a:r>
              <a:rPr lang="en" sz="1500"/>
              <a:t>Rotation of index primers so the same indices are never used in the same month </a:t>
            </a:r>
            <a:endParaRPr sz="1500"/>
          </a:p>
          <a:p>
            <a:pPr marL="457200" lvl="0" indent="-323850" algn="l" rtl="0">
              <a:lnSpc>
                <a:spcPct val="150000"/>
              </a:lnSpc>
              <a:spcBef>
                <a:spcPts val="0"/>
              </a:spcBef>
              <a:spcAft>
                <a:spcPts val="0"/>
              </a:spcAft>
              <a:buSzPts val="1500"/>
              <a:buChar char="●"/>
            </a:pPr>
            <a:r>
              <a:rPr lang="en" sz="1500"/>
              <a:t>Reagents like H</a:t>
            </a:r>
            <a:r>
              <a:rPr lang="en" sz="1500" baseline="-25000"/>
              <a:t>2</a:t>
            </a:r>
            <a:r>
              <a:rPr lang="en" sz="1500"/>
              <a:t>O, SPRI beads, DNAse, Proteinase K, etc are aliquoted into single-use tubes</a:t>
            </a:r>
            <a:endParaRPr sz="1500"/>
          </a:p>
          <a:p>
            <a:pPr marL="457200" lvl="0" indent="-323850" algn="l" rtl="0">
              <a:lnSpc>
                <a:spcPct val="150000"/>
              </a:lnSpc>
              <a:spcBef>
                <a:spcPts val="0"/>
              </a:spcBef>
              <a:spcAft>
                <a:spcPts val="0"/>
              </a:spcAft>
              <a:buSzPts val="1500"/>
              <a:buChar char="●"/>
            </a:pPr>
            <a:r>
              <a:rPr lang="en" sz="1500"/>
              <a:t>Pipets inside the PCR hoods are never taken out. All hoods are sprayed down before and after use with 70% ethanol and RNAseZap</a:t>
            </a:r>
            <a:endParaRPr sz="1500"/>
          </a:p>
          <a:p>
            <a:pPr marL="457200" lvl="0" indent="-323850" algn="l" rtl="0">
              <a:lnSpc>
                <a:spcPct val="150000"/>
              </a:lnSpc>
              <a:spcBef>
                <a:spcPts val="0"/>
              </a:spcBef>
              <a:spcAft>
                <a:spcPts val="0"/>
              </a:spcAft>
              <a:buSzPts val="1500"/>
              <a:buChar char="●"/>
            </a:pPr>
            <a:r>
              <a:rPr lang="en" sz="1500"/>
              <a:t>Reagents are not shared between the different rooms</a:t>
            </a:r>
            <a:endParaRPr sz="1500"/>
          </a:p>
          <a:p>
            <a:pPr marL="457200" lvl="0" indent="-323850" algn="l" rtl="0">
              <a:lnSpc>
                <a:spcPct val="150000"/>
              </a:lnSpc>
              <a:spcBef>
                <a:spcPts val="0"/>
              </a:spcBef>
              <a:spcAft>
                <a:spcPts val="0"/>
              </a:spcAft>
              <a:buSzPts val="1500"/>
              <a:buChar char="●"/>
            </a:pPr>
            <a:r>
              <a:rPr lang="en" sz="1500"/>
              <a:t>PCR products never enter the Pre-PCR rooms nor samples with high nucleic acid quantities (i.e.: stool, tissues, bacterial cultures, bacterial colonies)</a:t>
            </a:r>
            <a:endParaRPr sz="1500"/>
          </a:p>
        </p:txBody>
      </p:sp>
      <p:sp>
        <p:nvSpPr>
          <p:cNvPr id="550" name="Google Shape;550;p90"/>
          <p:cNvSpPr txBox="1">
            <a:spLocks noGrp="1"/>
          </p:cNvSpPr>
          <p:nvPr>
            <p:ph type="title" idx="4294967295"/>
          </p:nvPr>
        </p:nvSpPr>
        <p:spPr>
          <a:xfrm>
            <a:off x="0" y="252413"/>
            <a:ext cx="3279775" cy="57308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800"/>
              <a:t>Lab setup</a:t>
            </a:r>
            <a:endParaRPr sz="2800"/>
          </a:p>
        </p:txBody>
      </p:sp>
      <p:pic>
        <p:nvPicPr>
          <p:cNvPr id="551" name="Google Shape;551;p90"/>
          <p:cNvPicPr preferRelativeResize="0"/>
          <p:nvPr/>
        </p:nvPicPr>
        <p:blipFill rotWithShape="1">
          <a:blip r:embed="rId3">
            <a:alphaModFix/>
          </a:blip>
          <a:srcRect t="9156"/>
          <a:stretch/>
        </p:blipFill>
        <p:spPr>
          <a:xfrm>
            <a:off x="62125" y="391624"/>
            <a:ext cx="930352" cy="294900"/>
          </a:xfrm>
          <a:prstGeom prst="rect">
            <a:avLst/>
          </a:prstGeom>
          <a:noFill/>
          <a:ln>
            <a:noFill/>
          </a:ln>
        </p:spPr>
      </p:pic>
      <p:sp>
        <p:nvSpPr>
          <p:cNvPr id="2" name="Slide Number Placeholder 1">
            <a:extLst>
              <a:ext uri="{FF2B5EF4-FFF2-40B4-BE49-F238E27FC236}">
                <a16:creationId xmlns:a16="http://schemas.microsoft.com/office/drawing/2014/main" id="{3EBD736C-7145-3712-2083-73296DC28FFE}"/>
              </a:ext>
            </a:extLst>
          </p:cNvPr>
          <p:cNvSpPr txBox="1">
            <a:spLocks/>
          </p:cNvSpPr>
          <p:nvPr/>
        </p:nvSpPr>
        <p:spPr>
          <a:xfrm>
            <a:off x="8035925" y="4876800"/>
            <a:ext cx="1108075" cy="393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800">
                <a:solidFill>
                  <a:schemeClr val="tx1">
                    <a:lumMod val="50000"/>
                    <a:lumOff val="50000"/>
                  </a:schemeClr>
                </a:solidFill>
              </a:rPr>
              <a:t>Revised 01/12/2026</a:t>
            </a:r>
            <a:endParaRPr lang="en" sz="800" dirty="0">
              <a:solidFill>
                <a:schemeClr val="tx1">
                  <a:lumMod val="50000"/>
                  <a:lumOff val="50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91"/>
          <p:cNvSpPr txBox="1">
            <a:spLocks noGrp="1"/>
          </p:cNvSpPr>
          <p:nvPr>
            <p:ph type="body" idx="4294967295"/>
          </p:nvPr>
        </p:nvSpPr>
        <p:spPr>
          <a:xfrm>
            <a:off x="290513" y="995363"/>
            <a:ext cx="8853487" cy="3660775"/>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700" b="1"/>
              <a:t>Other considerations:</a:t>
            </a:r>
            <a:endParaRPr sz="1700" b="1"/>
          </a:p>
          <a:p>
            <a:pPr marL="457200" lvl="0" indent="-323850" algn="l" rtl="0">
              <a:lnSpc>
                <a:spcPct val="150000"/>
              </a:lnSpc>
              <a:spcBef>
                <a:spcPts val="0"/>
              </a:spcBef>
              <a:spcAft>
                <a:spcPts val="0"/>
              </a:spcAft>
              <a:buSzPts val="1500"/>
              <a:buChar char="●"/>
            </a:pPr>
            <a:r>
              <a:rPr lang="en" sz="1500"/>
              <a:t>Power: Uninterruptible power supply (UPS) or surge protector</a:t>
            </a:r>
            <a:endParaRPr sz="1500"/>
          </a:p>
          <a:p>
            <a:pPr marL="457200" lvl="0" indent="-323850" algn="l" rtl="0">
              <a:lnSpc>
                <a:spcPct val="150000"/>
              </a:lnSpc>
              <a:spcBef>
                <a:spcPts val="0"/>
              </a:spcBef>
              <a:spcAft>
                <a:spcPts val="0"/>
              </a:spcAft>
              <a:buSzPts val="1500"/>
              <a:buChar char="●"/>
            </a:pPr>
            <a:r>
              <a:rPr lang="en" sz="1500"/>
              <a:t>Internet connection</a:t>
            </a:r>
            <a:endParaRPr sz="1500"/>
          </a:p>
          <a:p>
            <a:pPr marL="457200" lvl="0" indent="-323850" algn="l" rtl="0">
              <a:lnSpc>
                <a:spcPct val="150000"/>
              </a:lnSpc>
              <a:spcBef>
                <a:spcPts val="0"/>
              </a:spcBef>
              <a:spcAft>
                <a:spcPts val="0"/>
              </a:spcAft>
              <a:buSzPts val="1500"/>
              <a:buChar char="●"/>
            </a:pPr>
            <a:r>
              <a:rPr lang="en" sz="1500"/>
              <a:t>Environmental conditions, e.g. for iSeq:</a:t>
            </a:r>
            <a:endParaRPr sz="1500"/>
          </a:p>
          <a:p>
            <a:pPr marL="914400" lvl="1" indent="-311150" algn="l" rtl="0">
              <a:lnSpc>
                <a:spcPct val="150000"/>
              </a:lnSpc>
              <a:spcBef>
                <a:spcPts val="0"/>
              </a:spcBef>
              <a:spcAft>
                <a:spcPts val="0"/>
              </a:spcAft>
              <a:buSzPts val="1300"/>
              <a:buChar char="○"/>
            </a:pPr>
            <a:r>
              <a:rPr lang="en" sz="1300"/>
              <a:t>Dust issues: Pollution degree rating of II (non-conductive pollution only, rare conductive pollution)</a:t>
            </a:r>
            <a:endParaRPr sz="1300"/>
          </a:p>
          <a:p>
            <a:pPr marL="914400" lvl="1" indent="-311150" algn="l" rtl="0">
              <a:lnSpc>
                <a:spcPct val="150000"/>
              </a:lnSpc>
              <a:spcBef>
                <a:spcPts val="0"/>
              </a:spcBef>
              <a:spcAft>
                <a:spcPts val="0"/>
              </a:spcAft>
              <a:buSzPts val="1300"/>
              <a:buChar char="○"/>
            </a:pPr>
            <a:r>
              <a:rPr lang="en" sz="1300"/>
              <a:t>Ventilation: Up to 2048 BTU/hr @ 600W. Buy extra air filters for the iSeq. </a:t>
            </a:r>
            <a:endParaRPr sz="1300"/>
          </a:p>
          <a:p>
            <a:pPr marL="914400" lvl="1" indent="-311150" algn="l" rtl="0">
              <a:lnSpc>
                <a:spcPct val="150000"/>
              </a:lnSpc>
              <a:spcBef>
                <a:spcPts val="0"/>
              </a:spcBef>
              <a:spcAft>
                <a:spcPts val="0"/>
              </a:spcAft>
              <a:buSzPts val="1300"/>
              <a:buChar char="○"/>
            </a:pPr>
            <a:r>
              <a:rPr lang="en" sz="1300"/>
              <a:t>Humidity: Non-condensing 20-80% Relative Humidity</a:t>
            </a:r>
            <a:endParaRPr sz="1300"/>
          </a:p>
          <a:p>
            <a:pPr marL="914400" lvl="1" indent="-311150" algn="l" rtl="0">
              <a:lnSpc>
                <a:spcPct val="150000"/>
              </a:lnSpc>
              <a:spcBef>
                <a:spcPts val="0"/>
              </a:spcBef>
              <a:spcAft>
                <a:spcPts val="0"/>
              </a:spcAft>
              <a:buSzPts val="1300"/>
              <a:buChar char="○"/>
            </a:pPr>
            <a:r>
              <a:rPr lang="en" sz="1300"/>
              <a:t>Temperature: 15°C to 30°C (22.5°C ± 7.5°C) </a:t>
            </a:r>
            <a:endParaRPr sz="1300"/>
          </a:p>
        </p:txBody>
      </p:sp>
      <p:sp>
        <p:nvSpPr>
          <p:cNvPr id="557" name="Google Shape;557;p91"/>
          <p:cNvSpPr txBox="1">
            <a:spLocks noGrp="1"/>
          </p:cNvSpPr>
          <p:nvPr>
            <p:ph type="title" idx="4294967295"/>
          </p:nvPr>
        </p:nvSpPr>
        <p:spPr>
          <a:xfrm>
            <a:off x="0" y="252413"/>
            <a:ext cx="3279775" cy="57308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800"/>
              <a:t>Lab setup</a:t>
            </a:r>
            <a:endParaRPr sz="2800"/>
          </a:p>
        </p:txBody>
      </p:sp>
      <p:pic>
        <p:nvPicPr>
          <p:cNvPr id="558" name="Google Shape;558;p91"/>
          <p:cNvPicPr preferRelativeResize="0"/>
          <p:nvPr/>
        </p:nvPicPr>
        <p:blipFill rotWithShape="1">
          <a:blip r:embed="rId3">
            <a:alphaModFix/>
          </a:blip>
          <a:srcRect t="9156"/>
          <a:stretch/>
        </p:blipFill>
        <p:spPr>
          <a:xfrm>
            <a:off x="62125" y="391624"/>
            <a:ext cx="930352" cy="294900"/>
          </a:xfrm>
          <a:prstGeom prst="rect">
            <a:avLst/>
          </a:prstGeom>
          <a:noFill/>
          <a:ln>
            <a:noFill/>
          </a:ln>
        </p:spPr>
      </p:pic>
      <p:sp>
        <p:nvSpPr>
          <p:cNvPr id="2" name="Slide Number Placeholder 1">
            <a:extLst>
              <a:ext uri="{FF2B5EF4-FFF2-40B4-BE49-F238E27FC236}">
                <a16:creationId xmlns:a16="http://schemas.microsoft.com/office/drawing/2014/main" id="{8E4D85B2-4128-173E-99B8-08D3BB9C32E8}"/>
              </a:ext>
            </a:extLst>
          </p:cNvPr>
          <p:cNvSpPr txBox="1">
            <a:spLocks/>
          </p:cNvSpPr>
          <p:nvPr/>
        </p:nvSpPr>
        <p:spPr>
          <a:xfrm>
            <a:off x="8035925" y="4876800"/>
            <a:ext cx="1108075" cy="393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800">
                <a:solidFill>
                  <a:schemeClr val="tx1">
                    <a:lumMod val="50000"/>
                    <a:lumOff val="50000"/>
                  </a:schemeClr>
                </a:solidFill>
              </a:rPr>
              <a:t>Revised 01/12/2026</a:t>
            </a:r>
            <a:endParaRPr lang="en" sz="800" dirty="0">
              <a:solidFill>
                <a:schemeClr val="tx1">
                  <a:lumMod val="50000"/>
                  <a:lumOff val="50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92"/>
          <p:cNvSpPr txBox="1">
            <a:spLocks noGrp="1"/>
          </p:cNvSpPr>
          <p:nvPr>
            <p:ph type="body" idx="4294967295"/>
          </p:nvPr>
        </p:nvSpPr>
        <p:spPr>
          <a:xfrm>
            <a:off x="0" y="766763"/>
            <a:ext cx="3109913" cy="381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700" b="1"/>
              <a:t>Lab procedures by location</a:t>
            </a:r>
            <a:endParaRPr sz="1700" b="1"/>
          </a:p>
          <a:p>
            <a:pPr marL="457200" lvl="0" indent="0" algn="l" rtl="0">
              <a:lnSpc>
                <a:spcPct val="150000"/>
              </a:lnSpc>
              <a:spcBef>
                <a:spcPts val="0"/>
              </a:spcBef>
              <a:spcAft>
                <a:spcPts val="0"/>
              </a:spcAft>
              <a:buNone/>
            </a:pPr>
            <a:endParaRPr sz="1300"/>
          </a:p>
        </p:txBody>
      </p:sp>
      <p:sp>
        <p:nvSpPr>
          <p:cNvPr id="564" name="Google Shape;564;p92"/>
          <p:cNvSpPr txBox="1">
            <a:spLocks noGrp="1"/>
          </p:cNvSpPr>
          <p:nvPr>
            <p:ph type="title" idx="4294967295"/>
          </p:nvPr>
        </p:nvSpPr>
        <p:spPr>
          <a:xfrm>
            <a:off x="0" y="252413"/>
            <a:ext cx="3279775" cy="57308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800"/>
              <a:t>Lab setup</a:t>
            </a:r>
            <a:endParaRPr sz="2800"/>
          </a:p>
        </p:txBody>
      </p:sp>
      <p:pic>
        <p:nvPicPr>
          <p:cNvPr id="565" name="Google Shape;565;p92"/>
          <p:cNvPicPr preferRelativeResize="0"/>
          <p:nvPr/>
        </p:nvPicPr>
        <p:blipFill rotWithShape="1">
          <a:blip r:embed="rId3">
            <a:alphaModFix/>
          </a:blip>
          <a:srcRect t="9156"/>
          <a:stretch/>
        </p:blipFill>
        <p:spPr>
          <a:xfrm>
            <a:off x="62125" y="391624"/>
            <a:ext cx="930352" cy="294900"/>
          </a:xfrm>
          <a:prstGeom prst="rect">
            <a:avLst/>
          </a:prstGeom>
          <a:noFill/>
          <a:ln>
            <a:noFill/>
          </a:ln>
        </p:spPr>
      </p:pic>
      <p:sp>
        <p:nvSpPr>
          <p:cNvPr id="566" name="Google Shape;566;p92"/>
          <p:cNvSpPr txBox="1"/>
          <p:nvPr/>
        </p:nvSpPr>
        <p:spPr>
          <a:xfrm>
            <a:off x="158350" y="1285300"/>
            <a:ext cx="4232400" cy="156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t>BSL2 Pre-PCR Biosafety Cabinet</a:t>
            </a:r>
            <a:endParaRPr sz="1200" b="1"/>
          </a:p>
          <a:p>
            <a:pPr marL="457200" lvl="0" indent="-304800" algn="l" rtl="0">
              <a:spcBef>
                <a:spcPts val="0"/>
              </a:spcBef>
              <a:spcAft>
                <a:spcPts val="0"/>
              </a:spcAft>
              <a:buSzPts val="1200"/>
              <a:buChar char="●"/>
            </a:pPr>
            <a:r>
              <a:rPr lang="en" sz="1200"/>
              <a:t>Sample inactivation in DNA/RNA Shield</a:t>
            </a:r>
            <a:endParaRPr sz="1200"/>
          </a:p>
          <a:p>
            <a:pPr marL="457200" lvl="0" indent="-304800" algn="l" rtl="0">
              <a:spcBef>
                <a:spcPts val="0"/>
              </a:spcBef>
              <a:spcAft>
                <a:spcPts val="0"/>
              </a:spcAft>
              <a:buSzPts val="1200"/>
              <a:buChar char="●"/>
            </a:pPr>
            <a:r>
              <a:rPr lang="en" sz="1200"/>
              <a:t>Nucleic acid extraction (if sample is not deactivated)</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b="1"/>
              <a:t>BLS2-Pre-PCR Room</a:t>
            </a:r>
            <a:endParaRPr sz="1200" b="1"/>
          </a:p>
          <a:p>
            <a:pPr marL="457200" lvl="0" indent="-304800" algn="l" rtl="0">
              <a:spcBef>
                <a:spcPts val="0"/>
              </a:spcBef>
              <a:spcAft>
                <a:spcPts val="0"/>
              </a:spcAft>
              <a:buSzPts val="1200"/>
              <a:buChar char="●"/>
            </a:pPr>
            <a:r>
              <a:rPr lang="en" sz="1200"/>
              <a:t>Storage of original samples at -80C</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b="1"/>
              <a:t>BSL1 Pre-PCR PCR hood</a:t>
            </a:r>
            <a:endParaRPr sz="1200" b="1"/>
          </a:p>
          <a:p>
            <a:pPr marL="457200" lvl="0" indent="-304800" algn="l" rtl="0">
              <a:spcBef>
                <a:spcPts val="0"/>
              </a:spcBef>
              <a:spcAft>
                <a:spcPts val="0"/>
              </a:spcAft>
              <a:buSzPts val="1200"/>
              <a:buChar char="●"/>
            </a:pPr>
            <a:r>
              <a:rPr lang="en" sz="1200"/>
              <a:t>Nucleic acid extraction (if sample </a:t>
            </a:r>
            <a:r>
              <a:rPr lang="en" sz="1200" u="sng"/>
              <a:t>is</a:t>
            </a:r>
            <a:r>
              <a:rPr lang="en" sz="1200"/>
              <a:t> deactivated)</a:t>
            </a:r>
            <a:endParaRPr sz="1200"/>
          </a:p>
          <a:p>
            <a:pPr marL="457200" lvl="0" indent="-304800" algn="l" rtl="0">
              <a:spcBef>
                <a:spcPts val="0"/>
              </a:spcBef>
              <a:spcAft>
                <a:spcPts val="0"/>
              </a:spcAft>
              <a:buSzPts val="1200"/>
              <a:buChar char="●"/>
            </a:pPr>
            <a:r>
              <a:rPr lang="en" sz="1200"/>
              <a:t>Nucleic acid quantification/quality control:</a:t>
            </a:r>
            <a:endParaRPr sz="1200"/>
          </a:p>
          <a:p>
            <a:pPr marL="914400" lvl="1" indent="-304800" algn="l" rtl="0">
              <a:spcBef>
                <a:spcPts val="0"/>
              </a:spcBef>
              <a:spcAft>
                <a:spcPts val="0"/>
              </a:spcAft>
              <a:buSzPts val="1200"/>
              <a:buChar char="○"/>
            </a:pPr>
            <a:r>
              <a:rPr lang="en" sz="1200"/>
              <a:t>Aliquots can be made in Pre-PCR and run in Post-PCR</a:t>
            </a:r>
            <a:endParaRPr sz="1200"/>
          </a:p>
          <a:p>
            <a:pPr marL="457200" lvl="0" indent="-304800" algn="l" rtl="0">
              <a:spcBef>
                <a:spcPts val="0"/>
              </a:spcBef>
              <a:spcAft>
                <a:spcPts val="0"/>
              </a:spcAft>
              <a:buSzPts val="1200"/>
              <a:buChar char="●"/>
            </a:pPr>
            <a:r>
              <a:rPr lang="en" sz="1200"/>
              <a:t>DNA/RNA library prep: Fragmentation to setting up the barcoding PCR </a:t>
            </a:r>
            <a:endParaRPr sz="1200"/>
          </a:p>
          <a:p>
            <a:pPr marL="457200" lvl="0" indent="0" algn="l" rtl="0">
              <a:spcBef>
                <a:spcPts val="0"/>
              </a:spcBef>
              <a:spcAft>
                <a:spcPts val="0"/>
              </a:spcAft>
              <a:buNone/>
            </a:pPr>
            <a:endParaRPr sz="1200"/>
          </a:p>
        </p:txBody>
      </p:sp>
      <p:sp>
        <p:nvSpPr>
          <p:cNvPr id="567" name="Google Shape;567;p92"/>
          <p:cNvSpPr txBox="1"/>
          <p:nvPr/>
        </p:nvSpPr>
        <p:spPr>
          <a:xfrm>
            <a:off x="4680775" y="1285300"/>
            <a:ext cx="4232400" cy="156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t>BSL1 Post-PCR PCR hood</a:t>
            </a:r>
            <a:endParaRPr sz="1200" b="1"/>
          </a:p>
          <a:p>
            <a:pPr marL="457200" lvl="0" indent="-304800" algn="l" rtl="0">
              <a:spcBef>
                <a:spcPts val="0"/>
              </a:spcBef>
              <a:spcAft>
                <a:spcPts val="0"/>
              </a:spcAft>
              <a:buSzPts val="1200"/>
              <a:buChar char="●"/>
            </a:pPr>
            <a:r>
              <a:rPr lang="en" sz="1200"/>
              <a:t>Post-PCR SPRI clean-up</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a:t>BSL1 Post-PCR Bench</a:t>
            </a:r>
            <a:endParaRPr sz="1200"/>
          </a:p>
          <a:p>
            <a:pPr marL="457200" lvl="0" indent="-304800" algn="l" rtl="0">
              <a:spcBef>
                <a:spcPts val="0"/>
              </a:spcBef>
              <a:spcAft>
                <a:spcPts val="0"/>
              </a:spcAft>
              <a:buSzPts val="1200"/>
              <a:buChar char="●"/>
            </a:pPr>
            <a:r>
              <a:rPr lang="en" sz="1200"/>
              <a:t>Barcoding PCR amplification run</a:t>
            </a:r>
            <a:endParaRPr sz="1200"/>
          </a:p>
          <a:p>
            <a:pPr marL="457200" lvl="0" indent="-304800" algn="l" rtl="0">
              <a:spcBef>
                <a:spcPts val="0"/>
              </a:spcBef>
              <a:spcAft>
                <a:spcPts val="0"/>
              </a:spcAft>
              <a:buSzPts val="1200"/>
              <a:buChar char="●"/>
            </a:pPr>
            <a:r>
              <a:rPr lang="en" sz="1200"/>
              <a:t>Library quantification &amp; quality control</a:t>
            </a:r>
            <a:endParaRPr sz="1200"/>
          </a:p>
          <a:p>
            <a:pPr marL="457200" lvl="0" indent="-304800" algn="l" rtl="0">
              <a:spcBef>
                <a:spcPts val="0"/>
              </a:spcBef>
              <a:spcAft>
                <a:spcPts val="0"/>
              </a:spcAft>
              <a:buSzPts val="1200"/>
              <a:buChar char="●"/>
            </a:pPr>
            <a:r>
              <a:rPr lang="en" sz="1200"/>
              <a:t>Library pooling</a:t>
            </a:r>
            <a:endParaRPr sz="1200"/>
          </a:p>
          <a:p>
            <a:pPr marL="457200" lvl="0" indent="-304800" algn="l" rtl="0">
              <a:spcBef>
                <a:spcPts val="0"/>
              </a:spcBef>
              <a:spcAft>
                <a:spcPts val="0"/>
              </a:spcAft>
              <a:buSzPts val="1200"/>
              <a:buChar char="●"/>
            </a:pPr>
            <a:r>
              <a:rPr lang="en" sz="1200"/>
              <a:t>qPCR Machine for additional library amplification</a:t>
            </a:r>
            <a:endParaRPr sz="1200"/>
          </a:p>
          <a:p>
            <a:pPr marL="457200" lvl="0" indent="-304800" algn="l" rtl="0">
              <a:spcBef>
                <a:spcPts val="0"/>
              </a:spcBef>
              <a:spcAft>
                <a:spcPts val="0"/>
              </a:spcAft>
              <a:buSzPts val="1200"/>
              <a:buChar char="●"/>
            </a:pPr>
            <a:r>
              <a:rPr lang="en" sz="1200"/>
              <a:t>Illumina sequencing</a:t>
            </a:r>
            <a:endParaRPr sz="1200"/>
          </a:p>
          <a:p>
            <a:pPr marL="457200" lvl="0" indent="-304800" algn="l" rtl="0">
              <a:spcBef>
                <a:spcPts val="0"/>
              </a:spcBef>
              <a:spcAft>
                <a:spcPts val="0"/>
              </a:spcAft>
              <a:buSzPts val="1200"/>
              <a:buChar char="●"/>
            </a:pPr>
            <a:r>
              <a:rPr lang="en" sz="1200"/>
              <a:t>Storage of NGS libraries -20C</a:t>
            </a:r>
            <a:endParaRPr sz="1200"/>
          </a:p>
          <a:p>
            <a:pPr marL="0" lvl="0" indent="0" algn="l" rtl="0">
              <a:spcBef>
                <a:spcPts val="0"/>
              </a:spcBef>
              <a:spcAft>
                <a:spcPts val="0"/>
              </a:spcAft>
              <a:buNone/>
            </a:pPr>
            <a:endParaRPr sz="1200"/>
          </a:p>
          <a:p>
            <a:pPr marL="457200" lvl="0" indent="0" algn="l" rtl="0">
              <a:spcBef>
                <a:spcPts val="0"/>
              </a:spcBef>
              <a:spcAft>
                <a:spcPts val="0"/>
              </a:spcAft>
              <a:buNone/>
            </a:pPr>
            <a:endParaRPr sz="1200"/>
          </a:p>
        </p:txBody>
      </p:sp>
      <p:sp>
        <p:nvSpPr>
          <p:cNvPr id="2" name="Slide Number Placeholder 1">
            <a:extLst>
              <a:ext uri="{FF2B5EF4-FFF2-40B4-BE49-F238E27FC236}">
                <a16:creationId xmlns:a16="http://schemas.microsoft.com/office/drawing/2014/main" id="{0285C532-19B6-F4D2-8AFD-620919E97E47}"/>
              </a:ext>
            </a:extLst>
          </p:cNvPr>
          <p:cNvSpPr txBox="1">
            <a:spLocks/>
          </p:cNvSpPr>
          <p:nvPr/>
        </p:nvSpPr>
        <p:spPr>
          <a:xfrm>
            <a:off x="8035925" y="4876800"/>
            <a:ext cx="1108075" cy="393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800">
                <a:solidFill>
                  <a:schemeClr val="tx1">
                    <a:lumMod val="50000"/>
                    <a:lumOff val="50000"/>
                  </a:schemeClr>
                </a:solidFill>
              </a:rPr>
              <a:t>Revised 01/12/2026</a:t>
            </a:r>
            <a:endParaRPr lang="en" sz="800" dirty="0">
              <a:solidFill>
                <a:schemeClr val="tx1">
                  <a:lumMod val="50000"/>
                  <a:lumOff val="50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81"/>
          <p:cNvSpPr txBox="1"/>
          <p:nvPr/>
        </p:nvSpPr>
        <p:spPr>
          <a:xfrm>
            <a:off x="195325" y="2073550"/>
            <a:ext cx="8833200" cy="72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100" b="1" dirty="0">
                <a:solidFill>
                  <a:schemeClr val="tx1"/>
                </a:solidFill>
              </a:rPr>
              <a:t>Next: </a:t>
            </a:r>
            <a:r>
              <a:rPr lang="en" sz="2100" b="1" i="1" dirty="0" err="1">
                <a:solidFill>
                  <a:schemeClr val="tx1"/>
                </a:solidFill>
              </a:rPr>
              <a:t>mNGS</a:t>
            </a:r>
            <a:r>
              <a:rPr lang="en" sz="2100" b="1" i="1" dirty="0">
                <a:solidFill>
                  <a:schemeClr val="tx1"/>
                </a:solidFill>
              </a:rPr>
              <a:t> study design, lab setup and sample preparation</a:t>
            </a:r>
            <a:endParaRPr sz="2100" b="1" dirty="0">
              <a:solidFill>
                <a:schemeClr val="tx1"/>
              </a:solidFill>
            </a:endParaRPr>
          </a:p>
        </p:txBody>
      </p:sp>
      <p:sp>
        <p:nvSpPr>
          <p:cNvPr id="3" name="Slide Number Placeholder 1">
            <a:extLst>
              <a:ext uri="{FF2B5EF4-FFF2-40B4-BE49-F238E27FC236}">
                <a16:creationId xmlns:a16="http://schemas.microsoft.com/office/drawing/2014/main" id="{6FE6C58F-9803-730D-FE28-1E9375018352}"/>
              </a:ext>
            </a:extLst>
          </p:cNvPr>
          <p:cNvSpPr txBox="1">
            <a:spLocks/>
          </p:cNvSpPr>
          <p:nvPr/>
        </p:nvSpPr>
        <p:spPr>
          <a:xfrm>
            <a:off x="8035925" y="4876800"/>
            <a:ext cx="1108075" cy="393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800">
                <a:solidFill>
                  <a:schemeClr val="tx1">
                    <a:lumMod val="50000"/>
                    <a:lumOff val="50000"/>
                  </a:schemeClr>
                </a:solidFill>
              </a:rPr>
              <a:t>Revised 01/12/2026</a:t>
            </a:r>
            <a:endParaRPr lang="en" sz="800" dirty="0">
              <a:solidFill>
                <a:schemeClr val="tx1">
                  <a:lumMod val="50000"/>
                  <a:lumOff val="50000"/>
                </a:schemeClr>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F79471E9-4F1B-344D-9856-F809C63B85B4}" vid="{2FD73ADB-B93C-3142-8107-D94AE41C2BA2}"/>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TotalTime>
  <Words>1906</Words>
  <Application>Microsoft Macintosh PowerPoint</Application>
  <PresentationFormat>On-screen Show (16:9)</PresentationFormat>
  <Paragraphs>338</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Helvetica Neue</vt:lpstr>
      <vt:lpstr>Arial</vt:lpstr>
      <vt:lpstr>Aptos Display</vt:lpstr>
      <vt:lpstr>Calibri</vt:lpstr>
      <vt:lpstr>Aptos</vt:lpstr>
      <vt:lpstr>Office Theme</vt:lpstr>
      <vt:lpstr> Introduction to mNGS*&amp; lab setup *metagenomic Next-Generation Sequencing </vt:lpstr>
      <vt:lpstr>PowerPoint Presentation</vt:lpstr>
      <vt:lpstr>Pathogen landscape Organisms vary widely in their genetic makeup</vt:lpstr>
      <vt:lpstr>PowerPoint Presentation</vt:lpstr>
      <vt:lpstr>NGS toolbox for infectious diseases</vt:lpstr>
      <vt:lpstr>NGS toolbox for infectious diseases</vt:lpstr>
      <vt:lpstr>NGS toolbox for infectious diseases</vt:lpstr>
      <vt:lpstr>NGS toolbox for infectious diseases</vt:lpstr>
      <vt:lpstr>NGS toolbox for infectious diseases</vt:lpstr>
      <vt:lpstr>PowerPoint Presentation</vt:lpstr>
      <vt:lpstr>Use cases for mNGS</vt:lpstr>
      <vt:lpstr>Use case: Saha et al., mBio, 2019</vt:lpstr>
      <vt:lpstr>mNGS pipeline</vt:lpstr>
      <vt:lpstr>PowerPoint Presentation</vt:lpstr>
      <vt:lpstr>Lab setup</vt:lpstr>
      <vt:lpstr>Lab setup</vt:lpstr>
      <vt:lpstr>Lab setup</vt:lpstr>
      <vt:lpstr>Lab setup</vt:lpstr>
      <vt:lpstr>Lab setup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Juliana Gil</cp:lastModifiedBy>
  <cp:revision>6</cp:revision>
  <dcterms:modified xsi:type="dcterms:W3CDTF">2026-01-15T00:05:50Z</dcterms:modified>
</cp:coreProperties>
</file>