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4" d="100"/>
          <a:sy n="154" d="100"/>
        </p:scale>
        <p:origin x="888"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91742dcc1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91742dcc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8f78c0ad1d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8f78c0ad1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8f78c0ad1d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8f78c0ad1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8f78c0ad1d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8f78c0ad1d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8f78c0ad1d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8f78c0ad1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922daa4740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922daa474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QC methods for library visualization - TapeStation or Bionalyzer. Library concentration may be too low for a gel.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91742dcc19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91742dcc1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8f78c0ad1d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f78c0ad1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8f78c0ad1d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8f78c0ad1d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8f78c0ad1d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8f78c0ad1d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8f78c0ad1d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8f78c0ad1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f78c0ad1d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f78c0ad1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8f78c0ad1d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8f78c0ad1d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922daa4740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922daa4740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8f78c0ad1d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8f78c0ad1d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8f78c0ad1d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8f78c0ad1d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8f78c0ad1d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8f78c0ad1d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8f78c0ad1d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8f78c0ad1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8f78c0ad1d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8f78c0ad1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8f78c0ad1d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8f78c0ad1d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8f78c0ad1d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8f78c0ad1d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8f78c0ad1d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8f78c0ad1d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8f78c0ad1d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8f78c0ad1d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8f78c0ad1d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8f78c0ad1d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91742dcc19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91742dcc1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9f8775f1f2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9f8775f1f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ingle Column Content">
  <p:cSld name="Single Column Content">
    <p:spTree>
      <p:nvGrpSpPr>
        <p:cNvPr id="1" name="Shape 50"/>
        <p:cNvGrpSpPr/>
        <p:nvPr/>
      </p:nvGrpSpPr>
      <p:grpSpPr>
        <a:xfrm>
          <a:off x="0" y="0"/>
          <a:ext cx="0" cy="0"/>
          <a:chOff x="0" y="0"/>
          <a:chExt cx="0" cy="0"/>
        </a:xfrm>
      </p:grpSpPr>
      <p:sp>
        <p:nvSpPr>
          <p:cNvPr id="51" name="Google Shape;51;p13"/>
          <p:cNvSpPr/>
          <p:nvPr/>
        </p:nvSpPr>
        <p:spPr>
          <a:xfrm>
            <a:off x="0" y="-9"/>
            <a:ext cx="9144000" cy="6267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52" name="Google Shape;52;p13" descr=" Biohub Logo V2.pdf"/>
          <p:cNvPicPr preferRelativeResize="0"/>
          <p:nvPr/>
        </p:nvPicPr>
        <p:blipFill rotWithShape="1">
          <a:blip r:embed="rId2">
            <a:alphaModFix/>
          </a:blip>
          <a:srcRect l="24284" t="34386" r="58248" b="34255"/>
          <a:stretch/>
        </p:blipFill>
        <p:spPr>
          <a:xfrm>
            <a:off x="158122" y="48182"/>
            <a:ext cx="826755" cy="834874"/>
          </a:xfrm>
          <a:prstGeom prst="rect">
            <a:avLst/>
          </a:prstGeom>
          <a:noFill/>
          <a:ln>
            <a:noFill/>
          </a:ln>
          <a:effectLst>
            <a:outerShdw blurRad="50800" dist="38100" dir="2700000" algn="tl" rotWithShape="0">
              <a:srgbClr val="000000">
                <a:alpha val="40000"/>
              </a:srgbClr>
            </a:outerShdw>
          </a:effectLst>
        </p:spPr>
      </p:pic>
      <p:sp>
        <p:nvSpPr>
          <p:cNvPr id="53" name="Google Shape;53;p13"/>
          <p:cNvSpPr txBox="1">
            <a:spLocks noGrp="1"/>
          </p:cNvSpPr>
          <p:nvPr>
            <p:ph type="body" idx="1"/>
          </p:nvPr>
        </p:nvSpPr>
        <p:spPr>
          <a:xfrm>
            <a:off x="1197225" y="48183"/>
            <a:ext cx="7003800" cy="550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6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body" idx="2"/>
          </p:nvPr>
        </p:nvSpPr>
        <p:spPr>
          <a:xfrm>
            <a:off x="514125" y="1043920"/>
            <a:ext cx="8370000" cy="37800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100000"/>
              </a:lnSpc>
              <a:spcBef>
                <a:spcPts val="5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10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10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hyperlink" Target="https://docs.google.com/spreadsheets/d/1Ez7CyTItPWzRfHhtjLgqUWTiCZaTgj6QP1Jz_iBiWU8/edit?usp=sharin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hyperlink" Target="https://support.illumina.com/content/dam/illumina-support/documents/documentation/system_documentation/miseq/miseq-sample-sheet-quick-ref-guide-15028392-j.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hyperlink" Target="https://support.illumina.com/content/dam/illumina-support/documents/documentation/system_documentation/miseq/miseq-site-prep-guide-15027615-f.pdf"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hyperlink" Target="https://support.illumina.com/content/dam/illumina-support/documents/documentation/system_documentation/miseq/miseq-system-guide-for-miseq-reporter-1000000061014-00.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0" y="1072000"/>
            <a:ext cx="8520600" cy="123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MiSeq Loading</a:t>
            </a:r>
            <a:endParaRPr/>
          </a:p>
        </p:txBody>
      </p:sp>
      <p:sp>
        <p:nvSpPr>
          <p:cNvPr id="60" name="Google Shape;60;p14"/>
          <p:cNvSpPr txBox="1">
            <a:spLocks noGrp="1"/>
          </p:cNvSpPr>
          <p:nvPr>
            <p:ph type="subTitle" idx="1"/>
          </p:nvPr>
        </p:nvSpPr>
        <p:spPr>
          <a:xfrm>
            <a:off x="311700" y="2537500"/>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step-by-step guide</a:t>
            </a:r>
            <a:endParaRPr/>
          </a:p>
        </p:txBody>
      </p:sp>
      <p:pic>
        <p:nvPicPr>
          <p:cNvPr id="62" name="Google Shape;62;p14"/>
          <p:cNvPicPr preferRelativeResize="0"/>
          <p:nvPr/>
        </p:nvPicPr>
        <p:blipFill>
          <a:blip r:embed="rId3">
            <a:alphaModFix/>
          </a:blip>
          <a:stretch>
            <a:fillRect/>
          </a:stretch>
        </p:blipFill>
        <p:spPr>
          <a:xfrm>
            <a:off x="-123373" y="2537500"/>
            <a:ext cx="2969100" cy="2226851"/>
          </a:xfrm>
          <a:prstGeom prst="rect">
            <a:avLst/>
          </a:prstGeom>
          <a:noFill/>
          <a:ln>
            <a:noFill/>
          </a:ln>
        </p:spPr>
      </p:pic>
      <p:sp>
        <p:nvSpPr>
          <p:cNvPr id="2" name="TextBox 1">
            <a:extLst>
              <a:ext uri="{FF2B5EF4-FFF2-40B4-BE49-F238E27FC236}">
                <a16:creationId xmlns:a16="http://schemas.microsoft.com/office/drawing/2014/main" id="{AD4DD691-9D64-BB01-71E4-3B7C14AFC5FC}"/>
              </a:ext>
            </a:extLst>
          </p:cNvPr>
          <p:cNvSpPr txBox="1"/>
          <p:nvPr/>
        </p:nvSpPr>
        <p:spPr>
          <a:xfrm>
            <a:off x="6694150" y="4764351"/>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Revised 01/12/2026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p:nvPr/>
        </p:nvSpPr>
        <p:spPr>
          <a:xfrm>
            <a:off x="657494" y="3635888"/>
            <a:ext cx="3273000" cy="1758900"/>
          </a:xfrm>
          <a:prstGeom prst="rect">
            <a:avLst/>
          </a:prstGeom>
          <a:noFill/>
          <a:ln>
            <a:noFill/>
          </a:ln>
        </p:spPr>
        <p:txBody>
          <a:bodyPr spcFirstLastPara="1" wrap="square" lIns="91425" tIns="91425" rIns="91425" bIns="91425" anchor="t" anchorCtr="0">
            <a:noAutofit/>
          </a:bodyPr>
          <a:lstStyle/>
          <a:p>
            <a:pPr marL="457200" lvl="0" indent="-158750" algn="l" rtl="0">
              <a:spcBef>
                <a:spcPts val="0"/>
              </a:spcBef>
              <a:spcAft>
                <a:spcPts val="0"/>
              </a:spcAft>
              <a:buClr>
                <a:srgbClr val="000000"/>
              </a:buClr>
              <a:buSzPts val="1600"/>
              <a:buChar char="●"/>
            </a:pPr>
            <a:r>
              <a:rPr lang="en" sz="1600">
                <a:solidFill>
                  <a:srgbClr val="000000"/>
                </a:solidFill>
              </a:rPr>
              <a:t>1 - 24 Million reads</a:t>
            </a:r>
            <a:endParaRPr sz="1600">
              <a:solidFill>
                <a:srgbClr val="000000"/>
              </a:solidFill>
            </a:endParaRPr>
          </a:p>
          <a:p>
            <a:pPr marL="457200" lvl="0" indent="-158750" algn="l" rtl="0">
              <a:spcBef>
                <a:spcPts val="0"/>
              </a:spcBef>
              <a:spcAft>
                <a:spcPts val="0"/>
              </a:spcAft>
              <a:buClr>
                <a:srgbClr val="000000"/>
              </a:buClr>
              <a:buSzPts val="1600"/>
              <a:buChar char="●"/>
            </a:pPr>
            <a:r>
              <a:rPr lang="en" sz="1600">
                <a:solidFill>
                  <a:srgbClr val="000000"/>
                </a:solidFill>
              </a:rPr>
              <a:t>2 x 300 bp</a:t>
            </a:r>
            <a:endParaRPr sz="1600">
              <a:solidFill>
                <a:srgbClr val="000000"/>
              </a:solidFill>
            </a:endParaRPr>
          </a:p>
          <a:p>
            <a:pPr marL="457200" lvl="0" indent="-158750" algn="l" rtl="0">
              <a:spcBef>
                <a:spcPts val="0"/>
              </a:spcBef>
              <a:spcAft>
                <a:spcPts val="0"/>
              </a:spcAft>
              <a:buClr>
                <a:srgbClr val="000000"/>
              </a:buClr>
              <a:buSzPts val="1600"/>
              <a:buChar char="●"/>
            </a:pPr>
            <a:r>
              <a:rPr lang="en" sz="1600">
                <a:solidFill>
                  <a:srgbClr val="000000"/>
                </a:solidFill>
              </a:rPr>
              <a:t>Max 600 cycles</a:t>
            </a:r>
            <a:endParaRPr sz="1600">
              <a:solidFill>
                <a:srgbClr val="000000"/>
              </a:solidFill>
            </a:endParaRPr>
          </a:p>
          <a:p>
            <a:pPr marL="457200" lvl="0" indent="-158750" algn="l" rtl="0">
              <a:spcBef>
                <a:spcPts val="0"/>
              </a:spcBef>
              <a:spcAft>
                <a:spcPts val="0"/>
              </a:spcAft>
              <a:buSzPts val="1600"/>
              <a:buChar char="●"/>
            </a:pPr>
            <a:r>
              <a:rPr lang="en" sz="1600"/>
              <a:t>Run 4-55 hrs</a:t>
            </a:r>
            <a:endParaRPr sz="1600"/>
          </a:p>
          <a:p>
            <a:pPr marL="457200" lvl="0" indent="0" algn="l" rtl="0">
              <a:spcBef>
                <a:spcPts val="0"/>
              </a:spcBef>
              <a:spcAft>
                <a:spcPts val="0"/>
              </a:spcAft>
              <a:buNone/>
            </a:pPr>
            <a:endParaRPr sz="1600"/>
          </a:p>
        </p:txBody>
      </p:sp>
      <p:pic>
        <p:nvPicPr>
          <p:cNvPr id="68" name="Google Shape;68;p15"/>
          <p:cNvPicPr preferRelativeResize="0"/>
          <p:nvPr/>
        </p:nvPicPr>
        <p:blipFill>
          <a:blip r:embed="rId3">
            <a:alphaModFix/>
          </a:blip>
          <a:stretch>
            <a:fillRect/>
          </a:stretch>
        </p:blipFill>
        <p:spPr>
          <a:xfrm>
            <a:off x="1270847" y="2875760"/>
            <a:ext cx="1166350" cy="234650"/>
          </a:xfrm>
          <a:prstGeom prst="rect">
            <a:avLst/>
          </a:prstGeom>
          <a:noFill/>
          <a:ln>
            <a:noFill/>
          </a:ln>
        </p:spPr>
      </p:pic>
      <p:sp>
        <p:nvSpPr>
          <p:cNvPr id="69" name="Google Shape;69;p15"/>
          <p:cNvSpPr txBox="1"/>
          <p:nvPr/>
        </p:nvSpPr>
        <p:spPr>
          <a:xfrm>
            <a:off x="1160413" y="3175485"/>
            <a:ext cx="1387200" cy="23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t>4-channel system (4 dyes)</a:t>
            </a:r>
            <a:endParaRPr sz="800"/>
          </a:p>
        </p:txBody>
      </p:sp>
      <p:pic>
        <p:nvPicPr>
          <p:cNvPr id="70" name="Google Shape;70;p15"/>
          <p:cNvPicPr preferRelativeResize="0"/>
          <p:nvPr/>
        </p:nvPicPr>
        <p:blipFill>
          <a:blip r:embed="rId4">
            <a:alphaModFix/>
          </a:blip>
          <a:stretch>
            <a:fillRect/>
          </a:stretch>
        </p:blipFill>
        <p:spPr>
          <a:xfrm>
            <a:off x="581300" y="763175"/>
            <a:ext cx="3011240" cy="2258450"/>
          </a:xfrm>
          <a:prstGeom prst="rect">
            <a:avLst/>
          </a:prstGeom>
          <a:noFill/>
          <a:ln>
            <a:noFill/>
          </a:ln>
        </p:spPr>
      </p:pic>
      <p:pic>
        <p:nvPicPr>
          <p:cNvPr id="71" name="Google Shape;71;p15"/>
          <p:cNvPicPr preferRelativeResize="0"/>
          <p:nvPr/>
        </p:nvPicPr>
        <p:blipFill>
          <a:blip r:embed="rId5">
            <a:alphaModFix/>
          </a:blip>
          <a:stretch>
            <a:fillRect/>
          </a:stretch>
        </p:blipFill>
        <p:spPr>
          <a:xfrm>
            <a:off x="5563000" y="1019300"/>
            <a:ext cx="2276475" cy="2238375"/>
          </a:xfrm>
          <a:prstGeom prst="rect">
            <a:avLst/>
          </a:prstGeom>
          <a:noFill/>
          <a:ln>
            <a:noFill/>
          </a:ln>
        </p:spPr>
      </p:pic>
      <p:sp>
        <p:nvSpPr>
          <p:cNvPr id="72" name="Google Shape;72;p15"/>
          <p:cNvSpPr txBox="1"/>
          <p:nvPr/>
        </p:nvSpPr>
        <p:spPr>
          <a:xfrm>
            <a:off x="4572000" y="3563550"/>
            <a:ext cx="4430100" cy="14193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Sequencer takes four images per cycle</a:t>
            </a:r>
            <a:endParaRPr sz="1600"/>
          </a:p>
          <a:p>
            <a:pPr marL="457200" lvl="0" indent="-330200" algn="l" rtl="0">
              <a:spcBef>
                <a:spcPts val="0"/>
              </a:spcBef>
              <a:spcAft>
                <a:spcPts val="0"/>
              </a:spcAft>
              <a:buSzPts val="1600"/>
              <a:buChar char="●"/>
            </a:pPr>
            <a:r>
              <a:rPr lang="en" sz="1600" b="1"/>
              <a:t>Applications: </a:t>
            </a:r>
            <a:r>
              <a:rPr lang="en" sz="1600"/>
              <a:t>small whole genomes (microbiome), targeted genes, 16S metagenomics</a:t>
            </a:r>
            <a:endParaRPr sz="1600"/>
          </a:p>
          <a:p>
            <a:pPr marL="457200" lvl="0" indent="-330200" algn="l" rtl="0">
              <a:spcBef>
                <a:spcPts val="0"/>
              </a:spcBef>
              <a:spcAft>
                <a:spcPts val="0"/>
              </a:spcAft>
              <a:buSzPts val="1600"/>
              <a:buChar char="●"/>
            </a:pPr>
            <a:r>
              <a:rPr lang="en" sz="1600">
                <a:solidFill>
                  <a:schemeClr val="dk1"/>
                </a:solidFill>
              </a:rPr>
              <a:t>Handles low diversity runs well </a:t>
            </a:r>
            <a:endParaRPr sz="1600"/>
          </a:p>
        </p:txBody>
      </p:sp>
      <p:sp>
        <p:nvSpPr>
          <p:cNvPr id="73" name="Google Shape;73;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Instrument Components</a:t>
            </a:r>
            <a:endParaRPr/>
          </a:p>
        </p:txBody>
      </p:sp>
      <p:pic>
        <p:nvPicPr>
          <p:cNvPr id="79" name="Google Shape;79;p16"/>
          <p:cNvPicPr preferRelativeResize="0"/>
          <p:nvPr/>
        </p:nvPicPr>
        <p:blipFill>
          <a:blip r:embed="rId3">
            <a:alphaModFix/>
          </a:blip>
          <a:stretch>
            <a:fillRect/>
          </a:stretch>
        </p:blipFill>
        <p:spPr>
          <a:xfrm>
            <a:off x="201900" y="1017725"/>
            <a:ext cx="4201002" cy="2500750"/>
          </a:xfrm>
          <a:prstGeom prst="rect">
            <a:avLst/>
          </a:prstGeom>
          <a:noFill/>
          <a:ln>
            <a:noFill/>
          </a:ln>
        </p:spPr>
      </p:pic>
      <p:sp>
        <p:nvSpPr>
          <p:cNvPr id="80" name="Google Shape;80;p16"/>
          <p:cNvSpPr txBox="1"/>
          <p:nvPr/>
        </p:nvSpPr>
        <p:spPr>
          <a:xfrm>
            <a:off x="6621150" y="42050"/>
            <a:ext cx="2490000" cy="2871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lphaUcPeriod"/>
            </a:pPr>
            <a:r>
              <a:rPr lang="en"/>
              <a:t>Flow cell compartment</a:t>
            </a:r>
            <a:endParaRPr/>
          </a:p>
          <a:p>
            <a:pPr marL="457200" lvl="0" indent="-317500" algn="l" rtl="0">
              <a:spcBef>
                <a:spcPts val="0"/>
              </a:spcBef>
              <a:spcAft>
                <a:spcPts val="0"/>
              </a:spcAft>
              <a:buSzPts val="1400"/>
              <a:buAutoNum type="alphaUcPeriod"/>
            </a:pPr>
            <a:r>
              <a:rPr lang="en"/>
              <a:t>Enclosed optics compartment</a:t>
            </a:r>
            <a:endParaRPr/>
          </a:p>
          <a:p>
            <a:pPr marL="457200" lvl="0" indent="-317500" algn="l" rtl="0">
              <a:spcBef>
                <a:spcPts val="0"/>
              </a:spcBef>
              <a:spcAft>
                <a:spcPts val="0"/>
              </a:spcAft>
              <a:buSzPts val="1400"/>
              <a:buAutoNum type="alphaUcPeriod"/>
            </a:pPr>
            <a:r>
              <a:rPr lang="en"/>
              <a:t>Status bar</a:t>
            </a:r>
            <a:endParaRPr/>
          </a:p>
          <a:p>
            <a:pPr marL="457200" lvl="0" indent="-317500" algn="l" rtl="0">
              <a:spcBef>
                <a:spcPts val="0"/>
              </a:spcBef>
              <a:spcAft>
                <a:spcPts val="0"/>
              </a:spcAft>
              <a:buSzPts val="1400"/>
              <a:buAutoNum type="alphaUcPeriod"/>
            </a:pPr>
            <a:r>
              <a:rPr lang="en"/>
              <a:t>Touch screen monitor</a:t>
            </a:r>
            <a:endParaRPr/>
          </a:p>
          <a:p>
            <a:pPr marL="457200" lvl="0" indent="-317500" algn="l" rtl="0">
              <a:spcBef>
                <a:spcPts val="0"/>
              </a:spcBef>
              <a:spcAft>
                <a:spcPts val="0"/>
              </a:spcAft>
              <a:buSzPts val="1400"/>
              <a:buAutoNum type="alphaUcPeriod"/>
            </a:pPr>
            <a:r>
              <a:rPr lang="en"/>
              <a:t>External USB ports</a:t>
            </a:r>
            <a:endParaRPr/>
          </a:p>
          <a:p>
            <a:pPr marL="457200" lvl="0" indent="-317500" algn="l" rtl="0">
              <a:spcBef>
                <a:spcPts val="0"/>
              </a:spcBef>
              <a:spcAft>
                <a:spcPts val="0"/>
              </a:spcAft>
              <a:buSzPts val="1400"/>
              <a:buAutoNum type="alphaUcPeriod"/>
            </a:pPr>
            <a:r>
              <a:rPr lang="en"/>
              <a:t>Reagent compartment</a:t>
            </a:r>
            <a:endParaRPr/>
          </a:p>
          <a:p>
            <a:pPr marL="457200" lvl="0" indent="0" algn="l" rtl="0">
              <a:spcBef>
                <a:spcPts val="0"/>
              </a:spcBef>
              <a:spcAft>
                <a:spcPts val="0"/>
              </a:spcAft>
              <a:buNone/>
            </a:pPr>
            <a:endParaRPr/>
          </a:p>
          <a:p>
            <a:pPr marL="457200" lvl="0" indent="-317500" algn="l" rtl="0">
              <a:spcBef>
                <a:spcPts val="0"/>
              </a:spcBef>
              <a:spcAft>
                <a:spcPts val="0"/>
              </a:spcAft>
              <a:buSzPts val="1400"/>
              <a:buAutoNum type="alphaLcPeriod"/>
            </a:pPr>
            <a:r>
              <a:rPr lang="en"/>
              <a:t>Reagent chiller</a:t>
            </a:r>
            <a:endParaRPr/>
          </a:p>
          <a:p>
            <a:pPr marL="457200" lvl="0" indent="-317500" algn="l" rtl="0">
              <a:spcBef>
                <a:spcPts val="0"/>
              </a:spcBef>
              <a:spcAft>
                <a:spcPts val="0"/>
              </a:spcAft>
              <a:buSzPts val="1400"/>
              <a:buAutoNum type="alphaLcPeriod"/>
            </a:pPr>
            <a:r>
              <a:rPr lang="en"/>
              <a:t>Sipper handle</a:t>
            </a:r>
            <a:endParaRPr/>
          </a:p>
          <a:p>
            <a:pPr marL="457200" lvl="0" indent="-317500" algn="l" rtl="0">
              <a:spcBef>
                <a:spcPts val="0"/>
              </a:spcBef>
              <a:spcAft>
                <a:spcPts val="0"/>
              </a:spcAft>
              <a:buSzPts val="1400"/>
              <a:buAutoNum type="alphaLcPeriod"/>
            </a:pPr>
            <a:r>
              <a:rPr lang="en"/>
              <a:t>PR2 bottle</a:t>
            </a:r>
            <a:endParaRPr/>
          </a:p>
          <a:p>
            <a:pPr marL="457200" lvl="0" indent="-317500" algn="l" rtl="0">
              <a:spcBef>
                <a:spcPts val="0"/>
              </a:spcBef>
              <a:spcAft>
                <a:spcPts val="0"/>
              </a:spcAft>
              <a:buSzPts val="1400"/>
              <a:buAutoNum type="alphaLcPeriod"/>
            </a:pPr>
            <a:r>
              <a:rPr lang="en"/>
              <a:t>Waste bottle</a:t>
            </a:r>
            <a:endParaRPr/>
          </a:p>
          <a:p>
            <a:pPr marL="457200" lvl="0" indent="-317500" algn="l" rtl="0">
              <a:spcBef>
                <a:spcPts val="0"/>
              </a:spcBef>
              <a:spcAft>
                <a:spcPts val="0"/>
              </a:spcAft>
              <a:buSzPts val="1400"/>
              <a:buAutoNum type="alphaLcPeriod"/>
            </a:pPr>
            <a:r>
              <a:rPr lang="en"/>
              <a:t>Reagent cartridge </a:t>
            </a:r>
            <a:endParaRPr/>
          </a:p>
        </p:txBody>
      </p:sp>
      <p:grpSp>
        <p:nvGrpSpPr>
          <p:cNvPr id="81" name="Google Shape;81;p16"/>
          <p:cNvGrpSpPr/>
          <p:nvPr/>
        </p:nvGrpSpPr>
        <p:grpSpPr>
          <a:xfrm>
            <a:off x="2218000" y="2336750"/>
            <a:ext cx="5790675" cy="2706126"/>
            <a:chOff x="2294200" y="2336750"/>
            <a:chExt cx="5790675" cy="2706126"/>
          </a:xfrm>
        </p:grpSpPr>
        <p:pic>
          <p:nvPicPr>
            <p:cNvPr id="82" name="Google Shape;82;p16"/>
            <p:cNvPicPr preferRelativeResize="0"/>
            <p:nvPr/>
          </p:nvPicPr>
          <p:blipFill>
            <a:blip r:embed="rId4">
              <a:alphaModFix/>
            </a:blip>
            <a:stretch>
              <a:fillRect/>
            </a:stretch>
          </p:blipFill>
          <p:spPr>
            <a:xfrm>
              <a:off x="4739975" y="3187550"/>
              <a:ext cx="3344899" cy="1855326"/>
            </a:xfrm>
            <a:prstGeom prst="rect">
              <a:avLst/>
            </a:prstGeom>
            <a:noFill/>
            <a:ln w="9525" cap="flat" cmpd="sng">
              <a:solidFill>
                <a:srgbClr val="000000"/>
              </a:solidFill>
              <a:prstDash val="solid"/>
              <a:round/>
              <a:headEnd type="none" w="sm" len="sm"/>
              <a:tailEnd type="none" w="sm" len="sm"/>
            </a:ln>
          </p:spPr>
        </p:pic>
        <p:cxnSp>
          <p:nvCxnSpPr>
            <p:cNvPr id="83" name="Google Shape;83;p16"/>
            <p:cNvCxnSpPr/>
            <p:nvPr/>
          </p:nvCxnSpPr>
          <p:spPr>
            <a:xfrm>
              <a:off x="3771775" y="2336750"/>
              <a:ext cx="4304100" cy="845100"/>
            </a:xfrm>
            <a:prstGeom prst="straightConnector1">
              <a:avLst/>
            </a:prstGeom>
            <a:noFill/>
            <a:ln w="9525" cap="flat" cmpd="sng">
              <a:solidFill>
                <a:schemeClr val="dk2"/>
              </a:solidFill>
              <a:prstDash val="solid"/>
              <a:round/>
              <a:headEnd type="none" w="med" len="med"/>
              <a:tailEnd type="none" w="med" len="med"/>
            </a:ln>
          </p:spPr>
        </p:cxnSp>
        <p:cxnSp>
          <p:nvCxnSpPr>
            <p:cNvPr id="84" name="Google Shape;84;p16"/>
            <p:cNvCxnSpPr/>
            <p:nvPr/>
          </p:nvCxnSpPr>
          <p:spPr>
            <a:xfrm>
              <a:off x="2294200" y="3372175"/>
              <a:ext cx="2445900" cy="1662300"/>
            </a:xfrm>
            <a:prstGeom prst="straightConnector1">
              <a:avLst/>
            </a:prstGeom>
            <a:noFill/>
            <a:ln w="9525" cap="flat" cmpd="sng">
              <a:solidFill>
                <a:schemeClr val="dk2"/>
              </a:solidFill>
              <a:prstDash val="solid"/>
              <a:round/>
              <a:headEnd type="none" w="med" len="med"/>
              <a:tailEnd type="none" w="med" len="med"/>
            </a:ln>
          </p:spPr>
        </p:cxnSp>
        <p:sp>
          <p:nvSpPr>
            <p:cNvPr id="85" name="Google Shape;85;p16"/>
            <p:cNvSpPr/>
            <p:nvPr/>
          </p:nvSpPr>
          <p:spPr>
            <a:xfrm>
              <a:off x="4812778" y="3523300"/>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p:nvPr/>
          </p:nvSpPr>
          <p:spPr>
            <a:xfrm>
              <a:off x="6901678" y="4806275"/>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p:cNvSpPr/>
            <p:nvPr/>
          </p:nvSpPr>
          <p:spPr>
            <a:xfrm>
              <a:off x="7177228" y="3209875"/>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7850128" y="3655900"/>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a:off x="7866919" y="3998575"/>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txBox="1"/>
            <p:nvPr/>
          </p:nvSpPr>
          <p:spPr>
            <a:xfrm>
              <a:off x="4745444" y="3377772"/>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91" name="Google Shape;91;p16"/>
            <p:cNvSpPr txBox="1"/>
            <p:nvPr/>
          </p:nvSpPr>
          <p:spPr>
            <a:xfrm>
              <a:off x="7115491" y="3100053"/>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2" name="Google Shape;92;p16"/>
            <p:cNvSpPr txBox="1"/>
            <p:nvPr/>
          </p:nvSpPr>
          <p:spPr>
            <a:xfrm>
              <a:off x="7788391" y="3525894"/>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a:t>
              </a:r>
              <a:endParaRPr/>
            </a:p>
          </p:txBody>
        </p:sp>
        <p:sp>
          <p:nvSpPr>
            <p:cNvPr id="93" name="Google Shape;93;p16"/>
            <p:cNvSpPr txBox="1"/>
            <p:nvPr/>
          </p:nvSpPr>
          <p:spPr>
            <a:xfrm>
              <a:off x="7790556" y="3870431"/>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94" name="Google Shape;94;p16"/>
            <p:cNvSpPr txBox="1"/>
            <p:nvPr/>
          </p:nvSpPr>
          <p:spPr>
            <a:xfrm>
              <a:off x="6839941" y="4668472"/>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a:t>
              </a:r>
              <a:endParaRPr/>
            </a:p>
          </p:txBody>
        </p:sp>
      </p:grpSp>
      <p:cxnSp>
        <p:nvCxnSpPr>
          <p:cNvPr id="95" name="Google Shape;95;p16"/>
          <p:cNvCxnSpPr/>
          <p:nvPr/>
        </p:nvCxnSpPr>
        <p:spPr>
          <a:xfrm>
            <a:off x="6913750" y="1726700"/>
            <a:ext cx="1904100" cy="5700"/>
          </a:xfrm>
          <a:prstGeom prst="straightConnector1">
            <a:avLst/>
          </a:prstGeom>
          <a:noFill/>
          <a:ln w="9525" cap="flat" cmpd="sng">
            <a:solidFill>
              <a:srgbClr val="4A86E8"/>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7"/>
          <p:cNvPicPr preferRelativeResize="0"/>
          <p:nvPr/>
        </p:nvPicPr>
        <p:blipFill>
          <a:blip r:embed="rId3">
            <a:alphaModFix/>
          </a:blip>
          <a:stretch>
            <a:fillRect/>
          </a:stretch>
        </p:blipFill>
        <p:spPr>
          <a:xfrm>
            <a:off x="1596250" y="557050"/>
            <a:ext cx="5700675" cy="3679099"/>
          </a:xfrm>
          <a:prstGeom prst="rect">
            <a:avLst/>
          </a:prstGeom>
          <a:noFill/>
          <a:ln>
            <a:noFill/>
          </a:ln>
        </p:spPr>
      </p:pic>
      <p:sp>
        <p:nvSpPr>
          <p:cNvPr id="101" name="Google Shape;101;p17"/>
          <p:cNvSpPr txBox="1"/>
          <p:nvPr/>
        </p:nvSpPr>
        <p:spPr>
          <a:xfrm>
            <a:off x="5982825" y="4139050"/>
            <a:ext cx="3055500" cy="65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Flow cell in buffer (stored in 4°C); requires 2-3x washes with DI, followed by ethanol wipe, and drying of the flow cell with a Kimwipe </a:t>
            </a:r>
            <a:endParaRPr sz="1200">
              <a:solidFill>
                <a:schemeClr val="dk1"/>
              </a:solidFill>
            </a:endParaRPr>
          </a:p>
          <a:p>
            <a:pPr marL="0" lvl="0" indent="0" algn="l" rtl="0">
              <a:spcBef>
                <a:spcPts val="0"/>
              </a:spcBef>
              <a:spcAft>
                <a:spcPts val="0"/>
              </a:spcAft>
              <a:buNone/>
            </a:pPr>
            <a:endParaRPr sz="1200"/>
          </a:p>
        </p:txBody>
      </p:sp>
      <p:cxnSp>
        <p:nvCxnSpPr>
          <p:cNvPr id="102" name="Google Shape;102;p17"/>
          <p:cNvCxnSpPr/>
          <p:nvPr/>
        </p:nvCxnSpPr>
        <p:spPr>
          <a:xfrm rot="10800000">
            <a:off x="6662975" y="2831100"/>
            <a:ext cx="310200" cy="1200"/>
          </a:xfrm>
          <a:prstGeom prst="straightConnector1">
            <a:avLst/>
          </a:prstGeom>
          <a:noFill/>
          <a:ln w="19050" cap="flat" cmpd="sng">
            <a:solidFill>
              <a:srgbClr val="999999"/>
            </a:solidFill>
            <a:prstDash val="solid"/>
            <a:round/>
            <a:headEnd type="none" w="med" len="med"/>
            <a:tailEnd type="triangle" w="med" len="med"/>
          </a:ln>
        </p:spPr>
      </p:cxnSp>
      <p:cxnSp>
        <p:nvCxnSpPr>
          <p:cNvPr id="103" name="Google Shape;103;p17"/>
          <p:cNvCxnSpPr/>
          <p:nvPr/>
        </p:nvCxnSpPr>
        <p:spPr>
          <a:xfrm rot="10800000">
            <a:off x="5428500" y="3399500"/>
            <a:ext cx="598800" cy="871200"/>
          </a:xfrm>
          <a:prstGeom prst="straightConnector1">
            <a:avLst/>
          </a:prstGeom>
          <a:noFill/>
          <a:ln w="19050" cap="flat" cmpd="sng">
            <a:solidFill>
              <a:srgbClr val="999999"/>
            </a:solidFill>
            <a:prstDash val="solid"/>
            <a:round/>
            <a:headEnd type="none" w="med" len="med"/>
            <a:tailEnd type="triangle" w="med" len="med"/>
          </a:ln>
        </p:spPr>
      </p:cxnSp>
      <p:sp>
        <p:nvSpPr>
          <p:cNvPr id="104" name="Google Shape;104;p17"/>
          <p:cNvSpPr txBox="1"/>
          <p:nvPr/>
        </p:nvSpPr>
        <p:spPr>
          <a:xfrm>
            <a:off x="485150" y="4270682"/>
            <a:ext cx="1534800" cy="83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Reagent cartridge </a:t>
            </a:r>
            <a:br>
              <a:rPr lang="en" sz="1200">
                <a:solidFill>
                  <a:schemeClr val="dk1"/>
                </a:solidFill>
              </a:rPr>
            </a:br>
            <a:r>
              <a:rPr lang="en" sz="1200">
                <a:solidFill>
                  <a:schemeClr val="dk1"/>
                </a:solidFill>
              </a:rPr>
              <a:t>(stored at -20°C)</a:t>
            </a:r>
            <a:endParaRPr sz="1200">
              <a:solidFill>
                <a:schemeClr val="dk1"/>
              </a:solidFill>
            </a:endParaRPr>
          </a:p>
          <a:p>
            <a:pPr marL="0" lvl="0" indent="0" algn="l" rtl="0">
              <a:spcBef>
                <a:spcPts val="0"/>
              </a:spcBef>
              <a:spcAft>
                <a:spcPts val="0"/>
              </a:spcAft>
              <a:buNone/>
            </a:pPr>
            <a:endParaRPr sz="1200"/>
          </a:p>
        </p:txBody>
      </p:sp>
      <p:cxnSp>
        <p:nvCxnSpPr>
          <p:cNvPr id="105" name="Google Shape;105;p17"/>
          <p:cNvCxnSpPr/>
          <p:nvPr/>
        </p:nvCxnSpPr>
        <p:spPr>
          <a:xfrm rot="10800000" flipH="1">
            <a:off x="1622575" y="3808900"/>
            <a:ext cx="470100" cy="536400"/>
          </a:xfrm>
          <a:prstGeom prst="straightConnector1">
            <a:avLst/>
          </a:prstGeom>
          <a:noFill/>
          <a:ln w="19050" cap="flat" cmpd="sng">
            <a:solidFill>
              <a:srgbClr val="999999"/>
            </a:solidFill>
            <a:prstDash val="solid"/>
            <a:round/>
            <a:headEnd type="none" w="med" len="med"/>
            <a:tailEnd type="triangle" w="med" len="med"/>
          </a:ln>
        </p:spPr>
      </p:cxnSp>
      <p:cxnSp>
        <p:nvCxnSpPr>
          <p:cNvPr id="106" name="Google Shape;106;p17"/>
          <p:cNvCxnSpPr/>
          <p:nvPr/>
        </p:nvCxnSpPr>
        <p:spPr>
          <a:xfrm rot="10800000">
            <a:off x="4561050" y="3438500"/>
            <a:ext cx="12600" cy="832200"/>
          </a:xfrm>
          <a:prstGeom prst="straightConnector1">
            <a:avLst/>
          </a:prstGeom>
          <a:noFill/>
          <a:ln w="19050" cap="flat" cmpd="sng">
            <a:solidFill>
              <a:srgbClr val="999999"/>
            </a:solidFill>
            <a:prstDash val="solid"/>
            <a:round/>
            <a:headEnd type="none" w="med" len="med"/>
            <a:tailEnd type="triangle" w="med" len="med"/>
          </a:ln>
        </p:spPr>
      </p:cxnSp>
      <p:sp>
        <p:nvSpPr>
          <p:cNvPr id="107" name="Google Shape;107;p17"/>
          <p:cNvSpPr txBox="1"/>
          <p:nvPr/>
        </p:nvSpPr>
        <p:spPr>
          <a:xfrm>
            <a:off x="3592675" y="4206812"/>
            <a:ext cx="1534800" cy="32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Hybridization buffer</a:t>
            </a:r>
            <a:endParaRPr sz="1200">
              <a:solidFill>
                <a:schemeClr val="dk1"/>
              </a:solidFill>
            </a:endParaRPr>
          </a:p>
          <a:p>
            <a:pPr marL="0" lvl="0" indent="0" algn="l" rtl="0">
              <a:spcBef>
                <a:spcPts val="0"/>
              </a:spcBef>
              <a:spcAft>
                <a:spcPts val="0"/>
              </a:spcAft>
              <a:buNone/>
            </a:pPr>
            <a:r>
              <a:rPr lang="en" sz="1200">
                <a:solidFill>
                  <a:schemeClr val="dk1"/>
                </a:solidFill>
              </a:rPr>
              <a:t>(HT1) </a:t>
            </a:r>
            <a:endParaRPr sz="1200">
              <a:solidFill>
                <a:schemeClr val="dk1"/>
              </a:solidFill>
            </a:endParaRPr>
          </a:p>
          <a:p>
            <a:pPr marL="0" lvl="0" indent="0" algn="l" rtl="0">
              <a:spcBef>
                <a:spcPts val="0"/>
              </a:spcBef>
              <a:spcAft>
                <a:spcPts val="0"/>
              </a:spcAft>
              <a:buNone/>
            </a:pPr>
            <a:endParaRPr sz="1200"/>
          </a:p>
        </p:txBody>
      </p:sp>
      <p:sp>
        <p:nvSpPr>
          <p:cNvPr id="108" name="Google Shape;108;p17"/>
          <p:cNvSpPr txBox="1"/>
          <p:nvPr/>
        </p:nvSpPr>
        <p:spPr>
          <a:xfrm>
            <a:off x="6935553" y="2636906"/>
            <a:ext cx="1970700" cy="51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Incorporation buffer (PR2)</a:t>
            </a:r>
            <a:endParaRPr sz="1200">
              <a:solidFill>
                <a:schemeClr val="dk1"/>
              </a:solidFill>
            </a:endParaRPr>
          </a:p>
          <a:p>
            <a:pPr marL="0" lvl="0" indent="0" algn="l" rtl="0">
              <a:spcBef>
                <a:spcPts val="0"/>
              </a:spcBef>
              <a:spcAft>
                <a:spcPts val="0"/>
              </a:spcAft>
              <a:buClr>
                <a:schemeClr val="dk1"/>
              </a:buClr>
              <a:buSzPts val="1100"/>
              <a:buFont typeface="Arial"/>
              <a:buNone/>
            </a:pPr>
            <a:r>
              <a:rPr lang="en" sz="1200">
                <a:solidFill>
                  <a:schemeClr val="dk1"/>
                </a:solidFill>
              </a:rPr>
              <a:t>(stored in 4°C)</a:t>
            </a:r>
            <a:endParaRPr sz="1200">
              <a:solidFill>
                <a:schemeClr val="dk1"/>
              </a:solidFill>
            </a:endParaRPr>
          </a:p>
          <a:p>
            <a:pPr marL="0" lvl="0" indent="0" algn="l" rtl="0">
              <a:spcBef>
                <a:spcPts val="0"/>
              </a:spcBef>
              <a:spcAft>
                <a:spcPts val="0"/>
              </a:spcAft>
              <a:buNone/>
            </a:pPr>
            <a:endParaRPr sz="1200"/>
          </a:p>
        </p:txBody>
      </p:sp>
      <p:sp>
        <p:nvSpPr>
          <p:cNvPr id="109" name="Google Shape;10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MiSeq Kit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Sequencing Kits and Loading Concentrations</a:t>
            </a:r>
            <a:endParaRPr/>
          </a:p>
        </p:txBody>
      </p:sp>
      <p:sp>
        <p:nvSpPr>
          <p:cNvPr id="115" name="Google Shape;11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MiSeq V2 (V2 - 12M, Micro- 4M, Nano-1M)</a:t>
            </a:r>
            <a:endParaRPr/>
          </a:p>
          <a:p>
            <a:pPr marL="914400" lvl="1" indent="-317500" algn="l" rtl="0">
              <a:spcBef>
                <a:spcPts val="0"/>
              </a:spcBef>
              <a:spcAft>
                <a:spcPts val="0"/>
              </a:spcAft>
              <a:buSzPts val="1400"/>
              <a:buChar char="○"/>
            </a:pPr>
            <a:r>
              <a:rPr lang="en"/>
              <a:t>Available in 50, 300, 500 cycles kit</a:t>
            </a:r>
            <a:endParaRPr/>
          </a:p>
          <a:p>
            <a:pPr marL="914400" lvl="1" indent="-317500" algn="l" rtl="0">
              <a:spcBef>
                <a:spcPts val="0"/>
              </a:spcBef>
              <a:spcAft>
                <a:spcPts val="0"/>
              </a:spcAft>
              <a:buSzPts val="1400"/>
              <a:buChar char="○"/>
            </a:pPr>
            <a:r>
              <a:rPr lang="en"/>
              <a:t>Our optimized loading concentration: 10pM in 600µL</a:t>
            </a:r>
            <a:endParaRPr/>
          </a:p>
          <a:p>
            <a:pPr marL="914400" lvl="1" indent="-317500" algn="l" rtl="0">
              <a:spcBef>
                <a:spcPts val="0"/>
              </a:spcBef>
              <a:spcAft>
                <a:spcPts val="0"/>
              </a:spcAft>
              <a:buSzPts val="1400"/>
              <a:buChar char="○"/>
            </a:pPr>
            <a:r>
              <a:rPr lang="en"/>
              <a:t>Cluster Density Goal: 800-1000/mm</a:t>
            </a:r>
            <a:r>
              <a:rPr lang="en" baseline="30000"/>
              <a:t>2</a:t>
            </a:r>
            <a:endParaRPr baseline="30000"/>
          </a:p>
          <a:p>
            <a:pPr marL="914400" lvl="0" indent="0" algn="l" rtl="0">
              <a:spcBef>
                <a:spcPts val="1600"/>
              </a:spcBef>
              <a:spcAft>
                <a:spcPts val="0"/>
              </a:spcAft>
              <a:buNone/>
            </a:pPr>
            <a:endParaRPr/>
          </a:p>
          <a:p>
            <a:pPr marL="457200" lvl="0" indent="-342900" algn="l" rtl="0">
              <a:spcBef>
                <a:spcPts val="1600"/>
              </a:spcBef>
              <a:spcAft>
                <a:spcPts val="0"/>
              </a:spcAft>
              <a:buSzPts val="1800"/>
              <a:buChar char="●"/>
            </a:pPr>
            <a:r>
              <a:rPr lang="en"/>
              <a:t>MiSeq V3 (24M)</a:t>
            </a:r>
            <a:endParaRPr/>
          </a:p>
          <a:p>
            <a:pPr marL="914400" lvl="1" indent="-317500" algn="l" rtl="0">
              <a:spcBef>
                <a:spcPts val="0"/>
              </a:spcBef>
              <a:spcAft>
                <a:spcPts val="0"/>
              </a:spcAft>
              <a:buSzPts val="1400"/>
              <a:buChar char="○"/>
            </a:pPr>
            <a:r>
              <a:rPr lang="en"/>
              <a:t>Available in 150, 600 cycles kit</a:t>
            </a:r>
            <a:endParaRPr/>
          </a:p>
          <a:p>
            <a:pPr marL="914400" lvl="1" indent="-317500" algn="l" rtl="0">
              <a:spcBef>
                <a:spcPts val="0"/>
              </a:spcBef>
              <a:spcAft>
                <a:spcPts val="0"/>
              </a:spcAft>
              <a:buSzPts val="1400"/>
              <a:buChar char="○"/>
            </a:pPr>
            <a:r>
              <a:rPr lang="en"/>
              <a:t>Our optimized loading concentration: 12pM in 600µL</a:t>
            </a:r>
            <a:endParaRPr/>
          </a:p>
          <a:p>
            <a:pPr marL="914400" lvl="1" indent="-317500" algn="l" rtl="0">
              <a:spcBef>
                <a:spcPts val="0"/>
              </a:spcBef>
              <a:spcAft>
                <a:spcPts val="0"/>
              </a:spcAft>
              <a:buSzPts val="1400"/>
              <a:buChar char="○"/>
            </a:pPr>
            <a:r>
              <a:rPr lang="en"/>
              <a:t>Cluster Density Goal: 1000-1200/mm</a:t>
            </a:r>
            <a:r>
              <a:rPr lang="en" baseline="30000"/>
              <a:t>2</a:t>
            </a:r>
            <a:endParaRPr baseline="30000"/>
          </a:p>
          <a:p>
            <a:pPr marL="914400" lvl="0" indent="0" algn="l" rtl="0">
              <a:spcBef>
                <a:spcPts val="1600"/>
              </a:spcBef>
              <a:spcAft>
                <a:spcPts val="0"/>
              </a:spcAft>
              <a:buNone/>
            </a:pPr>
            <a:endParaRPr/>
          </a:p>
          <a:p>
            <a:pPr marL="0" lvl="0" indent="0" algn="l" rtl="0">
              <a:spcBef>
                <a:spcPts val="1600"/>
              </a:spcBef>
              <a:spcAft>
                <a:spcPts val="0"/>
              </a:spcAft>
              <a:buNone/>
            </a:pPr>
            <a:endParaRPr/>
          </a:p>
          <a:p>
            <a:pPr marL="45720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Loading</a:t>
            </a:r>
            <a:endParaRPr/>
          </a:p>
        </p:txBody>
      </p:sp>
      <p:sp>
        <p:nvSpPr>
          <p:cNvPr id="121" name="Google Shape;121;p19"/>
          <p:cNvSpPr txBox="1">
            <a:spLocks noGrp="1"/>
          </p:cNvSpPr>
          <p:nvPr>
            <p:ph type="body" idx="1"/>
          </p:nvPr>
        </p:nvSpPr>
        <p:spPr>
          <a:xfrm>
            <a:off x="311700" y="123082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Thaw Reagent Cartridge</a:t>
            </a:r>
            <a:endParaRPr/>
          </a:p>
          <a:p>
            <a:pPr marL="914400" lvl="1" indent="-317500" algn="l" rtl="0">
              <a:spcBef>
                <a:spcPts val="0"/>
              </a:spcBef>
              <a:spcAft>
                <a:spcPts val="0"/>
              </a:spcAft>
              <a:buSzPts val="1400"/>
              <a:buChar char="○"/>
            </a:pPr>
            <a:r>
              <a:rPr lang="en"/>
              <a:t>Overnight in 4</a:t>
            </a:r>
            <a:r>
              <a:rPr lang="en" baseline="30000"/>
              <a:t>o</a:t>
            </a:r>
            <a:r>
              <a:rPr lang="en"/>
              <a:t>C or water bath (room temp ~1 hr) </a:t>
            </a:r>
            <a:endParaRPr/>
          </a:p>
          <a:p>
            <a:pPr marL="457200" lvl="0" indent="-342900" algn="l" rtl="0">
              <a:spcBef>
                <a:spcPts val="0"/>
              </a:spcBef>
              <a:spcAft>
                <a:spcPts val="0"/>
              </a:spcAft>
              <a:buSzPts val="1800"/>
              <a:buChar char="●"/>
            </a:pPr>
            <a:r>
              <a:rPr lang="en"/>
              <a:t>Take out Flow Cell and Incorporation Buffer from 4</a:t>
            </a:r>
            <a:r>
              <a:rPr lang="en" baseline="30000"/>
              <a:t>o</a:t>
            </a:r>
            <a:r>
              <a:rPr lang="en"/>
              <a:t>C</a:t>
            </a:r>
            <a:endParaRPr/>
          </a:p>
          <a:p>
            <a:pPr marL="914400" lvl="1" indent="-317500" algn="l" rtl="0">
              <a:spcBef>
                <a:spcPts val="0"/>
              </a:spcBef>
              <a:spcAft>
                <a:spcPts val="0"/>
              </a:spcAft>
              <a:buSzPts val="1400"/>
              <a:buChar char="○"/>
            </a:pPr>
            <a:r>
              <a:rPr lang="en"/>
              <a:t>At least 30 minutes before loading to equilibrate to room temperature</a:t>
            </a:r>
            <a:endParaRPr/>
          </a:p>
          <a:p>
            <a:pPr marL="457200" lvl="0" indent="-342900" algn="l" rtl="0">
              <a:spcBef>
                <a:spcPts val="0"/>
              </a:spcBef>
              <a:spcAft>
                <a:spcPts val="0"/>
              </a:spcAft>
              <a:buSzPts val="1800"/>
              <a:buChar char="●"/>
            </a:pPr>
            <a:r>
              <a:rPr lang="en"/>
              <a:t>Invert the cartridge 5 times to mix - avoid making bubbles</a:t>
            </a:r>
            <a:endParaRPr/>
          </a:p>
          <a:p>
            <a:pPr marL="457200" lvl="0" indent="-342900" algn="l" rtl="0">
              <a:spcBef>
                <a:spcPts val="0"/>
              </a:spcBef>
              <a:spcAft>
                <a:spcPts val="0"/>
              </a:spcAft>
              <a:buSzPts val="1800"/>
              <a:buChar char="●"/>
            </a:pPr>
            <a:r>
              <a:rPr lang="en"/>
              <a:t>Carefully pierce foil (well #21) with a pipette tip once ready to load the diluted library into cartridge</a:t>
            </a:r>
            <a:endParaRPr/>
          </a:p>
        </p:txBody>
      </p:sp>
      <p:pic>
        <p:nvPicPr>
          <p:cNvPr id="122" name="Google Shape;122;p19"/>
          <p:cNvPicPr preferRelativeResize="0"/>
          <p:nvPr/>
        </p:nvPicPr>
        <p:blipFill>
          <a:blip r:embed="rId3">
            <a:alphaModFix/>
          </a:blip>
          <a:stretch>
            <a:fillRect/>
          </a:stretch>
        </p:blipFill>
        <p:spPr>
          <a:xfrm>
            <a:off x="6900500" y="232425"/>
            <a:ext cx="1989000" cy="1927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Library Distributions</a:t>
            </a:r>
            <a:endParaRPr/>
          </a:p>
        </p:txBody>
      </p:sp>
      <p:pic>
        <p:nvPicPr>
          <p:cNvPr id="128" name="Google Shape;128;p20"/>
          <p:cNvPicPr preferRelativeResize="0"/>
          <p:nvPr/>
        </p:nvPicPr>
        <p:blipFill>
          <a:blip r:embed="rId3">
            <a:alphaModFix/>
          </a:blip>
          <a:stretch>
            <a:fillRect/>
          </a:stretch>
        </p:blipFill>
        <p:spPr>
          <a:xfrm>
            <a:off x="0" y="990600"/>
            <a:ext cx="4590899" cy="2482375"/>
          </a:xfrm>
          <a:prstGeom prst="rect">
            <a:avLst/>
          </a:prstGeom>
          <a:noFill/>
          <a:ln>
            <a:noFill/>
          </a:ln>
        </p:spPr>
      </p:pic>
      <p:pic>
        <p:nvPicPr>
          <p:cNvPr id="129" name="Google Shape;129;p20"/>
          <p:cNvPicPr preferRelativeResize="0"/>
          <p:nvPr/>
        </p:nvPicPr>
        <p:blipFill>
          <a:blip r:embed="rId4">
            <a:alphaModFix/>
          </a:blip>
          <a:stretch>
            <a:fillRect/>
          </a:stretch>
        </p:blipFill>
        <p:spPr>
          <a:xfrm>
            <a:off x="4422675" y="1045558"/>
            <a:ext cx="4590901" cy="2164393"/>
          </a:xfrm>
          <a:prstGeom prst="rect">
            <a:avLst/>
          </a:prstGeom>
          <a:noFill/>
          <a:ln>
            <a:noFill/>
          </a:ln>
        </p:spPr>
      </p:pic>
      <p:sp>
        <p:nvSpPr>
          <p:cNvPr id="130" name="Google Shape;130;p20"/>
          <p:cNvSpPr txBox="1"/>
          <p:nvPr/>
        </p:nvSpPr>
        <p:spPr>
          <a:xfrm>
            <a:off x="116375" y="3625375"/>
            <a:ext cx="7406700" cy="1019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Average fragment size should be 300-600 bp </a:t>
            </a:r>
            <a:endParaRPr/>
          </a:p>
          <a:p>
            <a:pPr marL="457200" lvl="0" indent="-317500" algn="l" rtl="0">
              <a:spcBef>
                <a:spcPts val="0"/>
              </a:spcBef>
              <a:spcAft>
                <a:spcPts val="0"/>
              </a:spcAft>
              <a:buSzPts val="1400"/>
              <a:buChar char="●"/>
            </a:pPr>
            <a:r>
              <a:rPr lang="en"/>
              <a:t>Fragment that is 300 base pairs long has about 150 base pairs of adapter sequences </a:t>
            </a:r>
            <a:endParaRPr/>
          </a:p>
          <a:p>
            <a:pPr marL="914400" lvl="1" indent="-317500" algn="l" rtl="0">
              <a:spcBef>
                <a:spcPts val="0"/>
              </a:spcBef>
              <a:spcAft>
                <a:spcPts val="0"/>
              </a:spcAft>
              <a:buSzPts val="1400"/>
              <a:buChar char="○"/>
            </a:pPr>
            <a:r>
              <a:rPr lang="en"/>
              <a:t>Long enough to run up to PE 150 </a:t>
            </a:r>
            <a:endParaRPr/>
          </a:p>
          <a:p>
            <a:pPr marL="457200" lvl="0" indent="-317500" algn="l" rtl="0">
              <a:spcBef>
                <a:spcPts val="0"/>
              </a:spcBef>
              <a:spcAft>
                <a:spcPts val="0"/>
              </a:spcAft>
              <a:buSzPts val="1400"/>
              <a:buChar char="●"/>
            </a:pPr>
            <a:r>
              <a:rPr lang="en"/>
              <a:t>Adapter Dimers (~140 bp) are bad because they preferentially cluster to the flowcell</a:t>
            </a:r>
            <a:endParaRPr/>
          </a:p>
          <a:p>
            <a:pPr marL="914400" lvl="1" indent="-317500" algn="l" rtl="0">
              <a:spcBef>
                <a:spcPts val="0"/>
              </a:spcBef>
              <a:spcAft>
                <a:spcPts val="0"/>
              </a:spcAft>
              <a:buSzPts val="1400"/>
              <a:buChar char="○"/>
            </a:pPr>
            <a:r>
              <a:rPr lang="en"/>
              <a:t>Results in inaccurate loading</a:t>
            </a:r>
            <a:endParaRPr/>
          </a:p>
          <a:p>
            <a:pPr marL="914400" lvl="1" indent="-317500" algn="l" rtl="0">
              <a:spcBef>
                <a:spcPts val="0"/>
              </a:spcBef>
              <a:spcAft>
                <a:spcPts val="0"/>
              </a:spcAft>
              <a:buSzPts val="1400"/>
              <a:buChar char="○"/>
            </a:pPr>
            <a:r>
              <a:rPr lang="en"/>
              <a:t>A small percent of dimers will take up a significant proportion of reads.</a:t>
            </a:r>
            <a:endParaRPr/>
          </a:p>
        </p:txBody>
      </p:sp>
      <p:sp>
        <p:nvSpPr>
          <p:cNvPr id="131" name="Google Shape;131;p20"/>
          <p:cNvSpPr txBox="1"/>
          <p:nvPr/>
        </p:nvSpPr>
        <p:spPr>
          <a:xfrm>
            <a:off x="1649800" y="853113"/>
            <a:ext cx="1298100" cy="366000"/>
          </a:xfrm>
          <a:prstGeom prst="rect">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Good Sample</a:t>
            </a:r>
            <a:endParaRPr/>
          </a:p>
        </p:txBody>
      </p:sp>
      <p:sp>
        <p:nvSpPr>
          <p:cNvPr id="132" name="Google Shape;132;p20"/>
          <p:cNvSpPr txBox="1"/>
          <p:nvPr/>
        </p:nvSpPr>
        <p:spPr>
          <a:xfrm>
            <a:off x="6374200" y="853113"/>
            <a:ext cx="1298100" cy="366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 Bad Sample</a:t>
            </a:r>
            <a:endParaRPr/>
          </a:p>
        </p:txBody>
      </p:sp>
      <p:sp>
        <p:nvSpPr>
          <p:cNvPr id="133" name="Google Shape;133;p2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Distribution</a:t>
            </a:r>
            <a:endParaRPr/>
          </a:p>
        </p:txBody>
      </p:sp>
      <p:pic>
        <p:nvPicPr>
          <p:cNvPr id="134" name="Google Shape;134;p20"/>
          <p:cNvPicPr preferRelativeResize="0"/>
          <p:nvPr/>
        </p:nvPicPr>
        <p:blipFill>
          <a:blip r:embed="rId5">
            <a:alphaModFix/>
          </a:blip>
          <a:stretch>
            <a:fillRect/>
          </a:stretch>
        </p:blipFill>
        <p:spPr>
          <a:xfrm>
            <a:off x="7425881" y="3341569"/>
            <a:ext cx="1583699" cy="1353345"/>
          </a:xfrm>
          <a:prstGeom prst="rect">
            <a:avLst/>
          </a:prstGeom>
          <a:noFill/>
          <a:ln>
            <a:noFill/>
          </a:ln>
        </p:spPr>
      </p:pic>
      <p:sp>
        <p:nvSpPr>
          <p:cNvPr id="135" name="Google Shape;135;p20"/>
          <p:cNvSpPr txBox="1"/>
          <p:nvPr/>
        </p:nvSpPr>
        <p:spPr>
          <a:xfrm>
            <a:off x="7799226" y="4702628"/>
            <a:ext cx="1249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1155CC"/>
                </a:solidFill>
              </a:rPr>
              <a:t>SPRI Select</a:t>
            </a:r>
            <a:endParaRPr sz="1200">
              <a:solidFill>
                <a:srgbClr val="1155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Denature and dilute library</a:t>
            </a:r>
            <a:endParaRPr/>
          </a:p>
        </p:txBody>
      </p:sp>
      <p:sp>
        <p:nvSpPr>
          <p:cNvPr id="141" name="Google Shape;141;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595959"/>
              </a:buClr>
              <a:buSzPts val="1800"/>
              <a:buChar char="●"/>
            </a:pPr>
            <a:r>
              <a:rPr lang="en">
                <a:solidFill>
                  <a:srgbClr val="595959"/>
                </a:solidFill>
              </a:rPr>
              <a:t>Quantify sample pool by bioanalyzer/tapestation and qPCR (if possible)</a:t>
            </a:r>
            <a:endParaRPr>
              <a:solidFill>
                <a:srgbClr val="595959"/>
              </a:solidFill>
            </a:endParaRPr>
          </a:p>
          <a:p>
            <a:pPr marL="0" lvl="0" indent="0" algn="l" rtl="0">
              <a:spcBef>
                <a:spcPts val="1600"/>
              </a:spcBef>
              <a:spcAft>
                <a:spcPts val="0"/>
              </a:spcAft>
              <a:buNone/>
            </a:pPr>
            <a:endParaRPr>
              <a:solidFill>
                <a:srgbClr val="595959"/>
              </a:solidFill>
            </a:endParaRPr>
          </a:p>
          <a:p>
            <a:pPr marL="0" lvl="0" indent="0" algn="l" rtl="0">
              <a:spcBef>
                <a:spcPts val="1600"/>
              </a:spcBef>
              <a:spcAft>
                <a:spcPts val="0"/>
              </a:spcAft>
              <a:buNone/>
            </a:pPr>
            <a:endParaRPr>
              <a:solidFill>
                <a:srgbClr val="595959"/>
              </a:solidFill>
            </a:endParaRPr>
          </a:p>
          <a:p>
            <a:pPr marL="0" lvl="0" indent="0" algn="l" rtl="0">
              <a:spcBef>
                <a:spcPts val="1600"/>
              </a:spcBef>
              <a:spcAft>
                <a:spcPts val="0"/>
              </a:spcAft>
              <a:buNone/>
            </a:pPr>
            <a:endParaRPr>
              <a:solidFill>
                <a:srgbClr val="595959"/>
              </a:solidFill>
            </a:endParaRPr>
          </a:p>
          <a:p>
            <a:pPr marL="0" lvl="0" indent="0" algn="l" rtl="0">
              <a:spcBef>
                <a:spcPts val="1600"/>
              </a:spcBef>
              <a:spcAft>
                <a:spcPts val="0"/>
              </a:spcAft>
              <a:buNone/>
            </a:pPr>
            <a:endParaRPr>
              <a:solidFill>
                <a:srgbClr val="595959"/>
              </a:solidFill>
            </a:endParaRPr>
          </a:p>
          <a:p>
            <a:pPr marL="457200" lvl="0" indent="-342900" algn="l" rtl="0">
              <a:spcBef>
                <a:spcPts val="1600"/>
              </a:spcBef>
              <a:spcAft>
                <a:spcPts val="0"/>
              </a:spcAft>
              <a:buClr>
                <a:srgbClr val="595959"/>
              </a:buClr>
              <a:buSzPts val="1800"/>
              <a:buChar char="●"/>
            </a:pPr>
            <a:r>
              <a:rPr lang="en">
                <a:solidFill>
                  <a:srgbClr val="595959"/>
                </a:solidFill>
              </a:rPr>
              <a:t>Loading concentration can be variable between MiSeqs (keep a log)</a:t>
            </a:r>
            <a:endParaRPr>
              <a:solidFill>
                <a:srgbClr val="595959"/>
              </a:solidFill>
            </a:endParaRPr>
          </a:p>
          <a:p>
            <a:pPr marL="457200" lvl="0" indent="-342900" algn="l" rtl="0">
              <a:spcBef>
                <a:spcPts val="0"/>
              </a:spcBef>
              <a:spcAft>
                <a:spcPts val="0"/>
              </a:spcAft>
              <a:buClr>
                <a:srgbClr val="595959"/>
              </a:buClr>
              <a:buSzPts val="1800"/>
              <a:buChar char="●"/>
            </a:pPr>
            <a:r>
              <a:rPr lang="en">
                <a:solidFill>
                  <a:srgbClr val="595959"/>
                </a:solidFill>
              </a:rPr>
              <a:t>1-5% PhiX recommended (15-20% for amplicons)</a:t>
            </a:r>
            <a:endParaRPr>
              <a:solidFill>
                <a:srgbClr val="595959"/>
              </a:solidFill>
            </a:endParaRPr>
          </a:p>
          <a:p>
            <a:pPr marL="0" lvl="0" indent="0" algn="l" rtl="0">
              <a:spcBef>
                <a:spcPts val="1600"/>
              </a:spcBef>
              <a:spcAft>
                <a:spcPts val="1600"/>
              </a:spcAft>
              <a:buNone/>
            </a:pPr>
            <a:endParaRPr/>
          </a:p>
        </p:txBody>
      </p:sp>
      <p:sp>
        <p:nvSpPr>
          <p:cNvPr id="142" name="Google Shape;142;p21"/>
          <p:cNvSpPr txBox="1"/>
          <p:nvPr/>
        </p:nvSpPr>
        <p:spPr>
          <a:xfrm>
            <a:off x="382775" y="1842100"/>
            <a:ext cx="1196100" cy="681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5µL Sample Pool (4 nM)</a:t>
            </a:r>
            <a:endParaRPr/>
          </a:p>
        </p:txBody>
      </p:sp>
      <p:sp>
        <p:nvSpPr>
          <p:cNvPr id="143" name="Google Shape;143;p21"/>
          <p:cNvSpPr txBox="1"/>
          <p:nvPr/>
        </p:nvSpPr>
        <p:spPr>
          <a:xfrm>
            <a:off x="3711025" y="1842100"/>
            <a:ext cx="957000" cy="572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20 pM pool</a:t>
            </a:r>
            <a:endParaRPr/>
          </a:p>
        </p:txBody>
      </p:sp>
      <p:sp>
        <p:nvSpPr>
          <p:cNvPr id="144" name="Google Shape;144;p21"/>
          <p:cNvSpPr txBox="1"/>
          <p:nvPr/>
        </p:nvSpPr>
        <p:spPr>
          <a:xfrm>
            <a:off x="6907600" y="1842100"/>
            <a:ext cx="1345800" cy="572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10pM- 12pM Final pool </a:t>
            </a:r>
            <a:endParaRPr/>
          </a:p>
        </p:txBody>
      </p:sp>
      <p:cxnSp>
        <p:nvCxnSpPr>
          <p:cNvPr id="145" name="Google Shape;145;p21"/>
          <p:cNvCxnSpPr/>
          <p:nvPr/>
        </p:nvCxnSpPr>
        <p:spPr>
          <a:xfrm rot="10800000" flipH="1">
            <a:off x="1835500" y="2136025"/>
            <a:ext cx="1757400" cy="18300"/>
          </a:xfrm>
          <a:prstGeom prst="straightConnector1">
            <a:avLst/>
          </a:prstGeom>
          <a:noFill/>
          <a:ln w="19050" cap="flat" cmpd="sng">
            <a:solidFill>
              <a:srgbClr val="FF0000"/>
            </a:solidFill>
            <a:prstDash val="solid"/>
            <a:round/>
            <a:headEnd type="none" w="med" len="med"/>
            <a:tailEnd type="triangle" w="med" len="med"/>
          </a:ln>
        </p:spPr>
      </p:cxnSp>
      <p:cxnSp>
        <p:nvCxnSpPr>
          <p:cNvPr id="146" name="Google Shape;146;p21"/>
          <p:cNvCxnSpPr/>
          <p:nvPr/>
        </p:nvCxnSpPr>
        <p:spPr>
          <a:xfrm>
            <a:off x="5047800" y="2129175"/>
            <a:ext cx="1554900" cy="12000"/>
          </a:xfrm>
          <a:prstGeom prst="straightConnector1">
            <a:avLst/>
          </a:prstGeom>
          <a:noFill/>
          <a:ln w="19050" cap="flat" cmpd="sng">
            <a:solidFill>
              <a:srgbClr val="FF0000"/>
            </a:solidFill>
            <a:prstDash val="solid"/>
            <a:round/>
            <a:headEnd type="none" w="med" len="med"/>
            <a:tailEnd type="triangle" w="med" len="med"/>
          </a:ln>
        </p:spPr>
      </p:cxnSp>
      <p:sp>
        <p:nvSpPr>
          <p:cNvPr id="147" name="Google Shape;147;p21"/>
          <p:cNvSpPr txBox="1"/>
          <p:nvPr/>
        </p:nvSpPr>
        <p:spPr>
          <a:xfrm>
            <a:off x="1770325" y="2227075"/>
            <a:ext cx="1822500" cy="12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Denature with </a:t>
            </a:r>
            <a:r>
              <a:rPr lang="en">
                <a:solidFill>
                  <a:srgbClr val="000000"/>
                </a:solidFill>
              </a:rPr>
              <a:t>5µL </a:t>
            </a:r>
            <a:r>
              <a:rPr lang="en"/>
              <a:t>0.2N NaOH for 5 minutes. Dilute pool to 20pM by adding 990</a:t>
            </a:r>
            <a:r>
              <a:rPr lang="en">
                <a:solidFill>
                  <a:schemeClr val="dk1"/>
                </a:solidFill>
              </a:rPr>
              <a:t>µL</a:t>
            </a:r>
            <a:r>
              <a:rPr lang="en"/>
              <a:t> of HT1</a:t>
            </a:r>
            <a:endParaRPr/>
          </a:p>
        </p:txBody>
      </p:sp>
      <p:sp>
        <p:nvSpPr>
          <p:cNvPr id="148" name="Google Shape;148;p21"/>
          <p:cNvSpPr txBox="1"/>
          <p:nvPr/>
        </p:nvSpPr>
        <p:spPr>
          <a:xfrm>
            <a:off x="4928200" y="2331625"/>
            <a:ext cx="1979400" cy="12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Further dilute 20pM pool with HT1 and spike in denatured PhiX. Final Volume needed is 600µL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54" name="Google Shape;154;p22"/>
          <p:cNvPicPr preferRelativeResize="0"/>
          <p:nvPr/>
        </p:nvPicPr>
        <p:blipFill>
          <a:blip r:embed="rId3">
            <a:alphaModFix/>
          </a:blip>
          <a:stretch>
            <a:fillRect/>
          </a:stretch>
        </p:blipFill>
        <p:spPr>
          <a:xfrm>
            <a:off x="1181725" y="46038"/>
            <a:ext cx="6675121" cy="5029200"/>
          </a:xfrm>
          <a:prstGeom prst="rect">
            <a:avLst/>
          </a:prstGeom>
          <a:noFill/>
          <a:ln>
            <a:noFill/>
          </a:ln>
        </p:spPr>
      </p:pic>
      <p:cxnSp>
        <p:nvCxnSpPr>
          <p:cNvPr id="155" name="Google Shape;155;p22"/>
          <p:cNvCxnSpPr/>
          <p:nvPr/>
        </p:nvCxnSpPr>
        <p:spPr>
          <a:xfrm rot="10800000" flipH="1">
            <a:off x="2742775" y="1899650"/>
            <a:ext cx="630300" cy="183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3"/>
          <p:cNvPicPr preferRelativeResize="0"/>
          <p:nvPr/>
        </p:nvPicPr>
        <p:blipFill>
          <a:blip r:embed="rId3">
            <a:alphaModFix/>
          </a:blip>
          <a:stretch>
            <a:fillRect/>
          </a:stretch>
        </p:blipFill>
        <p:spPr>
          <a:xfrm>
            <a:off x="1157850" y="57150"/>
            <a:ext cx="6675121" cy="5029200"/>
          </a:xfrm>
          <a:prstGeom prst="rect">
            <a:avLst/>
          </a:prstGeom>
          <a:noFill/>
          <a:ln>
            <a:noFill/>
          </a:ln>
        </p:spPr>
      </p:pic>
      <p:sp>
        <p:nvSpPr>
          <p:cNvPr id="161" name="Google Shape;161;p23"/>
          <p:cNvSpPr txBox="1"/>
          <p:nvPr/>
        </p:nvSpPr>
        <p:spPr>
          <a:xfrm>
            <a:off x="7832975" y="1972500"/>
            <a:ext cx="1199700" cy="6606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Log into BaseSpace, then click Next.</a:t>
            </a:r>
            <a:endParaRPr sz="1000"/>
          </a:p>
        </p:txBody>
      </p:sp>
      <p:sp>
        <p:nvSpPr>
          <p:cNvPr id="162" name="Google Shape;162;p23"/>
          <p:cNvSpPr/>
          <p:nvPr/>
        </p:nvSpPr>
        <p:spPr>
          <a:xfrm>
            <a:off x="6822577" y="4069125"/>
            <a:ext cx="939300" cy="490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4"/>
          <p:cNvPicPr preferRelativeResize="0"/>
          <p:nvPr/>
        </p:nvPicPr>
        <p:blipFill>
          <a:blip r:embed="rId3">
            <a:alphaModFix/>
          </a:blip>
          <a:stretch>
            <a:fillRect/>
          </a:stretch>
        </p:blipFill>
        <p:spPr>
          <a:xfrm>
            <a:off x="1127575" y="57150"/>
            <a:ext cx="6675121" cy="5029200"/>
          </a:xfrm>
          <a:prstGeom prst="rect">
            <a:avLst/>
          </a:prstGeom>
          <a:noFill/>
          <a:ln>
            <a:noFill/>
          </a:ln>
        </p:spPr>
      </p:pic>
      <p:grpSp>
        <p:nvGrpSpPr>
          <p:cNvPr id="168" name="Google Shape;168;p24"/>
          <p:cNvGrpSpPr/>
          <p:nvPr/>
        </p:nvGrpSpPr>
        <p:grpSpPr>
          <a:xfrm>
            <a:off x="7832975" y="1667700"/>
            <a:ext cx="1199700" cy="2090700"/>
            <a:chOff x="7832975" y="1667700"/>
            <a:chExt cx="1199700" cy="2090700"/>
          </a:xfrm>
        </p:grpSpPr>
        <p:sp>
          <p:nvSpPr>
            <p:cNvPr id="169" name="Google Shape;169;p24"/>
            <p:cNvSpPr txBox="1"/>
            <p:nvPr/>
          </p:nvSpPr>
          <p:spPr>
            <a:xfrm>
              <a:off x="7832975" y="1667700"/>
              <a:ext cx="1199700" cy="20907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Press the white release button to open the flow cell clamp (1). Seat the flow cell and close the clamp (2). Close the flow cell compartment door (3). Once all items       , click “Next”. </a:t>
              </a:r>
              <a:endParaRPr sz="1000"/>
            </a:p>
          </p:txBody>
        </p:sp>
        <p:pic>
          <p:nvPicPr>
            <p:cNvPr id="170" name="Google Shape;170;p24"/>
            <p:cNvPicPr preferRelativeResize="0"/>
            <p:nvPr/>
          </p:nvPicPr>
          <p:blipFill>
            <a:blip r:embed="rId4">
              <a:alphaModFix/>
            </a:blip>
            <a:stretch>
              <a:fillRect/>
            </a:stretch>
          </p:blipFill>
          <p:spPr>
            <a:xfrm>
              <a:off x="8266244" y="3284940"/>
              <a:ext cx="190500" cy="180975"/>
            </a:xfrm>
            <a:prstGeom prst="rect">
              <a:avLst/>
            </a:prstGeom>
            <a:noFill/>
            <a:ln>
              <a:noFill/>
            </a:ln>
          </p:spPr>
        </p:pic>
      </p:grpSp>
      <p:sp>
        <p:nvSpPr>
          <p:cNvPr id="171" name="Google Shape;171;p24"/>
          <p:cNvSpPr/>
          <p:nvPr/>
        </p:nvSpPr>
        <p:spPr>
          <a:xfrm>
            <a:off x="6822577" y="4069125"/>
            <a:ext cx="939300" cy="490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24"/>
          <p:cNvCxnSpPr/>
          <p:nvPr/>
        </p:nvCxnSpPr>
        <p:spPr>
          <a:xfrm rot="10800000">
            <a:off x="4671150" y="2717750"/>
            <a:ext cx="460800" cy="569700"/>
          </a:xfrm>
          <a:prstGeom prst="straightConnector1">
            <a:avLst/>
          </a:prstGeom>
          <a:noFill/>
          <a:ln w="19050" cap="flat" cmpd="sng">
            <a:solidFill>
              <a:srgbClr val="FF0000"/>
            </a:solidFill>
            <a:prstDash val="solid"/>
            <a:round/>
            <a:headEnd type="none" w="med" len="med"/>
            <a:tailEnd type="triangle" w="med" len="med"/>
          </a:ln>
        </p:spPr>
      </p:cxnSp>
      <p:cxnSp>
        <p:nvCxnSpPr>
          <p:cNvPr id="173" name="Google Shape;173;p24"/>
          <p:cNvCxnSpPr/>
          <p:nvPr/>
        </p:nvCxnSpPr>
        <p:spPr>
          <a:xfrm rot="10800000" flipH="1">
            <a:off x="2908050" y="1827125"/>
            <a:ext cx="805800" cy="127200"/>
          </a:xfrm>
          <a:prstGeom prst="straightConnector1">
            <a:avLst/>
          </a:prstGeom>
          <a:noFill/>
          <a:ln w="19050" cap="flat" cmpd="sng">
            <a:solidFill>
              <a:srgbClr val="FF0000"/>
            </a:solidFill>
            <a:prstDash val="solid"/>
            <a:round/>
            <a:headEnd type="none" w="med" len="med"/>
            <a:tailEnd type="triangle" w="med" len="med"/>
          </a:ln>
        </p:spPr>
      </p:cxnSp>
      <p:cxnSp>
        <p:nvCxnSpPr>
          <p:cNvPr id="174" name="Google Shape;174;p24"/>
          <p:cNvCxnSpPr>
            <a:stCxn id="175" idx="0"/>
          </p:cNvCxnSpPr>
          <p:nvPr/>
        </p:nvCxnSpPr>
        <p:spPr>
          <a:xfrm rot="10800000" flipH="1">
            <a:off x="4242154" y="2568940"/>
            <a:ext cx="11100" cy="793800"/>
          </a:xfrm>
          <a:prstGeom prst="straightConnector1">
            <a:avLst/>
          </a:prstGeom>
          <a:noFill/>
          <a:ln w="19050" cap="flat" cmpd="sng">
            <a:solidFill>
              <a:srgbClr val="FF0000"/>
            </a:solidFill>
            <a:prstDash val="solid"/>
            <a:round/>
            <a:headEnd type="none" w="med" len="med"/>
            <a:tailEnd type="triangle" w="med" len="med"/>
          </a:ln>
        </p:spPr>
      </p:cxnSp>
      <p:sp>
        <p:nvSpPr>
          <p:cNvPr id="176" name="Google Shape;176;p24"/>
          <p:cNvSpPr txBox="1"/>
          <p:nvPr/>
        </p:nvSpPr>
        <p:spPr>
          <a:xfrm>
            <a:off x="5077411" y="3178392"/>
            <a:ext cx="230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1</a:t>
            </a:r>
            <a:endParaRPr sz="1000"/>
          </a:p>
        </p:txBody>
      </p:sp>
      <p:sp>
        <p:nvSpPr>
          <p:cNvPr id="177" name="Google Shape;177;p24"/>
          <p:cNvSpPr txBox="1"/>
          <p:nvPr/>
        </p:nvSpPr>
        <p:spPr>
          <a:xfrm>
            <a:off x="2677640" y="1827127"/>
            <a:ext cx="230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3</a:t>
            </a:r>
            <a:endParaRPr sz="1000"/>
          </a:p>
        </p:txBody>
      </p:sp>
      <p:sp>
        <p:nvSpPr>
          <p:cNvPr id="178" name="Google Shape;178;p24"/>
          <p:cNvSpPr txBox="1"/>
          <p:nvPr/>
        </p:nvSpPr>
        <p:spPr>
          <a:xfrm>
            <a:off x="4114318" y="3299602"/>
            <a:ext cx="290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2</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5"/>
          <p:cNvPicPr preferRelativeResize="0"/>
          <p:nvPr/>
        </p:nvPicPr>
        <p:blipFill>
          <a:blip r:embed="rId3">
            <a:alphaModFix/>
          </a:blip>
          <a:stretch>
            <a:fillRect/>
          </a:stretch>
        </p:blipFill>
        <p:spPr>
          <a:xfrm>
            <a:off x="1145713" y="57138"/>
            <a:ext cx="6675121" cy="5029200"/>
          </a:xfrm>
          <a:prstGeom prst="rect">
            <a:avLst/>
          </a:prstGeom>
          <a:noFill/>
          <a:ln>
            <a:noFill/>
          </a:ln>
        </p:spPr>
      </p:pic>
      <p:sp>
        <p:nvSpPr>
          <p:cNvPr id="184" name="Google Shape;184;p25"/>
          <p:cNvSpPr/>
          <p:nvPr/>
        </p:nvSpPr>
        <p:spPr>
          <a:xfrm>
            <a:off x="4701700" y="1633150"/>
            <a:ext cx="600000" cy="751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25"/>
          <p:cNvGrpSpPr/>
          <p:nvPr/>
        </p:nvGrpSpPr>
        <p:grpSpPr>
          <a:xfrm>
            <a:off x="7864275" y="794325"/>
            <a:ext cx="1199700" cy="3765600"/>
            <a:chOff x="7885150" y="905700"/>
            <a:chExt cx="1199700" cy="3765600"/>
          </a:xfrm>
        </p:grpSpPr>
        <p:sp>
          <p:nvSpPr>
            <p:cNvPr id="186" name="Google Shape;186;p25"/>
            <p:cNvSpPr txBox="1"/>
            <p:nvPr/>
          </p:nvSpPr>
          <p:spPr>
            <a:xfrm>
              <a:off x="7885150" y="905700"/>
              <a:ext cx="1199700" cy="37656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Remove/dispose of spent reagents and return the empty waste container. Remove the wash PR2 bottle and load the new buffer. Once all items       , click “Next”.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100">
                  <a:solidFill>
                    <a:schemeClr val="dk1"/>
                  </a:solidFill>
                </a:rPr>
                <a:t>*Make sure that the sipper handle is down after inserting the PR2 and waste bottle. This will also come handy when troubleshooting.</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p:txBody>
        </p:sp>
        <p:pic>
          <p:nvPicPr>
            <p:cNvPr id="187" name="Google Shape;187;p25"/>
            <p:cNvPicPr preferRelativeResize="0"/>
            <p:nvPr/>
          </p:nvPicPr>
          <p:blipFill>
            <a:blip r:embed="rId4">
              <a:alphaModFix/>
            </a:blip>
            <a:stretch>
              <a:fillRect/>
            </a:stretch>
          </p:blipFill>
          <p:spPr>
            <a:xfrm>
              <a:off x="8328869" y="2351819"/>
              <a:ext cx="190500" cy="180975"/>
            </a:xfrm>
            <a:prstGeom prst="rect">
              <a:avLst/>
            </a:prstGeom>
            <a:noFill/>
            <a:ln>
              <a:noFill/>
            </a:ln>
          </p:spPr>
        </p:pic>
      </p:grpSp>
      <p:sp>
        <p:nvSpPr>
          <p:cNvPr id="188" name="Google Shape;188;p25"/>
          <p:cNvSpPr/>
          <p:nvPr/>
        </p:nvSpPr>
        <p:spPr>
          <a:xfrm>
            <a:off x="6822577" y="4069125"/>
            <a:ext cx="939300" cy="490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6"/>
          <p:cNvPicPr preferRelativeResize="0"/>
          <p:nvPr/>
        </p:nvPicPr>
        <p:blipFill>
          <a:blip r:embed="rId3">
            <a:alphaModFix/>
          </a:blip>
          <a:stretch>
            <a:fillRect/>
          </a:stretch>
        </p:blipFill>
        <p:spPr>
          <a:xfrm>
            <a:off x="1234438" y="57150"/>
            <a:ext cx="6675121" cy="5029200"/>
          </a:xfrm>
          <a:prstGeom prst="rect">
            <a:avLst/>
          </a:prstGeom>
          <a:noFill/>
          <a:ln>
            <a:noFill/>
          </a:ln>
        </p:spPr>
      </p:pic>
      <p:sp>
        <p:nvSpPr>
          <p:cNvPr id="194" name="Google Shape;194;p26"/>
          <p:cNvSpPr txBox="1"/>
          <p:nvPr/>
        </p:nvSpPr>
        <p:spPr>
          <a:xfrm>
            <a:off x="7918925" y="946350"/>
            <a:ext cx="1167900" cy="34338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The MiSeq requires that the user upload a sample sheet. At CZ Biohub, we download the sample sheet from gDrive to the Sequencer Desktop. The sample sheet name needs to be changed to the reagent cartridge ID (e.g. “</a:t>
            </a:r>
            <a:r>
              <a:rPr lang="en" sz="1000">
                <a:solidFill>
                  <a:schemeClr val="dk1"/>
                </a:solidFill>
              </a:rPr>
              <a:t>MS3046361-600V3”).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Browse for the location of the file.</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95" name="Google Shape;195;p26"/>
          <p:cNvSpPr/>
          <p:nvPr/>
        </p:nvSpPr>
        <p:spPr>
          <a:xfrm>
            <a:off x="6537338" y="2384500"/>
            <a:ext cx="1058700" cy="572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Samplesheet </a:t>
            </a:r>
            <a:endParaRPr/>
          </a:p>
        </p:txBody>
      </p:sp>
      <p:pic>
        <p:nvPicPr>
          <p:cNvPr id="201" name="Google Shape;201;p27"/>
          <p:cNvPicPr preferRelativeResize="0"/>
          <p:nvPr/>
        </p:nvPicPr>
        <p:blipFill rotWithShape="1">
          <a:blip r:embed="rId3">
            <a:alphaModFix/>
          </a:blip>
          <a:srcRect b="15189"/>
          <a:stretch/>
        </p:blipFill>
        <p:spPr>
          <a:xfrm>
            <a:off x="508450" y="1073925"/>
            <a:ext cx="5975079" cy="3849551"/>
          </a:xfrm>
          <a:prstGeom prst="rect">
            <a:avLst/>
          </a:prstGeom>
          <a:noFill/>
          <a:ln>
            <a:noFill/>
          </a:ln>
        </p:spPr>
      </p:pic>
      <p:sp>
        <p:nvSpPr>
          <p:cNvPr id="202" name="Google Shape;202;p27"/>
          <p:cNvSpPr txBox="1"/>
          <p:nvPr/>
        </p:nvSpPr>
        <p:spPr>
          <a:xfrm>
            <a:off x="6622925" y="2440700"/>
            <a:ext cx="2388900" cy="6933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Make sure to add “Experiment Name, XXXX,,,,,,,,” in line 3 as highlighted in the sample sheet example here. This will name the run on BaseSpace.</a:t>
            </a:r>
            <a:endParaRPr sz="1000"/>
          </a:p>
        </p:txBody>
      </p:sp>
      <p:sp>
        <p:nvSpPr>
          <p:cNvPr id="203" name="Google Shape;203;p27"/>
          <p:cNvSpPr txBox="1"/>
          <p:nvPr/>
        </p:nvSpPr>
        <p:spPr>
          <a:xfrm>
            <a:off x="7233775" y="4556975"/>
            <a:ext cx="2286000" cy="35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hlinkClick r:id="rId4"/>
              </a:rPr>
              <a:t>Sample sheet example</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Index Reads</a:t>
            </a:r>
            <a:endParaRPr/>
          </a:p>
        </p:txBody>
      </p:sp>
      <p:pic>
        <p:nvPicPr>
          <p:cNvPr id="209" name="Google Shape;209;p28"/>
          <p:cNvPicPr preferRelativeResize="0"/>
          <p:nvPr/>
        </p:nvPicPr>
        <p:blipFill>
          <a:blip r:embed="rId3">
            <a:alphaModFix/>
          </a:blip>
          <a:stretch>
            <a:fillRect/>
          </a:stretch>
        </p:blipFill>
        <p:spPr>
          <a:xfrm>
            <a:off x="1974300" y="2231575"/>
            <a:ext cx="5943600" cy="2352675"/>
          </a:xfrm>
          <a:prstGeom prst="rect">
            <a:avLst/>
          </a:prstGeom>
          <a:noFill/>
          <a:ln>
            <a:noFill/>
          </a:ln>
        </p:spPr>
      </p:pic>
      <p:cxnSp>
        <p:nvCxnSpPr>
          <p:cNvPr id="210" name="Google Shape;210;p28"/>
          <p:cNvCxnSpPr/>
          <p:nvPr/>
        </p:nvCxnSpPr>
        <p:spPr>
          <a:xfrm>
            <a:off x="2201600" y="2727050"/>
            <a:ext cx="496800" cy="0"/>
          </a:xfrm>
          <a:prstGeom prst="straightConnector1">
            <a:avLst/>
          </a:prstGeom>
          <a:noFill/>
          <a:ln w="9525" cap="flat" cmpd="sng">
            <a:solidFill>
              <a:srgbClr val="595959"/>
            </a:solidFill>
            <a:prstDash val="solid"/>
            <a:round/>
            <a:headEnd type="none" w="med" len="med"/>
            <a:tailEnd type="triangle" w="med" len="med"/>
          </a:ln>
        </p:spPr>
      </p:cxnSp>
      <p:sp>
        <p:nvSpPr>
          <p:cNvPr id="211" name="Google Shape;211;p28"/>
          <p:cNvSpPr txBox="1"/>
          <p:nvPr/>
        </p:nvSpPr>
        <p:spPr>
          <a:xfrm>
            <a:off x="1920319" y="2557371"/>
            <a:ext cx="369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P5</a:t>
            </a:r>
            <a:endParaRPr sz="900">
              <a:solidFill>
                <a:srgbClr val="FF0000"/>
              </a:solidFill>
            </a:endParaRPr>
          </a:p>
        </p:txBody>
      </p:sp>
      <p:sp>
        <p:nvSpPr>
          <p:cNvPr id="212" name="Google Shape;212;p28"/>
          <p:cNvSpPr txBox="1"/>
          <p:nvPr/>
        </p:nvSpPr>
        <p:spPr>
          <a:xfrm>
            <a:off x="1666938" y="2742817"/>
            <a:ext cx="688200" cy="27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38761D"/>
                </a:solidFill>
              </a:rPr>
              <a:t>I5 index</a:t>
            </a:r>
            <a:endParaRPr sz="900">
              <a:solidFill>
                <a:srgbClr val="38761D"/>
              </a:solidFill>
            </a:endParaRPr>
          </a:p>
        </p:txBody>
      </p:sp>
      <p:sp>
        <p:nvSpPr>
          <p:cNvPr id="213" name="Google Shape;213;p28"/>
          <p:cNvSpPr txBox="1"/>
          <p:nvPr/>
        </p:nvSpPr>
        <p:spPr>
          <a:xfrm>
            <a:off x="1365359" y="2979323"/>
            <a:ext cx="984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1C232"/>
                </a:solidFill>
              </a:rPr>
              <a:t>Read1 Primer</a:t>
            </a:r>
            <a:endParaRPr sz="900">
              <a:solidFill>
                <a:srgbClr val="F1C232"/>
              </a:solidFill>
            </a:endParaRPr>
          </a:p>
        </p:txBody>
      </p:sp>
      <p:sp>
        <p:nvSpPr>
          <p:cNvPr id="214" name="Google Shape;214;p28"/>
          <p:cNvSpPr txBox="1"/>
          <p:nvPr/>
        </p:nvSpPr>
        <p:spPr>
          <a:xfrm>
            <a:off x="1937217" y="4171264"/>
            <a:ext cx="369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t>P7</a:t>
            </a:r>
            <a:endParaRPr sz="900"/>
          </a:p>
        </p:txBody>
      </p:sp>
      <p:sp>
        <p:nvSpPr>
          <p:cNvPr id="215" name="Google Shape;215;p28"/>
          <p:cNvSpPr txBox="1"/>
          <p:nvPr/>
        </p:nvSpPr>
        <p:spPr>
          <a:xfrm>
            <a:off x="1675561" y="3989136"/>
            <a:ext cx="6225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93C47D"/>
                </a:solidFill>
              </a:rPr>
              <a:t>I7 index</a:t>
            </a:r>
            <a:endParaRPr sz="900">
              <a:solidFill>
                <a:srgbClr val="93C47D"/>
              </a:solidFill>
            </a:endParaRPr>
          </a:p>
        </p:txBody>
      </p:sp>
      <p:cxnSp>
        <p:nvCxnSpPr>
          <p:cNvPr id="216" name="Google Shape;216;p28"/>
          <p:cNvCxnSpPr/>
          <p:nvPr/>
        </p:nvCxnSpPr>
        <p:spPr>
          <a:xfrm>
            <a:off x="2203333" y="291582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17" name="Google Shape;217;p28"/>
          <p:cNvCxnSpPr/>
          <p:nvPr/>
        </p:nvCxnSpPr>
        <p:spPr>
          <a:xfrm>
            <a:off x="2201608" y="392032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18" name="Google Shape;218;p28"/>
          <p:cNvCxnSpPr/>
          <p:nvPr/>
        </p:nvCxnSpPr>
        <p:spPr>
          <a:xfrm>
            <a:off x="2201608" y="413937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19" name="Google Shape;219;p28"/>
          <p:cNvCxnSpPr/>
          <p:nvPr/>
        </p:nvCxnSpPr>
        <p:spPr>
          <a:xfrm>
            <a:off x="2191221" y="433487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20" name="Google Shape;220;p28"/>
          <p:cNvCxnSpPr/>
          <p:nvPr/>
        </p:nvCxnSpPr>
        <p:spPr>
          <a:xfrm>
            <a:off x="2191233" y="3149227"/>
            <a:ext cx="496800" cy="0"/>
          </a:xfrm>
          <a:prstGeom prst="straightConnector1">
            <a:avLst/>
          </a:prstGeom>
          <a:noFill/>
          <a:ln w="9525" cap="flat" cmpd="sng">
            <a:solidFill>
              <a:srgbClr val="595959"/>
            </a:solidFill>
            <a:prstDash val="solid"/>
            <a:round/>
            <a:headEnd type="none" w="med" len="med"/>
            <a:tailEnd type="triangle" w="med" len="med"/>
          </a:ln>
        </p:spPr>
      </p:cxnSp>
      <p:sp>
        <p:nvSpPr>
          <p:cNvPr id="221" name="Google Shape;221;p28"/>
          <p:cNvSpPr txBox="1"/>
          <p:nvPr/>
        </p:nvSpPr>
        <p:spPr>
          <a:xfrm>
            <a:off x="1376711" y="3737673"/>
            <a:ext cx="984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1692D5"/>
                </a:solidFill>
              </a:rPr>
              <a:t>Read2 Primer</a:t>
            </a:r>
            <a:endParaRPr sz="900">
              <a:solidFill>
                <a:srgbClr val="1692D5"/>
              </a:solidFill>
            </a:endParaRPr>
          </a:p>
        </p:txBody>
      </p:sp>
      <p:sp>
        <p:nvSpPr>
          <p:cNvPr id="222" name="Google Shape;222;p28"/>
          <p:cNvSpPr txBox="1">
            <a:spLocks noGrp="1"/>
          </p:cNvSpPr>
          <p:nvPr>
            <p:ph type="body" idx="1"/>
          </p:nvPr>
        </p:nvSpPr>
        <p:spPr>
          <a:xfrm>
            <a:off x="311700" y="1076275"/>
            <a:ext cx="8520600" cy="987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When preparing a sample sheet for a MiSeq run- </a:t>
            </a:r>
            <a:endParaRPr/>
          </a:p>
          <a:p>
            <a:pPr marL="914400" lvl="1" indent="-317500" algn="l" rtl="0">
              <a:lnSpc>
                <a:spcPct val="100000"/>
              </a:lnSpc>
              <a:spcBef>
                <a:spcPts val="0"/>
              </a:spcBef>
              <a:spcAft>
                <a:spcPts val="0"/>
              </a:spcAft>
              <a:buSzPts val="1400"/>
              <a:buChar char="○"/>
            </a:pPr>
            <a:r>
              <a:rPr lang="en">
                <a:solidFill>
                  <a:schemeClr val="dk1"/>
                </a:solidFill>
              </a:rPr>
              <a:t>I7 index (Index 1) sequence is the reverse complement of the ordered sequence</a:t>
            </a:r>
            <a:endParaRPr>
              <a:solidFill>
                <a:schemeClr val="dk1"/>
              </a:solidFill>
            </a:endParaRPr>
          </a:p>
          <a:p>
            <a:pPr marL="914400" lvl="1" indent="-317500" algn="l" rtl="0">
              <a:lnSpc>
                <a:spcPct val="100000"/>
              </a:lnSpc>
              <a:spcBef>
                <a:spcPts val="0"/>
              </a:spcBef>
              <a:spcAft>
                <a:spcPts val="0"/>
              </a:spcAft>
              <a:buSzPts val="1400"/>
              <a:buChar char="○"/>
            </a:pPr>
            <a:r>
              <a:rPr lang="en">
                <a:solidFill>
                  <a:schemeClr val="dk1"/>
                </a:solidFill>
              </a:rPr>
              <a:t>I5 index sequence (Index 2) is the sequence that you ordered</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914400" lvl="0" indent="0" algn="l" rtl="0">
              <a:lnSpc>
                <a:spcPct val="100000"/>
              </a:lnSpc>
              <a:spcBef>
                <a:spcPts val="0"/>
              </a:spcBef>
              <a:spcAft>
                <a:spcPts val="0"/>
              </a:spcAft>
              <a:buNone/>
            </a:pPr>
            <a:endParaRPr>
              <a:solidFill>
                <a:schemeClr val="dk1"/>
              </a:solidFill>
            </a:endParaRPr>
          </a:p>
        </p:txBody>
      </p:sp>
      <p:sp>
        <p:nvSpPr>
          <p:cNvPr id="223" name="Google Shape;223;p28"/>
          <p:cNvSpPr txBox="1"/>
          <p:nvPr/>
        </p:nvSpPr>
        <p:spPr>
          <a:xfrm>
            <a:off x="6658700" y="4753850"/>
            <a:ext cx="2388900" cy="4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hlinkClick r:id="rId4"/>
              </a:rPr>
              <a:t>Illumina Sample sheet documentation</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9"/>
          <p:cNvPicPr preferRelativeResize="0"/>
          <p:nvPr/>
        </p:nvPicPr>
        <p:blipFill rotWithShape="1">
          <a:blip r:embed="rId3">
            <a:alphaModFix/>
          </a:blip>
          <a:srcRect t="14266"/>
          <a:stretch/>
        </p:blipFill>
        <p:spPr>
          <a:xfrm>
            <a:off x="1111775" y="57150"/>
            <a:ext cx="6675121" cy="5029200"/>
          </a:xfrm>
          <a:prstGeom prst="rect">
            <a:avLst/>
          </a:prstGeom>
          <a:noFill/>
          <a:ln>
            <a:noFill/>
          </a:ln>
        </p:spPr>
      </p:pic>
      <p:sp>
        <p:nvSpPr>
          <p:cNvPr id="229" name="Google Shape;229;p29"/>
          <p:cNvSpPr txBox="1"/>
          <p:nvPr/>
        </p:nvSpPr>
        <p:spPr>
          <a:xfrm>
            <a:off x="7862700" y="2115000"/>
            <a:ext cx="1167900" cy="9135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Once the sample sheet is selected, click “Save and Continue”</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230" name="Google Shape;230;p29"/>
          <p:cNvSpPr/>
          <p:nvPr/>
        </p:nvSpPr>
        <p:spPr>
          <a:xfrm>
            <a:off x="6688475" y="4651775"/>
            <a:ext cx="1124400" cy="543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30"/>
          <p:cNvPicPr preferRelativeResize="0"/>
          <p:nvPr/>
        </p:nvPicPr>
        <p:blipFill rotWithShape="1">
          <a:blip r:embed="rId3">
            <a:alphaModFix/>
          </a:blip>
          <a:srcRect t="13367"/>
          <a:stretch/>
        </p:blipFill>
        <p:spPr>
          <a:xfrm>
            <a:off x="1136425" y="57151"/>
            <a:ext cx="6675121" cy="5029200"/>
          </a:xfrm>
          <a:prstGeom prst="rect">
            <a:avLst/>
          </a:prstGeom>
          <a:noFill/>
          <a:ln>
            <a:noFill/>
          </a:ln>
        </p:spPr>
      </p:pic>
      <p:sp>
        <p:nvSpPr>
          <p:cNvPr id="236" name="Google Shape;236;p30"/>
          <p:cNvSpPr txBox="1"/>
          <p:nvPr/>
        </p:nvSpPr>
        <p:spPr>
          <a:xfrm>
            <a:off x="7811550" y="1564700"/>
            <a:ext cx="1275300" cy="16350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Finally remove the the wash cartridge, and slide in the new reagent cartridge. Close the reagent cartridge doors. </a:t>
            </a:r>
            <a:r>
              <a:rPr lang="en" sz="1000">
                <a:solidFill>
                  <a:schemeClr val="dk1"/>
                </a:solidFill>
              </a:rPr>
              <a:t>Once all items       ,  click </a:t>
            </a:r>
            <a:r>
              <a:rPr lang="en" sz="1000"/>
              <a:t>“Next”.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pic>
        <p:nvPicPr>
          <p:cNvPr id="237" name="Google Shape;237;p30"/>
          <p:cNvPicPr preferRelativeResize="0"/>
          <p:nvPr/>
        </p:nvPicPr>
        <p:blipFill>
          <a:blip r:embed="rId4">
            <a:alphaModFix/>
          </a:blip>
          <a:stretch>
            <a:fillRect/>
          </a:stretch>
        </p:blipFill>
        <p:spPr>
          <a:xfrm>
            <a:off x="8744032" y="2711403"/>
            <a:ext cx="190500" cy="180975"/>
          </a:xfrm>
          <a:prstGeom prst="rect">
            <a:avLst/>
          </a:prstGeom>
          <a:noFill/>
          <a:ln>
            <a:noFill/>
          </a:ln>
        </p:spPr>
      </p:pic>
      <p:sp>
        <p:nvSpPr>
          <p:cNvPr id="238" name="Google Shape;238;p30"/>
          <p:cNvSpPr/>
          <p:nvPr/>
        </p:nvSpPr>
        <p:spPr>
          <a:xfrm>
            <a:off x="6705988" y="4623650"/>
            <a:ext cx="1058700" cy="572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1"/>
          <p:cNvPicPr preferRelativeResize="0"/>
          <p:nvPr/>
        </p:nvPicPr>
        <p:blipFill rotWithShape="1">
          <a:blip r:embed="rId3">
            <a:alphaModFix/>
          </a:blip>
          <a:srcRect t="13926"/>
          <a:stretch/>
        </p:blipFill>
        <p:spPr>
          <a:xfrm>
            <a:off x="1136425" y="57151"/>
            <a:ext cx="6675121" cy="5029200"/>
          </a:xfrm>
          <a:prstGeom prst="rect">
            <a:avLst/>
          </a:prstGeom>
          <a:noFill/>
          <a:ln>
            <a:noFill/>
          </a:ln>
        </p:spPr>
      </p:pic>
      <p:sp>
        <p:nvSpPr>
          <p:cNvPr id="244" name="Google Shape;244;p31"/>
          <p:cNvSpPr txBox="1"/>
          <p:nvPr/>
        </p:nvSpPr>
        <p:spPr>
          <a:xfrm>
            <a:off x="7840900" y="1564700"/>
            <a:ext cx="1275300" cy="26655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Review the run setup information pulled from the uploaded sample sheet.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If the Read or Index length needs to be updated, go back to the sample sheet, make changes and re-upload the sample sheet.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Click “Next”.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245" name="Google Shape;245;p31"/>
          <p:cNvSpPr/>
          <p:nvPr/>
        </p:nvSpPr>
        <p:spPr>
          <a:xfrm>
            <a:off x="6705988" y="4623650"/>
            <a:ext cx="1058700" cy="572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2"/>
          <p:cNvPicPr preferRelativeResize="0"/>
          <p:nvPr/>
        </p:nvPicPr>
        <p:blipFill rotWithShape="1">
          <a:blip r:embed="rId3">
            <a:alphaModFix/>
          </a:blip>
          <a:srcRect t="13539"/>
          <a:stretch/>
        </p:blipFill>
        <p:spPr>
          <a:xfrm>
            <a:off x="1150475" y="57151"/>
            <a:ext cx="6675121" cy="5029200"/>
          </a:xfrm>
          <a:prstGeom prst="rect">
            <a:avLst/>
          </a:prstGeom>
          <a:noFill/>
          <a:ln>
            <a:noFill/>
          </a:ln>
        </p:spPr>
      </p:pic>
      <p:sp>
        <p:nvSpPr>
          <p:cNvPr id="251" name="Google Shape;251;p32"/>
          <p:cNvSpPr txBox="1"/>
          <p:nvPr/>
        </p:nvSpPr>
        <p:spPr>
          <a:xfrm>
            <a:off x="7825600" y="2044800"/>
            <a:ext cx="1275300" cy="10539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The pre-run check will take a few minutes. </a:t>
            </a:r>
            <a:r>
              <a:rPr lang="en" sz="1000">
                <a:solidFill>
                  <a:schemeClr val="dk1"/>
                </a:solidFill>
              </a:rPr>
              <a:t>Once all items       , click “Start Run”.</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pic>
        <p:nvPicPr>
          <p:cNvPr id="252" name="Google Shape;252;p32"/>
          <p:cNvPicPr preferRelativeResize="0"/>
          <p:nvPr/>
        </p:nvPicPr>
        <p:blipFill>
          <a:blip r:embed="rId4">
            <a:alphaModFix/>
          </a:blip>
          <a:stretch>
            <a:fillRect/>
          </a:stretch>
        </p:blipFill>
        <p:spPr>
          <a:xfrm>
            <a:off x="8247457" y="2571753"/>
            <a:ext cx="190500" cy="18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3"/>
          <p:cNvPicPr preferRelativeResize="0"/>
          <p:nvPr/>
        </p:nvPicPr>
        <p:blipFill rotWithShape="1">
          <a:blip r:embed="rId3">
            <a:alphaModFix/>
          </a:blip>
          <a:srcRect t="14059"/>
          <a:stretch/>
        </p:blipFill>
        <p:spPr>
          <a:xfrm>
            <a:off x="1234438" y="57150"/>
            <a:ext cx="6675121" cy="5029200"/>
          </a:xfrm>
          <a:prstGeom prst="rect">
            <a:avLst/>
          </a:prstGeom>
          <a:noFill/>
          <a:ln>
            <a:noFill/>
          </a:ln>
        </p:spPr>
      </p:pic>
      <p:sp>
        <p:nvSpPr>
          <p:cNvPr id="258" name="Google Shape;258;p33"/>
          <p:cNvSpPr txBox="1"/>
          <p:nvPr/>
        </p:nvSpPr>
        <p:spPr>
          <a:xfrm>
            <a:off x="7909550" y="1895950"/>
            <a:ext cx="1191300" cy="19041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Cluster density and PF% metrics will become available after 20 and 25 cycles, respectively.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MiSeq runs can last from 4-56 hrs depending on the kit.</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4"/>
          <p:cNvSpPr txBox="1">
            <a:spLocks noGrp="1"/>
          </p:cNvSpPr>
          <p:nvPr>
            <p:ph type="title"/>
          </p:nvPr>
        </p:nvSpPr>
        <p:spPr>
          <a:xfrm>
            <a:off x="311700" y="1697725"/>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Perform Wash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35"/>
          <p:cNvPicPr preferRelativeResize="0"/>
          <p:nvPr/>
        </p:nvPicPr>
        <p:blipFill>
          <a:blip r:embed="rId3">
            <a:alphaModFix/>
          </a:blip>
          <a:stretch>
            <a:fillRect/>
          </a:stretch>
        </p:blipFill>
        <p:spPr>
          <a:xfrm>
            <a:off x="1181725" y="46038"/>
            <a:ext cx="6675121" cy="5029200"/>
          </a:xfrm>
          <a:prstGeom prst="rect">
            <a:avLst/>
          </a:prstGeom>
          <a:noFill/>
          <a:ln>
            <a:noFill/>
          </a:ln>
        </p:spPr>
      </p:pic>
      <p:cxnSp>
        <p:nvCxnSpPr>
          <p:cNvPr id="269" name="Google Shape;269;p35"/>
          <p:cNvCxnSpPr/>
          <p:nvPr/>
        </p:nvCxnSpPr>
        <p:spPr>
          <a:xfrm rot="10800000" flipH="1">
            <a:off x="2218100" y="3173825"/>
            <a:ext cx="630300" cy="183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Wash Types</a:t>
            </a:r>
            <a:endParaRPr sz="1900"/>
          </a:p>
        </p:txBody>
      </p:sp>
      <p:pic>
        <p:nvPicPr>
          <p:cNvPr id="275" name="Google Shape;275;p36"/>
          <p:cNvPicPr preferRelativeResize="0"/>
          <p:nvPr/>
        </p:nvPicPr>
        <p:blipFill>
          <a:blip r:embed="rId3">
            <a:alphaModFix/>
          </a:blip>
          <a:stretch>
            <a:fillRect/>
          </a:stretch>
        </p:blipFill>
        <p:spPr>
          <a:xfrm>
            <a:off x="152400" y="1170125"/>
            <a:ext cx="5094633" cy="3820975"/>
          </a:xfrm>
          <a:prstGeom prst="rect">
            <a:avLst/>
          </a:prstGeom>
          <a:noFill/>
          <a:ln>
            <a:noFill/>
          </a:ln>
        </p:spPr>
      </p:pic>
      <p:sp>
        <p:nvSpPr>
          <p:cNvPr id="276" name="Google Shape;276;p36"/>
          <p:cNvSpPr txBox="1"/>
          <p:nvPr/>
        </p:nvSpPr>
        <p:spPr>
          <a:xfrm>
            <a:off x="5452550" y="1368900"/>
            <a:ext cx="3379800" cy="31455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b="1"/>
              <a:t>Maintenance Wash:</a:t>
            </a:r>
            <a:r>
              <a:rPr lang="en"/>
              <a:t> Once every month (~90mins) </a:t>
            </a:r>
            <a:endParaRPr/>
          </a:p>
          <a:p>
            <a:pPr marL="914400" lvl="1" indent="-317500" algn="l" rtl="0">
              <a:spcBef>
                <a:spcPts val="0"/>
              </a:spcBef>
              <a:spcAft>
                <a:spcPts val="0"/>
              </a:spcAft>
              <a:buSzPts val="1400"/>
              <a:buChar char="○"/>
            </a:pPr>
            <a:r>
              <a:rPr lang="en"/>
              <a:t>A series of three wash steps with 0.5% Tween20 </a:t>
            </a:r>
            <a:endParaRPr/>
          </a:p>
          <a:p>
            <a:pPr marL="914400" lvl="0" indent="0" algn="l" rtl="0">
              <a:spcBef>
                <a:spcPts val="0"/>
              </a:spcBef>
              <a:spcAft>
                <a:spcPts val="0"/>
              </a:spcAft>
              <a:buNone/>
            </a:pPr>
            <a:endParaRPr/>
          </a:p>
          <a:p>
            <a:pPr marL="457200" lvl="0" indent="-317500" algn="l" rtl="0">
              <a:spcBef>
                <a:spcPts val="0"/>
              </a:spcBef>
              <a:spcAft>
                <a:spcPts val="0"/>
              </a:spcAft>
              <a:buSzPts val="1400"/>
              <a:buChar char="●"/>
            </a:pPr>
            <a:r>
              <a:rPr lang="en" b="1"/>
              <a:t>Stand by Wash:</a:t>
            </a:r>
            <a:r>
              <a:rPr lang="en"/>
              <a:t> Only if machine will be idle for for more than a week. </a:t>
            </a:r>
            <a:endParaRPr/>
          </a:p>
          <a:p>
            <a:pPr marL="914400" lvl="1" indent="-317500" algn="l" rtl="0">
              <a:spcBef>
                <a:spcPts val="0"/>
              </a:spcBef>
              <a:spcAft>
                <a:spcPts val="0"/>
              </a:spcAft>
              <a:buSzPts val="1400"/>
              <a:buChar char="○"/>
            </a:pPr>
            <a:r>
              <a:rPr lang="en"/>
              <a:t>A series for two washes with 0.5% Tween20</a:t>
            </a:r>
            <a:endParaRPr/>
          </a:p>
          <a:p>
            <a:pPr marL="914400" lvl="0" indent="0" algn="l" rtl="0">
              <a:spcBef>
                <a:spcPts val="0"/>
              </a:spcBef>
              <a:spcAft>
                <a:spcPts val="0"/>
              </a:spcAft>
              <a:buNone/>
            </a:pPr>
            <a:endParaRPr/>
          </a:p>
          <a:p>
            <a:pPr marL="457200" lvl="0" indent="-317500" algn="l" rtl="0">
              <a:spcBef>
                <a:spcPts val="0"/>
              </a:spcBef>
              <a:spcAft>
                <a:spcPts val="0"/>
              </a:spcAft>
              <a:buSzPts val="1400"/>
              <a:buChar char="●"/>
            </a:pPr>
            <a:r>
              <a:rPr lang="en" b="1"/>
              <a:t>Post-Run Wash:</a:t>
            </a:r>
            <a:r>
              <a:rPr lang="en"/>
              <a:t> Mandatory after every run with 0.5% Tween20</a:t>
            </a:r>
            <a:endParaRPr/>
          </a:p>
        </p:txBody>
      </p:sp>
      <p:sp>
        <p:nvSpPr>
          <p:cNvPr id="277" name="Google Shape;277;p36"/>
          <p:cNvSpPr/>
          <p:nvPr/>
        </p:nvSpPr>
        <p:spPr>
          <a:xfrm>
            <a:off x="4362250" y="4034650"/>
            <a:ext cx="991800" cy="6681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6"/>
          <p:cNvCxnSpPr>
            <a:stCxn id="277" idx="3"/>
          </p:cNvCxnSpPr>
          <p:nvPr/>
        </p:nvCxnSpPr>
        <p:spPr>
          <a:xfrm>
            <a:off x="5354050" y="4368700"/>
            <a:ext cx="678300" cy="219300"/>
          </a:xfrm>
          <a:prstGeom prst="straightConnector1">
            <a:avLst/>
          </a:prstGeom>
          <a:noFill/>
          <a:ln w="9525" cap="flat" cmpd="sng">
            <a:solidFill>
              <a:srgbClr val="FF0000"/>
            </a:solidFill>
            <a:prstDash val="solid"/>
            <a:round/>
            <a:headEnd type="none" w="med" len="med"/>
            <a:tailEnd type="triangle" w="med" len="med"/>
          </a:ln>
        </p:spPr>
      </p:cxnSp>
      <p:sp>
        <p:nvSpPr>
          <p:cNvPr id="279" name="Google Shape;279;p36"/>
          <p:cNvSpPr txBox="1"/>
          <p:nvPr/>
        </p:nvSpPr>
        <p:spPr>
          <a:xfrm>
            <a:off x="6057450" y="4431300"/>
            <a:ext cx="3012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rPr>
              <a:t>When troubleshooting, you may need to raise the sippers manually</a:t>
            </a:r>
            <a:endParaRPr sz="130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Run Options</a:t>
            </a:r>
            <a:endParaRPr/>
          </a:p>
        </p:txBody>
      </p:sp>
      <p:pic>
        <p:nvPicPr>
          <p:cNvPr id="285" name="Google Shape;285;p37"/>
          <p:cNvPicPr preferRelativeResize="0"/>
          <p:nvPr/>
        </p:nvPicPr>
        <p:blipFill>
          <a:blip r:embed="rId3">
            <a:alphaModFix/>
          </a:blip>
          <a:stretch>
            <a:fillRect/>
          </a:stretch>
        </p:blipFill>
        <p:spPr>
          <a:xfrm>
            <a:off x="2044500" y="1093925"/>
            <a:ext cx="5222999" cy="39172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Manage Instrument</a:t>
            </a:r>
            <a:endParaRPr/>
          </a:p>
        </p:txBody>
      </p:sp>
      <p:pic>
        <p:nvPicPr>
          <p:cNvPr id="291" name="Google Shape;291;p38"/>
          <p:cNvPicPr preferRelativeResize="0"/>
          <p:nvPr/>
        </p:nvPicPr>
        <p:blipFill>
          <a:blip r:embed="rId3">
            <a:alphaModFix/>
          </a:blip>
          <a:stretch>
            <a:fillRect/>
          </a:stretch>
        </p:blipFill>
        <p:spPr>
          <a:xfrm>
            <a:off x="2017725" y="1131675"/>
            <a:ext cx="5177774" cy="3883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295"/>
        <p:cNvGrpSpPr/>
        <p:nvPr/>
      </p:nvGrpSpPr>
      <p:grpSpPr>
        <a:xfrm>
          <a:off x="0" y="0"/>
          <a:ext cx="0" cy="0"/>
          <a:chOff x="0" y="0"/>
          <a:chExt cx="0" cy="0"/>
        </a:xfrm>
      </p:grpSpPr>
      <p:sp>
        <p:nvSpPr>
          <p:cNvPr id="296" name="Google Shape;296;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Custom Primers</a:t>
            </a:r>
            <a:endParaRPr/>
          </a:p>
          <a:p>
            <a:pPr marL="0" lvl="0" indent="0" algn="l" rtl="0">
              <a:spcBef>
                <a:spcPts val="0"/>
              </a:spcBef>
              <a:spcAft>
                <a:spcPts val="0"/>
              </a:spcAft>
              <a:buNone/>
            </a:pPr>
            <a:endParaRPr/>
          </a:p>
        </p:txBody>
      </p:sp>
      <p:pic>
        <p:nvPicPr>
          <p:cNvPr id="297" name="Google Shape;297;p39"/>
          <p:cNvPicPr preferRelativeResize="0"/>
          <p:nvPr/>
        </p:nvPicPr>
        <p:blipFill>
          <a:blip r:embed="rId3">
            <a:alphaModFix/>
          </a:blip>
          <a:stretch>
            <a:fillRect/>
          </a:stretch>
        </p:blipFill>
        <p:spPr>
          <a:xfrm>
            <a:off x="311700" y="1504674"/>
            <a:ext cx="8695151" cy="27598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MiSeq Installation</a:t>
            </a:r>
            <a:endParaRPr/>
          </a:p>
          <a:p>
            <a:pPr marL="0" lvl="0" indent="0" algn="l" rtl="0">
              <a:spcBef>
                <a:spcPts val="0"/>
              </a:spcBef>
              <a:spcAft>
                <a:spcPts val="0"/>
              </a:spcAft>
              <a:buNone/>
            </a:pPr>
            <a:endParaRPr/>
          </a:p>
        </p:txBody>
      </p:sp>
      <p:sp>
        <p:nvSpPr>
          <p:cNvPr id="303" name="Google Shape;303;p40"/>
          <p:cNvSpPr txBox="1">
            <a:spLocks noGrp="1"/>
          </p:cNvSpPr>
          <p:nvPr>
            <p:ph type="body" idx="1"/>
          </p:nvPr>
        </p:nvSpPr>
        <p:spPr>
          <a:xfrm>
            <a:off x="311700" y="1000075"/>
            <a:ext cx="8520600" cy="39909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For MiSeq installation instructions contact your Illumina Representative.</a:t>
            </a:r>
            <a:endParaRPr sz="1600"/>
          </a:p>
          <a:p>
            <a:pPr marL="457200" lvl="0" indent="-330200" algn="l" rtl="0">
              <a:spcBef>
                <a:spcPts val="0"/>
              </a:spcBef>
              <a:spcAft>
                <a:spcPts val="0"/>
              </a:spcAft>
              <a:buSzPts val="1600"/>
              <a:buChar char="●"/>
            </a:pPr>
            <a:r>
              <a:rPr lang="en" sz="1600"/>
              <a:t>For instrument calibration you will need an optical flow cell to run the “Optics Test” in System Check.</a:t>
            </a:r>
            <a:endParaRPr sz="1600"/>
          </a:p>
          <a:p>
            <a:pPr marL="457200" lvl="0" indent="-330200" algn="l" rtl="0">
              <a:spcBef>
                <a:spcPts val="0"/>
              </a:spcBef>
              <a:spcAft>
                <a:spcPts val="0"/>
              </a:spcAft>
              <a:buSzPts val="1600"/>
              <a:buChar char="●"/>
            </a:pPr>
            <a:r>
              <a:rPr lang="en" sz="1600"/>
              <a:t>MySeq System Prep Guide - </a:t>
            </a:r>
            <a:r>
              <a:rPr lang="en" sz="1600" u="sng">
                <a:solidFill>
                  <a:schemeClr val="hlink"/>
                </a:solidFill>
                <a:hlinkClick r:id="rId3"/>
              </a:rPr>
              <a:t>https://support.illumina.com/content/dam/illumina-support/documents/documentation/system_documentation/miseq/miseq-site-prep-guide-15027615-f.pdf</a:t>
            </a:r>
            <a:r>
              <a:rPr lang="en" sz="1600"/>
              <a:t> </a:t>
            </a:r>
            <a:endParaRPr sz="1600"/>
          </a:p>
          <a:p>
            <a:pPr marL="457200" lvl="0" indent="-330200" algn="l" rtl="0">
              <a:spcBef>
                <a:spcPts val="0"/>
              </a:spcBef>
              <a:spcAft>
                <a:spcPts val="0"/>
              </a:spcAft>
              <a:buSzPts val="1600"/>
              <a:buChar char="●"/>
            </a:pPr>
            <a:r>
              <a:rPr lang="en" sz="1600"/>
              <a:t>MiSeq System Guide - </a:t>
            </a:r>
            <a:r>
              <a:rPr lang="en" sz="1600" u="sng">
                <a:solidFill>
                  <a:schemeClr val="hlink"/>
                </a:solidFill>
                <a:hlinkClick r:id="rId4"/>
              </a:rPr>
              <a:t>https://support.illumina.com/content/dam/illumina-support/documents/documentation/system_documentation/miseq/miseq-system-guide-for-miseq-reporter-1000000061014-00.pdf</a:t>
            </a:r>
            <a:endParaRPr sz="1600"/>
          </a:p>
          <a:p>
            <a:pPr marL="457200" lvl="0" indent="-330200" algn="l" rtl="0">
              <a:spcBef>
                <a:spcPts val="0"/>
              </a:spcBef>
              <a:spcAft>
                <a:spcPts val="0"/>
              </a:spcAft>
              <a:buSzPts val="1600"/>
              <a:buChar char="●"/>
            </a:pPr>
            <a:r>
              <a:rPr lang="en" sz="1600"/>
              <a:t>MiSeq Denaturation Guide - https://support.illumina.com/content/dam/illumina-support/documents/documentation/system_documentation/miseq/miseq-denature-dilute-libraries-guide-15039740-10.pdf</a:t>
            </a:r>
            <a:endParaRPr sz="16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1060</Words>
  <Application>Microsoft Macintosh PowerPoint</Application>
  <PresentationFormat>On-screen Show (16:9)</PresentationFormat>
  <Paragraphs>150</Paragraphs>
  <Slides>27</Slides>
  <Notes>27</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Simple Light</vt:lpstr>
      <vt:lpstr>MiSeq Loading</vt:lpstr>
      <vt:lpstr>PowerPoint Presentation</vt:lpstr>
      <vt:lpstr>Instrument Components</vt:lpstr>
      <vt:lpstr>MiSeq Kit</vt:lpstr>
      <vt:lpstr>Sequencing Kits and Loading Concentrations</vt:lpstr>
      <vt:lpstr>Before Loading</vt:lpstr>
      <vt:lpstr>Library Distribution</vt:lpstr>
      <vt:lpstr>Denature and dilute library</vt:lpstr>
      <vt:lpstr>PowerPoint Presentation</vt:lpstr>
      <vt:lpstr>PowerPoint Presentation</vt:lpstr>
      <vt:lpstr>PowerPoint Presentation</vt:lpstr>
      <vt:lpstr>PowerPoint Presentation</vt:lpstr>
      <vt:lpstr>PowerPoint Presentation</vt:lpstr>
      <vt:lpstr>Samplesheet </vt:lpstr>
      <vt:lpstr>Index Reads</vt:lpstr>
      <vt:lpstr>PowerPoint Presentation</vt:lpstr>
      <vt:lpstr>PowerPoint Presentation</vt:lpstr>
      <vt:lpstr>PowerPoint Presentation</vt:lpstr>
      <vt:lpstr>PowerPoint Presentation</vt:lpstr>
      <vt:lpstr>PowerPoint Presentation</vt:lpstr>
      <vt:lpstr>Perform Wash</vt:lpstr>
      <vt:lpstr>PowerPoint Presentation</vt:lpstr>
      <vt:lpstr>Wash Types</vt:lpstr>
      <vt:lpstr>Run Options</vt:lpstr>
      <vt:lpstr>Manage Instrument</vt:lpstr>
      <vt:lpstr>Custom Primers </vt:lpstr>
      <vt:lpstr>MiSeq Installation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1</cp:revision>
  <dcterms:modified xsi:type="dcterms:W3CDTF">2026-01-21T19:31:03Z</dcterms:modified>
</cp:coreProperties>
</file>