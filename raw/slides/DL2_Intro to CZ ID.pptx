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2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 type="screen16x9"/>
  <p:notesSz cx="6858000" cy="9144000"/>
  <p:embeddedFontLst>
    <p:embeddedFont>
      <p:font typeface="Lato" panose="020F0502020204030203" pitchFamily="34" charset="0"/>
      <p:regular r:id="rId19"/>
      <p:bold r:id="rId20"/>
      <p:italic r:id="rId21"/>
      <p:boldItalic r:id="rId22"/>
    </p:embeddedFont>
    <p:embeddedFont>
      <p:font typeface="Open Sans" panose="020B0606030504020204" pitchFamily="34" charset="0"/>
      <p:regular r:id="rId23"/>
      <p:bold r:id="rId24"/>
      <p:italic r:id="rId25"/>
      <p:boldItalic r:id="rId26"/>
    </p:embeddedFont>
    <p:embeddedFont>
      <p:font typeface="Poppins" pitchFamily="2" charset="77"/>
      <p:regular r:id="rId27"/>
      <p:bold r:id="rId28"/>
      <p:italic r:id="rId29"/>
      <p:boldItalic r:id="rId30"/>
    </p:embeddedFont>
    <p:embeddedFont>
      <p:font typeface="Roboto" panose="02000000000000000000" pitchFamily="2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2" roundtripDataSignature="AMtx7mhpXceUUEMsw+K931peaSFJ0fXV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4" d="100"/>
          <a:sy n="154" d="100"/>
        </p:scale>
        <p:origin x="536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42" Type="http://customschemas.google.com/relationships/presentationmetadata" Target="meta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46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Slides updated 07/02/2024</a:t>
            </a:r>
            <a:endParaRPr/>
          </a:p>
        </p:txBody>
      </p:sp>
      <p:sp>
        <p:nvSpPr>
          <p:cNvPr id="121" name="Google Shape;12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>
              <a:solidFill>
                <a:srgbClr val="3C404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" name="Google Shape;13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No worries about storage solutions, easy data sharing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2" name="Google Shape;18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8" name="Google Shape;18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50"/>
              <a:buFont typeface="Open Sans"/>
              <a:buChar char="●"/>
            </a:pPr>
            <a:r>
              <a:rPr lang="en" sz="135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92% (125 of 135) of DENV cases were from crop land</a:t>
            </a:r>
            <a:endParaRPr/>
          </a:p>
          <a:p>
            <a:pPr marL="45720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50"/>
              <a:buFont typeface="Open Sans"/>
              <a:buChar char="●"/>
            </a:pPr>
            <a:r>
              <a:rPr lang="en" sz="135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Early detection of chikungunya virus presaged a larger national outbreak of more than 6,000 cases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rgbClr val="262626"/>
                </a:solidFill>
              </a:rPr>
              <a:t>Most common in serum: </a:t>
            </a:r>
            <a:r>
              <a:rPr lang="en" sz="1200" i="1">
                <a:solidFill>
                  <a:srgbClr val="202020"/>
                </a:solidFill>
              </a:rPr>
              <a:t>Plasmodium falciparum</a:t>
            </a:r>
            <a:r>
              <a:rPr lang="en" sz="1200">
                <a:solidFill>
                  <a:srgbClr val="202020"/>
                </a:solidFill>
              </a:rPr>
              <a:t> (51.1% of samples) and parvovirus B19 (4.4%). </a:t>
            </a:r>
            <a:r>
              <a:rPr lang="en" sz="1200" i="1">
                <a:solidFill>
                  <a:srgbClr val="202020"/>
                </a:solidFill>
              </a:rPr>
              <a:t>P</a:t>
            </a:r>
            <a:r>
              <a:rPr lang="en" sz="1200">
                <a:solidFill>
                  <a:srgbClr val="202020"/>
                </a:solidFill>
              </a:rPr>
              <a:t>. </a:t>
            </a:r>
            <a:r>
              <a:rPr lang="en" sz="1200" i="1">
                <a:solidFill>
                  <a:srgbClr val="202020"/>
                </a:solidFill>
              </a:rPr>
              <a:t>falciparum</a:t>
            </a:r>
            <a:r>
              <a:rPr lang="en" sz="1200">
                <a:solidFill>
                  <a:srgbClr val="202020"/>
                </a:solidFill>
              </a:rPr>
              <a:t> was detected in 10/12 samples from patients reported as smear-positive. mNGS detected </a:t>
            </a:r>
            <a:r>
              <a:rPr lang="en" sz="1200" i="1">
                <a:solidFill>
                  <a:srgbClr val="202020"/>
                </a:solidFill>
              </a:rPr>
              <a:t>Plasmodium spp</a:t>
            </a:r>
            <a:r>
              <a:rPr lang="en" sz="1200">
                <a:solidFill>
                  <a:srgbClr val="202020"/>
                </a:solidFill>
              </a:rPr>
              <a:t>. in 37 additional samples that were smear negative (36 </a:t>
            </a:r>
            <a:r>
              <a:rPr lang="en" sz="1200" i="1">
                <a:solidFill>
                  <a:srgbClr val="202020"/>
                </a:solidFill>
              </a:rPr>
              <a:t>P</a:t>
            </a:r>
            <a:r>
              <a:rPr lang="en" sz="1200">
                <a:solidFill>
                  <a:srgbClr val="202020"/>
                </a:solidFill>
              </a:rPr>
              <a:t>. </a:t>
            </a:r>
            <a:r>
              <a:rPr lang="en" sz="1200" i="1">
                <a:solidFill>
                  <a:srgbClr val="202020"/>
                </a:solidFill>
              </a:rPr>
              <a:t>falciparum</a:t>
            </a:r>
            <a:r>
              <a:rPr lang="en" sz="1200">
                <a:solidFill>
                  <a:srgbClr val="202020"/>
                </a:solidFill>
              </a:rPr>
              <a:t>, 1 </a:t>
            </a:r>
            <a:r>
              <a:rPr lang="en" sz="1200" i="1">
                <a:solidFill>
                  <a:srgbClr val="202020"/>
                </a:solidFill>
              </a:rPr>
              <a:t>P</a:t>
            </a:r>
            <a:r>
              <a:rPr lang="en" sz="1200">
                <a:solidFill>
                  <a:srgbClr val="202020"/>
                </a:solidFill>
              </a:rPr>
              <a:t>. </a:t>
            </a:r>
            <a:r>
              <a:rPr lang="en" sz="1200" i="1">
                <a:solidFill>
                  <a:srgbClr val="202020"/>
                </a:solidFill>
              </a:rPr>
              <a:t>malariae</a:t>
            </a:r>
            <a:r>
              <a:rPr lang="en" sz="1200">
                <a:solidFill>
                  <a:srgbClr val="202020"/>
                </a:solidFill>
              </a:rPr>
              <a:t>)</a:t>
            </a:r>
            <a:endParaRPr sz="1200">
              <a:solidFill>
                <a:srgbClr val="202020"/>
              </a:solidFill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Char char="●"/>
            </a:pPr>
            <a:r>
              <a:rPr lang="en" sz="1200">
                <a:solidFill>
                  <a:srgbClr val="202020"/>
                </a:solidFill>
              </a:rPr>
              <a:t>The same microbial species was identified in the NP swab and serum samples from only six patients (on independent sequencing runs), one each with HRV-A, HRV-C, hepatitis A virus, hepatitis B virus, rotavirus A, and parvovirus B19.</a:t>
            </a:r>
            <a:endParaRPr sz="1200">
              <a:solidFill>
                <a:srgbClr val="202020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1" name="Google Shape;21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7" name="Google Shape;21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" name="Google Shape;22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TITLE_AND_BODY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p2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2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2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2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3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_2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9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1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" type="title">
  <p:cSld name="TITLE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2"/>
          <p:cNvSpPr txBox="1">
            <a:spLocks noGrp="1"/>
          </p:cNvSpPr>
          <p:nvPr>
            <p:ph type="title"/>
          </p:nvPr>
        </p:nvSpPr>
        <p:spPr>
          <a:xfrm>
            <a:off x="666750" y="862013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2"/>
          <p:cNvSpPr txBox="1">
            <a:spLocks noGrp="1"/>
          </p:cNvSpPr>
          <p:nvPr>
            <p:ph type="body" idx="1"/>
          </p:nvPr>
        </p:nvSpPr>
        <p:spPr>
          <a:xfrm>
            <a:off x="666750" y="2652713"/>
            <a:ext cx="78105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pic>
        <p:nvPicPr>
          <p:cNvPr id="67" name="Google Shape;67;p32" descr="IDseq_logo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6538" y="96775"/>
            <a:ext cx="815933" cy="2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32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Horizontal">
  <p:cSld name="Photo - Horizontal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3"/>
          <p:cNvSpPr>
            <a:spLocks noGrp="1"/>
          </p:cNvSpPr>
          <p:nvPr>
            <p:ph type="pic" idx="2"/>
          </p:nvPr>
        </p:nvSpPr>
        <p:spPr>
          <a:xfrm>
            <a:off x="1172238" y="252413"/>
            <a:ext cx="6801000" cy="32766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33"/>
          <p:cNvSpPr txBox="1">
            <a:spLocks noGrp="1"/>
          </p:cNvSpPr>
          <p:nvPr>
            <p:ph type="title"/>
          </p:nvPr>
        </p:nvSpPr>
        <p:spPr>
          <a:xfrm>
            <a:off x="238125" y="3567113"/>
            <a:ext cx="86676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3"/>
          <p:cNvSpPr txBox="1">
            <a:spLocks noGrp="1"/>
          </p:cNvSpPr>
          <p:nvPr>
            <p:ph type="body" idx="1"/>
          </p:nvPr>
        </p:nvSpPr>
        <p:spPr>
          <a:xfrm>
            <a:off x="238125" y="4291013"/>
            <a:ext cx="86676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33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Center">
  <p:cSld name="Title - Center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4"/>
          <p:cNvSpPr txBox="1">
            <a:spLocks noGrp="1"/>
          </p:cNvSpPr>
          <p:nvPr>
            <p:ph type="title"/>
          </p:nvPr>
        </p:nvSpPr>
        <p:spPr>
          <a:xfrm>
            <a:off x="666750" y="1700213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4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Vertical">
  <p:cSld name="Photo - Vertical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5"/>
          <p:cNvSpPr>
            <a:spLocks noGrp="1"/>
          </p:cNvSpPr>
          <p:nvPr>
            <p:ph type="pic" idx="2"/>
          </p:nvPr>
        </p:nvSpPr>
        <p:spPr>
          <a:xfrm>
            <a:off x="4937242" y="357188"/>
            <a:ext cx="3571800" cy="43005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35"/>
          <p:cNvSpPr txBox="1">
            <a:spLocks noGrp="1"/>
          </p:cNvSpPr>
          <p:nvPr>
            <p:ph type="title"/>
          </p:nvPr>
        </p:nvSpPr>
        <p:spPr>
          <a:xfrm>
            <a:off x="619125" y="357188"/>
            <a:ext cx="3833700" cy="20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5"/>
          <p:cNvSpPr txBox="1">
            <a:spLocks noGrp="1"/>
          </p:cNvSpPr>
          <p:nvPr>
            <p:ph type="body" idx="1"/>
          </p:nvPr>
        </p:nvSpPr>
        <p:spPr>
          <a:xfrm>
            <a:off x="619125" y="2447925"/>
            <a:ext cx="3833700" cy="21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5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Top">
  <p:cSld name="Title - Top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6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6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>
  <p:cSld name="Title &amp; Bullets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7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7"/>
          <p:cNvSpPr txBox="1">
            <a:spLocks noGrp="1"/>
          </p:cNvSpPr>
          <p:nvPr>
            <p:ph type="body" idx="1"/>
          </p:nvPr>
        </p:nvSpPr>
        <p:spPr>
          <a:xfrm>
            <a:off x="633413" y="1181100"/>
            <a:ext cx="7877100" cy="3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1pPr>
            <a:lvl2pPr marL="914400" lvl="1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2pPr>
            <a:lvl3pPr marL="1371600" lvl="2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3pPr>
            <a:lvl4pPr marL="1828800" lvl="3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4pPr>
            <a:lvl5pPr marL="2286000" lvl="4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37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ullets &amp; Photo">
  <p:cSld name="Title, Bullets &amp; Photo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8"/>
          <p:cNvSpPr>
            <a:spLocks noGrp="1"/>
          </p:cNvSpPr>
          <p:nvPr>
            <p:ph type="pic" idx="2"/>
          </p:nvPr>
        </p:nvSpPr>
        <p:spPr>
          <a:xfrm>
            <a:off x="4938713" y="1181100"/>
            <a:ext cx="3571800" cy="3486000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38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38"/>
          <p:cNvSpPr txBox="1">
            <a:spLocks noGrp="1"/>
          </p:cNvSpPr>
          <p:nvPr>
            <p:ph type="body" idx="1"/>
          </p:nvPr>
        </p:nvSpPr>
        <p:spPr>
          <a:xfrm>
            <a:off x="633413" y="1181100"/>
            <a:ext cx="3833700" cy="3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1pPr>
            <a:lvl2pPr marL="914400" lvl="1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2pPr>
            <a:lvl3pPr marL="1371600" lvl="2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3pPr>
            <a:lvl4pPr marL="1828800" lvl="3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4pPr>
            <a:lvl5pPr marL="2286000" lvl="4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38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s">
  <p:cSld name="Bullets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9"/>
          <p:cNvSpPr txBox="1">
            <a:spLocks noGrp="1"/>
          </p:cNvSpPr>
          <p:nvPr>
            <p:ph type="body" idx="1"/>
          </p:nvPr>
        </p:nvSpPr>
        <p:spPr>
          <a:xfrm>
            <a:off x="633413" y="666750"/>
            <a:ext cx="78771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1pPr>
            <a:lvl2pPr marL="914400" lvl="1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2pPr>
            <a:lvl3pPr marL="1371600" lvl="2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3pPr>
            <a:lvl4pPr marL="1828800" lvl="3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4pPr>
            <a:lvl5pPr marL="2286000" lvl="4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39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3 Up">
  <p:cSld name="Photo - 3 Up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0"/>
          <p:cNvSpPr>
            <a:spLocks noGrp="1"/>
          </p:cNvSpPr>
          <p:nvPr>
            <p:ph type="pic" idx="2"/>
          </p:nvPr>
        </p:nvSpPr>
        <p:spPr>
          <a:xfrm>
            <a:off x="5910263" y="2643188"/>
            <a:ext cx="2776500" cy="20811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40"/>
          <p:cNvSpPr>
            <a:spLocks noGrp="1"/>
          </p:cNvSpPr>
          <p:nvPr>
            <p:ph type="pic" idx="3"/>
          </p:nvPr>
        </p:nvSpPr>
        <p:spPr>
          <a:xfrm>
            <a:off x="5910263" y="423863"/>
            <a:ext cx="2776500" cy="20811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40"/>
          <p:cNvSpPr>
            <a:spLocks noGrp="1"/>
          </p:cNvSpPr>
          <p:nvPr>
            <p:ph type="pic" idx="4"/>
          </p:nvPr>
        </p:nvSpPr>
        <p:spPr>
          <a:xfrm>
            <a:off x="452438" y="423863"/>
            <a:ext cx="5315100" cy="43005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40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1"/>
          <p:cNvSpPr txBox="1">
            <a:spLocks noGrp="1"/>
          </p:cNvSpPr>
          <p:nvPr>
            <p:ph type="body" idx="1"/>
          </p:nvPr>
        </p:nvSpPr>
        <p:spPr>
          <a:xfrm>
            <a:off x="895350" y="3357563"/>
            <a:ext cx="73581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i="1"/>
            </a:lvl1pPr>
            <a:lvl2pPr marL="914400" lvl="1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marL="1371600" lvl="2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marL="1828800" lvl="3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marL="2286000" lvl="4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41"/>
          <p:cNvSpPr txBox="1">
            <a:spLocks noGrp="1"/>
          </p:cNvSpPr>
          <p:nvPr>
            <p:ph type="body" idx="2"/>
          </p:nvPr>
        </p:nvSpPr>
        <p:spPr>
          <a:xfrm>
            <a:off x="895350" y="2278856"/>
            <a:ext cx="7358100" cy="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marL="1371600" lvl="2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marL="1828800" lvl="3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marL="2286000" lvl="4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41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">
  <p:cSld name="Photo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2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42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2" type="blank">
  <p:cSld name="BLANK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1" name="Google Shape;111;p4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" name="Google Shape;112;p4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TITLE_AND_BODY_1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4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_1_1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7525" y="4820575"/>
            <a:ext cx="203075" cy="20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5"/>
          <p:cNvSpPr txBox="1"/>
          <p:nvPr/>
        </p:nvSpPr>
        <p:spPr>
          <a:xfrm>
            <a:off x="381000" y="4779538"/>
            <a:ext cx="18003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IDseq</a:t>
            </a:r>
            <a:endParaRPr sz="6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" name="Google Shape;118;p45"/>
          <p:cNvSpPr txBox="1">
            <a:spLocks noGrp="1"/>
          </p:cNvSpPr>
          <p:nvPr>
            <p:ph type="sldNum" idx="12"/>
          </p:nvPr>
        </p:nvSpPr>
        <p:spPr>
          <a:xfrm>
            <a:off x="8723298" y="4724750"/>
            <a:ext cx="3411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8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4" name="Google Shape;54;p18"/>
          <p:cNvSpPr txBox="1">
            <a:spLocks noGrp="1"/>
          </p:cNvSpPr>
          <p:nvPr>
            <p:ph type="body" idx="1"/>
          </p:nvPr>
        </p:nvSpPr>
        <p:spPr>
          <a:xfrm>
            <a:off x="633413" y="1181100"/>
            <a:ext cx="7877100" cy="3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5" name="Google Shape;55;p18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anaranalytics.com/whole-genome-sequencing/" TargetMode="External"/><Relationship Id="rId5" Type="http://schemas.openxmlformats.org/officeDocument/2006/relationships/hyperlink" Target="https://www.nature.com/articles/s41598-018-25022-6" TargetMode="External"/><Relationship Id="rId4" Type="http://schemas.openxmlformats.org/officeDocument/2006/relationships/hyperlink" Target="https://microbiomejournal.biomedcentral.com/articles/10.1186/s40168-019-0658-x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pnas.org/doi/10.1073/pnas.2115285119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journals.plos.org/plosone/article?id=10.1371/journal.pone.0218318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3" name="Google Shape;123;p1"/>
          <p:cNvCxnSpPr/>
          <p:nvPr/>
        </p:nvCxnSpPr>
        <p:spPr>
          <a:xfrm>
            <a:off x="476250" y="2428875"/>
            <a:ext cx="8191500" cy="0"/>
          </a:xfrm>
          <a:prstGeom prst="straightConnector1">
            <a:avLst/>
          </a:prstGeom>
          <a:noFill/>
          <a:ln w="28575" cap="flat" cmpd="sng">
            <a:solidFill>
              <a:srgbClr val="E3EED3">
                <a:alpha val="40000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124" name="Google Shape;124;p1"/>
          <p:cNvSpPr txBox="1"/>
          <p:nvPr/>
        </p:nvSpPr>
        <p:spPr>
          <a:xfrm>
            <a:off x="476255" y="2523600"/>
            <a:ext cx="8191500" cy="4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DC061"/>
              </a:buClr>
              <a:buSzPts val="2300"/>
              <a:buFont typeface="Poppins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Introduction to CZ ID</a:t>
            </a: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26" name="Google Shape;12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108" y="1367375"/>
            <a:ext cx="2960717" cy="96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"/>
          <p:cNvSpPr txBox="1"/>
          <p:nvPr/>
        </p:nvSpPr>
        <p:spPr>
          <a:xfrm>
            <a:off x="217700" y="181274"/>
            <a:ext cx="8540400" cy="8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CZ ID is a free platform used to identify microbes of interest from NGS data</a:t>
            </a:r>
            <a:endParaRPr sz="2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3" name="Google Shape;133;p2"/>
          <p:cNvPicPr preferRelativeResize="0"/>
          <p:nvPr/>
        </p:nvPicPr>
        <p:blipFill rotWithShape="1">
          <a:blip r:embed="rId3">
            <a:alphaModFix/>
          </a:blip>
          <a:srcRect t="12437" b="2317"/>
          <a:stretch/>
        </p:blipFill>
        <p:spPr>
          <a:xfrm>
            <a:off x="1653975" y="1147750"/>
            <a:ext cx="5836050" cy="380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"/>
          <p:cNvSpPr/>
          <p:nvPr/>
        </p:nvSpPr>
        <p:spPr>
          <a:xfrm>
            <a:off x="3997475" y="3231525"/>
            <a:ext cx="730200" cy="354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70925" y="3131200"/>
            <a:ext cx="802175" cy="26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"/>
          <p:cNvSpPr txBox="1">
            <a:spLocks noGrp="1"/>
          </p:cNvSpPr>
          <p:nvPr>
            <p:ph type="title"/>
          </p:nvPr>
        </p:nvSpPr>
        <p:spPr>
          <a:xfrm>
            <a:off x="311700" y="235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CZ ID integrates bioinformatic tools to enable NGS analysis regardless of available computational resources</a:t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1231150" y="2293650"/>
            <a:ext cx="1851300" cy="1012200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3599650" y="2293650"/>
            <a:ext cx="1969800" cy="10122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6086650" y="2293650"/>
            <a:ext cx="1851300" cy="1012200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1504750" y="2480550"/>
            <a:ext cx="1304100" cy="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Upload NGS Data 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3512950" y="2293650"/>
            <a:ext cx="2143200" cy="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Run Pipeline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(Integrates &gt; 10 third party and custom tools)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6135550" y="2480550"/>
            <a:ext cx="1753500" cy="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View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Analyze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Download Results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3181000" y="2681250"/>
            <a:ext cx="320100" cy="237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3434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5668000" y="2681250"/>
            <a:ext cx="320100" cy="237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3434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1112575" y="1837650"/>
            <a:ext cx="1969800" cy="3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Workflow: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3322000" y="3748175"/>
            <a:ext cx="2525100" cy="3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Plug-and-play, cloud-based platform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(optimized for scalable Amazon Web Services (AWS) cloud deployment)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156" name="Google Shape;156;p3"/>
          <p:cNvSpPr/>
          <p:nvPr/>
        </p:nvSpPr>
        <p:spPr>
          <a:xfrm>
            <a:off x="355200" y="104975"/>
            <a:ext cx="8172300" cy="4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NGS data analysis requires computational power and includes MANY steps</a:t>
            </a:r>
            <a:endParaRPr sz="6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57" name="Google Shape;157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79951" y="575672"/>
            <a:ext cx="4287920" cy="4056337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3921"/>
              </a:srgbClr>
            </a:outerShdw>
          </a:effectLst>
        </p:spPr>
      </p:pic>
      <p:sp>
        <p:nvSpPr>
          <p:cNvPr id="158" name="Google Shape;158;p3"/>
          <p:cNvSpPr txBox="1"/>
          <p:nvPr/>
        </p:nvSpPr>
        <p:spPr>
          <a:xfrm>
            <a:off x="475488" y="4767263"/>
            <a:ext cx="7931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</a:t>
            </a:r>
            <a:r>
              <a:rPr lang="en" sz="800" b="0" i="0" u="sng" strike="noStrike" cap="none">
                <a:solidFill>
                  <a:schemeClr val="hlink"/>
                </a:solidFill>
                <a:latin typeface="Helvetica Neue Light"/>
                <a:ea typeface="Helvetica Neue Light"/>
                <a:cs typeface="Helvetica Neue Light"/>
                <a:sym typeface="Helvetica Neue Light"/>
                <a:hlinkClick r:id="rId4"/>
              </a:rPr>
              <a:t>https://microbiomejournal.biomedcentral.com/articles/10.1186/s40168-019-0658-x</a:t>
            </a:r>
            <a:r>
              <a:rPr lang="en" sz="800" b="0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, </a:t>
            </a:r>
            <a:r>
              <a:rPr lang="en" sz="800" b="0" i="0" u="sng" strike="noStrike" cap="none">
                <a:solidFill>
                  <a:schemeClr val="hlink"/>
                </a:solidFill>
                <a:latin typeface="Helvetica Neue Light"/>
                <a:ea typeface="Helvetica Neue Light"/>
                <a:cs typeface="Helvetica Neue Light"/>
                <a:sym typeface="Helvetica Neue Light"/>
                <a:hlinkClick r:id="rId5"/>
              </a:rPr>
              <a:t>https://www.nature.com/articles/s41598-018-25022-6</a:t>
            </a:r>
            <a:r>
              <a:rPr lang="en" sz="800" b="0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sng" strike="noStrike" cap="none">
                <a:solidFill>
                  <a:schemeClr val="hlink"/>
                </a:solidFill>
                <a:latin typeface="Helvetica Neue Light"/>
                <a:ea typeface="Helvetica Neue Light"/>
                <a:cs typeface="Helvetica Neue Light"/>
                <a:sym typeface="Helvetica Neue Light"/>
                <a:hlinkClick r:id="rId6"/>
              </a:rPr>
              <a:t>http://anaranalytics.com/whole-genome-sequencing/</a:t>
            </a:r>
            <a:endParaRPr sz="800" b="0" i="0" u="none" strike="noStrike" cap="none">
              <a:solidFill>
                <a:srgbClr val="7F7F7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CZ ID supports multiple uses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64" name="Google Shape;164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41399" y="1158238"/>
            <a:ext cx="6154099" cy="345632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5" name="Google Shape;165;p5"/>
          <p:cNvSpPr txBox="1"/>
          <p:nvPr/>
        </p:nvSpPr>
        <p:spPr>
          <a:xfrm>
            <a:off x="218950" y="1586788"/>
            <a:ext cx="2115600" cy="25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CZ ID Pipelines: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Metagenomic (mNGS) analysis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Antimicrobial Resistance (AMR) gene detection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Viral consensus genome assembly 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CZ ID supports multiple uses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71" name="Google Shape;17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41399" y="1158238"/>
            <a:ext cx="6154099" cy="345632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2" name="Google Shape;172;p6"/>
          <p:cNvSpPr txBox="1"/>
          <p:nvPr/>
        </p:nvSpPr>
        <p:spPr>
          <a:xfrm>
            <a:off x="218950" y="1586788"/>
            <a:ext cx="2115600" cy="25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CZ ID Pipelines: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Metagenomic (mNGS) analysis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Font typeface="Helvetica Neue"/>
              <a:buChar char="●"/>
            </a:pPr>
            <a:r>
              <a:rPr lang="en" sz="1400" b="0" i="0" u="none" strike="noStrike" cap="none">
                <a:solidFill>
                  <a:srgbClr val="B7B7B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Antimicrobial Resistance (AMR) gene detection</a:t>
            </a:r>
            <a:endParaRPr sz="1400" b="0" i="0" u="none" strike="noStrike" cap="non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Font typeface="Helvetica Neue"/>
              <a:buChar char="●"/>
            </a:pPr>
            <a:r>
              <a:rPr lang="en" sz="1400" b="0" i="0" u="none" strike="noStrike" cap="none">
                <a:solidFill>
                  <a:srgbClr val="B7B7B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Viral consensus genome assembly </a:t>
            </a:r>
            <a:endParaRPr sz="1400" b="0" i="0" u="none" strike="noStrike" cap="non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273600" y="2006325"/>
            <a:ext cx="2061000" cy="638400"/>
          </a:xfrm>
          <a:prstGeom prst="rect">
            <a:avLst/>
          </a:prstGeom>
          <a:noFill/>
          <a:ln w="28575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CZ ID mNGS Analysis Highlights</a:t>
            </a:r>
            <a:endParaRPr/>
          </a:p>
        </p:txBody>
      </p:sp>
      <p:sp>
        <p:nvSpPr>
          <p:cNvPr id="179" name="Google Shape;179;p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With just a few clicks, easily:</a:t>
            </a:r>
            <a:endParaRPr/>
          </a:p>
          <a:p>
            <a:pPr marL="914400" lvl="1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Evaluate sample quality</a:t>
            </a:r>
            <a:endParaRPr sz="1500"/>
          </a:p>
          <a:p>
            <a:pPr marL="914400" lvl="1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Explore and evaluate identified taxa through interactive reports</a:t>
            </a:r>
            <a:endParaRPr sz="1500"/>
          </a:p>
          <a:p>
            <a:pPr marL="914400" lvl="1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Compare samples using interactive heatmaps</a:t>
            </a:r>
            <a:endParaRPr sz="1500"/>
          </a:p>
          <a:p>
            <a:pPr marL="914400" lvl="1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Generate viral consensus genomes</a:t>
            </a:r>
            <a:endParaRPr sz="1500"/>
          </a:p>
          <a:p>
            <a:pPr marL="914400" lvl="1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Keep track of pipeline steps </a:t>
            </a: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"/>
          <p:cNvSpPr txBox="1">
            <a:spLocks noGrp="1"/>
          </p:cNvSpPr>
          <p:nvPr>
            <p:ph type="title" idx="4294967295"/>
          </p:nvPr>
        </p:nvSpPr>
        <p:spPr>
          <a:xfrm>
            <a:off x="342900" y="259225"/>
            <a:ext cx="8392800" cy="7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2400">
                <a:latin typeface="Open Sans"/>
                <a:ea typeface="Open Sans"/>
                <a:cs typeface="Open Sans"/>
                <a:sym typeface="Open Sans"/>
              </a:rPr>
              <a:t>Perform QC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85" name="Google Shape;185;p8"/>
          <p:cNvPicPr preferRelativeResize="0"/>
          <p:nvPr/>
        </p:nvPicPr>
        <p:blipFill rotWithShape="1">
          <a:blip r:embed="rId3">
            <a:alphaModFix/>
          </a:blip>
          <a:srcRect l="2771" t="22630" r="4213"/>
          <a:stretch/>
        </p:blipFill>
        <p:spPr>
          <a:xfrm>
            <a:off x="924925" y="1367175"/>
            <a:ext cx="7202499" cy="30070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019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"/>
          <p:cNvSpPr txBox="1">
            <a:spLocks noGrp="1"/>
          </p:cNvSpPr>
          <p:nvPr>
            <p:ph type="title" idx="4294967295"/>
          </p:nvPr>
        </p:nvSpPr>
        <p:spPr>
          <a:xfrm>
            <a:off x="342899" y="254235"/>
            <a:ext cx="8479800" cy="6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2400">
                <a:latin typeface="Open Sans"/>
                <a:ea typeface="Open Sans"/>
                <a:cs typeface="Open Sans"/>
                <a:sym typeface="Open Sans"/>
              </a:rPr>
              <a:t>Explore and evaluate metrics for detected microbes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91" name="Google Shape;191;p9"/>
          <p:cNvPicPr preferRelativeResize="0"/>
          <p:nvPr/>
        </p:nvPicPr>
        <p:blipFill rotWithShape="1">
          <a:blip r:embed="rId3">
            <a:alphaModFix/>
          </a:blip>
          <a:srcRect t="1758"/>
          <a:stretch/>
        </p:blipFill>
        <p:spPr>
          <a:xfrm>
            <a:off x="152400" y="1158200"/>
            <a:ext cx="8839199" cy="344305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1000" y="152400"/>
            <a:ext cx="3917270" cy="4838702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0"/>
          <p:cNvSpPr txBox="1"/>
          <p:nvPr/>
        </p:nvSpPr>
        <p:spPr>
          <a:xfrm>
            <a:off x="313400" y="267325"/>
            <a:ext cx="3530400" cy="35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</a:t>
            </a:r>
            <a:endParaRPr sz="2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Study</a:t>
            </a:r>
            <a:r>
              <a:rPr lang="en"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Pathogen landscape associated with febrile illness in Cambodia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Sample type</a:t>
            </a:r>
            <a:r>
              <a:rPr lang="en"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Serum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Results</a:t>
            </a:r>
            <a:r>
              <a:rPr lang="en"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203 pathogens detected from 489 samples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</a:t>
            </a:r>
            <a:r>
              <a:rPr lang="en"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Pathogens organized by disease category. Detection distinguished by participant cohort (community- (n = 87) vs hospital-based cohorts (n = 377)]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8" name="Google Shape;198;p10"/>
          <p:cNvSpPr txBox="1"/>
          <p:nvPr/>
        </p:nvSpPr>
        <p:spPr>
          <a:xfrm>
            <a:off x="267300" y="3650225"/>
            <a:ext cx="16683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sng" strike="noStrike" cap="none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/>
              </a:rPr>
              <a:t>Bohl et al 2021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"/>
          <p:cNvSpPr txBox="1"/>
          <p:nvPr/>
        </p:nvSpPr>
        <p:spPr>
          <a:xfrm>
            <a:off x="313400" y="267325"/>
            <a:ext cx="3530400" cy="35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</a:t>
            </a:r>
            <a:endParaRPr sz="2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Study</a:t>
            </a:r>
            <a:r>
              <a:rPr lang="en"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Pathogen landscape associated with pediatric febrile illness in Tororo, Uganda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Sample type</a:t>
            </a:r>
            <a:r>
              <a:rPr lang="en"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Serum and Nasopharyngeal (NP) swabs 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Results</a:t>
            </a:r>
            <a:r>
              <a:rPr lang="en"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Pathogens detected in more than half of serum and NP samples.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</a:t>
            </a:r>
            <a:r>
              <a:rPr lang="en"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Pathogens organized by sample type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4" name="Google Shape;204;p11"/>
          <p:cNvSpPr txBox="1"/>
          <p:nvPr/>
        </p:nvSpPr>
        <p:spPr>
          <a:xfrm>
            <a:off x="267300" y="3650225"/>
            <a:ext cx="16683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sng" strike="noStrike" cap="none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/>
              </a:rPr>
              <a:t>Ramesh et al 2019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05" name="Google Shape;205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89275" y="59300"/>
            <a:ext cx="3945621" cy="4838702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1"/>
          <p:cNvSpPr txBox="1"/>
          <p:nvPr/>
        </p:nvSpPr>
        <p:spPr>
          <a:xfrm>
            <a:off x="3843800" y="59300"/>
            <a:ext cx="744900" cy="29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Serum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1"/>
          <p:cNvSpPr txBox="1"/>
          <p:nvPr/>
        </p:nvSpPr>
        <p:spPr>
          <a:xfrm>
            <a:off x="3843800" y="2096900"/>
            <a:ext cx="1104300" cy="29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NP Swabs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1"/>
          <p:cNvSpPr txBox="1"/>
          <p:nvPr/>
        </p:nvSpPr>
        <p:spPr>
          <a:xfrm>
            <a:off x="7711250" y="747025"/>
            <a:ext cx="1417200" cy="29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lang="e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P. falciparum + (blood smear test)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"/>
          <p:cNvSpPr txBox="1">
            <a:spLocks noGrp="1"/>
          </p:cNvSpPr>
          <p:nvPr>
            <p:ph type="title" idx="4294967295"/>
          </p:nvPr>
        </p:nvSpPr>
        <p:spPr>
          <a:xfrm>
            <a:off x="320613" y="0"/>
            <a:ext cx="8392800" cy="7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2400">
                <a:latin typeface="Open Sans"/>
                <a:ea typeface="Open Sans"/>
                <a:cs typeface="Open Sans"/>
                <a:sym typeface="Open Sans"/>
              </a:rPr>
              <a:t>Compare samples visually to identify patterns of interest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14" name="Google Shape;214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8100" y="907775"/>
            <a:ext cx="8035328" cy="3852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"/>
          <p:cNvSpPr txBox="1">
            <a:spLocks noGrp="1"/>
          </p:cNvSpPr>
          <p:nvPr>
            <p:ph type="title" idx="4294967295"/>
          </p:nvPr>
        </p:nvSpPr>
        <p:spPr>
          <a:xfrm>
            <a:off x="342899" y="254235"/>
            <a:ext cx="8479800" cy="6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2400">
                <a:latin typeface="Open Sans"/>
                <a:ea typeface="Open Sans"/>
                <a:cs typeface="Open Sans"/>
                <a:sym typeface="Open Sans"/>
              </a:rPr>
              <a:t>Create viral consensus genomes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20" name="Google Shape;22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6375" y="944235"/>
            <a:ext cx="8391252" cy="389446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019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4"/>
          <p:cNvSpPr txBox="1">
            <a:spLocks noGrp="1"/>
          </p:cNvSpPr>
          <p:nvPr>
            <p:ph type="title" idx="4294967295"/>
          </p:nvPr>
        </p:nvSpPr>
        <p:spPr>
          <a:xfrm>
            <a:off x="342900" y="335425"/>
            <a:ext cx="8392800" cy="7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2400">
                <a:latin typeface="Open Sans"/>
                <a:ea typeface="Open Sans"/>
                <a:cs typeface="Open Sans"/>
                <a:sym typeface="Open Sans"/>
              </a:rPr>
              <a:t>View pipeline steps and access intermediate files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26" name="Google Shape;226;p14"/>
          <p:cNvPicPr preferRelativeResize="0"/>
          <p:nvPr/>
        </p:nvPicPr>
        <p:blipFill rotWithShape="1">
          <a:blip r:embed="rId3">
            <a:alphaModFix/>
          </a:blip>
          <a:srcRect l="2997" r="1516"/>
          <a:stretch/>
        </p:blipFill>
        <p:spPr>
          <a:xfrm>
            <a:off x="319125" y="1464850"/>
            <a:ext cx="8440351" cy="28701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4"/>
          <p:cNvSpPr txBox="1"/>
          <p:nvPr/>
        </p:nvSpPr>
        <p:spPr>
          <a:xfrm>
            <a:off x="3328700" y="4240650"/>
            <a:ext cx="2133900" cy="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Pipeline visualization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"/>
          <p:cNvSpPr txBox="1">
            <a:spLocks noGrp="1"/>
          </p:cNvSpPr>
          <p:nvPr>
            <p:ph type="title" idx="4294967295"/>
          </p:nvPr>
        </p:nvSpPr>
        <p:spPr>
          <a:xfrm>
            <a:off x="154749" y="2059135"/>
            <a:ext cx="8479800" cy="6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2400">
                <a:latin typeface="Open Sans"/>
                <a:ea typeface="Open Sans"/>
                <a:cs typeface="Open Sans"/>
                <a:sym typeface="Open Sans"/>
              </a:rPr>
              <a:t>And more!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endParaRPr sz="240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2400">
                <a:latin typeface="Open Sans"/>
                <a:ea typeface="Open Sans"/>
                <a:cs typeface="Open Sans"/>
                <a:sym typeface="Open Sans"/>
              </a:rPr>
              <a:t>Let’s look at the pipeline…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endParaRPr sz="240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endParaRPr sz="240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509</Words>
  <Application>Microsoft Macintosh PowerPoint</Application>
  <PresentationFormat>On-screen Show (16:9)</PresentationFormat>
  <Paragraphs>78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Helvetica Neue Light</vt:lpstr>
      <vt:lpstr>Helvetica Neue</vt:lpstr>
      <vt:lpstr>Arial</vt:lpstr>
      <vt:lpstr>Roboto</vt:lpstr>
      <vt:lpstr>Open Sans</vt:lpstr>
      <vt:lpstr>Calibri</vt:lpstr>
      <vt:lpstr>Lato</vt:lpstr>
      <vt:lpstr>Poppins</vt:lpstr>
      <vt:lpstr>Simple Light</vt:lpstr>
      <vt:lpstr>White</vt:lpstr>
      <vt:lpstr>PowerPoint Presentation</vt:lpstr>
      <vt:lpstr>PowerPoint Presentation</vt:lpstr>
      <vt:lpstr>CZ ID integrates bioinformatic tools to enable NGS analysis regardless of available computational resources</vt:lpstr>
      <vt:lpstr>PowerPoint Presentation</vt:lpstr>
      <vt:lpstr>CZ ID supports multiple uses</vt:lpstr>
      <vt:lpstr>CZ ID supports multiple uses</vt:lpstr>
      <vt:lpstr>CZ ID mNGS Analysis Highlights</vt:lpstr>
      <vt:lpstr>Perform QC</vt:lpstr>
      <vt:lpstr>Explore and evaluate metrics for detected microbes</vt:lpstr>
      <vt:lpstr>PowerPoint Presentation</vt:lpstr>
      <vt:lpstr>PowerPoint Presentation</vt:lpstr>
      <vt:lpstr>Compare samples visually to identify patterns of interest</vt:lpstr>
      <vt:lpstr>Create viral consensus genomes</vt:lpstr>
      <vt:lpstr>View pipeline steps and access intermediate files</vt:lpstr>
      <vt:lpstr>And more!  Let’s look at the pipeline…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Genay Pilarowski</cp:lastModifiedBy>
  <cp:revision>1</cp:revision>
  <dcterms:modified xsi:type="dcterms:W3CDTF">2026-08-02T17:35:31Z</dcterms:modified>
</cp:coreProperties>
</file>